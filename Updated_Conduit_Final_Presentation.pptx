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3"/>
  </p:notesMasterIdLst>
  <p:sldIdLst>
    <p:sldId id="256" r:id="rId2"/>
    <p:sldId id="317" r:id="rId3"/>
    <p:sldId id="318" r:id="rId4"/>
    <p:sldId id="319" r:id="rId5"/>
    <p:sldId id="258" r:id="rId6"/>
    <p:sldId id="259" r:id="rId7"/>
    <p:sldId id="260" r:id="rId8"/>
    <p:sldId id="315" r:id="rId9"/>
    <p:sldId id="316" r:id="rId10"/>
    <p:sldId id="263" r:id="rId11"/>
    <p:sldId id="320" r:id="rId12"/>
    <p:sldId id="321" r:id="rId13"/>
    <p:sldId id="322" r:id="rId14"/>
    <p:sldId id="323" r:id="rId15"/>
    <p:sldId id="324" r:id="rId16"/>
    <p:sldId id="325" r:id="rId17"/>
    <p:sldId id="326" r:id="rId18"/>
    <p:sldId id="327" r:id="rId19"/>
    <p:sldId id="328" r:id="rId20"/>
    <p:sldId id="266" r:id="rId21"/>
    <p:sldId id="329" r:id="rId22"/>
    <p:sldId id="330" r:id="rId23"/>
    <p:sldId id="331" r:id="rId24"/>
    <p:sldId id="268" r:id="rId25"/>
    <p:sldId id="332" r:id="rId26"/>
    <p:sldId id="333" r:id="rId27"/>
    <p:sldId id="334" r:id="rId28"/>
    <p:sldId id="335" r:id="rId29"/>
    <p:sldId id="336" r:id="rId30"/>
    <p:sldId id="337" r:id="rId31"/>
    <p:sldId id="351" r:id="rId32"/>
    <p:sldId id="352" r:id="rId33"/>
    <p:sldId id="353" r:id="rId34"/>
    <p:sldId id="354" r:id="rId35"/>
    <p:sldId id="355" r:id="rId36"/>
    <p:sldId id="338" r:id="rId37"/>
    <p:sldId id="339" r:id="rId38"/>
    <p:sldId id="340" r:id="rId39"/>
    <p:sldId id="341" r:id="rId40"/>
    <p:sldId id="342" r:id="rId41"/>
    <p:sldId id="343" r:id="rId42"/>
    <p:sldId id="344" r:id="rId43"/>
    <p:sldId id="345" r:id="rId44"/>
    <p:sldId id="275" r:id="rId45"/>
    <p:sldId id="277" r:id="rId46"/>
    <p:sldId id="279" r:id="rId47"/>
    <p:sldId id="261" r:id="rId48"/>
    <p:sldId id="267" r:id="rId49"/>
    <p:sldId id="273" r:id="rId50"/>
    <p:sldId id="278" r:id="rId51"/>
    <p:sldId id="280" r:id="rId52"/>
    <p:sldId id="276" r:id="rId53"/>
    <p:sldId id="281" r:id="rId54"/>
    <p:sldId id="282" r:id="rId55"/>
    <p:sldId id="283" r:id="rId56"/>
    <p:sldId id="284" r:id="rId57"/>
    <p:sldId id="285" r:id="rId58"/>
    <p:sldId id="346" r:id="rId59"/>
    <p:sldId id="347" r:id="rId60"/>
    <p:sldId id="348" r:id="rId61"/>
    <p:sldId id="349" r:id="rId62"/>
    <p:sldId id="350" r:id="rId63"/>
    <p:sldId id="286" r:id="rId64"/>
    <p:sldId id="287" r:id="rId65"/>
    <p:sldId id="288" r:id="rId66"/>
    <p:sldId id="289" r:id="rId67"/>
    <p:sldId id="290" r:id="rId68"/>
    <p:sldId id="291" r:id="rId69"/>
    <p:sldId id="292" r:id="rId70"/>
    <p:sldId id="293" r:id="rId71"/>
    <p:sldId id="294" r:id="rId72"/>
    <p:sldId id="295" r:id="rId73"/>
    <p:sldId id="296" r:id="rId74"/>
    <p:sldId id="297" r:id="rId75"/>
    <p:sldId id="298" r:id="rId76"/>
    <p:sldId id="299" r:id="rId77"/>
    <p:sldId id="300" r:id="rId78"/>
    <p:sldId id="301" r:id="rId79"/>
    <p:sldId id="302" r:id="rId80"/>
    <p:sldId id="303" r:id="rId81"/>
    <p:sldId id="304" r:id="rId82"/>
    <p:sldId id="305" r:id="rId83"/>
    <p:sldId id="306" r:id="rId84"/>
    <p:sldId id="307" r:id="rId85"/>
    <p:sldId id="308" r:id="rId86"/>
    <p:sldId id="309" r:id="rId87"/>
    <p:sldId id="310" r:id="rId88"/>
    <p:sldId id="311" r:id="rId89"/>
    <p:sldId id="312" r:id="rId90"/>
    <p:sldId id="313" r:id="rId91"/>
    <p:sldId id="314" r:id="rId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Introduce Conduit as a PostgreSQL application for a fictional retailer. Its asynchronous report jobs continue the broker implementation from Review 1. The final application adds business operations and database evidence.</a:t>
            </a:r>
          </a:p>
          <a:p>
            <a:endParaRPr dirty="0"/>
          </a:p>
          <a:p>
            <a:r>
              <a:rPr dirty="0"/>
              <a:t>Sources: Review 1 report cover; docs/FINAL_REVIEW_DEMO.md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Retail scenario: a sales file contains a good order worth100.00 and another order with a negative10.00 price. Blindly summing both gives90.00. An identical re-upload can also double count a sale. The problem is preserving valid relational facts, consistent stock and explainable reports. Database checks enforce declared rules but cannot prove the external truth of every positive price. Sources: demos/data/sales_import_demo.csv; docs/FINAL_REVIEW_DEMO.md.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abstract summarises implemented behavior. CSV imports use staged validation, the core sales entities are relational, inventory uses an atomic stored function, SQL calculates report values, and background workers produce CSV/HTML from retained datasets. Optional AI assists mapping/interpretation/explanation. It does not replace SQL computation or database constraints. Sources: reporting/imports.py; inventory.py; analysis.py; assistant.py; worker.py.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objective maps to a current implemented feature and an assessable database concept. This is a new dedicated objectives slide, separate from the preserved scope table. Sources: docs/FINAL_REVIEW_DEMO.md; current schema and application modules.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Focus the viva on database behavior. The browser provides simple login and screens for these workflows. Reports produce CSV and HTML. No supplier purchasing, returns, reservation or accounting valuation workflow is implemented.</a:t>
            </a:r>
          </a:p>
          <a:p>
            <a:endParaRPr/>
          </a:p>
          <a:p>
            <a:r>
              <a:t>Sources: docs/FINAL_REVIEW_DEMO.md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components run locally. FastAPI and the separate Python worker connect to PostgreSQL. The worker prepares a consistent dataset, then renders files. The original internal job queue remains active, but the demo centres on business data. CSV import and interactive analysis are bounded synchronous operations.</a:t>
            </a:r>
          </a:p>
          <a:p>
            <a:endParaRPr/>
          </a:p>
          <a:p>
            <a:r>
              <a:t>Sources: reporting/; db/migrations/; scripts/start.ps1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one connected retail story. The valid CSV order totals 100.00, the invalid negative-price order stays in staging. Inventory creates a sales order when posting a physical sale. Query and analysis see completed sales. Saved reports reuse the asynchronous preparation/rendering pipeline.</a:t>
            </a:r>
          </a:p>
          <a:p>
            <a:endParaRPr/>
          </a:p>
          <a:p>
            <a:r>
              <a:t>Sources: docs/FINAL_REVIEW_DEMO.md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0970C-834A-8F59-3A02-14886B67D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E16090-E433-B5D4-4A3E-1C67CD183B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30AFA8-019F-86C6-8D34-41BDE47EAB8F}"/>
              </a:ext>
            </a:extLst>
          </p:cNvPr>
          <p:cNvSpPr>
            <a:spLocks noGrp="1"/>
          </p:cNvSpPr>
          <p:nvPr>
            <p:ph type="body" idx="1"/>
          </p:nvPr>
        </p:nvSpPr>
        <p:spPr/>
        <p:txBody>
          <a:bodyPr/>
          <a:lstStyle/>
          <a:p>
            <a:r>
              <a:t>All components run locally. FastAPI and the separate Python worker connect to PostgreSQL. The worker prepares a consistent dataset, then renders files. The original internal job queue remains active, but the demo centres on business data. CSV import and interactive analysis are bounded synchronous operations.</a:t>
            </a:r>
          </a:p>
          <a:p>
            <a:endParaRPr/>
          </a:p>
          <a:p>
            <a:r>
              <a:t>Sources: reporting/; db/migrations/; scripts/start.ps1</a:t>
            </a:r>
          </a:p>
        </p:txBody>
      </p:sp>
      <p:sp>
        <p:nvSpPr>
          <p:cNvPr id="4" name="Slide Number Placeholder 3">
            <a:extLst>
              <a:ext uri="{FF2B5EF4-FFF2-40B4-BE49-F238E27FC236}">
                <a16:creationId xmlns:a16="http://schemas.microsoft.com/office/drawing/2014/main" id="{AAA0EF1E-592C-0415-3E24-DFEF5F9B4AC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88196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BB047-7181-8A11-0FFA-1D1D8EC74E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BDA7E-EE8B-CFE6-DFDA-712616FB24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0A4E84-4ED8-E315-68F1-A2568AD8B15A}"/>
              </a:ext>
            </a:extLst>
          </p:cNvPr>
          <p:cNvSpPr>
            <a:spLocks noGrp="1"/>
          </p:cNvSpPr>
          <p:nvPr>
            <p:ph type="body" idx="1"/>
          </p:nvPr>
        </p:nvSpPr>
        <p:spPr/>
        <p:txBody>
          <a:bodyPr/>
          <a:lstStyle/>
          <a:p>
            <a:r>
              <a:t>All components run locally. FastAPI and the separate Python worker connect to PostgreSQL. The worker prepares a consistent dataset, then renders files. The original internal job queue remains active, but the demo centres on business data. CSV import and interactive analysis are bounded synchronous operations.</a:t>
            </a:r>
          </a:p>
          <a:p>
            <a:endParaRPr/>
          </a:p>
          <a:p>
            <a:r>
              <a:t>Sources: reporting/; db/migrations/; scripts/start.ps1</a:t>
            </a:r>
          </a:p>
        </p:txBody>
      </p:sp>
      <p:sp>
        <p:nvSpPr>
          <p:cNvPr id="4" name="Slide Number Placeholder 3">
            <a:extLst>
              <a:ext uri="{FF2B5EF4-FFF2-40B4-BE49-F238E27FC236}">
                <a16:creationId xmlns:a16="http://schemas.microsoft.com/office/drawing/2014/main" id="{B7A93207-DE8E-0E54-2314-AA4A48020C0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47062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Only relations involved in the current demonstration are listed. Broker administration and migration infrastructure are omitted from this schema presentation. The appendix gives each listed relation’s columns, keys and meanings. report_dataset and report_result share the report_request identifier as their key.</a:t>
            </a:r>
          </a:p>
          <a:p>
            <a:endParaRPr/>
          </a:p>
          <a:p>
            <a:r>
              <a:t>Sources: db/migrations/060_reporting_schema.sql; 150_retail_operations.sql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relations are in schema reporting. PK and UQ identify primary and unique keys, and the two PK marks in order_item describe one composite key. customer_id FK references customer; order_item.order_id references sales_order and product_id references product. The full type/column dictionary remains in the appendix. Source: db/migrations/060_reporting_schema.sql and110_normalized_sales_totals.sql.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inventory_balance.product_id is both PK and FK to product. stock_movement.product_id references product; customer_id and order_id reference customer/sales_order and are NULL for receipts. order_id is UNIQUE. There is no direct FK from stock_movement to inventory_balance, both link through product. post_stock updates related rows atomically. Source: db/migrations/150_retail_operations.sql.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main execution relations, with all their current columns. report_run.template_id references template_version and requested_by references the configured internal requester. report_request.run_id references report_run; its composite UQ is(run_id,subject_key), not run_id alone. report_dataset.request_id is PK and FK to report_request. Template, audit and output metadata relations remain in the detailed appendix. Sources: db/migrations/060_reporting_schema.sql;080_reporting_preparation.sql.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reconstruction using actual seeded order DEMO-000001-1, retrieved20October2026. These rows are obtained by JOIN from the current normalized tables, not evidence that an unnormalized version was deployed. The order has ID1, date2026-01-09, customer1(Customer1), product IDs3/4/5 and total750.00. Repeating descriptive facts can cause update, insertion and deletion anomalies. Source: .local/presentation_review/part1-evidence.json and current database.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UNF example reconstructs one repeating item list from actual order1: Product3 quantity3 price75;Product4 quantity4 price100;Product5 quantity1 price125. 1NF separates identifiable atomic item rows. Its key is(order_id,line_number). A flat relation can satisfy1NF yet retain repeated customer/order/product descriptions. This pedagogical example does not claim all JSON violates1NF. Sources: actual demo order and docs/PPT_REVIEW_PART_1.md.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Composite item key(order_id,line_number). In a flattened relation order_id alone determines ordered_at,customer identity and order_ref, so those facts depend on a proper subset. Decompose into an order-header relation and line relation. Keep the customer and product descriptions in the intermediate examples to expose the transitive dependencies removed in3NF. In our actual order,2026-01-09 is stored once in its header. Source: current schema and recorded order.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intermediate header,order_id determines customer_id,which determines name,email,region. In the intermediate line,(order_id,line_number) determines product_id,which determines product descriptions. Move customer attributes into customer and product attributes into product,retaining declared FKs. Actual customer1 is Customer1,customer1@example.test,South. Product3 is SKU-3,Product3,Office,75.00. The claim concerns the authoritative sales core under the stated business dependencies. Sources:060/110 migrations and live query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final four authoritative sales tables are customer,product,sales_order,order_item. JOIN reconstructs the statement without independently maintaining repeated descriptions. Actual line values225+400+125=750. unit_price is a historical sale-line fact and catalogue_price is current product metadata; the two can differ without violating the model.110 removes the stored generated line_total and computes it in v_sales_lines. Saved report JSON and stock projections have separate purposes,so avoid blanket claims about every artifact being3NF. Sources:060/110 migrations; actual order1.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Local server_version verified as 16.15. PostgreSQL is the DBMS, SQL is the query language. Reasons are a fit to this implemented project rather than claims of superiority over every alternative. Constraints: https://www.postgresql.org/docs/16/ddl-constraints.html ; transactions: https://www.postgresql.org/docs/16/tutorial-transactions.html ; JSONB: https://www.postgresql.org/docs/16/datatype-json.html ; window functions: https://www.postgresql.org/docs/16/tutorial-window.html . Project sources: reporting/settings.py; db/migrations/060_reporting_schema.sql;080_reporting_preparation.sql;150_retail_operations.sql.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slide shows an executable equivalent of the current order_item structure. The database rejects invalid records even if they bypass the web form. The type NUMERIC(12,2) stores exact decimal values for prices. Composite PK prevents duplicate line numbers within the same order.</a:t>
            </a:r>
          </a:p>
          <a:p>
            <a:endParaRPr/>
          </a:p>
          <a:p>
            <a:r>
              <a:t>Sources: db/migrations/060_reporting_schema.sql; 110_normalized_sales_totals.sql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db/migrations/060_reporting_schema.sql and150_retail_operations.sql. PK(order_id,line_number) is composite. FKs reference existing records. UNIQUE(order_ref), UNIQUE(sku), UNIQUE(customer_ref), UNIQUE(email) and UNIQUE(stock_movement.reference) are actual examples. NOT NULL disallows SQL NULL, not every empty string. CHECK bounds quantity and prevents negative sale price; a SQL CHECK alone can permit NULL, so NOT NULL is separate. Overselling is additionally checked in post_stock under a row lock, rather than a cross-table CHECK. Official constraint documentation: https://www.postgresql.org/docs/16/ddl-constraints.html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Recorded by executing SQL against the local PostgreSQL database on20October2026. Evidence: .local/ppt_db_implementation_20261020/evidence.json. Controlled transaction test using existing customer1 and explicit unused ID900001. BEGIN precedes this statement. OVERRIDING SYSTEM VALUE permits a fixed teaching ID in an identity column and avoids consuming a sequence value. Application inserts normally let PostgreSQL generate IDs. The next slide inserts its items in the same transaction. ROLLBACK after capture removed all test rows. No permanent sale was added.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Recorded by executing SQL against the local PostgreSQL database on20October2026. Evidence: .local/ppt_db_implementation_20261020/evidence.json. Continues the order-header transaction from the previous slide. Existing product IDs3,4,5 correspond to Product3,Product4,Product5. INSERT RETURNING yields all three stored item rows. Command tag INSERT0 3 means three rows inserted. Item values225+400+125=750.00. ROLLBACK after capture verified the test order is absent. Values remain a deliberately controlled example using existing referenced demo entities, not a new persisted business event.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batch retains filename, hash, mapping and actor. Row staging retains raw and cleaned values and errors. Identical business content on retry is a duplicate, while a conflicting existing reference is rejected. The commit transaction publishes accepted orders and updates staging states together. Manual correction is deliberate, not automatic invented data.</a:t>
            </a:r>
          </a:p>
          <a:p>
            <a:endParaRPr/>
          </a:p>
          <a:p>
            <a:r>
              <a:t>Sources: reporting/imports.py; db/migrations/150_retail_operations.sql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Recorded by executing SQL against the local PostgreSQL database on20October2026. Evidence: .local/ppt_db_implementation_20261020/evidence.json. All seven selected fields and all three returned rows are displayed. Table headings shorten line_number/product_name/quantity/unit_price for readability, without omitting values. WHERE restricts customer, completed orders and the calendar year. ORDER BY establishes deterministic display order. LIMIT restricts the output to three lines, not the entire database.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Recorded by executing SQL against the local PostgreSQL database on20October2026. Evidence: .local/ppt_db_implementation_20261020/evidence.json. The full one-row result is shown. WHERE restricts input rows before grouping. GROUP BY creates one group per category, SUM calculates its sales and HAVING keeps category totals above100000000. This is a database aggregate, not an AI calculation. The output matches the previous recorded category total.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Recorded by executing SQL against the local PostgreSQL database on20October2026. Evidence: .local/ppt_db_implementation_20261020/evidence.json. All seven selected fields and all three returned rows are displayed. Statement total is25550.00 on20October2026, whereas the previous18October snapshot was25500.00. This reflects current source state and must not be confused with a frozen historical report. SUM OVER is computed across all qualifying customer1 completed-sale rows from v_sales_lines before LIMIT3 reduces the displayed rows. Therefore the statement total differs from the first order total750.00. Short table headings represent the selected column names in the same order.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Counts from pg_proc/pg_trigger in the reporting schema. These are the current demo/reporting objects, not a count of every legacy broker object. Full routine bodies appear in the relevant slide notes and supporting appendix. Migration sources:060,070,090,100,110,120,130,150.</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CALL returns its INOUT p_run value. It inserts a run and a preparation message in one transaction. The test used a new submission key, existing requester1 and customer1. It was rolled back before workers could see it. Reusing the same submission key/parameters returns the existing run; conflicting parameters raise an exception. This is a stored procedure invoked with CALL, not a function invoked with SELECT.</a:t>
            </a:r>
          </a:p>
          <a:p>
            <a:endParaRPr/>
          </a:p>
          <a:p>
            <a:r>
              <a:t>CREATE OR REPLACE PROCEDURE reporting.submit_run(IN p_submission uuid, IN p_template text, IN p_customer bigint, IN p_start date, IN p_end date, IN p_top integer, IN p_bulk boolean, IN p_requester bigint, INOUT p_run uuid DEFAULT NULL::uuid)</a:t>
            </a:r>
          </a:p>
          <a:p>
            <a:r>
              <a:t> LANGUAGE plpgsql</a:t>
            </a:r>
          </a:p>
          <a:p>
            <a:r>
              <a:t>AS $procedure$</a:t>
            </a:r>
          </a:p>
          <a:p>
            <a:r>
              <a:t>DECLARE v_template bigint; existing reporting.report_run; v_app bigint;</a:t>
            </a:r>
          </a:p>
          <a:p>
            <a:r>
              <a:t>BEGIN</a:t>
            </a:r>
          </a:p>
          <a:p>
            <a:r>
              <a:t> SELECT template_id INTO STRICT v_template FROM reporting.template_version</a:t>
            </a:r>
          </a:p>
          <a:p>
            <a:r>
              <a:t> WHERE code=p_template ORDER BY version DESC LIMIT 1;</a:t>
            </a:r>
          </a:p>
          <a:p>
            <a:r>
              <a:t> IF p_template&lt;&gt;'customer_statement' AND p_customer IS NOT NULL THEN</a:t>
            </a:r>
          </a:p>
          <a:p>
            <a:r>
              <a:t>   RAISE EXCEPTION 'This report does not accept a customer filter' USING ERRCODE='23514';</a:t>
            </a:r>
          </a:p>
          <a:p>
            <a:r>
              <a:t> END IF;</a:t>
            </a:r>
          </a:p>
          <a:p>
            <a:r>
              <a:t> IF p_template='customer_statement' AND p_customer IS NULL AND NOT p_bulk THEN</a:t>
            </a:r>
          </a:p>
          <a:p>
            <a:r>
              <a:t>   RAISE EXCEPTION 'Customer statement requires a customer or bulk mode' USING ERRCODE='23514';</a:t>
            </a:r>
          </a:p>
          <a:p>
            <a:r>
              <a:t> END IF;</a:t>
            </a:r>
          </a:p>
          <a:p>
            <a:r>
              <a:t> IF p_bulk AND (p_template &lt;&gt; 'customer_statement' OR p_customer IS NOT NULL) THEN</a:t>
            </a:r>
          </a:p>
          <a:p>
            <a:r>
              <a:t>   RAISE EXCEPTION 'Bulk mode generates one statement per customer' USING ERRCODE='23514';</a:t>
            </a:r>
          </a:p>
          <a:p>
            <a:r>
              <a:t> END IF;</a:t>
            </a:r>
          </a:p>
          <a:p>
            <a:r>
              <a:t> INSERT INTO reporting.report_run(submission_key,template_id,requested_by,customer_id,start_date,end_date,top_n,bulk)</a:t>
            </a:r>
          </a:p>
          <a:p>
            <a:r>
              <a:t> VALUES(p_submission,v_template,p_requester,p_customer,p_start,p_end,p_top,p_bulk)</a:t>
            </a:r>
          </a:p>
          <a:p>
            <a:r>
              <a:t> ON CONFLICT(submission_key) DO NOTHING RETURNING run_id INTO p_run;</a:t>
            </a:r>
          </a:p>
          <a:p>
            <a:r>
              <a:t> IF p_run IS NULL THEN</a:t>
            </a:r>
          </a:p>
          <a:p>
            <a:r>
              <a:t>   SELECT * INTO STRICT existing FROM reporting.report_run WHERE submission_key=p_submission;</a:t>
            </a:r>
          </a:p>
          <a:p>
            <a:r>
              <a:t>   IF (existing.template_id,existing.requested_by,existing.customer_id,existing.start_date,existing.end_date,existing.top_n,existing.bulk)</a:t>
            </a:r>
          </a:p>
          <a:p>
            <a:r>
              <a:t>      IS DISTINCT FROM (v_template,p_requester,p_customer,p_start,p_end,p_top,p_bulk) THEN</a:t>
            </a:r>
          </a:p>
          <a:p>
            <a:r>
              <a:t>     RAISE EXCEPTION 'Submission key was reused with different parameters' USING ERRCODE='23505';</a:t>
            </a:r>
          </a:p>
          <a:p>
            <a:r>
              <a:t>   END IF;</a:t>
            </a:r>
          </a:p>
          <a:p>
            <a:r>
              <a:t>   p_run:=existing.run_id;</a:t>
            </a:r>
          </a:p>
          <a:p>
            <a:r>
              <a:t>   RETURN;</a:t>
            </a:r>
          </a:p>
          <a:p>
            <a:r>
              <a:t> END IF;</a:t>
            </a:r>
          </a:p>
          <a:p>
            <a:r>
              <a:t> SELECT app_id INTO STRICT v_app FROM application WHERE app_name='reporting-service';</a:t>
            </a:r>
          </a:p>
          <a:p>
            <a:r>
              <a:t> PERFORM produce('report-prepare',p_run::text,jsonb_build_object('run_id',p_run),v_app,nextval('reporting.message_sequence'));</a:t>
            </a:r>
          </a:p>
          <a:p>
            <a:r>
              <a:t>END $procedure$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A controlled product900003 was inserted first, then a10-unit receipt was posted. The displayed sale consumes3 at75.00 and returns movement9. post_stock also creates the order/item and updates the stock/ledger in one transaction. Function body in notes. Subsequent query output verifies7units and a225.00 sale. All fixture rows were rolled back.</a:t>
            </a:r>
          </a:p>
          <a:p>
            <a:endParaRPr/>
          </a:p>
          <a:p>
            <a:r>
              <a:t>CREATE OR REPLACE FUNCTION reporting.post_stock(p_product bigint, p_kind text, p_quantity integer, p_reference text, p_note text, p_actor text, p_customer bigint DEFAULT NULL::bigint, p_price numeric DEFAULT NULL::numeric, p_date date DEFAULT CURRENT_DATE)</a:t>
            </a:r>
          </a:p>
          <a:p>
            <a:r>
              <a:t> RETURNS bigint</a:t>
            </a:r>
          </a:p>
          <a:p>
            <a:r>
              <a:t> LANGUAGE plpgsql</a:t>
            </a:r>
          </a:p>
          <a:p>
            <a:r>
              <a:t>AS $function$</a:t>
            </a:r>
          </a:p>
          <a:p>
            <a:r>
              <a:t>DECLARE existing reporting.stock_movement; balance integer; sale_id bigint; movement bigint;</a:t>
            </a:r>
          </a:p>
          <a:p>
            <a:r>
              <a:t>BEGIN</a:t>
            </a:r>
          </a:p>
          <a:p>
            <a:r>
              <a:t> IF p_kind NOT IN ('receipt','sale') OR p_kind IS NULL OR p_quantity IS NULL OR p_quantity NOT BETWEEN 1 AND 1000000</a:t>
            </a:r>
          </a:p>
          <a:p>
            <a:r>
              <a:t>    OR p_reference IS NULL OR length(trim(p_reference)) NOT BETWEEN 1 AND 100 OR p_date IS NULL THEN</a:t>
            </a:r>
          </a:p>
          <a:p>
            <a:r>
              <a:t>   RAISE EXCEPTION 'Choose a valid operation, quantity, reference and date' USING ERRCODE='23514';</a:t>
            </a:r>
          </a:p>
          <a:p>
            <a:r>
              <a:t> END IF;</a:t>
            </a:r>
          </a:p>
          <a:p>
            <a:r>
              <a:t> IF p_kind='sale' AND (p_customer IS NULL OR p_price IS NULL OR p_price&lt;0 OR p_price&gt;9999999999.99 OR p_price&lt;&gt;round(p_price,2)) THEN</a:t>
            </a:r>
          </a:p>
          <a:p>
            <a:r>
              <a:t>   RAISE EXCEPTION 'A sale requires a customer and a nonnegative price with at most two decimals' USING ERRCODE='23514';</a:t>
            </a:r>
          </a:p>
          <a:p>
            <a:r>
              <a:t> END IF;</a:t>
            </a:r>
          </a:p>
          <a:p>
            <a:r>
              <a:t> IF p_kind='receipt' AND (p_customer IS NOT NULL OR p_price IS NOT NULL) THEN</a:t>
            </a:r>
          </a:p>
          <a:p>
            <a:r>
              <a:t>   RAISE EXCEPTION 'Receipts do not take a customer or sale price' USING ERRCODE='23514';</a:t>
            </a:r>
          </a:p>
          <a:p>
            <a:r>
              <a:t> END IF;</a:t>
            </a:r>
          </a:p>
          <a:p>
            <a:r>
              <a:t> PERFORM pg_advisory_xact_lock(hashtextextended('stock-reference:'||p_reference,0));</a:t>
            </a:r>
          </a:p>
          <a:p>
            <a:r>
              <a:t> SELECT * INTO existing FROM reporting.stock_movement WHERE reference=p_reference;</a:t>
            </a:r>
          </a:p>
          <a:p>
            <a:r>
              <a:t> IF FOUND THEN</a:t>
            </a:r>
          </a:p>
          <a:p>
            <a:r>
              <a:t>   IF (existing.product_id,existing.kind,abs(existing.quantity_delta),existing.note,existing.actor,</a:t>
            </a:r>
          </a:p>
          <a:p>
            <a:r>
              <a:t>       existing.customer_id,existing.unit_price,existing.posted_on)</a:t>
            </a:r>
          </a:p>
          <a:p>
            <a:r>
              <a:t>      IS DISTINCT FROM (p_product,p_kind,p_quantity,COALESCE(p_note,''),p_actor,p_customer,p_price,p_date) THEN</a:t>
            </a:r>
          </a:p>
          <a:p>
            <a:r>
              <a:t>     RAISE EXCEPTION 'Reference already used with different details' USING ERRCODE='23505';</a:t>
            </a:r>
          </a:p>
          <a:p>
            <a:r>
              <a:t>   END IF;</a:t>
            </a:r>
          </a:p>
          <a:p>
            <a:r>
              <a:t>   RETURN existing.movement_id;</a:t>
            </a:r>
          </a:p>
          <a:p>
            <a:r>
              <a:t> END IF;</a:t>
            </a:r>
          </a:p>
          <a:p>
            <a:r>
              <a:t> INSERT INTO reporting.inventory_balance(product_id) VALUES(p_product) ON CONFLICT DO NOTHING;</a:t>
            </a:r>
          </a:p>
          <a:p>
            <a:r>
              <a:t> SELECT quantity INTO balance FROM reporting.inventory_balance WHERE product_id=p_product FOR UPDATE;</a:t>
            </a:r>
          </a:p>
          <a:p>
            <a:r>
              <a:t> IF p_kind='sale' AND balance&lt;p_quantity THEN</a:t>
            </a:r>
          </a:p>
          <a:p>
            <a:r>
              <a:t>   RAISE EXCEPTION 'Insufficient stock: % available, % requested',balance,p_quantity USING ERRCODE='23514';</a:t>
            </a:r>
          </a:p>
          <a:p>
            <a:r>
              <a:t> END IF;</a:t>
            </a:r>
          </a:p>
          <a:p>
            <a:r>
              <a:t> IF p_kind='sale' THEN</a:t>
            </a:r>
          </a:p>
          <a:p>
            <a:r>
              <a:t>   INSERT INTO reporting.sales_order(order_ref,customer_id,ordered_at,status)</a:t>
            </a:r>
          </a:p>
          <a:p>
            <a:r>
              <a:t>   VALUES('STOCK-'||p_reference,p_customer,p_date,'completed') RETURNING order_id INTO sale_id;</a:t>
            </a:r>
          </a:p>
          <a:p>
            <a:r>
              <a:t>   INSERT INTO reporting.order_item(order_id,line_number,product_id,quantity,unit_price)</a:t>
            </a:r>
          </a:p>
          <a:p>
            <a:r>
              <a:t>   VALUES(sale_id,1,p_product,p_quantity,p_price);</a:t>
            </a:r>
          </a:p>
          <a:p>
            <a:r>
              <a:t> END IF;</a:t>
            </a:r>
          </a:p>
          <a:p>
            <a:r>
              <a:t> UPDATE reporting.inventory_balance SET quantity=quantity+CASE WHEN p_kind='receipt' THEN p_quantity ELSE -p_quantity END,</a:t>
            </a:r>
          </a:p>
          <a:p>
            <a:r>
              <a:t> updated_at=now() WHERE product_id=p_product;</a:t>
            </a:r>
          </a:p>
          <a:p>
            <a:r>
              <a:t> INSERT INTO reporting.stock_movement(product_id,kind,quantity_delta,reference,note,actor,customer_id,unit_price,order_id,posted_on)</a:t>
            </a:r>
          </a:p>
          <a:p>
            <a:r>
              <a:t> VALUES(p_product,p_kind,CASE WHEN p_kind='receipt' THEN p_quantity ELSE -p_quantity END,p_reference,COALESCE(p_note,''),p_actor,</a:t>
            </a:r>
          </a:p>
          <a:p>
            <a:r>
              <a:t> p_customer,p_price,sale_id,p_date) RETURNING movement_id INTO movement;</a:t>
            </a:r>
          </a:p>
          <a:p>
            <a:r>
              <a:t> RETURN movement;</a:t>
            </a:r>
          </a:p>
          <a:p>
            <a:r>
              <a:t>END $function$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reporting/inventory.py; db/migrations/150_retail_operations.sql. Executed against PostgreSQL16.15 on20October2026; private evidence .local/ppt_inventory_20261020/evidence.json. Product900005 was a controlled fixture and all writes were rolled back. The real form first resolves product_id by SKU, then uses INSERT ON CONFLICT DO UPDATE with bound parameters. The displayed concrete values use fixture900005 and threshold12. The product already had10units after its receipt, so this exercises the update branch; quantity remains10. EXCLUDED is the proposed insert row. A brand-new balance would start with default quantity0. low_stock comes from the ordinary inventory view and is not an automatic purchase order.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reporting/inventory.py; db/migrations/150_retail_operations.sql. Executed against PostgreSQL16.15 on20October2026; private evidence .local/ppt_inventory_20261020/evidence.json. Product900005 was a controlled fixture and all writes were rolled back. This is the exact application dropdown query. It returned33 product rows on20October2026. The first3 are shown as an explicitly labelled excerpt; LIMIT200 remains the application limit. On submit, the application resolves the selected SKU with SELECT product_id FROM reporting.product WHERE sku=%s. Sales also resolve customer_id by customer_ref. No stock write occurs when a product is merely selected.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reporting/inventory.py; db/migrations/150_retail_operations.sql. Executed against PostgreSQL16.15 on20October2026; private evidence .local/ppt_inventory_20261020/evidence.json. Product900005 was a controlled fixture and all writes were rolled back. Actual function-body excerpts in execution order for a receipt, followed by captured output. p_product=900005,p_kind=receipt,p_quantity=10. After reference validation/idempotency checks, the function creates an initial balance if absent, locks it, updates it and inserts a positive stock_movement with no customer/order/price. UPDATE is shown specialized to the receipt branch; actual function uses CASE for receipt/sale. No sales_order/order_item is created. Actual call:</a:t>
            </a:r>
          </a:p>
          <a:p>
            <a:r>
              <a:t>SELECT reporting.post_stock(900005,'receipt',10,</a:t>
            </a:r>
          </a:p>
          <a:p>
            <a:r>
              <a:t> 'PPT-INV-RECEIPT','','ppt-review',NULL,NULL,</a:t>
            </a:r>
          </a:p>
          <a:p>
            <a:r>
              <a:t> DATE '2026-10-20') AS movement_id;</a:t>
            </a:r>
          </a:p>
          <a:p>
            <a:r>
              <a:t>Receipt movement result:</a:t>
            </a:r>
          </a:p>
          <a:p>
            <a:r>
              <a:t>[{"kind":"receipt","quantity_delta":10,"customer_id":null,"order_id":null}]</a:t>
            </a:r>
          </a:p>
          <a:p>
            <a:r>
              <a:t>Balance proof query:</a:t>
            </a:r>
          </a:p>
          <a:p>
            <a:r>
              <a:t>SELECT quantity,ledger_quantity,reconciled FROM reporting.v_inventory WHERE product_id=900005;</a:t>
            </a:r>
          </a:p>
          <a:p>
            <a:endParaRPr/>
          </a:p>
          <a:p>
            <a:r>
              <a:t>Full actual stored function:</a:t>
            </a:r>
          </a:p>
          <a:p>
            <a:r>
              <a:t>CREATE OR REPLACE FUNCTION reporting.post_stock(p_product bigint, p_kind text, p_quantity integer, p_reference text, p_note text, p_actor text, p_customer bigint DEFAULT NULL::bigint, p_price numeric DEFAULT NULL::numeric, p_date date DEFAULT CURRENT_DATE)</a:t>
            </a:r>
          </a:p>
          <a:p>
            <a:r>
              <a:t> RETURNS bigint</a:t>
            </a:r>
          </a:p>
          <a:p>
            <a:r>
              <a:t> LANGUAGE plpgsql</a:t>
            </a:r>
          </a:p>
          <a:p>
            <a:r>
              <a:t>AS $function$</a:t>
            </a:r>
          </a:p>
          <a:p>
            <a:r>
              <a:t>DECLARE existing reporting.stock_movement; balance integer; sale_id bigint; movement bigint;</a:t>
            </a:r>
          </a:p>
          <a:p>
            <a:r>
              <a:t>BEGIN</a:t>
            </a:r>
          </a:p>
          <a:p>
            <a:r>
              <a:t> IF p_kind NOT IN ('receipt','sale') OR p_kind IS NULL OR p_quantity IS NULL OR p_quantity NOT BETWEEN 1 AND 1000000</a:t>
            </a:r>
          </a:p>
          <a:p>
            <a:r>
              <a:t>    OR p_reference IS NULL OR length(trim(p_reference)) NOT BETWEEN 1 AND 100 OR p_date IS NULL THEN</a:t>
            </a:r>
          </a:p>
          <a:p>
            <a:r>
              <a:t>   RAISE EXCEPTION 'Choose a valid operation, quantity, reference and date' USING ERRCODE='23514';</a:t>
            </a:r>
          </a:p>
          <a:p>
            <a:r>
              <a:t> END IF;</a:t>
            </a:r>
          </a:p>
          <a:p>
            <a:r>
              <a:t> IF p_kind='sale' AND (p_customer IS NULL OR p_price IS NULL OR p_price&lt;0 OR p_price&gt;9999999999.99 OR p_price&lt;&gt;round(p_price,2)) THEN</a:t>
            </a:r>
          </a:p>
          <a:p>
            <a:r>
              <a:t>   RAISE EXCEPTION 'A sale requires a customer and a nonnegative price with at most two decimals' USING ERRCODE='23514';</a:t>
            </a:r>
          </a:p>
          <a:p>
            <a:r>
              <a:t> END IF;</a:t>
            </a:r>
          </a:p>
          <a:p>
            <a:r>
              <a:t> IF p_kind='receipt' AND (p_customer IS NOT NULL OR p_price IS NOT NULL) THEN</a:t>
            </a:r>
          </a:p>
          <a:p>
            <a:r>
              <a:t>   RAISE EXCEPTION 'Receipts do not take a customer or sale price' USING ERRCODE='23514';</a:t>
            </a:r>
          </a:p>
          <a:p>
            <a:r>
              <a:t> END IF;</a:t>
            </a:r>
          </a:p>
          <a:p>
            <a:r>
              <a:t> PERFORM pg_advisory_xact_lock(hashtextextended('stock-reference:'||p_reference,0));</a:t>
            </a:r>
          </a:p>
          <a:p>
            <a:r>
              <a:t> SELECT * INTO existing FROM reporting.stock_movement WHERE reference=p_reference;</a:t>
            </a:r>
          </a:p>
          <a:p>
            <a:r>
              <a:t> IF FOUND THEN</a:t>
            </a:r>
          </a:p>
          <a:p>
            <a:r>
              <a:t>   IF (existing.product_id,existing.kind,abs(existing.quantity_delta),existing.note,existing.actor,</a:t>
            </a:r>
          </a:p>
          <a:p>
            <a:r>
              <a:t>       existing.customer_id,existing.unit_price,existing.posted_on)</a:t>
            </a:r>
          </a:p>
          <a:p>
            <a:r>
              <a:t>      IS DISTINCT FROM (p_product,p_kind,p_quantity,COALESCE(p_note,''),p_actor,p_customer,p_price,p_date) THEN</a:t>
            </a:r>
          </a:p>
          <a:p>
            <a:r>
              <a:t>     RAISE EXCEPTION 'Reference already used with different details' USING ERRCODE='23505';</a:t>
            </a:r>
          </a:p>
          <a:p>
            <a:r>
              <a:t>   END IF;</a:t>
            </a:r>
          </a:p>
          <a:p>
            <a:r>
              <a:t>   RETURN existing.movement_id;</a:t>
            </a:r>
          </a:p>
          <a:p>
            <a:r>
              <a:t> END IF;</a:t>
            </a:r>
          </a:p>
          <a:p>
            <a:r>
              <a:t> INSERT INTO reporting.inventory_balance(product_id) VALUES(p_product) ON CONFLICT DO NOTHING;</a:t>
            </a:r>
          </a:p>
          <a:p>
            <a:r>
              <a:t> SELECT quantity INTO balance FROM reporting.inventory_balance WHERE product_id=p_product FOR UPDATE;</a:t>
            </a:r>
          </a:p>
          <a:p>
            <a:r>
              <a:t> IF p_kind='sale' AND balance&lt;p_quantity THEN</a:t>
            </a:r>
          </a:p>
          <a:p>
            <a:r>
              <a:t>   RAISE EXCEPTION 'Insufficient stock: % available, % requested',balance,p_quantity USING ERRCODE='23514';</a:t>
            </a:r>
          </a:p>
          <a:p>
            <a:r>
              <a:t> END IF;</a:t>
            </a:r>
          </a:p>
          <a:p>
            <a:r>
              <a:t> IF p_kind='sale' THEN</a:t>
            </a:r>
          </a:p>
          <a:p>
            <a:r>
              <a:t>   INSERT INTO reporting.sales_order(order_ref,customer_id,ordered_at,status)</a:t>
            </a:r>
          </a:p>
          <a:p>
            <a:r>
              <a:t>   VALUES('STOCK-'||p_reference,p_customer,p_date,'completed') RETURNING order_id INTO sale_id;</a:t>
            </a:r>
          </a:p>
          <a:p>
            <a:r>
              <a:t>   INSERT INTO reporting.order_item(order_id,line_number,product_id,quantity,unit_price)</a:t>
            </a:r>
          </a:p>
          <a:p>
            <a:r>
              <a:t>   VALUES(sale_id,1,p_product,p_quantity,p_price);</a:t>
            </a:r>
          </a:p>
          <a:p>
            <a:r>
              <a:t> END IF;</a:t>
            </a:r>
          </a:p>
          <a:p>
            <a:r>
              <a:t> UPDATE reporting.inventory_balance SET quantity=quantity+CASE WHEN p_kind='receipt' THEN p_quantity ELSE -p_quantity END,</a:t>
            </a:r>
          </a:p>
          <a:p>
            <a:r>
              <a:t> updated_at=now() WHERE product_id=p_product;</a:t>
            </a:r>
          </a:p>
          <a:p>
            <a:r>
              <a:t> INSERT INTO reporting.stock_movement(product_id,kind,quantity_delta,reference,note,actor,customer_id,unit_price,order_id,posted_on)</a:t>
            </a:r>
          </a:p>
          <a:p>
            <a:r>
              <a:t> VALUES(p_product,p_kind,CASE WHEN p_kind='receipt' THEN p_quantity ELSE -p_quantity END,p_reference,COALESCE(p_note,''),p_actor,</a:t>
            </a:r>
          </a:p>
          <a:p>
            <a:r>
              <a:t> p_customer,p_price,sale_id,p_date) RETURNING movement_id INTO movement;</a:t>
            </a:r>
          </a:p>
          <a:p>
            <a:r>
              <a:t> RETURN movement;</a:t>
            </a:r>
          </a:p>
          <a:p>
            <a:r>
              <a:t>END $function$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reporting/inventory.py; db/migrations/150_retail_operations.sql. Executed against PostgreSQL16.15 on20October2026; private evidence .local/ppt_inventory_20261020/evidence.json. Product900005 was a controlled fixture and all writes were rolled back. Shown excerpts follow SKU/customer lookups and reference retry checks. Receipt leaves10 units; sale quantity3 and price75.00 passes. Product900005 and customer1 are test parameters. IF and SELECT INTO are PL/pgSQL inside the function, not standalone SQL-console statements. Output order row and line total225.00 were queried after the actual function call. Actual call:</a:t>
            </a:r>
          </a:p>
          <a:p>
            <a:r>
              <a:t>SELECT reporting.post_stock(900005,'sale',3,</a:t>
            </a:r>
          </a:p>
          <a:p>
            <a:r>
              <a:t> 'PPT-INV-SALE','','ppt-review',1,75.00,</a:t>
            </a:r>
          </a:p>
          <a:p>
            <a:r>
              <a:t> DATE '2026-10-20') AS movement_id;</a:t>
            </a:r>
          </a:p>
          <a:p>
            <a:r>
              <a:t>Output query:</a:t>
            </a:r>
          </a:p>
          <a:p>
            <a:r>
              <a:t>SELECT o.order_ref,i.quantity,i.unit_price,</a:t>
            </a:r>
          </a:p>
          <a:p>
            <a:r>
              <a:t> (i.quantity*i.unit_price)::numeric(20,2) AS line_total</a:t>
            </a:r>
          </a:p>
          <a:p>
            <a:r>
              <a:t>FROM reporting.sales_order o JOIN reporting.order_item i USING(order_id)</a:t>
            </a:r>
          </a:p>
          <a:p>
            <a:r>
              <a:t>WHERE o.order_ref='STOCK-PPT-INV-SALE';</a:t>
            </a:r>
          </a:p>
          <a:p>
            <a:endParaRPr/>
          </a:p>
          <a:p>
            <a:r>
              <a:t>Full actual stored function:</a:t>
            </a:r>
          </a:p>
          <a:p>
            <a:r>
              <a:t>CREATE OR REPLACE FUNCTION reporting.post_stock(p_product bigint, p_kind text, p_quantity integer, p_reference text, p_note text, p_actor text, p_customer bigint DEFAULT NULL::bigint, p_price numeric DEFAULT NULL::numeric, p_date date DEFAULT CURRENT_DATE)</a:t>
            </a:r>
          </a:p>
          <a:p>
            <a:r>
              <a:t> RETURNS bigint</a:t>
            </a:r>
          </a:p>
          <a:p>
            <a:r>
              <a:t> LANGUAGE plpgsql</a:t>
            </a:r>
          </a:p>
          <a:p>
            <a:r>
              <a:t>AS $function$</a:t>
            </a:r>
          </a:p>
          <a:p>
            <a:r>
              <a:t>DECLARE existing reporting.stock_movement; balance integer; sale_id bigint; movement bigint;</a:t>
            </a:r>
          </a:p>
          <a:p>
            <a:r>
              <a:t>BEGIN</a:t>
            </a:r>
          </a:p>
          <a:p>
            <a:r>
              <a:t> IF p_kind NOT IN ('receipt','sale') OR p_kind IS NULL OR p_quantity IS NULL OR p_quantity NOT BETWEEN 1 AND 1000000</a:t>
            </a:r>
          </a:p>
          <a:p>
            <a:r>
              <a:t>    OR p_reference IS NULL OR length(trim(p_reference)) NOT BETWEEN 1 AND 100 OR p_date IS NULL THEN</a:t>
            </a:r>
          </a:p>
          <a:p>
            <a:r>
              <a:t>   RAISE EXCEPTION 'Choose a valid operation, quantity, reference and date' USING ERRCODE='23514';</a:t>
            </a:r>
          </a:p>
          <a:p>
            <a:r>
              <a:t> END IF;</a:t>
            </a:r>
          </a:p>
          <a:p>
            <a:r>
              <a:t> IF p_kind='sale' AND (p_customer IS NULL OR p_price IS NULL OR p_price&lt;0 OR p_price&gt;9999999999.99 OR p_price&lt;&gt;round(p_price,2)) THEN</a:t>
            </a:r>
          </a:p>
          <a:p>
            <a:r>
              <a:t>   RAISE EXCEPTION 'A sale requires a customer and a nonnegative price with at most two decimals' USING ERRCODE='23514';</a:t>
            </a:r>
          </a:p>
          <a:p>
            <a:r>
              <a:t> END IF;</a:t>
            </a:r>
          </a:p>
          <a:p>
            <a:r>
              <a:t> IF p_kind='receipt' AND (p_customer IS NOT NULL OR p_price IS NOT NULL) THEN</a:t>
            </a:r>
          </a:p>
          <a:p>
            <a:r>
              <a:t>   RAISE EXCEPTION 'Receipts do not take a customer or sale price' USING ERRCODE='23514';</a:t>
            </a:r>
          </a:p>
          <a:p>
            <a:r>
              <a:t> END IF;</a:t>
            </a:r>
          </a:p>
          <a:p>
            <a:r>
              <a:t> PERFORM pg_advisory_xact_lock(hashtextextended('stock-reference:'||p_reference,0));</a:t>
            </a:r>
          </a:p>
          <a:p>
            <a:r>
              <a:t> SELECT * INTO existing FROM reporting.stock_movement WHERE reference=p_reference;</a:t>
            </a:r>
          </a:p>
          <a:p>
            <a:r>
              <a:t> IF FOUND THEN</a:t>
            </a:r>
          </a:p>
          <a:p>
            <a:r>
              <a:t>   IF (existing.product_id,existing.kind,abs(existing.quantity_delta),existing.note,existing.actor,</a:t>
            </a:r>
          </a:p>
          <a:p>
            <a:r>
              <a:t>       existing.customer_id,existing.unit_price,existing.posted_on)</a:t>
            </a:r>
          </a:p>
          <a:p>
            <a:r>
              <a:t>      IS DISTINCT FROM (p_product,p_kind,p_quantity,COALESCE(p_note,''),p_actor,p_customer,p_price,p_date) THEN</a:t>
            </a:r>
          </a:p>
          <a:p>
            <a:r>
              <a:t>     RAISE EXCEPTION 'Reference already used with different details' USING ERRCODE='23505';</a:t>
            </a:r>
          </a:p>
          <a:p>
            <a:r>
              <a:t>   END IF;</a:t>
            </a:r>
          </a:p>
          <a:p>
            <a:r>
              <a:t>   RETURN existing.movement_id;</a:t>
            </a:r>
          </a:p>
          <a:p>
            <a:r>
              <a:t> END IF;</a:t>
            </a:r>
          </a:p>
          <a:p>
            <a:r>
              <a:t> INSERT INTO reporting.inventory_balance(product_id) VALUES(p_product) ON CONFLICT DO NOTHING;</a:t>
            </a:r>
          </a:p>
          <a:p>
            <a:r>
              <a:t> SELECT quantity INTO balance FROM reporting.inventory_balance WHERE product_id=p_product FOR UPDATE;</a:t>
            </a:r>
          </a:p>
          <a:p>
            <a:r>
              <a:t> IF p_kind='sale' AND balance&lt;p_quantity THEN</a:t>
            </a:r>
          </a:p>
          <a:p>
            <a:r>
              <a:t>   RAISE EXCEPTION 'Insufficient stock: % available, % requested',balance,p_quantity USING ERRCODE='23514';</a:t>
            </a:r>
          </a:p>
          <a:p>
            <a:r>
              <a:t> END IF;</a:t>
            </a:r>
          </a:p>
          <a:p>
            <a:r>
              <a:t> IF p_kind='sale' THEN</a:t>
            </a:r>
          </a:p>
          <a:p>
            <a:r>
              <a:t>   INSERT INTO reporting.sales_order(order_ref,customer_id,ordered_at,status)</a:t>
            </a:r>
          </a:p>
          <a:p>
            <a:r>
              <a:t>   VALUES('STOCK-'||p_reference,p_customer,p_date,'completed') RETURNING order_id INTO sale_id;</a:t>
            </a:r>
          </a:p>
          <a:p>
            <a:r>
              <a:t>   INSERT INTO reporting.order_item(order_id,line_number,product_id,quantity,unit_price)</a:t>
            </a:r>
          </a:p>
          <a:p>
            <a:r>
              <a:t>   VALUES(sale_id,1,p_product,p_quantity,p_price);</a:t>
            </a:r>
          </a:p>
          <a:p>
            <a:r>
              <a:t> END IF;</a:t>
            </a:r>
          </a:p>
          <a:p>
            <a:r>
              <a:t> UPDATE reporting.inventory_balance SET quantity=quantity+CASE WHEN p_kind='receipt' THEN p_quantity ELSE -p_quantity END,</a:t>
            </a:r>
          </a:p>
          <a:p>
            <a:r>
              <a:t> updated_at=now() WHERE product_id=p_product;</a:t>
            </a:r>
          </a:p>
          <a:p>
            <a:r>
              <a:t> INSERT INTO reporting.stock_movement(product_id,kind,quantity_delta,reference,note,actor,customer_id,unit_price,order_id,posted_on)</a:t>
            </a:r>
          </a:p>
          <a:p>
            <a:r>
              <a:t> VALUES(p_product,p_kind,CASE WHEN p_kind='receipt' THEN p_quantity ELSE -p_quantity END,p_reference,COALESCE(p_note,''),p_actor,</a:t>
            </a:r>
          </a:p>
          <a:p>
            <a:r>
              <a:t> p_customer,p_price,sale_id,p_date) RETURNING movement_id INTO movement;</a:t>
            </a:r>
          </a:p>
          <a:p>
            <a:r>
              <a:t> RETURN movement;</a:t>
            </a:r>
          </a:p>
          <a:p>
            <a:r>
              <a:t>END $function$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reporting/inventory.py; db/migrations/150_retail_operations.sql. Executed against PostgreSQL16.15 on20October2026; private evidence .local/ppt_inventory_20261020/evidence.json. Product900005 was a controlled fixture and all writes were rolled back. Continuation of the same sale transaction, not a second sale. The specialized sale-branch UPDATE subtracts3 from10. INSERT records delta-3 and links the generated sales order/customer. Actual function returns movement_id. The application commits on success; exceptions roll back the transaction. Captured return14,stock7,ledger7,reconciledtrue. No independent commit occurs between header/item and ledger changes.</a:t>
            </a:r>
          </a:p>
          <a:p>
            <a:r>
              <a:t>Evidence query:</a:t>
            </a:r>
          </a:p>
          <a:p>
            <a:r>
              <a:t>SELECT quantity,ledger_quantity,reconciled FROM reporting.v_inventory WHERE product_id=900005;</a:t>
            </a:r>
          </a:p>
          <a:p>
            <a:endParaRPr/>
          </a:p>
          <a:p>
            <a:r>
              <a:t>Full actual stored function:</a:t>
            </a:r>
          </a:p>
          <a:p>
            <a:r>
              <a:t>CREATE OR REPLACE FUNCTION reporting.post_stock(p_product bigint, p_kind text, p_quantity integer, p_reference text, p_note text, p_actor text, p_customer bigint DEFAULT NULL::bigint, p_price numeric DEFAULT NULL::numeric, p_date date DEFAULT CURRENT_DATE)</a:t>
            </a:r>
          </a:p>
          <a:p>
            <a:r>
              <a:t> RETURNS bigint</a:t>
            </a:r>
          </a:p>
          <a:p>
            <a:r>
              <a:t> LANGUAGE plpgsql</a:t>
            </a:r>
          </a:p>
          <a:p>
            <a:r>
              <a:t>AS $function$</a:t>
            </a:r>
          </a:p>
          <a:p>
            <a:r>
              <a:t>DECLARE existing reporting.stock_movement; balance integer; sale_id bigint; movement bigint;</a:t>
            </a:r>
          </a:p>
          <a:p>
            <a:r>
              <a:t>BEGIN</a:t>
            </a:r>
          </a:p>
          <a:p>
            <a:r>
              <a:t> IF p_kind NOT IN ('receipt','sale') OR p_kind IS NULL OR p_quantity IS NULL OR p_quantity NOT BETWEEN 1 AND 1000000</a:t>
            </a:r>
          </a:p>
          <a:p>
            <a:r>
              <a:t>    OR p_reference IS NULL OR length(trim(p_reference)) NOT BETWEEN 1 AND 100 OR p_date IS NULL THEN</a:t>
            </a:r>
          </a:p>
          <a:p>
            <a:r>
              <a:t>   RAISE EXCEPTION 'Choose a valid operation, quantity, reference and date' USING ERRCODE='23514';</a:t>
            </a:r>
          </a:p>
          <a:p>
            <a:r>
              <a:t> END IF;</a:t>
            </a:r>
          </a:p>
          <a:p>
            <a:r>
              <a:t> IF p_kind='sale' AND (p_customer IS NULL OR p_price IS NULL OR p_price&lt;0 OR p_price&gt;9999999999.99 OR p_price&lt;&gt;round(p_price,2)) THEN</a:t>
            </a:r>
          </a:p>
          <a:p>
            <a:r>
              <a:t>   RAISE EXCEPTION 'A sale requires a customer and a nonnegative price with at most two decimals' USING ERRCODE='23514';</a:t>
            </a:r>
          </a:p>
          <a:p>
            <a:r>
              <a:t> END IF;</a:t>
            </a:r>
          </a:p>
          <a:p>
            <a:r>
              <a:t> IF p_kind='receipt' AND (p_customer IS NOT NULL OR p_price IS NOT NULL) THEN</a:t>
            </a:r>
          </a:p>
          <a:p>
            <a:r>
              <a:t>   RAISE EXCEPTION 'Receipts do not take a customer or sale price' USING ERRCODE='23514';</a:t>
            </a:r>
          </a:p>
          <a:p>
            <a:r>
              <a:t> END IF;</a:t>
            </a:r>
          </a:p>
          <a:p>
            <a:r>
              <a:t> PERFORM pg_advisory_xact_lock(hashtextextended('stock-reference:'||p_reference,0));</a:t>
            </a:r>
          </a:p>
          <a:p>
            <a:r>
              <a:t> SELECT * INTO existing FROM reporting.stock_movement WHERE reference=p_reference;</a:t>
            </a:r>
          </a:p>
          <a:p>
            <a:r>
              <a:t> IF FOUND THEN</a:t>
            </a:r>
          </a:p>
          <a:p>
            <a:r>
              <a:t>   IF (existing.product_id,existing.kind,abs(existing.quantity_delta),existing.note,existing.actor,</a:t>
            </a:r>
          </a:p>
          <a:p>
            <a:r>
              <a:t>       existing.customer_id,existing.unit_price,existing.posted_on)</a:t>
            </a:r>
          </a:p>
          <a:p>
            <a:r>
              <a:t>      IS DISTINCT FROM (p_product,p_kind,p_quantity,COALESCE(p_note,''),p_actor,p_customer,p_price,p_date) THEN</a:t>
            </a:r>
          </a:p>
          <a:p>
            <a:r>
              <a:t>     RAISE EXCEPTION 'Reference already used with different details' USING ERRCODE='23505';</a:t>
            </a:r>
          </a:p>
          <a:p>
            <a:r>
              <a:t>   END IF;</a:t>
            </a:r>
          </a:p>
          <a:p>
            <a:r>
              <a:t>   RETURN existing.movement_id;</a:t>
            </a:r>
          </a:p>
          <a:p>
            <a:r>
              <a:t> END IF;</a:t>
            </a:r>
          </a:p>
          <a:p>
            <a:r>
              <a:t> INSERT INTO reporting.inventory_balance(product_id) VALUES(p_product) ON CONFLICT DO NOTHING;</a:t>
            </a:r>
          </a:p>
          <a:p>
            <a:r>
              <a:t> SELECT quantity INTO balance FROM reporting.inventory_balance WHERE product_id=p_product FOR UPDATE;</a:t>
            </a:r>
          </a:p>
          <a:p>
            <a:r>
              <a:t> IF p_kind='sale' AND balance&lt;p_quantity THEN</a:t>
            </a:r>
          </a:p>
          <a:p>
            <a:r>
              <a:t>   RAISE EXCEPTION 'Insufficient stock: % available, % requested',balance,p_quantity USING ERRCODE='23514';</a:t>
            </a:r>
          </a:p>
          <a:p>
            <a:r>
              <a:t> END IF;</a:t>
            </a:r>
          </a:p>
          <a:p>
            <a:r>
              <a:t> IF p_kind='sale' THEN</a:t>
            </a:r>
          </a:p>
          <a:p>
            <a:r>
              <a:t>   INSERT INTO reporting.sales_order(order_ref,customer_id,ordered_at,status)</a:t>
            </a:r>
          </a:p>
          <a:p>
            <a:r>
              <a:t>   VALUES('STOCK-'||p_reference,p_customer,p_date,'completed') RETURNING order_id INTO sale_id;</a:t>
            </a:r>
          </a:p>
          <a:p>
            <a:r>
              <a:t>   INSERT INTO reporting.order_item(order_id,line_number,product_id,quantity,unit_price)</a:t>
            </a:r>
          </a:p>
          <a:p>
            <a:r>
              <a:t>   VALUES(sale_id,1,p_product,p_quantity,p_price);</a:t>
            </a:r>
          </a:p>
          <a:p>
            <a:r>
              <a:t> END IF;</a:t>
            </a:r>
          </a:p>
          <a:p>
            <a:r>
              <a:t> UPDATE reporting.inventory_balance SET quantity=quantity+CASE WHEN p_kind='receipt' THEN p_quantity ELSE -p_quantity END,</a:t>
            </a:r>
          </a:p>
          <a:p>
            <a:r>
              <a:t> updated_at=now() WHERE product_id=p_product;</a:t>
            </a:r>
          </a:p>
          <a:p>
            <a:r>
              <a:t> INSERT INTO reporting.stock_movement(product_id,kind,quantity_delta,reference,note,actor,customer_id,unit_price,order_id,posted_on)</a:t>
            </a:r>
          </a:p>
          <a:p>
            <a:r>
              <a:t> VALUES(p_product,p_kind,CASE WHEN p_kind='receipt' THEN p_quantity ELSE -p_quantity END,p_reference,COALESCE(p_note,''),p_actor,</a:t>
            </a:r>
          </a:p>
          <a:p>
            <a:r>
              <a:t> p_customer,p_price,sale_id,p_date) RETURNING movement_id INTO movement;</a:t>
            </a:r>
          </a:p>
          <a:p>
            <a:r>
              <a:t> RETURN movement;</a:t>
            </a:r>
          </a:p>
          <a:p>
            <a:r>
              <a:t>END $function$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The current definition is in110_normalized_sales_totals.sql. v_sales_lines joins customer, sales_order, order_item and product, filters completed orders and computes line_total. It is an ordinary view, not a stored copy of its rows. Full definition follows.</a:t>
            </a:r>
          </a:p>
          <a:p>
            <a:r>
              <a:t> SELECT c.customer_id,</a:t>
            </a:r>
          </a:p>
          <a:p>
            <a:r>
              <a:t>    c.customer_ref,</a:t>
            </a:r>
          </a:p>
          <a:p>
            <a:r>
              <a:t>    c.full_name,</a:t>
            </a:r>
          </a:p>
          <a:p>
            <a:r>
              <a:t>    c.region,</a:t>
            </a:r>
          </a:p>
          <a:p>
            <a:r>
              <a:t>    o.order_id,</a:t>
            </a:r>
          </a:p>
          <a:p>
            <a:r>
              <a:t>    o.order_ref,</a:t>
            </a:r>
          </a:p>
          <a:p>
            <a:r>
              <a:t>    o.ordered_at,</a:t>
            </a:r>
          </a:p>
          <a:p>
            <a:r>
              <a:t>    i.line_number,</a:t>
            </a:r>
          </a:p>
          <a:p>
            <a:r>
              <a:t>    p.sku,</a:t>
            </a:r>
          </a:p>
          <a:p>
            <a:r>
              <a:t>    p.product_name,</a:t>
            </a:r>
          </a:p>
          <a:p>
            <a:r>
              <a:t>    p.category,</a:t>
            </a:r>
          </a:p>
          <a:p>
            <a:r>
              <a:t>    i.quantity,</a:t>
            </a:r>
          </a:p>
          <a:p>
            <a:r>
              <a:t>    i.unit_price,</a:t>
            </a:r>
          </a:p>
          <a:p>
            <a:r>
              <a:t>    (((i.quantity)::numeric * i.unit_price))::numeric(20,2) AS line_total</a:t>
            </a:r>
          </a:p>
          <a:p>
            <a:r>
              <a:t>   FROM (((reporting.customer c</a:t>
            </a:r>
          </a:p>
          <a:p>
            <a:r>
              <a:t>     JOIN reporting.sales_order o ON ((o.customer_id = c.customer_id)))</a:t>
            </a:r>
          </a:p>
          <a:p>
            <a:r>
              <a:t>     JOIN reporting.order_item i ON ((i.order_id = o.order_id)))</a:t>
            </a:r>
          </a:p>
          <a:p>
            <a:r>
              <a:t>     JOIN reporting.product p ON ((p.product_id = i.product_id)))</a:t>
            </a:r>
          </a:p>
          <a:p>
            <a:r>
              <a:t>  WHERE (o.status = 'completed'::text);</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v_inventory joins product and inventory_balance and compares the balance with SUM(quantity_delta) from stock_movement. low_stock is quantity&lt;=reorder_level; reconciled compares the stored quantity and ledger quantity. Full view definition follows.</a:t>
            </a:r>
          </a:p>
          <a:p>
            <a:r>
              <a:t> SELECT p.product_id,</a:t>
            </a:r>
          </a:p>
          <a:p>
            <a:r>
              <a:t>    p.sku,</a:t>
            </a:r>
          </a:p>
          <a:p>
            <a:r>
              <a:t>    p.product_name,</a:t>
            </a:r>
          </a:p>
          <a:p>
            <a:r>
              <a:t>    p.category,</a:t>
            </a:r>
          </a:p>
          <a:p>
            <a:r>
              <a:t>    p.catalogue_price,</a:t>
            </a:r>
          </a:p>
          <a:p>
            <a:r>
              <a:t>    b.quantity,</a:t>
            </a:r>
          </a:p>
          <a:p>
            <a:r>
              <a:t>    b.reorder_level,</a:t>
            </a:r>
          </a:p>
          <a:p>
            <a:r>
              <a:t>    b.updated_at,</a:t>
            </a:r>
          </a:p>
          <a:p>
            <a:r>
              <a:t>    (b.quantity &lt;= b.reorder_level) AS low_stock,</a:t>
            </a:r>
          </a:p>
          <a:p>
            <a:r>
              <a:t>    COALESCE(m.net, (0)::bigint) AS ledger_quantity,</a:t>
            </a:r>
          </a:p>
          <a:p>
            <a:r>
              <a:t>    (b.quantity = COALESCE(m.net, (0)::bigint)) AS reconciled</a:t>
            </a:r>
          </a:p>
          <a:p>
            <a:r>
              <a:t>   FROM ((reporting.inventory_balance b</a:t>
            </a:r>
          </a:p>
          <a:p>
            <a:r>
              <a:t>     JOIN reporting.product p USING (product_id))</a:t>
            </a:r>
          </a:p>
          <a:p>
            <a:r>
              <a:t>     LEFT JOIN ( SELECT stock_movement.product_id,</a:t>
            </a:r>
          </a:p>
          <a:p>
            <a:r>
              <a:t>            sum(stock_movement.quantity_delta) AS net</a:t>
            </a:r>
          </a:p>
          <a:p>
            <a:r>
              <a:t>           FROM reporting.stock_movement</a:t>
            </a:r>
          </a:p>
          <a:p>
            <a:r>
              <a:t>          GROUP BY stock_movement.product_id) m USING (product_id));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prepare_run returns the number of requests prepared, not the number of output files completed. enqueue_ready_requests returns the number of new jobs enqueued and returns0 when repeated for the same already-enqueued request. v_run_progress reports status counts. Controlled run is the one returned on the procedure slide. Worker uses REPEATABLE READ for preparation. UUID parameter aliases below refer to that run. Full definitions follow.</a:t>
            </a:r>
          </a:p>
          <a:p>
            <a:r>
              <a:t> SELECT r.run_id,</a:t>
            </a:r>
          </a:p>
          <a:p>
            <a:r>
              <a:t>    t.code,</a:t>
            </a:r>
          </a:p>
          <a:p>
            <a:r>
              <a:t>    t.version,</a:t>
            </a:r>
          </a:p>
          <a:p>
            <a:r>
              <a:t>    r.status AS preparation_status,</a:t>
            </a:r>
          </a:p>
          <a:p>
            <a:r>
              <a:t>    r.created_at,</a:t>
            </a:r>
          </a:p>
          <a:p>
            <a:r>
              <a:t>    r.prepared_at,</a:t>
            </a:r>
          </a:p>
          <a:p>
            <a:r>
              <a:t>    count(q.request_id) AS expected,</a:t>
            </a:r>
          </a:p>
          <a:p>
            <a:r>
              <a:t>    count(*) FILTER (WHERE (q.state = 'queued'::text)) AS queued,</a:t>
            </a:r>
          </a:p>
          <a:p>
            <a:r>
              <a:t>    count(*) FILTER (WHERE (q.state = 'processing'::text)) AS processing,</a:t>
            </a:r>
          </a:p>
          <a:p>
            <a:r>
              <a:t>    count(*) FILTER (WHERE (q.state = 'completed'::text)) AS completed,</a:t>
            </a:r>
          </a:p>
          <a:p>
            <a:r>
              <a:t>    count(*) FILTER (WHERE (q.state = 'failed'::text)) AS failed,</a:t>
            </a:r>
          </a:p>
          <a:p>
            <a:r>
              <a:t>    max(q.completed_at) AS last_completion</a:t>
            </a:r>
          </a:p>
          <a:p>
            <a:r>
              <a:t>   FROM ((reporting.report_run r</a:t>
            </a:r>
          </a:p>
          <a:p>
            <a:r>
              <a:t>     JOIN reporting.template_version t USING (template_id))</a:t>
            </a:r>
          </a:p>
          <a:p>
            <a:r>
              <a:t>     LEFT JOIN reporting.report_request q USING (run_id))</a:t>
            </a:r>
          </a:p>
          <a:p>
            <a:r>
              <a:t>  GROUP BY r.run_id, t.code, t.version;</a:t>
            </a:r>
          </a:p>
          <a:p>
            <a:endParaRPr/>
          </a:p>
          <a:p>
            <a:r>
              <a:t>CREATE OR REPLACE FUNCTION reporting.prepare_run(p_run uuid)</a:t>
            </a:r>
          </a:p>
          <a:p>
            <a:r>
              <a:t> RETURNS integer</a:t>
            </a:r>
          </a:p>
          <a:p>
            <a:r>
              <a:t> LANGUAGE plpgsql</a:t>
            </a:r>
          </a:p>
          <a:p>
            <a:r>
              <a:t>AS $function$</a:t>
            </a:r>
          </a:p>
          <a:p>
            <a:r>
              <a:t>DECLARE r reporting.report_run; code text; v_app bigint; v_job record; v_count integer:=0;</a:t>
            </a:r>
          </a:p>
          <a:p>
            <a:r>
              <a:t>BEGIN</a:t>
            </a:r>
          </a:p>
          <a:p>
            <a:r>
              <a:t> SELECT * INTO STRICT r FROM reporting.report_run WHERE run_id=p_run FOR UPDATE;</a:t>
            </a:r>
          </a:p>
          <a:p>
            <a:r>
              <a:t> IF r.status='ready' THEN RETURN 0; END IF;</a:t>
            </a:r>
          </a:p>
          <a:p>
            <a:r>
              <a:t> SELECT t.code INTO code FROM reporting.template_version t WHERE t.template_id=r.template_id;</a:t>
            </a:r>
          </a:p>
          <a:p>
            <a:r>
              <a:t> SELECT app_id INTO STRICT v_app FROM application WHERE app_name='reporting-service';</a:t>
            </a:r>
          </a:p>
          <a:p>
            <a:r>
              <a:t> IF r.bulk THEN</a:t>
            </a:r>
          </a:p>
          <a:p>
            <a:r>
              <a:t>   INSERT INTO reporting.report_request(run_id,subject_key,customer_id)</a:t>
            </a:r>
          </a:p>
          <a:p>
            <a:r>
              <a:t>   SELECT r.run_id,'customer:'||customer_id,customer_id FROM reporting.customer ORDER BY customer_id;</a:t>
            </a:r>
          </a:p>
          <a:p>
            <a:r>
              <a:t>   -- One set-based business-data read for all recipients. Customer rows and line details are frozen together.</a:t>
            </a:r>
          </a:p>
          <a:p>
            <a:r>
              <a:t>   WITH selected_lines AS MATERIALIZED (</a:t>
            </a:r>
          </a:p>
          <a:p>
            <a:r>
              <a:t>     SELECT l.*,sum(line_total) OVER(PARTITION BY customer_id) AS statement_total</a:t>
            </a:r>
          </a:p>
          <a:p>
            <a:r>
              <a:t>     FROM reporting.v_sales_lines l WHERE ordered_at &gt;= r.start_date AND ordered_at &lt; r.end_date</a:t>
            </a:r>
          </a:p>
          <a:p>
            <a:r>
              <a:t>   ), grouped AS (</a:t>
            </a:r>
          </a:p>
          <a:p>
            <a:r>
              <a:t>     SELECT customer_id,jsonb_agg(jsonb_build_object(</a:t>
            </a:r>
          </a:p>
          <a:p>
            <a:r>
              <a:t>       'customer_ref',customer_ref,'full_name',full_name,'order_ref',order_ref,'ordered_at',ordered_at,</a:t>
            </a:r>
          </a:p>
          <a:p>
            <a:r>
              <a:t>       'sku',sku,'product_name',product_name,'quantity',quantity,'unit_price',unit_price,</a:t>
            </a:r>
          </a:p>
          <a:p>
            <a:r>
              <a:t>       'line_total',line_total,'statement_total',statement_total) ORDER BY ordered_at,order_id,line_number) AS rows</a:t>
            </a:r>
          </a:p>
          <a:p>
            <a:r>
              <a:t>     FROM selected_lines GROUP BY customer_id</a:t>
            </a:r>
          </a:p>
          <a:p>
            <a:r>
              <a:t>   )</a:t>
            </a:r>
          </a:p>
          <a:p>
            <a:r>
              <a:t>   INSERT INTO reporting.report_dataset(request_id,rows)</a:t>
            </a:r>
          </a:p>
          <a:p>
            <a:r>
              <a:t>   SELECT q.request_id,COALESCE(g.rows,'[]') FROM reporting.report_request q</a:t>
            </a:r>
          </a:p>
          <a:p>
            <a:r>
              <a:t>   LEFT JOIN grouped g USING(customer_id) WHERE q.run_id=r.run_id;</a:t>
            </a:r>
          </a:p>
          <a:p>
            <a:r>
              <a:t> ELSE</a:t>
            </a:r>
          </a:p>
          <a:p>
            <a:r>
              <a:t>   INSERT INTO reporting.report_request(run_id,subject_key,customer_id)</a:t>
            </a:r>
          </a:p>
          <a:p>
            <a:r>
              <a:t>   VALUES(r.run_id,COALESCE('customer:'||r.customer_id,'summary'),r.customer_id);</a:t>
            </a:r>
          </a:p>
          <a:p>
            <a:r>
              <a:t>   INSERT INTO reporting.report_dataset(request_id,rows)</a:t>
            </a:r>
          </a:p>
          <a:p>
            <a:r>
              <a:t>   SELECT request_id,reporting.calculate(r.template_id,r.customer_id,r.start_date,r.end_date,r.top_n)</a:t>
            </a:r>
          </a:p>
          <a:p>
            <a:r>
              <a:t>   FROM reporting.report_request WHERE run_id=r.run_id;</a:t>
            </a:r>
          </a:p>
          <a:p>
            <a:r>
              <a:t> END IF;</a:t>
            </a:r>
          </a:p>
          <a:p>
            <a:r>
              <a:t> SELECT count(*) INTO v_count FROM reporting.report_request WHERE run_id=r.run_id;</a:t>
            </a:r>
          </a:p>
          <a:p>
            <a:r>
              <a:t> UPDATE reporting.report_run SET status='ready',prepared_at=clock_timestamp(),error=NULL WHERE run_id=r.run_id;</a:t>
            </a:r>
          </a:p>
          <a:p>
            <a:r>
              <a:t> RETURN v_count;</a:t>
            </a:r>
          </a:p>
          <a:p>
            <a:r>
              <a:t>END $function$</a:t>
            </a:r>
          </a:p>
          <a:p>
            <a:endParaRPr/>
          </a:p>
          <a:p>
            <a:endParaRPr/>
          </a:p>
          <a:p>
            <a:r>
              <a:t>CREATE OR REPLACE FUNCTION reporting.enqueue_ready_requests(p_run uuid DEFAULT NULL::uuid, p_limit integer DEFAULT 100)</a:t>
            </a:r>
          </a:p>
          <a:p>
            <a:r>
              <a:t> RETURNS integer</a:t>
            </a:r>
          </a:p>
          <a:p>
            <a:r>
              <a:t> LANGUAGE plpgsql</a:t>
            </a:r>
          </a:p>
          <a:p>
            <a:r>
              <a:t>AS $function$</a:t>
            </a:r>
          </a:p>
          <a:p>
            <a:r>
              <a:t>DECLARE job record; app bigint; total integer:=0;</a:t>
            </a:r>
          </a:p>
          <a:p>
            <a:r>
              <a:t>BEGIN</a:t>
            </a:r>
          </a:p>
          <a:p>
            <a:r>
              <a:t> IF p_limit NOT BETWEEN 1 AND 500 THEN RAISE EXCEPTION 'Enqueue chunk must contain 1..500 jobs' USING ERRCODE='23514'; END IF;</a:t>
            </a:r>
          </a:p>
          <a:p>
            <a:r>
              <a:t> IF NOT pg_try_advisory_xact_lock(hashtextextended('conduit-report-enqueue',0)) THEN RETURN 0; END IF;</a:t>
            </a:r>
          </a:p>
          <a:p>
            <a:r>
              <a:t> SELECT app_id INTO STRICT app FROM application WHERE app_name='reporting-service';</a:t>
            </a:r>
          </a:p>
          <a:p>
            <a:r>
              <a:t> FOR job IN SELECT q.request_id FROM reporting.report_request q JOIN reporting.report_run r USING(run_id)</a:t>
            </a:r>
          </a:p>
          <a:p>
            <a:r>
              <a:t>   WHERE NOT q.enqueued AND r.status='ready' AND (p_run IS NULL OR q.run_id=p_run)</a:t>
            </a:r>
          </a:p>
          <a:p>
            <a:r>
              <a:t>   ORDER BY q.request_id LIMIT p_limit FOR UPDATE OF q SKIP LOCKED</a:t>
            </a:r>
          </a:p>
          <a:p>
            <a:r>
              <a:t> LOOP</a:t>
            </a:r>
          </a:p>
          <a:p>
            <a:r>
              <a:t>   PERFORM produce('report-render',job.request_id::text,jsonb_build_object('request_id',job.request_id),app,nextval('reporting.message_sequence'));</a:t>
            </a:r>
          </a:p>
          <a:p>
            <a:r>
              <a:t>   UPDATE reporting.report_request SET enqueued=true WHERE request_id=job.request_id;</a:t>
            </a:r>
          </a:p>
          <a:p>
            <a:r>
              <a:t>   total:=total+1;</a:t>
            </a:r>
          </a:p>
          <a:p>
            <a:r>
              <a:t> END LOOP;</a:t>
            </a:r>
          </a:p>
          <a:p>
            <a:r>
              <a:t> RETURN total;</a:t>
            </a:r>
          </a:p>
          <a:p>
            <a:r>
              <a:t>END $function$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Two triggers call audit_state: reporting_request_insert after INSERT, reporting_request_state after UPDATE OF state when values differ. The displayed update and audit SELECT ran for the controlled request created by prepare_run. Returned update row is processing; command tag UPDATE1. Audit output contains the insertion NULL→queued and subsequent queued→processing. Full trigger function body below.</a:t>
            </a:r>
          </a:p>
          <a:p>
            <a:endParaRPr/>
          </a:p>
          <a:p>
            <a:r>
              <a:t>CREATE OR REPLACE FUNCTION reporting.audit_state()</a:t>
            </a:r>
          </a:p>
          <a:p>
            <a:r>
              <a:t> RETURNS trigger</a:t>
            </a:r>
          </a:p>
          <a:p>
            <a:r>
              <a:t> LANGUAGE plpgsql</a:t>
            </a:r>
          </a:p>
          <a:p>
            <a:r>
              <a:t>AS $function$</a:t>
            </a:r>
          </a:p>
          <a:p>
            <a:r>
              <a:t>BEGIN</a:t>
            </a:r>
          </a:p>
          <a:p>
            <a:r>
              <a:t>    INSERT INTO reporting.report_audit(request_id,old_state,new_state)</a:t>
            </a:r>
          </a:p>
          <a:p>
            <a:r>
              <a:t>    VALUES(NEW.request_id, CASE WHEN TG_OP='INSERT' THEN NULL ELSE OLD.state END, NEW.state);</a:t>
            </a:r>
          </a:p>
          <a:p>
            <a:r>
              <a:t>    RETURN NEW;</a:t>
            </a:r>
          </a:p>
          <a:p>
            <a:r>
              <a:t>END $function$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All three protection triggers are listed here: immutable_template and immutable_dataset call prevent_history_change; stock_history_immutable calls protect_stock_history. Each is BEFORE UPDATE OR DELETE FOR EACH ROW. No-op UPDATEs also fail by design. Each test was isolated by a SAVEPOINT and rolled back after its expected error, allowing later tests to continue. Exact errors are captured. Trigger functions below.</a:t>
            </a:r>
          </a:p>
          <a:p>
            <a:endParaRPr/>
          </a:p>
          <a:p>
            <a:r>
              <a:t>CREATE OR REPLACE FUNCTION reporting.prevent_history_change()</a:t>
            </a:r>
          </a:p>
          <a:p>
            <a:r>
              <a:t> RETURNS trigger</a:t>
            </a:r>
          </a:p>
          <a:p>
            <a:r>
              <a:t> LANGUAGE plpgsql</a:t>
            </a:r>
          </a:p>
          <a:p>
            <a:r>
              <a:t>AS $function$</a:t>
            </a:r>
          </a:p>
          <a:p>
            <a:r>
              <a:t>BEGIN RAISE EXCEPTION 'Historical template/dataset rows are immutable' USING ERRCODE='23514'; END $function$</a:t>
            </a:r>
          </a:p>
          <a:p>
            <a:endParaRPr/>
          </a:p>
          <a:p>
            <a:endParaRPr/>
          </a:p>
          <a:p>
            <a:r>
              <a:t>CREATE OR REPLACE FUNCTION reporting.protect_stock_history()</a:t>
            </a:r>
          </a:p>
          <a:p>
            <a:r>
              <a:t> RETURNS trigger</a:t>
            </a:r>
          </a:p>
          <a:p>
            <a:r>
              <a:t> LANGUAGE plpgsql</a:t>
            </a:r>
          </a:p>
          <a:p>
            <a:r>
              <a:t>AS $function$</a:t>
            </a:r>
          </a:p>
          <a:p>
            <a:r>
              <a:t>BEGIN RAISE EXCEPTION 'Posted stock movements are append-only' USING ERRCODE='23514'; END $function$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A dedicated productPPT-ACID-PROOF was inserted and committed. A separate fresh connection read75.00. A subsequent update returned80.00, then ROLLBACK restored75.00. The fixture was explicitly deleted and committed after evidence capture; normal application rows were not modified. These are real transaction results. SQL control uses the same semantics as psycopg connection transaction contexts. Full INSERT:</a:t>
            </a:r>
          </a:p>
          <a:p>
            <a:r>
              <a:t>INSERT INTO reporting.product</a:t>
            </a:r>
          </a:p>
          <a:p>
            <a:r>
              <a:t> (product_id,sku,product_name,category,catalogue_price)</a:t>
            </a:r>
          </a:p>
          <a:p>
            <a:r>
              <a:t>OVERRIDING SYSTEM VALUE</a:t>
            </a:r>
          </a:p>
          <a:p>
            <a:r>
              <a:t>VALUES (900004,'PPT-ACID-PROOF','ACID proof product','Demo',75.00)</a:t>
            </a:r>
          </a:p>
          <a:p>
            <a:r>
              <a:t>RETURNING sku, catalogue_price;</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Atomicity: post_stock creates order/item, ledger and balance changes in one transaction; outer ROLLBACK removed all fixture rows. Consistency: foreign keys, CHECK/UNIQUE/NOT NULL constraints and post_stock business checks preserve the rules. In the actual controlled example10 received then3 sold leaves7; another8-unit sale raised23514 before creating its order, and stock remained7. Savepoint rollback restored transaction usability after the error. This is a controlled correctness test, not a claim of crash testing. Source150_retail_operations.sql. Official transactions: https://www.postgresql.org/docs/16/tutorial-transactions.html .</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Isolation evidence uses two real connections on inventory_balance product1. SessionA holds a FOR UPDATE lock, sessionB FOR UPDATE NOWAIT gets55P03, then succeeds afterA rolls back. NOWAIT is a nonblocking test option; actual post_stock uses FOR UPDATE and waits/rechecks. Report preparation and analysis explicitly use REPEATABLE READ; this is not a claim that all transactions are serializable. Durability uses PostgreSQL WAL with observed fsync/synchronous_commit/full_page_writes on. A committed fixture was visible from a new connection. No crash/power-loss test was performed. Report CSV/HTML filesystem writes are outside the database transaction. Official sources: https://www.postgresql.org/docs/16/transaction-iso.html ; https://www.postgresql.org/docs/16/explicit-locking.html ; https://www.postgresql.org/docs/16/wal-intro.html .</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user receives an accepted run quickly. Committed jobs survive a closed browser. Preparation stores a repeatable-read dataset, and bounded worker jobs render reports. Processing asynchronously changes responsiveness and scheduling, not the mathematical report result. It does not inherently make a single SQL query faster.</a:t>
            </a:r>
          </a:p>
          <a:p>
            <a:endParaRPr/>
          </a:p>
          <a:p>
            <a:r>
              <a:t>Sources: reporting/service.py; reporting/worker.py; db/migrations/070_reporting_routines.sql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scenario aligned with the automated history test: an original report contains47.50 and a later corrected query49.50. Do not claim complete event sourcing. Saved datasets keep original report inputs and the audit table separately records workflow transitions. Source changes do not automatically regenerate all reports.</a:t>
            </a:r>
          </a:p>
          <a:p>
            <a:endParaRPr/>
          </a:p>
          <a:p>
            <a:r>
              <a:t>Sources: tests/test_reporting.py; docs/PPT_REFERENCE.md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Additional feature for coursework, using established techniques. Optional Gemini can propose header mapping, interpret a supported question, and describe aggregate facts. Manual workflows work without a key. No provider inference has been verified live yet. Do not assert AI correctness or arbitrary question coverage.</a:t>
            </a:r>
          </a:p>
          <a:p>
            <a:endParaRPr/>
          </a:p>
          <a:p>
            <a:r>
              <a:t>Sources: reporting/ai.py; reporting/assistant.py; reporting/imports.py; reporting/analysis.py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New report or an existing completed run. The dashboard counts include previous rehearsals and benchmarks, so do not call these counters a fresh performance measurement.</a:t>
            </a:r>
          </a:p>
          <a:p>
            <a:endParaRPr/>
          </a:p>
          <a:p>
            <a:r>
              <a:t>Sources: Actual local application, captured 19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Headers can be mapped manually, through aliases, or optional Gemini mapping. Inspect errors before committing. An order with any invalid line is quarantined as a whole. Accepted facts go into normalized business tables. Historical imports do not deduct physical stock.</a:t>
            </a:r>
          </a:p>
          <a:p>
            <a:endParaRPr/>
          </a:p>
          <a:p>
            <a:r>
              <a:t>Sources: Actual local application, captured 19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DEMO-MOUSE is deliberately below its threshold. Each tracked balance should match the signed stock movement sum. Opening receipts define physical stock, and old imported sales are not retroactively subtracted. Current screenshot quantities reflect previous rehearsals.</a:t>
            </a:r>
          </a:p>
          <a:p>
            <a:endParaRPr/>
          </a:p>
          <a:p>
            <a:r>
              <a:t>Sources: Actual local application, captured 19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Gemini integration is implemented but the key has not been configured for this capture. The visible local rule parser is not AI. The assistant supports five approved query kinds. The model can select a supported intent and parameters, but it cannot submit arbitrary executable SQL. Execution is read-only with a five-second timeout and a100-row preview cap.</a:t>
            </a:r>
          </a:p>
          <a:p>
            <a:endParaRPr/>
          </a:p>
          <a:p>
            <a:r>
              <a:t>Sources: Actual local application, captured 19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Analysis uses one repeatable-read transaction. Revenue comes from completed order lines, orders/customers use distinct counts, and monthly results include missing months. A decline alert requires at least25% against the preceding fully included completed calendar month. Current low stock is distinct from historical period sales. Rules indicate exceptions, not causes.</a:t>
            </a:r>
          </a:p>
          <a:p>
            <a:endParaRPr/>
          </a:p>
          <a:p>
            <a:r>
              <a:t>Sources: Actual local application, captured 19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report was captured on 17 October. Replay renders its saved data using its retained template. A new report uses current source facts. The saved JSON dataset is distinct from report_audit, which records state transitions.</a:t>
            </a:r>
          </a:p>
          <a:p>
            <a:endParaRPr/>
          </a:p>
          <a:p>
            <a:r>
              <a:t>Sources: Actual local application, captured 19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57 tests passed in26.88 seconds on19 October. Tests cover backend and UI routes including stock concurrency, whole-order rejection, duplicate import retry, bounded question interpretation and monthly decline calculations. Optional provider adapters use mocked responses. This does not establish live Gemini access.</a:t>
            </a:r>
          </a:p>
          <a:p>
            <a:endParaRPr/>
          </a:p>
          <a:p>
            <a:r>
              <a:t>Sources: artifacts/test-results.txt; artifacts/schema-constraint-demonstration.json; artifacts/advanced-feature-evidence.json; tests/test_operations.py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Single local benchmark:10kcustomers100korders300klines, fourworkers.10kreportscompletedzero failures,20kCSVHTMLfilesverified. Elapsed101.249s includes submission, preparation, worker startup/polling/rendering, excludes prior seed and later checksum-verification pass. No synchronous comparison. Approx8GBRAM12logicalCPUsPG16.15 shared_buffers128MB. This is not a pure PostgreSQL or PDF benchmark.</a:t>
            </a:r>
          </a:p>
          <a:p>
            <a:endParaRPr/>
          </a:p>
          <a:p>
            <a:r>
              <a:t>Sources: artifacts/report-benchmark-10000.json, measured17 October2026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Map the guidelines to actual demonstrable artifacts. The full column dictionary in backup covers only the tables involved in the demo. In viva, open the SQL workspace or the cited migration/evidence files when asked.</a:t>
            </a:r>
          </a:p>
          <a:p>
            <a:endParaRPr/>
          </a:p>
          <a:p>
            <a:r>
              <a:t>Sources: Guidelines for BCSE302P.docx; DBS Lab Project Assessment. (3).docx; current project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Conclusion: a database-centred retail reporting application with reproducible results and atomic stock posting. Future ideas are explicitly outside the implementation. The current provider integration requires a configured key and a live smoke test. Keep these boundaries clear during questioning.</a:t>
            </a:r>
          </a:p>
          <a:p>
            <a:endParaRPr/>
          </a:p>
          <a:p>
            <a:r>
              <a:t>Sources: docs/FINAL_REVIEW_DEMO.md; current implemented scope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Course requirements: Guidelines for BCSE302P.docx and DBS Lab Project Assessment.(3).docx. Exact schema and evidence are in repository artifacts and db/migrations. Official docs explain language/database semantics, not proof of our implementation. Appendix slides are hidden by default and can be opened for viva.</a:t>
            </a:r>
          </a:p>
          <a:p>
            <a:endParaRPr/>
          </a:p>
          <a:p>
            <a:r>
              <a:t>Sources: Local source files and the official documentation linked on this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calculate loads the versioned approved SQL and executes it with bound values, returning a JSONB array. The outer jsonb_array_length query returns32rows. replay_request reads the saved dataset/template metadata and returns JSONB without re-running source SQL. Outer SELECT shows template/customer_statement and saved_rows32. Named :request_id is the captured controlled request. Full bodies follow.</a:t>
            </a:r>
          </a:p>
          <a:p>
            <a:endParaRPr/>
          </a:p>
          <a:p>
            <a:r>
              <a:t>CREATE OR REPLACE FUNCTION reporting.calculate(p_template_id bigint, p_customer bigint, p_start date, p_end date, p_top integer)</a:t>
            </a:r>
          </a:p>
          <a:p>
            <a:r>
              <a:t> RETURNS jsonb</a:t>
            </a:r>
          </a:p>
          <a:p>
            <a:r>
              <a:t> LANGUAGE plpgsql</a:t>
            </a:r>
          </a:p>
          <a:p>
            <a:r>
              <a:t>AS $function$</a:t>
            </a:r>
          </a:p>
          <a:p>
            <a:r>
              <a:t>DECLARE query_text text; result jsonb;</a:t>
            </a:r>
          </a:p>
          <a:p>
            <a:r>
              <a:t>BEGIN</a:t>
            </a:r>
          </a:p>
          <a:p>
            <a:r>
              <a:t> SELECT sql_text INTO STRICT query_text FROM reporting.template_version WHERE template_id=p_template_id;</a:t>
            </a:r>
          </a:p>
          <a:p>
            <a:r>
              <a:t> EXECUTE 'SELECT COALESCE(jsonb_agg(to_jsonb(result_rows)), ''[]''::jsonb) FROM (' || query_text || ') result_rows'</a:t>
            </a:r>
          </a:p>
          <a:p>
            <a:r>
              <a:t> INTO result USING p_customer,p_start,p_end,p_top;</a:t>
            </a:r>
          </a:p>
          <a:p>
            <a:r>
              <a:t> RETURN result;</a:t>
            </a:r>
          </a:p>
          <a:p>
            <a:r>
              <a:t>END $function$</a:t>
            </a:r>
          </a:p>
          <a:p>
            <a:endParaRPr/>
          </a:p>
          <a:p>
            <a:endParaRPr/>
          </a:p>
          <a:p>
            <a:r>
              <a:t>CREATE OR REPLACE FUNCTION reporting.replay_request(p_request uuid)</a:t>
            </a:r>
          </a:p>
          <a:p>
            <a:r>
              <a:t> RETURNS jsonb</a:t>
            </a:r>
          </a:p>
          <a:p>
            <a:r>
              <a:t> LANGUAGE sql</a:t>
            </a:r>
          </a:p>
          <a:p>
            <a:r>
              <a:t> STABLE</a:t>
            </a:r>
          </a:p>
          <a:p>
            <a:r>
              <a:t>AS $function$</a:t>
            </a:r>
          </a:p>
          <a:p>
            <a:r>
              <a:t> SELECT jsonb_build_object('request_id',q.request_id,'run_id',r.run_id,'template',t.code,</a:t>
            </a:r>
          </a:p>
          <a:p>
            <a:r>
              <a:t>   'version',t.version,'title',t.title,'start_date',r.start_date,'end_date',r.end_date,'rows',d.rows)</a:t>
            </a:r>
          </a:p>
          <a:p>
            <a:r>
              <a:t> FROM reporting.report_request q JOIN reporting.report_run r USING(run_id)</a:t>
            </a:r>
          </a:p>
          <a:p>
            <a:r>
              <a:t> JOIN reporting.template_version t USING(template_id) JOIN reporting.report_dataset d USING(request_id)</a:t>
            </a:r>
          </a:p>
          <a:p>
            <a:r>
              <a:t> WHERE q.request_id=p_request</a:t>
            </a:r>
          </a:p>
          <a:p>
            <a:r>
              <a:t>$function$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reconcile_failed_requests updates queued/processing requests whose render job is in pending dead-letter state and has no active message. The integer is rows updated. Actual capture returned0: no eligible expired request was changed. The test transaction was rolled back. It does not prove a positive failure-recovery case. Function body below.</a:t>
            </a:r>
          </a:p>
          <a:p>
            <a:endParaRPr/>
          </a:p>
          <a:p>
            <a:r>
              <a:t>CREATE OR REPLACE FUNCTION reporting.reconcile_failed_requests()</a:t>
            </a:r>
          </a:p>
          <a:p>
            <a:r>
              <a:t> RETURNS integer</a:t>
            </a:r>
          </a:p>
          <a:p>
            <a:r>
              <a:t> LANGUAGE plpgsql</a:t>
            </a:r>
          </a:p>
          <a:p>
            <a:r>
              <a:t>AS $function$</a:t>
            </a:r>
          </a:p>
          <a:p>
            <a:r>
              <a:t>DECLARE total integer;</a:t>
            </a:r>
          </a:p>
          <a:p>
            <a:r>
              <a:t>BEGIN</a:t>
            </a:r>
          </a:p>
          <a:p>
            <a:r>
              <a:t> UPDATE reporting.report_request q SET state='failed',last_error='Worker claim expired after maximum attempts'</a:t>
            </a:r>
          </a:p>
          <a:p>
            <a:r>
              <a:t> WHERE q.state IN ('queued','processing') AND EXISTS (</a:t>
            </a:r>
          </a:p>
          <a:p>
            <a:r>
              <a:t>   SELECT 1 FROM dead_letter_message d WHERE d.msg_key=q.request_id::text AND d.status='pending'</a:t>
            </a:r>
          </a:p>
          <a:p>
            <a:r>
              <a:t>     AND d.failed_group_id=(SELECT group_id FROM consumer_group WHERE group_name='report-workers'))</a:t>
            </a:r>
          </a:p>
          <a:p>
            <a:r>
              <a:t> AND NOT EXISTS (</a:t>
            </a:r>
          </a:p>
          <a:p>
            <a:r>
              <a:t>   SELECT 1 FROM message m WHERE m.msg_key=q.request_id::text AND m.status IN ('pending','claimed')</a:t>
            </a:r>
          </a:p>
          <a:p>
            <a:r>
              <a:t>     AND m.topic_id=(SELECT topic_id FROM topic WHERE topic_name='report-render'));</a:t>
            </a:r>
          </a:p>
          <a:p>
            <a:r>
              <a:t> GET DIAGNOSTICS total=ROW_COUNT;</a:t>
            </a:r>
          </a:p>
          <a:p>
            <a:r>
              <a:t> RETURN total;</a:t>
            </a:r>
          </a:p>
          <a:p>
            <a:r>
              <a:t>END $function$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mv_monthly_sales exists in current schema and is refreshed by seed.py. It is not an automatic dashboard cache; normal analysis reads its own SQL. REFRESH captures current base facts; its output is the command tagREFRESH MATERIALIZED VIEW followed here by a SELECT of the first3rows. Refresh test was rolled back. Source110_normalized_sales_totals.sql.</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The index already exists; DDL is its definition and was not executed again. Actual EXPLAIN chose a Bitmap Index Scan on sales_order_customer_date. Shown plan lines are an excerpt of the full recorded plan. Optimizer choices depend on data and statistics. This is access-path evidence, not a measured speedup. Source060_reporting_schema.sql.</a:t>
            </a:r>
          </a:p>
          <a:p>
            <a:r>
              <a:t>Full plan:</a:t>
            </a:r>
          </a:p>
          <a:p>
            <a:r>
              <a:t>Bitmap Heap Scan on sales_order  (cost=4.55..41.62 rows=10 width=8)</a:t>
            </a:r>
          </a:p>
          <a:p>
            <a:r>
              <a:t>  Recheck Cond: ((customer_id = 1) AND (ordered_at &gt;= '2026-01-01'::date) AND (ordered_at &lt; '2027-01-01'::date))</a:t>
            </a:r>
          </a:p>
          <a:p>
            <a:r>
              <a:t>  -&gt;  Bitmap Index Scan on sales_order_customer_date  (cost=0.00..4.54 rows=10 width=0)</a:t>
            </a:r>
          </a:p>
          <a:p>
            <a:r>
              <a:t>        Index Cond: ((customer_id = 1) AND (ordered_at &gt;= '2026-01-01'::date) AND (ordered_at &lt; '2027-01-01'::date))</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Executed against local PostgreSQL16.15 on20October2026. Private evidence: .local/ppt_advanced_20261020/evidence.json. Controlled report/stock tests were rolled back. Sequence gaps are normal and were not reset. Actual catalogue count5. The main slides demonstrate all three protections and audit insert/update. No destructive schema changes were executed for this presentation. Exact DDL excerpts below are existing definitions. Functions have complete bodies in main trigger slide notes.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UNIQUE (customer_ref)</a:t>
            </a:r>
          </a:p>
          <a:p>
            <a:r>
              <a:t>UNIQUE (email)</a:t>
            </a:r>
          </a:p>
          <a:p>
            <a:r>
              <a:t>CHECK ((length(TRIM(BOTH FROM full_name)) &gt; 0))</a:t>
            </a:r>
          </a:p>
          <a:p>
            <a:r>
              <a:t>PRIMARY KEY (customer_id)</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CHECK ((catalogue_price &gt;= (0)::numeric))</a:t>
            </a:r>
          </a:p>
          <a:p>
            <a:r>
              <a:t>PRIMARY KEY (product_id)</a:t>
            </a:r>
          </a:p>
          <a:p>
            <a:r>
              <a:t>UNIQUE (sku)</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FOREIGN KEY (customer_id) REFERENCES reporting.customer(customer_id) ON DELETE RESTRICT</a:t>
            </a:r>
          </a:p>
          <a:p>
            <a:r>
              <a:t>UNIQUE (order_ref)</a:t>
            </a:r>
          </a:p>
          <a:p>
            <a:r>
              <a:t>PRIMARY KEY (order_id)</a:t>
            </a:r>
          </a:p>
          <a:p>
            <a:r>
              <a:t>CHECK ((status = ANY (ARRAY['completed'::text, 'cancelled'::text])))</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CHECK ((line_number &gt; 0))</a:t>
            </a:r>
          </a:p>
          <a:p>
            <a:r>
              <a:t>FOREIGN KEY (order_id) REFERENCES reporting.sales_order(order_id) ON DELETE RESTRICT</a:t>
            </a:r>
          </a:p>
          <a:p>
            <a:r>
              <a:t>PRIMARY KEY (order_id, line_number)</a:t>
            </a:r>
          </a:p>
          <a:p>
            <a:r>
              <a:t>FOREIGN KEY (product_id) REFERENCES reporting.product(product_id) ON DELETE RESTRICT</a:t>
            </a:r>
          </a:p>
          <a:p>
            <a:r>
              <a:t>CHECK (((quantity &gt;= 1) AND (quantity &lt;= 1000000)))</a:t>
            </a:r>
          </a:p>
          <a:p>
            <a:r>
              <a:t>CHECK ((unit_price &gt;= (0)::numeric))</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PRIMARY KEY (product_id)</a:t>
            </a:r>
          </a:p>
          <a:p>
            <a:r>
              <a:t>FOREIGN KEY (product_id) REFERENCES reporting.product(product_id) ON DELETE RESTRICT</a:t>
            </a:r>
          </a:p>
          <a:p>
            <a:r>
              <a:t>CHECK ((quantity &gt;= 0))</a:t>
            </a:r>
          </a:p>
          <a:p>
            <a:r>
              <a:t>CHECK ((reorder_level &gt;= 0))</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CHECK ((((kind = 'receipt'::text) AND (quantity_delta &gt; 0) AND (order_id IS NULL) AND (customer_id IS NULL) AND (unit_price IS NULL)) OR ((kind = 'sale'::text) AND (quantity_delta &lt; 0) AND (order_id IS NOT NULL) AND (customer_id IS NOT NULL) AND (unit_price IS NOT NULL) AND (unit_price &gt;= (0)::numeric) AND (unit_price &lt;= 9999999999.99))))</a:t>
            </a:r>
          </a:p>
          <a:p>
            <a:r>
              <a:t>FOREIGN KEY (customer_id) REFERENCES reporting.customer(customer_id) ON DELETE RESTRICT</a:t>
            </a:r>
          </a:p>
          <a:p>
            <a:r>
              <a:t>CHECK ((kind = ANY (ARRAY['receipt'::text, 'sale'::text])))</a:t>
            </a:r>
          </a:p>
          <a:p>
            <a:r>
              <a:t>CHECK ((length(note) &lt;= 500))</a:t>
            </a:r>
          </a:p>
          <a:p>
            <a:r>
              <a:t>FOREIGN KEY (order_id) REFERENCES reporting.sales_order(order_id) ON DELETE RESTRICT</a:t>
            </a:r>
          </a:p>
          <a:p>
            <a:r>
              <a:t>UNIQUE (order_id)</a:t>
            </a:r>
          </a:p>
          <a:p>
            <a:r>
              <a:t>PRIMARY KEY (movement_id)</a:t>
            </a:r>
          </a:p>
          <a:p>
            <a:r>
              <a:t>FOREIGN KEY (product_id) REFERENCES reporting.product(product_id) ON DELETE RESTRICT</a:t>
            </a:r>
          </a:p>
          <a:p>
            <a:r>
              <a:t>CHECK ((quantity_delta &lt;&gt; 0))</a:t>
            </a:r>
          </a:p>
          <a:p>
            <a:r>
              <a:t>CHECK (((length(TRIM(BOTH FROM reference)) &gt;= 1) AND (length(TRIM(BOTH FROM reference)) &lt;= 100)))</a:t>
            </a:r>
          </a:p>
          <a:p>
            <a:r>
              <a:t>UNIQUE (reference)</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CHECK ((((kind = 'receipt'::text) AND (quantity_delta &gt; 0) AND (order_id IS NULL) AND (customer_id IS NULL) AND (unit_price IS NULL)) OR ((kind = 'sale'::text) AND (quantity_delta &lt; 0) AND (order_id IS NOT NULL) AND (customer_id IS NOT NULL) AND (unit_price IS NOT NULL) AND (unit_price &gt;= (0)::numeric) AND (unit_price &lt;= 9999999999.99))))</a:t>
            </a:r>
          </a:p>
          <a:p>
            <a:r>
              <a:t>FOREIGN KEY (customer_id) REFERENCES reporting.customer(customer_id) ON DELETE RESTRICT</a:t>
            </a:r>
          </a:p>
          <a:p>
            <a:r>
              <a:t>CHECK ((kind = ANY (ARRAY['receipt'::text, 'sale'::text])))</a:t>
            </a:r>
          </a:p>
          <a:p>
            <a:r>
              <a:t>CHECK ((length(note) &lt;= 500))</a:t>
            </a:r>
          </a:p>
          <a:p>
            <a:r>
              <a:t>FOREIGN KEY (order_id) REFERENCES reporting.sales_order(order_id) ON DELETE RESTRICT</a:t>
            </a:r>
          </a:p>
          <a:p>
            <a:r>
              <a:t>UNIQUE (order_id)</a:t>
            </a:r>
          </a:p>
          <a:p>
            <a:r>
              <a:t>PRIMARY KEY (movement_id)</a:t>
            </a:r>
          </a:p>
          <a:p>
            <a:r>
              <a:t>FOREIGN KEY (product_id) REFERENCES reporting.product(product_id) ON DELETE RESTRICT</a:t>
            </a:r>
          </a:p>
          <a:p>
            <a:r>
              <a:t>CHECK ((quantity_delta &lt;&gt; 0))</a:t>
            </a:r>
          </a:p>
          <a:p>
            <a:r>
              <a:t>CHECK (((length(TRIM(BOTH FROM reference)) &gt;= 1) AND (length(TRIM(BOTH FROM reference)) &lt;= 100)))</a:t>
            </a:r>
          </a:p>
          <a:p>
            <a:r>
              <a:t>UNIQUE (reference)</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CHECK ((file_sha256 ~ '^[0-9a-f]{64}$'::text))</a:t>
            </a:r>
          </a:p>
          <a:p>
            <a:r>
              <a:t>CHECK ((jsonb_typeof(headers) = 'array'::text))</a:t>
            </a:r>
          </a:p>
          <a:p>
            <a:r>
              <a:t>CHECK ((jsonb_typeof(mapping) = 'object'::text))</a:t>
            </a:r>
          </a:p>
          <a:p>
            <a:r>
              <a:t>PRIMARY KEY (batch_id)</a:t>
            </a:r>
          </a:p>
          <a:p>
            <a:r>
              <a:t>CHECK ((state = ANY (ARRAY['preview'::text, 'committed'::text])))</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CHECK ((file_sha256 ~ '^[0-9a-f]{64}$'::text))</a:t>
            </a:r>
          </a:p>
          <a:p>
            <a:r>
              <a:t>CHECK ((jsonb_typeof(headers) = 'array'::text))</a:t>
            </a:r>
          </a:p>
          <a:p>
            <a:r>
              <a:t>CHECK ((jsonb_typeof(mapping) = 'object'::text))</a:t>
            </a:r>
          </a:p>
          <a:p>
            <a:r>
              <a:t>PRIMARY KEY (batch_id)</a:t>
            </a:r>
          </a:p>
          <a:p>
            <a:r>
              <a:t>CHECK ((state = ANY (ARRAY['preview'::text, 'committed'::text])))</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FOREIGN KEY (batch_id) REFERENCES reporting.import_batch(batch_id) ON DELETE RESTRICT</a:t>
            </a:r>
          </a:p>
          <a:p>
            <a:r>
              <a:t>CHECK ((jsonb_typeof(cleaned) = 'object'::text))</a:t>
            </a:r>
          </a:p>
          <a:p>
            <a:r>
              <a:t>CHECK ((jsonb_typeof(errors) = 'array'::text))</a:t>
            </a:r>
          </a:p>
          <a:p>
            <a:r>
              <a:t>PRIMARY KEY (batch_id, row_number)</a:t>
            </a:r>
          </a:p>
          <a:p>
            <a:r>
              <a:t>CHECK ((jsonb_typeof(raw) = 'object'::text))</a:t>
            </a:r>
          </a:p>
          <a:p>
            <a:r>
              <a:t>CHECK ((row_number &gt; 0))</a:t>
            </a:r>
          </a:p>
          <a:p>
            <a:r>
              <a:t>CHECK ((state = ANY (ARRAY['valid'::text, 'rejected'::text, 'imported'::text, 'duplicate'::text])))</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CHECK ((code = ANY (ARRAY['customer_statement'::text, 'product_sales'::text, 'monthly_sales'::text])))</a:t>
            </a:r>
          </a:p>
          <a:p>
            <a:r>
              <a:t>UNIQUE (code, version)</a:t>
            </a:r>
          </a:p>
          <a:p>
            <a:r>
              <a:t>PRIMARY KEY (template_id)</a:t>
            </a:r>
          </a:p>
          <a:p>
            <a:r>
              <a:t>CHECK ((version &gt; 0))</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CHECK ((start_date &lt; end_date))</a:t>
            </a:r>
          </a:p>
          <a:p>
            <a:r>
              <a:t>CHECK (((end_date - start_date) &lt;= 3660))</a:t>
            </a:r>
          </a:p>
          <a:p>
            <a:r>
              <a:t>FOREIGN KEY (customer_id) REFERENCES reporting.customer(customer_id) ON DELETE RESTRICT</a:t>
            </a:r>
          </a:p>
          <a:p>
            <a:r>
              <a:t>PRIMARY KEY (run_id)</a:t>
            </a:r>
          </a:p>
          <a:p>
            <a:r>
              <a:t>FOREIGN KEY (requested_by) REFERENCES app_user(user_id) ON DELETE RESTRICT</a:t>
            </a:r>
          </a:p>
          <a:p>
            <a:r>
              <a:t>CHECK ((status = ANY (ARRAY['preparing'::text, 'ready'::text, 'failed'::text])))</a:t>
            </a:r>
          </a:p>
          <a:p>
            <a:r>
              <a:t>UNIQUE (submission_key)</a:t>
            </a:r>
          </a:p>
          <a:p>
            <a:r>
              <a:t>FOREIGN KEY (template_id) REFERENCES reporting.template_version(template_id) ON DELETE RESTRICT</a:t>
            </a:r>
          </a:p>
          <a:p>
            <a:r>
              <a:t>CHECK (((top_n &gt;= 1) AND (top_n &lt;= 100)))</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CHECK ((start_date &lt; end_date))</a:t>
            </a:r>
          </a:p>
          <a:p>
            <a:r>
              <a:t>CHECK (((end_date - start_date) &lt;= 3660))</a:t>
            </a:r>
          </a:p>
          <a:p>
            <a:r>
              <a:t>FOREIGN KEY (customer_id) REFERENCES reporting.customer(customer_id) ON DELETE RESTRICT</a:t>
            </a:r>
          </a:p>
          <a:p>
            <a:r>
              <a:t>PRIMARY KEY (run_id)</a:t>
            </a:r>
          </a:p>
          <a:p>
            <a:r>
              <a:t>FOREIGN KEY (requested_by) REFERENCES app_user(user_id) ON DELETE RESTRICT</a:t>
            </a:r>
          </a:p>
          <a:p>
            <a:r>
              <a:t>CHECK ((status = ANY (ARRAY['preparing'::text, 'ready'::text, 'failed'::text])))</a:t>
            </a:r>
          </a:p>
          <a:p>
            <a:r>
              <a:t>UNIQUE (submission_key)</a:t>
            </a:r>
          </a:p>
          <a:p>
            <a:r>
              <a:t>FOREIGN KEY (template_id) REFERENCES reporting.template_version(template_id) ON DELETE RESTRICT</a:t>
            </a:r>
          </a:p>
          <a:p>
            <a:r>
              <a:t>CHECK (((top_n &gt;= 1) AND (top_n &lt;= 100)))</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CHECK ((attempts &gt;= 0))</a:t>
            </a:r>
          </a:p>
          <a:p>
            <a:r>
              <a:t>FOREIGN KEY (customer_id) REFERENCES reporting.customer(customer_id) ON DELETE RESTRICT</a:t>
            </a:r>
          </a:p>
          <a:p>
            <a:r>
              <a:t>PRIMARY KEY (request_id)</a:t>
            </a:r>
          </a:p>
          <a:p>
            <a:r>
              <a:t>FOREIGN KEY (run_id) REFERENCES reporting.report_run(run_id) ON DELETE RESTRICT</a:t>
            </a:r>
          </a:p>
          <a:p>
            <a:r>
              <a:t>UNIQUE (run_id, subject_key)</a:t>
            </a:r>
          </a:p>
          <a:p>
            <a:r>
              <a:t>CHECK ((state = ANY (ARRAY['queued'::text, 'processing'::text, 'completed'::text, 'failed'::text])))</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CHECK ((attempts &gt;= 0))</a:t>
            </a:r>
          </a:p>
          <a:p>
            <a:r>
              <a:t>FOREIGN KEY (customer_id) REFERENCES reporting.customer(customer_id) ON DELETE RESTRICT</a:t>
            </a:r>
          </a:p>
          <a:p>
            <a:r>
              <a:t>PRIMARY KEY (request_id)</a:t>
            </a:r>
          </a:p>
          <a:p>
            <a:r>
              <a:t>FOREIGN KEY (run_id) REFERENCES reporting.report_run(run_id) ON DELETE RESTRICT</a:t>
            </a:r>
          </a:p>
          <a:p>
            <a:r>
              <a:t>UNIQUE (run_id, subject_key)</a:t>
            </a:r>
          </a:p>
          <a:p>
            <a:r>
              <a:t>CHECK ((state = ANY (ARRAY['queued'::text, 'processing'::text, 'completed'::text, 'failed'::text])))</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PRIMARY KEY (request_id)</a:t>
            </a:r>
          </a:p>
          <a:p>
            <a:r>
              <a:t>FOREIGN KEY (request_id) REFERENCES reporting.report_request(request_id) ON DELETE RESTRICT</a:t>
            </a:r>
          </a:p>
          <a:p>
            <a:r>
              <a:t>CHECK ((jsonb_typeof(rows) = 'array'::text))</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UNIQUE (csv_path)</a:t>
            </a:r>
          </a:p>
          <a:p>
            <a:r>
              <a:t>CHECK ((csv_sha256 ~ '^[0-9a-f]{64}$'::text))</a:t>
            </a:r>
          </a:p>
          <a:p>
            <a:r>
              <a:t>UNIQUE (html_path)</a:t>
            </a:r>
          </a:p>
          <a:p>
            <a:r>
              <a:t>CHECK ((html_sha256 ~ '^[0-9a-f]{64}$'::text))</a:t>
            </a:r>
          </a:p>
          <a:p>
            <a:r>
              <a:t>PRIMARY KEY (request_id)</a:t>
            </a:r>
          </a:p>
          <a:p>
            <a:r>
              <a:t>CHECK ((render_seconds &gt;= (0)::double precision))</a:t>
            </a:r>
          </a:p>
          <a:p>
            <a:r>
              <a:t>FOREIGN KEY (request_id) REFERENCES reporting.report_request(request_id) ON DELETE RESTRICT</a:t>
            </a:r>
          </a:p>
          <a:p>
            <a:r>
              <a:t>CHECK ((row_count &gt;= 0))</a:t>
            </a:r>
          </a:p>
          <a:p>
            <a:r>
              <a:t>CHECK ((sql_seconds &gt;= (0)::double precision))</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UNIQUE (csv_path)</a:t>
            </a:r>
          </a:p>
          <a:p>
            <a:r>
              <a:t>CHECK ((csv_sha256 ~ '^[0-9a-f]{64}$'::text))</a:t>
            </a:r>
          </a:p>
          <a:p>
            <a:r>
              <a:t>UNIQUE (html_path)</a:t>
            </a:r>
          </a:p>
          <a:p>
            <a:r>
              <a:t>CHECK ((html_sha256 ~ '^[0-9a-f]{64}$'::text))</a:t>
            </a:r>
          </a:p>
          <a:p>
            <a:r>
              <a:t>PRIMARY KEY (request_id)</a:t>
            </a:r>
          </a:p>
          <a:p>
            <a:r>
              <a:t>CHECK ((render_seconds &gt;= (0)::double precision))</a:t>
            </a:r>
          </a:p>
          <a:p>
            <a:r>
              <a:t>FOREIGN KEY (request_id) REFERENCES reporting.report_request(request_id) ON DELETE RESTRICT</a:t>
            </a:r>
          </a:p>
          <a:p>
            <a:r>
              <a:t>CHECK ((row_count &gt;= 0))</a:t>
            </a:r>
          </a:p>
          <a:p>
            <a:r>
              <a:t>CHECK ((sql_seconds &gt;= (0)::double precision))</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PRIMARY KEY (audit_id)</a:t>
            </a:r>
          </a:p>
          <a:p>
            <a:r>
              <a:t>FOREIGN KEY (request_id) REFERENCES reporting.report_request(request_id) ON DELETE RESTRICT</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PRIMARY KEY (request_id)</a:t>
            </a:r>
          </a:p>
          <a:p>
            <a:r>
              <a:t>CHECK (((length(prompt) &gt;= 1) AND (length(prompt) &lt;= 2000)))</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PRIMARY KEY (request_id)</a:t>
            </a:r>
          </a:p>
          <a:p>
            <a:r>
              <a:t>CHECK (((length(prompt) &gt;= 1) AND (length(prompt) &lt;= 2000)))</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CHECK ((end_date &gt; start_date))</a:t>
            </a:r>
          </a:p>
          <a:p>
            <a:r>
              <a:t>PRIMARY KEY (analysis_id)</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viva. Only demo-related tables appear. PK and FK annotations follow the actual constraints. Composite keys identify a combination.</a:t>
            </a:r>
          </a:p>
          <a:p>
            <a:endParaRPr/>
          </a:p>
          <a:p>
            <a:r>
              <a:t>CHECK ((end_date &gt; start_date))</a:t>
            </a:r>
          </a:p>
          <a:p>
            <a:r>
              <a:t>PRIMARY KEY (analysis_id)</a:t>
            </a:r>
          </a:p>
          <a:p>
            <a:endParaRPr/>
          </a:p>
          <a:p>
            <a:r>
              <a:t>Sources: artifacts/final-review-schema.json; db/migrations/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Recorded query/output,18October2026. The inner query refers to the outer customer's c.customer_id, making it correlated. EXISTS asks whether a qualifying order exists; NOT EXISTS keeps customers for whom it does not. SELECT 1 is an existence test, not a returned order count. LIMIT shows only the first three matching customers; it does not imply only three exist.</a:t>
            </a:r>
          </a:p>
          <a:p>
            <a:endParaRPr/>
          </a:p>
          <a:p>
            <a:r>
              <a:t>Sources: artifacts/section-7-query-results.json, Q5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Recorded query/output,18October2026. Aggregate each product's units and value first, then rank products by sales value. DENSE_RANK gives equal totals the same rank and leaves no gap in the next rank. LIMIT 3 returns three product rows, not necessarily every product in the first three rank groups if ties occur.</a:t>
            </a:r>
          </a:p>
          <a:p>
            <a:endParaRPr/>
          </a:p>
          <a:p>
            <a:r>
              <a:t>Sources: artifacts/section-7-query-results.json, Q6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Recorded query/output,18October2026. The WITH clause defines a named intermediate query for monthly aggregates, not a persistent table. date_trunc maps order dates to the start of their month; GROUP BY 1 groups by that first SELECT expression. COUNT(DISTINCT order_id) avoids counting an order repeatedly because it has multiple item lines. The window then accumulates sales in month order. Months without matching sales are absent; zero-filled calendar months are not implemented.</a:t>
            </a:r>
          </a:p>
          <a:p>
            <a:endParaRPr/>
          </a:p>
          <a:p>
            <a:r>
              <a:t>Sources: artifacts/section-7-query-results.json, Q7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Actual excerpts from post_stock. The function additionally validates parameters, serializes references for idempotency, creates the sales order and line, updates the stock balance and inserts the movement in the caller transaction. The excerpt does not replace the complete function.</a:t>
            </a:r>
          </a:p>
          <a:p>
            <a:endParaRPr/>
          </a:p>
          <a:p>
            <a:r>
              <a:t>Sources: db/migrations/150_retail_operations.sql, excerpt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trigger prevents update/delete of posted stock movements by invoking a function that raises SQLSTATE23514. The index supports the customer/date predicates in sales queries. Recorded EXPLAIN evidence shows a bitmap index scan in artifacts/advanced-feature-evidence.json. A chosen index in one plan does not prove a universal speed improvement.</a:t>
            </a:r>
          </a:p>
          <a:p>
            <a:endParaRPr/>
          </a:p>
          <a:p>
            <a:r>
              <a:t>Sources: db/migrations/150_retail_operations.sql; 060_reporting_schema.sql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template version can support many runs, one run contains many individual requests. Each request has at most one dataset and at most one result. A request can have many audit events. One import batch contains many staged rows. Arrows indicate parent-to-child relationships and the text states cardinalities.</a:t>
            </a:r>
          </a:p>
          <a:p>
            <a:endParaRPr/>
          </a:p>
          <a:p>
            <a:r>
              <a:t>Sources: db/migrations/060_reporting_schema.sql; 150_retail_operations.sql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9F99DF2-17A6-4FC4-B49A-FB85A6AF93D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78120AA9-F452-44F0-8BD2-2F1A07C03A3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FBF7F83B-D145-4D32-89A2-63D7DDE4CA2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28A94B6-E32F-4DD9-8965-DA5A7569C8B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71641F41-0E81-4EAF-B314-4BCFAE687B5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4808A6E-22E5-441B-986D-580D427783C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91CDBF2-95AC-4025-BA2C-9DFCD983AD0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E772366-E246-4F52-B757-421A5C73EB4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1C9C96C-7152-4B18-91D2-44521D59F64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98B187B-AD67-48E6-B1F2-75815612227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8545AD8-4919-4F9B-8362-005874DE5F04}"/>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endParaRPr>
              <a:latin typeface="Georgia" panose="02040502050405020303" pitchFamily="18" charset="0"/>
            </a:endParaRPr>
          </a:p>
        </p:txBody>
      </p:sp>
      <p:sp>
        <p:nvSpPr>
          <p:cNvPr id="2" name="Rectangle 1">
            <a:extLst>
              <a:ext uri="{FF2B5EF4-FFF2-40B4-BE49-F238E27FC236}">
                <a16:creationId xmlns:a16="http://schemas.microsoft.com/office/drawing/2014/main" id="{BA3836C3-9BBC-4A3E-A431-F366DAF39B20}"/>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Georgia" panose="02040502050405020303" pitchFamily="18" charset="0"/>
              </a:rPr>
              <a:t>01</a:t>
            </a:r>
          </a:p>
        </p:txBody>
      </p:sp>
      <p:sp>
        <p:nvSpPr>
          <p:cNvPr id="3" name="Rectangle 2">
            <a:extLst>
              <a:ext uri="{FF2B5EF4-FFF2-40B4-BE49-F238E27FC236}">
                <a16:creationId xmlns:a16="http://schemas.microsoft.com/office/drawing/2014/main" id="{9D5C22F8-5008-4ECE-B7FE-0E12F156E13C}"/>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Georgia" panose="02040502050405020303" pitchFamily="18" charset="0"/>
              </a:rPr>
              <a:t>CONDUIT / DATABASE SYSTEMS LAB</a:t>
            </a:r>
          </a:p>
        </p:txBody>
      </p:sp>
      <p:sp>
        <p:nvSpPr>
          <p:cNvPr id="4" name="Rectangle 3">
            <a:extLst>
              <a:ext uri="{FF2B5EF4-FFF2-40B4-BE49-F238E27FC236}">
                <a16:creationId xmlns:a16="http://schemas.microsoft.com/office/drawing/2014/main" id="{B8CCD07C-9EF3-4519-B940-C638A510CB6E}"/>
              </a:ext>
            </a:extLst>
          </p:cNvPr>
          <p:cNvSpPr>
            <a:spLocks noGrp="1"/>
          </p:cNvSpPr>
          <p:nvPr/>
        </p:nvSpPr>
        <p:spPr>
          <a:xfrm>
            <a:off x="609600" y="1066800"/>
            <a:ext cx="10477500" cy="1047750"/>
          </a:xfrm>
          <a:prstGeom prst="rect">
            <a:avLst/>
          </a:prstGeom>
          <a:noFill/>
          <a:ln w="0">
            <a:noFill/>
          </a:ln>
        </p:spPr>
        <p:txBody>
          <a:bodyPr wrap="square" lIns="0" tIns="0" rIns="0" bIns="0" anchor="t">
            <a:noAutofit/>
          </a:bodyPr>
          <a:lstStyle>
            <a:defPPr>
              <a:defRPr sz="6600" b="1">
                <a:solidFill>
                  <a:srgbClr val="F1F4F6"/>
                </a:solidFill>
                <a:latin typeface="Arial"/>
                <a:ea typeface="Arial"/>
                <a:cs typeface="Arial"/>
              </a:defRPr>
            </a:defPPr>
            <a:lvl1pPr>
              <a:defRPr sz="6600" b="1">
                <a:solidFill>
                  <a:srgbClr val="F1F4F6"/>
                </a:solidFill>
                <a:latin typeface="Arial"/>
                <a:ea typeface="Arial"/>
                <a:cs typeface="Arial"/>
              </a:defRPr>
            </a:lvl1pPr>
            <a:lvl2pPr>
              <a:defRPr sz="6600" b="1">
                <a:solidFill>
                  <a:srgbClr val="F1F4F6"/>
                </a:solidFill>
                <a:latin typeface="Arial"/>
                <a:ea typeface="Arial"/>
                <a:cs typeface="Arial"/>
              </a:defRPr>
            </a:lvl2pPr>
            <a:lvl3pPr>
              <a:defRPr sz="6600" b="1">
                <a:solidFill>
                  <a:srgbClr val="F1F4F6"/>
                </a:solidFill>
                <a:latin typeface="Arial"/>
                <a:ea typeface="Arial"/>
                <a:cs typeface="Arial"/>
              </a:defRPr>
            </a:lvl3pPr>
            <a:lvl4pPr>
              <a:defRPr sz="6600" b="1">
                <a:solidFill>
                  <a:srgbClr val="F1F4F6"/>
                </a:solidFill>
                <a:latin typeface="Arial"/>
                <a:ea typeface="Arial"/>
                <a:cs typeface="Arial"/>
              </a:defRPr>
            </a:lvl4pPr>
            <a:lvl5pPr>
              <a:defRPr sz="6600" b="1">
                <a:solidFill>
                  <a:srgbClr val="F1F4F6"/>
                </a:solidFill>
                <a:latin typeface="Arial"/>
                <a:ea typeface="Arial"/>
                <a:cs typeface="Arial"/>
              </a:defRPr>
            </a:lvl5pPr>
            <a:lvl6pPr>
              <a:defRPr sz="6600" b="1">
                <a:solidFill>
                  <a:srgbClr val="F1F4F6"/>
                </a:solidFill>
                <a:latin typeface="Arial"/>
                <a:ea typeface="Arial"/>
                <a:cs typeface="Arial"/>
              </a:defRPr>
            </a:lvl6pPr>
            <a:lvl7pPr>
              <a:defRPr sz="6600" b="1">
                <a:solidFill>
                  <a:srgbClr val="F1F4F6"/>
                </a:solidFill>
                <a:latin typeface="Arial"/>
                <a:ea typeface="Arial"/>
                <a:cs typeface="Arial"/>
              </a:defRPr>
            </a:lvl7pPr>
            <a:lvl8pPr>
              <a:defRPr sz="6600" b="1">
                <a:solidFill>
                  <a:srgbClr val="F1F4F6"/>
                </a:solidFill>
                <a:latin typeface="Arial"/>
                <a:ea typeface="Arial"/>
                <a:cs typeface="Arial"/>
              </a:defRPr>
            </a:lvl8pPr>
            <a:lvl9pPr>
              <a:defRPr sz="6600" b="1">
                <a:solidFill>
                  <a:srgbClr val="F1F4F6"/>
                </a:solidFill>
                <a:latin typeface="Arial"/>
                <a:ea typeface="Arial"/>
                <a:cs typeface="Arial"/>
              </a:defRPr>
            </a:lvl9pPr>
          </a:lstStyle>
          <a:p>
            <a:pPr>
              <a:defRPr sz="6600" b="1">
                <a:solidFill>
                  <a:srgbClr val="F1F4F6"/>
                </a:solidFill>
                <a:latin typeface="Arial"/>
                <a:ea typeface="Arial"/>
                <a:cs typeface="Arial"/>
              </a:defRPr>
            </a:pPr>
            <a:r>
              <a:rPr sz="6600" b="1" dirty="0">
                <a:solidFill>
                  <a:srgbClr val="F1F4F6"/>
                </a:solidFill>
                <a:latin typeface="Georgia" panose="02040502050405020303" pitchFamily="18" charset="0"/>
              </a:rPr>
              <a:t>CONDUIT</a:t>
            </a:r>
          </a:p>
        </p:txBody>
      </p:sp>
      <p:sp>
        <p:nvSpPr>
          <p:cNvPr id="5" name="Rectangle 4">
            <a:extLst>
              <a:ext uri="{FF2B5EF4-FFF2-40B4-BE49-F238E27FC236}">
                <a16:creationId xmlns:a16="http://schemas.microsoft.com/office/drawing/2014/main" id="{BF7E7112-2A6D-436F-A1F7-09DE56FB9265}"/>
              </a:ext>
            </a:extLst>
          </p:cNvPr>
          <p:cNvSpPr>
            <a:spLocks noGrp="1"/>
          </p:cNvSpPr>
          <p:nvPr/>
        </p:nvSpPr>
        <p:spPr>
          <a:xfrm>
            <a:off x="647700" y="2438400"/>
            <a:ext cx="10001250" cy="1428750"/>
          </a:xfrm>
          <a:prstGeom prst="rect">
            <a:avLst/>
          </a:prstGeom>
          <a:noFill/>
          <a:ln w="0">
            <a:noFill/>
          </a:ln>
        </p:spPr>
        <p:txBody>
          <a:bodyPr wrap="square" lIns="0" tIns="0" rIns="0" bIns="0" anchor="t">
            <a:noAutofit/>
          </a:bodyPr>
          <a:lstStyle>
            <a:defPPr>
              <a:defRPr sz="3600" b="0">
                <a:solidFill>
                  <a:srgbClr val="70D6C4"/>
                </a:solidFill>
                <a:latin typeface="Arial"/>
                <a:ea typeface="Arial"/>
                <a:cs typeface="Arial"/>
              </a:defRPr>
            </a:defPPr>
            <a:lvl1pPr>
              <a:defRPr sz="3600" b="0">
                <a:solidFill>
                  <a:srgbClr val="70D6C4"/>
                </a:solidFill>
                <a:latin typeface="Arial"/>
                <a:ea typeface="Arial"/>
                <a:cs typeface="Arial"/>
              </a:defRPr>
            </a:lvl1pPr>
            <a:lvl2pPr>
              <a:defRPr sz="3600" b="0">
                <a:solidFill>
                  <a:srgbClr val="70D6C4"/>
                </a:solidFill>
                <a:latin typeface="Arial"/>
                <a:ea typeface="Arial"/>
                <a:cs typeface="Arial"/>
              </a:defRPr>
            </a:lvl2pPr>
            <a:lvl3pPr>
              <a:defRPr sz="3600" b="0">
                <a:solidFill>
                  <a:srgbClr val="70D6C4"/>
                </a:solidFill>
                <a:latin typeface="Arial"/>
                <a:ea typeface="Arial"/>
                <a:cs typeface="Arial"/>
              </a:defRPr>
            </a:lvl3pPr>
            <a:lvl4pPr>
              <a:defRPr sz="3600" b="0">
                <a:solidFill>
                  <a:srgbClr val="70D6C4"/>
                </a:solidFill>
                <a:latin typeface="Arial"/>
                <a:ea typeface="Arial"/>
                <a:cs typeface="Arial"/>
              </a:defRPr>
            </a:lvl4pPr>
            <a:lvl5pPr>
              <a:defRPr sz="3600" b="0">
                <a:solidFill>
                  <a:srgbClr val="70D6C4"/>
                </a:solidFill>
                <a:latin typeface="Arial"/>
                <a:ea typeface="Arial"/>
                <a:cs typeface="Arial"/>
              </a:defRPr>
            </a:lvl5pPr>
            <a:lvl6pPr>
              <a:defRPr sz="3600" b="0">
                <a:solidFill>
                  <a:srgbClr val="70D6C4"/>
                </a:solidFill>
                <a:latin typeface="Arial"/>
                <a:ea typeface="Arial"/>
                <a:cs typeface="Arial"/>
              </a:defRPr>
            </a:lvl6pPr>
            <a:lvl7pPr>
              <a:defRPr sz="3600" b="0">
                <a:solidFill>
                  <a:srgbClr val="70D6C4"/>
                </a:solidFill>
                <a:latin typeface="Arial"/>
                <a:ea typeface="Arial"/>
                <a:cs typeface="Arial"/>
              </a:defRPr>
            </a:lvl7pPr>
            <a:lvl8pPr>
              <a:defRPr sz="3600" b="0">
                <a:solidFill>
                  <a:srgbClr val="70D6C4"/>
                </a:solidFill>
                <a:latin typeface="Arial"/>
                <a:ea typeface="Arial"/>
                <a:cs typeface="Arial"/>
              </a:defRPr>
            </a:lvl8pPr>
            <a:lvl9pPr>
              <a:defRPr sz="3600" b="0">
                <a:solidFill>
                  <a:srgbClr val="70D6C4"/>
                </a:solidFill>
                <a:latin typeface="Arial"/>
                <a:ea typeface="Arial"/>
                <a:cs typeface="Arial"/>
              </a:defRPr>
            </a:lvl9pPr>
          </a:lstStyle>
          <a:p>
            <a:pPr>
              <a:defRPr sz="3600" b="0">
                <a:solidFill>
                  <a:srgbClr val="70D6C4"/>
                </a:solidFill>
                <a:latin typeface="Arial"/>
                <a:ea typeface="Arial"/>
                <a:cs typeface="Arial"/>
              </a:defRPr>
            </a:pPr>
            <a:r>
              <a:rPr sz="3600" b="0" dirty="0">
                <a:solidFill>
                  <a:srgbClr val="70D6C4"/>
                </a:solidFill>
                <a:latin typeface="Georgia" panose="02040502050405020303" pitchFamily="18" charset="0"/>
              </a:rPr>
              <a:t>Retail Operations and</a:t>
            </a:r>
          </a:p>
          <a:p>
            <a:pPr>
              <a:defRPr sz="3600" b="0">
                <a:solidFill>
                  <a:srgbClr val="70D6C4"/>
                </a:solidFill>
                <a:latin typeface="Arial"/>
                <a:ea typeface="Arial"/>
                <a:cs typeface="Arial"/>
              </a:defRPr>
            </a:pPr>
            <a:r>
              <a:rPr sz="3600" b="0" dirty="0">
                <a:solidFill>
                  <a:srgbClr val="70D6C4"/>
                </a:solidFill>
                <a:latin typeface="Georgia" panose="02040502050405020303" pitchFamily="18" charset="0"/>
              </a:rPr>
              <a:t>Explainable Reporting</a:t>
            </a:r>
          </a:p>
        </p:txBody>
      </p:sp>
      <p:sp>
        <p:nvSpPr>
          <p:cNvPr id="7" name="Rectangle 6">
            <a:extLst>
              <a:ext uri="{FF2B5EF4-FFF2-40B4-BE49-F238E27FC236}">
                <a16:creationId xmlns:a16="http://schemas.microsoft.com/office/drawing/2014/main" id="{80C8231F-2A13-4556-A34C-D315A27B6207}"/>
              </a:ext>
            </a:extLst>
          </p:cNvPr>
          <p:cNvSpPr>
            <a:spLocks noGrp="1"/>
          </p:cNvSpPr>
          <p:nvPr/>
        </p:nvSpPr>
        <p:spPr>
          <a:xfrm>
            <a:off x="647700" y="5095875"/>
            <a:ext cx="10382250" cy="1000125"/>
          </a:xfrm>
          <a:prstGeom prst="rect">
            <a:avLst/>
          </a:prstGeom>
          <a:noFill/>
          <a:ln w="0">
            <a:noFill/>
          </a:ln>
        </p:spPr>
        <p:txBody>
          <a:bodyPr wrap="square" lIns="0" tIns="0" rIns="0" bIns="0" anchor="t">
            <a:noAutofit/>
          </a:bodyPr>
          <a:lstStyle>
            <a:defPPr>
              <a:defRPr sz="1725" b="0">
                <a:solidFill>
                  <a:srgbClr val="F1F4F6"/>
                </a:solidFill>
                <a:latin typeface="Arial"/>
                <a:ea typeface="Arial"/>
                <a:cs typeface="Arial"/>
              </a:defRPr>
            </a:defPPr>
            <a:lvl1pPr>
              <a:defRPr sz="1725" b="0">
                <a:solidFill>
                  <a:srgbClr val="F1F4F6"/>
                </a:solidFill>
                <a:latin typeface="Arial"/>
                <a:ea typeface="Arial"/>
                <a:cs typeface="Arial"/>
              </a:defRPr>
            </a:lvl1pPr>
            <a:lvl2pPr>
              <a:defRPr sz="1725" b="0">
                <a:solidFill>
                  <a:srgbClr val="F1F4F6"/>
                </a:solidFill>
                <a:latin typeface="Arial"/>
                <a:ea typeface="Arial"/>
                <a:cs typeface="Arial"/>
              </a:defRPr>
            </a:lvl2pPr>
            <a:lvl3pPr>
              <a:defRPr sz="1725" b="0">
                <a:solidFill>
                  <a:srgbClr val="F1F4F6"/>
                </a:solidFill>
                <a:latin typeface="Arial"/>
                <a:ea typeface="Arial"/>
                <a:cs typeface="Arial"/>
              </a:defRPr>
            </a:lvl3pPr>
            <a:lvl4pPr>
              <a:defRPr sz="1725" b="0">
                <a:solidFill>
                  <a:srgbClr val="F1F4F6"/>
                </a:solidFill>
                <a:latin typeface="Arial"/>
                <a:ea typeface="Arial"/>
                <a:cs typeface="Arial"/>
              </a:defRPr>
            </a:lvl4pPr>
            <a:lvl5pPr>
              <a:defRPr sz="1725" b="0">
                <a:solidFill>
                  <a:srgbClr val="F1F4F6"/>
                </a:solidFill>
                <a:latin typeface="Arial"/>
                <a:ea typeface="Arial"/>
                <a:cs typeface="Arial"/>
              </a:defRPr>
            </a:lvl5pPr>
            <a:lvl6pPr>
              <a:defRPr sz="1725" b="0">
                <a:solidFill>
                  <a:srgbClr val="F1F4F6"/>
                </a:solidFill>
                <a:latin typeface="Arial"/>
                <a:ea typeface="Arial"/>
                <a:cs typeface="Arial"/>
              </a:defRPr>
            </a:lvl6pPr>
            <a:lvl7pPr>
              <a:defRPr sz="1725" b="0">
                <a:solidFill>
                  <a:srgbClr val="F1F4F6"/>
                </a:solidFill>
                <a:latin typeface="Arial"/>
                <a:ea typeface="Arial"/>
                <a:cs typeface="Arial"/>
              </a:defRPr>
            </a:lvl7pPr>
            <a:lvl8pPr>
              <a:defRPr sz="1725" b="0">
                <a:solidFill>
                  <a:srgbClr val="F1F4F6"/>
                </a:solidFill>
                <a:latin typeface="Arial"/>
                <a:ea typeface="Arial"/>
                <a:cs typeface="Arial"/>
              </a:defRPr>
            </a:lvl8pPr>
            <a:lvl9pPr>
              <a:defRPr sz="1725" b="0">
                <a:solidFill>
                  <a:srgbClr val="F1F4F6"/>
                </a:solidFill>
                <a:latin typeface="Arial"/>
                <a:ea typeface="Arial"/>
                <a:cs typeface="Arial"/>
              </a:defRPr>
            </a:lvl9pPr>
          </a:lstStyle>
          <a:p>
            <a:pPr>
              <a:defRPr sz="1725" b="0">
                <a:solidFill>
                  <a:srgbClr val="F1F4F6"/>
                </a:solidFill>
                <a:latin typeface="Arial"/>
                <a:ea typeface="Arial"/>
                <a:cs typeface="Arial"/>
              </a:defRPr>
            </a:pPr>
            <a:r>
              <a:rPr sz="1725" b="0" dirty="0">
                <a:solidFill>
                  <a:srgbClr val="F1F4F6"/>
                </a:solidFill>
                <a:latin typeface="Georgia" panose="02040502050405020303" pitchFamily="18" charset="0"/>
              </a:rPr>
              <a:t>G ANIRUDH  24BDS0335</a:t>
            </a:r>
          </a:p>
          <a:p>
            <a:pPr>
              <a:defRPr sz="1725" b="0">
                <a:solidFill>
                  <a:srgbClr val="F1F4F6"/>
                </a:solidFill>
                <a:latin typeface="Arial"/>
                <a:ea typeface="Arial"/>
                <a:cs typeface="Arial"/>
              </a:defRPr>
            </a:pPr>
            <a:r>
              <a:rPr sz="1725" b="0" dirty="0">
                <a:solidFill>
                  <a:srgbClr val="F1F4F6"/>
                </a:solidFill>
                <a:latin typeface="Georgia" panose="02040502050405020303" pitchFamily="18" charset="0"/>
              </a:rPr>
              <a:t>TANAY MOHTA  24BDS0294</a:t>
            </a:r>
          </a:p>
          <a:p>
            <a:pPr>
              <a:defRPr sz="1725" b="0">
                <a:solidFill>
                  <a:srgbClr val="F1F4F6"/>
                </a:solidFill>
                <a:latin typeface="Arial"/>
                <a:ea typeface="Arial"/>
                <a:cs typeface="Arial"/>
              </a:defRPr>
            </a:pPr>
            <a:r>
              <a:rPr sz="1725" b="0" dirty="0">
                <a:solidFill>
                  <a:srgbClr val="F1F4F6"/>
                </a:solidFill>
                <a:latin typeface="Georgia" panose="02040502050405020303" pitchFamily="18" charset="0"/>
              </a:rPr>
              <a:t>DHYEY DHARMESHBHAI DUMASIA  24BCE0529</a:t>
            </a:r>
          </a:p>
        </p:txBody>
      </p:sp>
    </p:spTree>
    <p:extLst>
      <p:ext uri="{BB962C8B-B14F-4D97-AF65-F5344CB8AC3E}">
        <p14:creationId xmlns:p14="http://schemas.microsoft.com/office/powerpoint/2010/main" val="1709939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C0F7A6-383E-4953-B620-BCF45BCD2939}"/>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Problem Statement</a:t>
            </a:r>
          </a:p>
        </p:txBody>
      </p:sp>
      <p:sp>
        <p:nvSpPr>
          <p:cNvPr id="2" name="Rectangle 1">
            <a:extLst>
              <a:ext uri="{FF2B5EF4-FFF2-40B4-BE49-F238E27FC236}">
                <a16:creationId xmlns:a16="http://schemas.microsoft.com/office/drawing/2014/main" id="{D4DEE66D-89D2-4111-9A14-17B68D165F97}"/>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02</a:t>
            </a:r>
          </a:p>
        </p:txBody>
      </p:sp>
      <p:sp>
        <p:nvSpPr>
          <p:cNvPr id="3" name="Rectangle 2">
            <a:extLst>
              <a:ext uri="{FF2B5EF4-FFF2-40B4-BE49-F238E27FC236}">
                <a16:creationId xmlns:a16="http://schemas.microsoft.com/office/drawing/2014/main" id="{1309AD5B-FF53-4ED9-84D6-9024A06CB1DC}"/>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C15052B4-6F61-45CB-B470-91B2C58D7C3D}"/>
              </a:ext>
            </a:extLst>
          </p:cNvPr>
          <p:cNvSpPr>
            <a:spLocks noGrp="1"/>
          </p:cNvSpPr>
          <p:nvPr/>
        </p:nvSpPr>
        <p:spPr>
          <a:xfrm>
            <a:off x="609600" y="1571625"/>
            <a:ext cx="10953750" cy="1047750"/>
          </a:xfrm>
          <a:prstGeom prst="rect">
            <a:avLst/>
          </a:prstGeom>
          <a:noFill/>
          <a:ln w="0">
            <a:noFill/>
          </a:ln>
        </p:spPr>
        <p:txBody>
          <a:bodyPr wrap="square" lIns="0" tIns="0" rIns="0" bIns="0" anchor="t">
            <a:noAutofit/>
          </a:bodyPr>
          <a:lstStyle>
            <a:defPPr>
              <a:defRPr sz="2850" b="1">
                <a:solidFill>
                  <a:srgbClr val="70D6C4"/>
                </a:solidFill>
                <a:latin typeface="Arial"/>
                <a:ea typeface="Arial"/>
                <a:cs typeface="Arial"/>
              </a:defRPr>
            </a:defPPr>
            <a:lvl1pPr>
              <a:defRPr sz="2850" b="1">
                <a:solidFill>
                  <a:srgbClr val="70D6C4"/>
                </a:solidFill>
                <a:latin typeface="Arial"/>
                <a:ea typeface="Arial"/>
                <a:cs typeface="Arial"/>
              </a:defRPr>
            </a:lvl1pPr>
            <a:lvl2pPr>
              <a:defRPr sz="2850" b="1">
                <a:solidFill>
                  <a:srgbClr val="70D6C4"/>
                </a:solidFill>
                <a:latin typeface="Arial"/>
                <a:ea typeface="Arial"/>
                <a:cs typeface="Arial"/>
              </a:defRPr>
            </a:lvl2pPr>
            <a:lvl3pPr>
              <a:defRPr sz="2850" b="1">
                <a:solidFill>
                  <a:srgbClr val="70D6C4"/>
                </a:solidFill>
                <a:latin typeface="Arial"/>
                <a:ea typeface="Arial"/>
                <a:cs typeface="Arial"/>
              </a:defRPr>
            </a:lvl3pPr>
            <a:lvl4pPr>
              <a:defRPr sz="2850" b="1">
                <a:solidFill>
                  <a:srgbClr val="70D6C4"/>
                </a:solidFill>
                <a:latin typeface="Arial"/>
                <a:ea typeface="Arial"/>
                <a:cs typeface="Arial"/>
              </a:defRPr>
            </a:lvl4pPr>
            <a:lvl5pPr>
              <a:defRPr sz="2850" b="1">
                <a:solidFill>
                  <a:srgbClr val="70D6C4"/>
                </a:solidFill>
                <a:latin typeface="Arial"/>
                <a:ea typeface="Arial"/>
                <a:cs typeface="Arial"/>
              </a:defRPr>
            </a:lvl5pPr>
            <a:lvl6pPr>
              <a:defRPr sz="2850" b="1">
                <a:solidFill>
                  <a:srgbClr val="70D6C4"/>
                </a:solidFill>
                <a:latin typeface="Arial"/>
                <a:ea typeface="Arial"/>
                <a:cs typeface="Arial"/>
              </a:defRPr>
            </a:lvl6pPr>
            <a:lvl7pPr>
              <a:defRPr sz="2850" b="1">
                <a:solidFill>
                  <a:srgbClr val="70D6C4"/>
                </a:solidFill>
                <a:latin typeface="Arial"/>
                <a:ea typeface="Arial"/>
                <a:cs typeface="Arial"/>
              </a:defRPr>
            </a:lvl7pPr>
            <a:lvl8pPr>
              <a:defRPr sz="2850" b="1">
                <a:solidFill>
                  <a:srgbClr val="70D6C4"/>
                </a:solidFill>
                <a:latin typeface="Arial"/>
                <a:ea typeface="Arial"/>
                <a:cs typeface="Arial"/>
              </a:defRPr>
            </a:lvl8pPr>
            <a:lvl9pPr>
              <a:defRPr sz="2850" b="1">
                <a:solidFill>
                  <a:srgbClr val="70D6C4"/>
                </a:solidFill>
                <a:latin typeface="Arial"/>
                <a:ea typeface="Arial"/>
                <a:cs typeface="Arial"/>
              </a:defRPr>
            </a:lvl9pPr>
          </a:lstStyle>
          <a:p>
            <a:pPr>
              <a:defRPr sz="2850" b="1">
                <a:solidFill>
                  <a:srgbClr val="70D6C4"/>
                </a:solidFill>
                <a:latin typeface="Arial"/>
                <a:ea typeface="Arial"/>
                <a:cs typeface="Arial"/>
              </a:defRPr>
            </a:pPr>
            <a:r>
              <a:rPr sz="2850" b="1">
                <a:solidFill>
                  <a:srgbClr val="70D6C4"/>
                </a:solidFill>
                <a:latin typeface="Arial"/>
                <a:ea typeface="Arial"/>
                <a:cs typeface="Arial"/>
              </a:rPr>
              <a:t>A retailer needs accurate sales and stock records</a:t>
            </a:r>
          </a:p>
          <a:p>
            <a:pPr>
              <a:defRPr sz="2850" b="1">
                <a:solidFill>
                  <a:srgbClr val="70D6C4"/>
                </a:solidFill>
                <a:latin typeface="Arial"/>
                <a:ea typeface="Arial"/>
                <a:cs typeface="Arial"/>
              </a:defRPr>
            </a:pPr>
            <a:r>
              <a:rPr sz="2850" b="1">
                <a:solidFill>
                  <a:srgbClr val="70D6C4"/>
                </a:solidFill>
                <a:latin typeface="Arial"/>
                <a:ea typeface="Arial"/>
                <a:cs typeface="Arial"/>
              </a:rPr>
              <a:t>to produce useful business reports.</a:t>
            </a:r>
          </a:p>
        </p:txBody>
      </p:sp>
      <p:sp>
        <p:nvSpPr>
          <p:cNvPr id="5" name="Rectangle 4">
            <a:extLst>
              <a:ext uri="{FF2B5EF4-FFF2-40B4-BE49-F238E27FC236}">
                <a16:creationId xmlns:a16="http://schemas.microsoft.com/office/drawing/2014/main" id="{AD605F4A-0203-4DCA-BCC4-2AF41C6D729A}"/>
              </a:ext>
            </a:extLst>
          </p:cNvPr>
          <p:cNvSpPr>
            <a:spLocks noGrp="1"/>
          </p:cNvSpPr>
          <p:nvPr/>
        </p:nvSpPr>
        <p:spPr>
          <a:xfrm>
            <a:off x="609600" y="3048000"/>
            <a:ext cx="10858500" cy="2857500"/>
          </a:xfrm>
          <a:prstGeom prst="rect">
            <a:avLst/>
          </a:prstGeom>
          <a:noFill/>
          <a:ln w="0">
            <a:noFill/>
          </a:ln>
        </p:spPr>
        <p:txBody>
          <a:bodyPr wrap="square" lIns="0" tIns="0" rIns="0" bIns="0" anchor="t">
            <a:noAutofit/>
          </a:bodyPr>
          <a:lstStyle>
            <a:defPPr>
              <a:defRPr sz="2025" b="0">
                <a:solidFill>
                  <a:srgbClr val="F1F4F6"/>
                </a:solidFill>
                <a:latin typeface="Arial"/>
                <a:ea typeface="Arial"/>
                <a:cs typeface="Arial"/>
              </a:defRPr>
            </a:defPPr>
            <a:lvl1pPr>
              <a:defRPr sz="2025" b="0">
                <a:solidFill>
                  <a:srgbClr val="F1F4F6"/>
                </a:solidFill>
                <a:latin typeface="Arial"/>
                <a:ea typeface="Arial"/>
                <a:cs typeface="Arial"/>
              </a:defRPr>
            </a:lvl1pPr>
            <a:lvl2pPr>
              <a:defRPr sz="2025" b="0">
                <a:solidFill>
                  <a:srgbClr val="F1F4F6"/>
                </a:solidFill>
                <a:latin typeface="Arial"/>
                <a:ea typeface="Arial"/>
                <a:cs typeface="Arial"/>
              </a:defRPr>
            </a:lvl2pPr>
            <a:lvl3pPr>
              <a:defRPr sz="2025" b="0">
                <a:solidFill>
                  <a:srgbClr val="F1F4F6"/>
                </a:solidFill>
                <a:latin typeface="Arial"/>
                <a:ea typeface="Arial"/>
                <a:cs typeface="Arial"/>
              </a:defRPr>
            </a:lvl3pPr>
            <a:lvl4pPr>
              <a:defRPr sz="2025" b="0">
                <a:solidFill>
                  <a:srgbClr val="F1F4F6"/>
                </a:solidFill>
                <a:latin typeface="Arial"/>
                <a:ea typeface="Arial"/>
                <a:cs typeface="Arial"/>
              </a:defRPr>
            </a:lvl4pPr>
            <a:lvl5pPr>
              <a:defRPr sz="2025" b="0">
                <a:solidFill>
                  <a:srgbClr val="F1F4F6"/>
                </a:solidFill>
                <a:latin typeface="Arial"/>
                <a:ea typeface="Arial"/>
                <a:cs typeface="Arial"/>
              </a:defRPr>
            </a:lvl5pPr>
            <a:lvl6pPr>
              <a:defRPr sz="2025" b="0">
                <a:solidFill>
                  <a:srgbClr val="F1F4F6"/>
                </a:solidFill>
                <a:latin typeface="Arial"/>
                <a:ea typeface="Arial"/>
                <a:cs typeface="Arial"/>
              </a:defRPr>
            </a:lvl6pPr>
            <a:lvl7pPr>
              <a:defRPr sz="2025" b="0">
                <a:solidFill>
                  <a:srgbClr val="F1F4F6"/>
                </a:solidFill>
                <a:latin typeface="Arial"/>
                <a:ea typeface="Arial"/>
                <a:cs typeface="Arial"/>
              </a:defRPr>
            </a:lvl7pPr>
            <a:lvl8pPr>
              <a:defRPr sz="2025" b="0">
                <a:solidFill>
                  <a:srgbClr val="F1F4F6"/>
                </a:solidFill>
                <a:latin typeface="Arial"/>
                <a:ea typeface="Arial"/>
                <a:cs typeface="Arial"/>
              </a:defRPr>
            </a:lvl8pPr>
            <a:lvl9pPr>
              <a:defRPr sz="2025" b="0">
                <a:solidFill>
                  <a:srgbClr val="F1F4F6"/>
                </a:solidFill>
                <a:latin typeface="Arial"/>
                <a:ea typeface="Arial"/>
                <a:cs typeface="Arial"/>
              </a:defRPr>
            </a:lvl9pPr>
          </a:lstStyle>
          <a:p>
            <a:pPr marL="228600" indent="-114300">
              <a:spcAft>
                <a:spcPts val="1400"/>
              </a:spcAft>
              <a:buChar char="•"/>
              <a:defRPr sz="2025" b="0">
                <a:solidFill>
                  <a:srgbClr val="F1F4F6"/>
                </a:solidFill>
                <a:latin typeface="Arial"/>
                <a:ea typeface="Arial"/>
                <a:cs typeface="Arial"/>
              </a:defRPr>
            </a:pPr>
            <a:r>
              <a:rPr sz="2025">
                <a:solidFill>
                  <a:srgbClr val="F1F4F6"/>
                </a:solidFill>
                <a:latin typeface="Arial"/>
                <a:ea typeface="Arial"/>
                <a:cs typeface="Arial"/>
              </a:rPr>
              <a:t>Sales uploads can contain invalid values or repeated orders.</a:t>
            </a:r>
          </a:p>
          <a:p>
            <a:pPr marL="228600" indent="-114300">
              <a:spcAft>
                <a:spcPts val="1400"/>
              </a:spcAft>
              <a:buChar char="•"/>
              <a:defRPr sz="2025" b="0">
                <a:solidFill>
                  <a:srgbClr val="F1F4F6"/>
                </a:solidFill>
                <a:latin typeface="Arial"/>
                <a:ea typeface="Arial"/>
                <a:cs typeface="Arial"/>
              </a:defRPr>
            </a:pPr>
            <a:r>
              <a:rPr sz="2025">
                <a:solidFill>
                  <a:srgbClr val="F1F4F6"/>
                </a:solidFill>
                <a:latin typeface="Arial"/>
                <a:ea typeface="Arial"/>
                <a:cs typeface="Arial"/>
              </a:rPr>
              <a:t>A stock sale must update inventory and sales records together.</a:t>
            </a:r>
          </a:p>
          <a:p>
            <a:pPr marL="228600" indent="-114300">
              <a:spcAft>
                <a:spcPts val="1400"/>
              </a:spcAft>
              <a:buChar char="•"/>
              <a:defRPr sz="2025" b="0">
                <a:solidFill>
                  <a:srgbClr val="F1F4F6"/>
                </a:solidFill>
                <a:latin typeface="Arial"/>
                <a:ea typeface="Arial"/>
                <a:cs typeface="Arial"/>
              </a:defRPr>
            </a:pPr>
            <a:r>
              <a:rPr sz="2025">
                <a:solidFill>
                  <a:srgbClr val="F1F4F6"/>
                </a:solidFill>
                <a:latin typeface="Arial"/>
                <a:ea typeface="Arial"/>
                <a:cs typeface="Arial"/>
              </a:rPr>
              <a:t>Large report batches need progress tracking without a long browser wait.</a:t>
            </a:r>
          </a:p>
          <a:p>
            <a:pPr marL="228600" indent="-114300">
              <a:spcAft>
                <a:spcPts val="1400"/>
              </a:spcAft>
              <a:buChar char="•"/>
              <a:defRPr sz="2025" b="0">
                <a:solidFill>
                  <a:srgbClr val="F1F4F6"/>
                </a:solidFill>
                <a:latin typeface="Arial"/>
                <a:ea typeface="Arial"/>
                <a:cs typeface="Arial"/>
              </a:defRPr>
            </a:pPr>
            <a:r>
              <a:rPr sz="2025">
                <a:solidFill>
                  <a:srgbClr val="F1F4F6"/>
                </a:solidFill>
                <a:latin typeface="Arial"/>
                <a:ea typeface="Arial"/>
                <a:cs typeface="Arial"/>
              </a:rPr>
              <a:t>Source corrections must not erase the figures behind earlier reports.</a:t>
            </a:r>
          </a:p>
        </p:txBody>
      </p:sp>
    </p:spTree>
    <p:extLst>
      <p:ext uri="{BB962C8B-B14F-4D97-AF65-F5344CB8AC3E}">
        <p14:creationId xmlns:p14="http://schemas.microsoft.com/office/powerpoint/2010/main" val="1062206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0A4886F-7A87-4469-A9D2-CF91FA632598}"/>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Abstract</a:t>
            </a:r>
          </a:p>
        </p:txBody>
      </p:sp>
      <p:sp>
        <p:nvSpPr>
          <p:cNvPr id="2" name="Rectangle 1">
            <a:extLst>
              <a:ext uri="{FF2B5EF4-FFF2-40B4-BE49-F238E27FC236}">
                <a16:creationId xmlns:a16="http://schemas.microsoft.com/office/drawing/2014/main" id="{3A371A62-2C10-4499-B3F9-52BFDC55B8D5}"/>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03</a:t>
            </a:r>
          </a:p>
        </p:txBody>
      </p:sp>
      <p:sp>
        <p:nvSpPr>
          <p:cNvPr id="3" name="Rectangle 2">
            <a:extLst>
              <a:ext uri="{FF2B5EF4-FFF2-40B4-BE49-F238E27FC236}">
                <a16:creationId xmlns:a16="http://schemas.microsoft.com/office/drawing/2014/main" id="{DA3DF248-710E-44E2-ABDE-BA4DDCA72DCE}"/>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69056AC1-6C26-45A9-B08F-2D06948BE361}"/>
              </a:ext>
            </a:extLst>
          </p:cNvPr>
          <p:cNvSpPr>
            <a:spLocks noGrp="1"/>
          </p:cNvSpPr>
          <p:nvPr/>
        </p:nvSpPr>
        <p:spPr>
          <a:xfrm>
            <a:off x="609600" y="1619250"/>
            <a:ext cx="10810875" cy="1666875"/>
          </a:xfrm>
          <a:prstGeom prst="rect">
            <a:avLst/>
          </a:prstGeom>
          <a:noFill/>
          <a:ln w="0">
            <a:noFill/>
          </a:ln>
        </p:spPr>
        <p:txBody>
          <a:bodyPr wrap="square" lIns="0" tIns="0" rIns="0" bIns="0" anchor="t">
            <a:noAutofit/>
          </a:bodyPr>
          <a:lstStyle>
            <a:defPPr>
              <a:defRPr sz="2250" b="0">
                <a:solidFill>
                  <a:srgbClr val="F1F4F6"/>
                </a:solidFill>
                <a:latin typeface="Arial"/>
                <a:ea typeface="Arial"/>
                <a:cs typeface="Arial"/>
              </a:defRPr>
            </a:defPPr>
            <a:lvl1pPr>
              <a:defRPr sz="2250" b="0">
                <a:solidFill>
                  <a:srgbClr val="F1F4F6"/>
                </a:solidFill>
                <a:latin typeface="Arial"/>
                <a:ea typeface="Arial"/>
                <a:cs typeface="Arial"/>
              </a:defRPr>
            </a:lvl1pPr>
            <a:lvl2pPr>
              <a:defRPr sz="2250" b="0">
                <a:solidFill>
                  <a:srgbClr val="F1F4F6"/>
                </a:solidFill>
                <a:latin typeface="Arial"/>
                <a:ea typeface="Arial"/>
                <a:cs typeface="Arial"/>
              </a:defRPr>
            </a:lvl2pPr>
            <a:lvl3pPr>
              <a:defRPr sz="2250" b="0">
                <a:solidFill>
                  <a:srgbClr val="F1F4F6"/>
                </a:solidFill>
                <a:latin typeface="Arial"/>
                <a:ea typeface="Arial"/>
                <a:cs typeface="Arial"/>
              </a:defRPr>
            </a:lvl3pPr>
            <a:lvl4pPr>
              <a:defRPr sz="2250" b="0">
                <a:solidFill>
                  <a:srgbClr val="F1F4F6"/>
                </a:solidFill>
                <a:latin typeface="Arial"/>
                <a:ea typeface="Arial"/>
                <a:cs typeface="Arial"/>
              </a:defRPr>
            </a:lvl4pPr>
            <a:lvl5pPr>
              <a:defRPr sz="2250" b="0">
                <a:solidFill>
                  <a:srgbClr val="F1F4F6"/>
                </a:solidFill>
                <a:latin typeface="Arial"/>
                <a:ea typeface="Arial"/>
                <a:cs typeface="Arial"/>
              </a:defRPr>
            </a:lvl5pPr>
            <a:lvl6pPr>
              <a:defRPr sz="2250" b="0">
                <a:solidFill>
                  <a:srgbClr val="F1F4F6"/>
                </a:solidFill>
                <a:latin typeface="Arial"/>
                <a:ea typeface="Arial"/>
                <a:cs typeface="Arial"/>
              </a:defRPr>
            </a:lvl6pPr>
            <a:lvl7pPr>
              <a:defRPr sz="2250" b="0">
                <a:solidFill>
                  <a:srgbClr val="F1F4F6"/>
                </a:solidFill>
                <a:latin typeface="Arial"/>
                <a:ea typeface="Arial"/>
                <a:cs typeface="Arial"/>
              </a:defRPr>
            </a:lvl7pPr>
            <a:lvl8pPr>
              <a:defRPr sz="2250" b="0">
                <a:solidFill>
                  <a:srgbClr val="F1F4F6"/>
                </a:solidFill>
                <a:latin typeface="Arial"/>
                <a:ea typeface="Arial"/>
                <a:cs typeface="Arial"/>
              </a:defRPr>
            </a:lvl8pPr>
            <a:lvl9pPr>
              <a:defRPr sz="2250" b="0">
                <a:solidFill>
                  <a:srgbClr val="F1F4F6"/>
                </a:solidFill>
                <a:latin typeface="Arial"/>
                <a:ea typeface="Arial"/>
                <a:cs typeface="Arial"/>
              </a:defRPr>
            </a:lvl9pPr>
          </a:lstStyle>
          <a:p>
            <a:pPr>
              <a:defRPr sz="2250" b="0">
                <a:solidFill>
                  <a:srgbClr val="F1F4F6"/>
                </a:solidFill>
                <a:latin typeface="Arial"/>
                <a:ea typeface="Arial"/>
                <a:cs typeface="Arial"/>
              </a:defRPr>
            </a:pPr>
            <a:r>
              <a:rPr sz="2250" b="0">
                <a:solidFill>
                  <a:srgbClr val="F1F4F6"/>
                </a:solidFill>
                <a:latin typeface="Arial"/>
                <a:ea typeface="Arial"/>
                <a:cs typeface="Arial"/>
              </a:rPr>
              <a:t>Conduit is a PostgreSQL-based application for retail operations and business reporting. Users import sales files, review errors, record stock receipts and sales, and inspect results through SQL-backed queries.</a:t>
            </a:r>
          </a:p>
        </p:txBody>
      </p:sp>
      <p:sp>
        <p:nvSpPr>
          <p:cNvPr id="5" name="Rectangle 4">
            <a:extLst>
              <a:ext uri="{FF2B5EF4-FFF2-40B4-BE49-F238E27FC236}">
                <a16:creationId xmlns:a16="http://schemas.microsoft.com/office/drawing/2014/main" id="{ADD3211C-6D8C-465E-ADBE-ACCE6680C7DB}"/>
              </a:ext>
            </a:extLst>
          </p:cNvPr>
          <p:cNvSpPr>
            <a:spLocks noGrp="1"/>
          </p:cNvSpPr>
          <p:nvPr/>
        </p:nvSpPr>
        <p:spPr>
          <a:xfrm>
            <a:off x="609600" y="3476625"/>
            <a:ext cx="10810875" cy="2000250"/>
          </a:xfrm>
          <a:prstGeom prst="rect">
            <a:avLst/>
          </a:prstGeom>
          <a:noFill/>
          <a:ln w="0">
            <a:noFill/>
          </a:ln>
        </p:spPr>
        <p:txBody>
          <a:bodyPr wrap="square" lIns="0" tIns="0" rIns="0" bIns="0" anchor="t">
            <a:noAutofit/>
          </a:bodyPr>
          <a:lstStyle>
            <a:defPPr>
              <a:defRPr sz="2250" b="0">
                <a:solidFill>
                  <a:srgbClr val="F1F4F6"/>
                </a:solidFill>
                <a:latin typeface="Arial"/>
                <a:ea typeface="Arial"/>
                <a:cs typeface="Arial"/>
              </a:defRPr>
            </a:defPPr>
            <a:lvl1pPr>
              <a:defRPr sz="2250" b="0">
                <a:solidFill>
                  <a:srgbClr val="F1F4F6"/>
                </a:solidFill>
                <a:latin typeface="Arial"/>
                <a:ea typeface="Arial"/>
                <a:cs typeface="Arial"/>
              </a:defRPr>
            </a:lvl1pPr>
            <a:lvl2pPr>
              <a:defRPr sz="2250" b="0">
                <a:solidFill>
                  <a:srgbClr val="F1F4F6"/>
                </a:solidFill>
                <a:latin typeface="Arial"/>
                <a:ea typeface="Arial"/>
                <a:cs typeface="Arial"/>
              </a:defRPr>
            </a:lvl2pPr>
            <a:lvl3pPr>
              <a:defRPr sz="2250" b="0">
                <a:solidFill>
                  <a:srgbClr val="F1F4F6"/>
                </a:solidFill>
                <a:latin typeface="Arial"/>
                <a:ea typeface="Arial"/>
                <a:cs typeface="Arial"/>
              </a:defRPr>
            </a:lvl3pPr>
            <a:lvl4pPr>
              <a:defRPr sz="2250" b="0">
                <a:solidFill>
                  <a:srgbClr val="F1F4F6"/>
                </a:solidFill>
                <a:latin typeface="Arial"/>
                <a:ea typeface="Arial"/>
                <a:cs typeface="Arial"/>
              </a:defRPr>
            </a:lvl4pPr>
            <a:lvl5pPr>
              <a:defRPr sz="2250" b="0">
                <a:solidFill>
                  <a:srgbClr val="F1F4F6"/>
                </a:solidFill>
                <a:latin typeface="Arial"/>
                <a:ea typeface="Arial"/>
                <a:cs typeface="Arial"/>
              </a:defRPr>
            </a:lvl5pPr>
            <a:lvl6pPr>
              <a:defRPr sz="2250" b="0">
                <a:solidFill>
                  <a:srgbClr val="F1F4F6"/>
                </a:solidFill>
                <a:latin typeface="Arial"/>
                <a:ea typeface="Arial"/>
                <a:cs typeface="Arial"/>
              </a:defRPr>
            </a:lvl6pPr>
            <a:lvl7pPr>
              <a:defRPr sz="2250" b="0">
                <a:solidFill>
                  <a:srgbClr val="F1F4F6"/>
                </a:solidFill>
                <a:latin typeface="Arial"/>
                <a:ea typeface="Arial"/>
                <a:cs typeface="Arial"/>
              </a:defRPr>
            </a:lvl7pPr>
            <a:lvl8pPr>
              <a:defRPr sz="2250" b="0">
                <a:solidFill>
                  <a:srgbClr val="F1F4F6"/>
                </a:solidFill>
                <a:latin typeface="Arial"/>
                <a:ea typeface="Arial"/>
                <a:cs typeface="Arial"/>
              </a:defRPr>
            </a:lvl8pPr>
            <a:lvl9pPr>
              <a:defRPr sz="2250" b="0">
                <a:solidFill>
                  <a:srgbClr val="F1F4F6"/>
                </a:solidFill>
                <a:latin typeface="Arial"/>
                <a:ea typeface="Arial"/>
                <a:cs typeface="Arial"/>
              </a:defRPr>
            </a:lvl9pPr>
          </a:lstStyle>
          <a:p>
            <a:pPr>
              <a:defRPr sz="2250" b="0">
                <a:solidFill>
                  <a:srgbClr val="F1F4F6"/>
                </a:solidFill>
                <a:latin typeface="Arial"/>
                <a:ea typeface="Arial"/>
                <a:cs typeface="Arial"/>
              </a:defRPr>
            </a:pPr>
            <a:r>
              <a:rPr sz="2250" b="0">
                <a:solidFill>
                  <a:srgbClr val="F1F4F6"/>
                </a:solidFill>
                <a:latin typeface="Arial"/>
                <a:ea typeface="Arial"/>
                <a:cs typeface="Arial"/>
              </a:rPr>
              <a:t>The database enforces relationships and constraints, while transactions keep related changes consistent. Background workers generate CSV and HTML reports from saved datasets. Retained data and processing history help explain earlier reports after source corrections.</a:t>
            </a:r>
          </a:p>
        </p:txBody>
      </p:sp>
      <p:sp>
        <p:nvSpPr>
          <p:cNvPr id="6" name="Rectangle 5">
            <a:extLst>
              <a:ext uri="{FF2B5EF4-FFF2-40B4-BE49-F238E27FC236}">
                <a16:creationId xmlns:a16="http://schemas.microsoft.com/office/drawing/2014/main" id="{C771DAB5-799C-4E59-897D-9F1C601B2F7D}"/>
              </a:ext>
            </a:extLst>
          </p:cNvPr>
          <p:cNvSpPr>
            <a:spLocks noGrp="1"/>
          </p:cNvSpPr>
          <p:nvPr/>
        </p:nvSpPr>
        <p:spPr>
          <a:xfrm>
            <a:off x="609600" y="6038850"/>
            <a:ext cx="10915650" cy="295275"/>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Optional AI assists mapping, question interpretation and explanations. SQL supplies the figures.</a:t>
            </a:r>
          </a:p>
        </p:txBody>
      </p:sp>
    </p:spTree>
    <p:extLst>
      <p:ext uri="{BB962C8B-B14F-4D97-AF65-F5344CB8AC3E}">
        <p14:creationId xmlns:p14="http://schemas.microsoft.com/office/powerpoint/2010/main" val="1802161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AF6CC7F-C7AC-47A8-913C-563431EF971D}"/>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Objectives</a:t>
            </a:r>
          </a:p>
        </p:txBody>
      </p:sp>
      <p:sp>
        <p:nvSpPr>
          <p:cNvPr id="2" name="Rectangle 1">
            <a:extLst>
              <a:ext uri="{FF2B5EF4-FFF2-40B4-BE49-F238E27FC236}">
                <a16:creationId xmlns:a16="http://schemas.microsoft.com/office/drawing/2014/main" id="{22B73B2E-09D3-4112-97DB-FBD4EA4EC1DF}"/>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04</a:t>
            </a:r>
          </a:p>
        </p:txBody>
      </p:sp>
      <p:sp>
        <p:nvSpPr>
          <p:cNvPr id="3" name="Rectangle 2">
            <a:extLst>
              <a:ext uri="{FF2B5EF4-FFF2-40B4-BE49-F238E27FC236}">
                <a16:creationId xmlns:a16="http://schemas.microsoft.com/office/drawing/2014/main" id="{A7486A52-591E-47F2-AB85-9D15FA870CB6}"/>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083F7DE9-D27C-4E28-8BC2-57CB4583C3EC}"/>
              </a:ext>
            </a:extLst>
          </p:cNvPr>
          <p:cNvSpPr>
            <a:spLocks noGrp="1"/>
          </p:cNvSpPr>
          <p:nvPr/>
        </p:nvSpPr>
        <p:spPr>
          <a:xfrm>
            <a:off x="609600" y="1581150"/>
            <a:ext cx="10858500" cy="4524375"/>
          </a:xfrm>
          <a:prstGeom prst="rect">
            <a:avLst/>
          </a:prstGeom>
          <a:noFill/>
          <a:ln w="0">
            <a:noFill/>
          </a:ln>
        </p:spPr>
        <p:txBody>
          <a:bodyPr wrap="square" lIns="0" tIns="0" rIns="0" bIns="0" anchor="t">
            <a:noAutofit/>
          </a:bodyPr>
          <a:lstStyle>
            <a:defPPr>
              <a:defRPr sz="2025" b="0">
                <a:solidFill>
                  <a:srgbClr val="F1F4F6"/>
                </a:solidFill>
                <a:latin typeface="Arial"/>
                <a:ea typeface="Arial"/>
                <a:cs typeface="Arial"/>
              </a:defRPr>
            </a:defPPr>
            <a:lvl1pPr>
              <a:defRPr sz="2025" b="0">
                <a:solidFill>
                  <a:srgbClr val="F1F4F6"/>
                </a:solidFill>
                <a:latin typeface="Arial"/>
                <a:ea typeface="Arial"/>
                <a:cs typeface="Arial"/>
              </a:defRPr>
            </a:lvl1pPr>
            <a:lvl2pPr>
              <a:defRPr sz="2025" b="0">
                <a:solidFill>
                  <a:srgbClr val="F1F4F6"/>
                </a:solidFill>
                <a:latin typeface="Arial"/>
                <a:ea typeface="Arial"/>
                <a:cs typeface="Arial"/>
              </a:defRPr>
            </a:lvl2pPr>
            <a:lvl3pPr>
              <a:defRPr sz="2025" b="0">
                <a:solidFill>
                  <a:srgbClr val="F1F4F6"/>
                </a:solidFill>
                <a:latin typeface="Arial"/>
                <a:ea typeface="Arial"/>
                <a:cs typeface="Arial"/>
              </a:defRPr>
            </a:lvl3pPr>
            <a:lvl4pPr>
              <a:defRPr sz="2025" b="0">
                <a:solidFill>
                  <a:srgbClr val="F1F4F6"/>
                </a:solidFill>
                <a:latin typeface="Arial"/>
                <a:ea typeface="Arial"/>
                <a:cs typeface="Arial"/>
              </a:defRPr>
            </a:lvl4pPr>
            <a:lvl5pPr>
              <a:defRPr sz="2025" b="0">
                <a:solidFill>
                  <a:srgbClr val="F1F4F6"/>
                </a:solidFill>
                <a:latin typeface="Arial"/>
                <a:ea typeface="Arial"/>
                <a:cs typeface="Arial"/>
              </a:defRPr>
            </a:lvl5pPr>
            <a:lvl6pPr>
              <a:defRPr sz="2025" b="0">
                <a:solidFill>
                  <a:srgbClr val="F1F4F6"/>
                </a:solidFill>
                <a:latin typeface="Arial"/>
                <a:ea typeface="Arial"/>
                <a:cs typeface="Arial"/>
              </a:defRPr>
            </a:lvl6pPr>
            <a:lvl7pPr>
              <a:defRPr sz="2025" b="0">
                <a:solidFill>
                  <a:srgbClr val="F1F4F6"/>
                </a:solidFill>
                <a:latin typeface="Arial"/>
                <a:ea typeface="Arial"/>
                <a:cs typeface="Arial"/>
              </a:defRPr>
            </a:lvl7pPr>
            <a:lvl8pPr>
              <a:defRPr sz="2025" b="0">
                <a:solidFill>
                  <a:srgbClr val="F1F4F6"/>
                </a:solidFill>
                <a:latin typeface="Arial"/>
                <a:ea typeface="Arial"/>
                <a:cs typeface="Arial"/>
              </a:defRPr>
            </a:lvl8pPr>
            <a:lvl9pPr>
              <a:defRPr sz="2025" b="0">
                <a:solidFill>
                  <a:srgbClr val="F1F4F6"/>
                </a:solidFill>
                <a:latin typeface="Arial"/>
                <a:ea typeface="Arial"/>
                <a:cs typeface="Arial"/>
              </a:defRPr>
            </a:lvl9pPr>
          </a:lstStyle>
          <a:p>
            <a:pPr marL="228600" indent="-114300">
              <a:spcAft>
                <a:spcPts val="1400"/>
              </a:spcAft>
              <a:buChar char="•"/>
              <a:defRPr sz="2025" b="0">
                <a:solidFill>
                  <a:srgbClr val="F1F4F6"/>
                </a:solidFill>
                <a:latin typeface="Arial"/>
                <a:ea typeface="Arial"/>
                <a:cs typeface="Arial"/>
              </a:defRPr>
            </a:pPr>
            <a:r>
              <a:rPr sz="2025">
                <a:solidFill>
                  <a:srgbClr val="F1F4F6"/>
                </a:solidFill>
                <a:latin typeface="Arial"/>
                <a:ea typeface="Arial"/>
                <a:cs typeface="Arial"/>
              </a:rPr>
              <a:t>Store customers, products, orders and sale items in normalized tables.</a:t>
            </a:r>
          </a:p>
          <a:p>
            <a:pPr marL="228600" indent="-114300">
              <a:spcAft>
                <a:spcPts val="1400"/>
              </a:spcAft>
              <a:buChar char="•"/>
              <a:defRPr sz="2025" b="0">
                <a:solidFill>
                  <a:srgbClr val="F1F4F6"/>
                </a:solidFill>
                <a:latin typeface="Arial"/>
                <a:ea typeface="Arial"/>
                <a:cs typeface="Arial"/>
              </a:defRPr>
            </a:pPr>
            <a:r>
              <a:rPr sz="2025">
                <a:solidFill>
                  <a:srgbClr val="F1F4F6"/>
                </a:solidFill>
                <a:latin typeface="Arial"/>
                <a:ea typeface="Arial"/>
                <a:cs typeface="Arial"/>
              </a:rPr>
              <a:t>Validate imported records and prevent duplicate or incomplete orders.</a:t>
            </a:r>
          </a:p>
          <a:p>
            <a:pPr marL="228600" indent="-114300">
              <a:spcAft>
                <a:spcPts val="1400"/>
              </a:spcAft>
              <a:buChar char="•"/>
              <a:defRPr sz="2025" b="0">
                <a:solidFill>
                  <a:srgbClr val="F1F4F6"/>
                </a:solidFill>
                <a:latin typeface="Arial"/>
                <a:ea typeface="Arial"/>
                <a:cs typeface="Arial"/>
              </a:defRPr>
            </a:pPr>
            <a:r>
              <a:rPr sz="2025">
                <a:solidFill>
                  <a:srgbClr val="F1F4F6"/>
                </a:solidFill>
                <a:latin typeface="Arial"/>
                <a:ea typeface="Arial"/>
                <a:cs typeface="Arial"/>
              </a:rPr>
              <a:t>Maintain stock through atomic receipts and sales with ledger reconciliation.</a:t>
            </a:r>
          </a:p>
          <a:p>
            <a:pPr marL="228600" indent="-114300">
              <a:spcAft>
                <a:spcPts val="1400"/>
              </a:spcAft>
              <a:buChar char="•"/>
              <a:defRPr sz="2025" b="0">
                <a:solidFill>
                  <a:srgbClr val="F1F4F6"/>
                </a:solidFill>
                <a:latin typeface="Arial"/>
                <a:ea typeface="Arial"/>
                <a:cs typeface="Arial"/>
              </a:defRPr>
            </a:pPr>
            <a:r>
              <a:rPr sz="2025">
                <a:solidFill>
                  <a:srgbClr val="F1F4F6"/>
                </a:solidFill>
                <a:latin typeface="Arial"/>
                <a:ea typeface="Arial"/>
                <a:cs typeface="Arial"/>
              </a:rPr>
              <a:t>Support joins, filtering, aggregation and inspectable business queries.</a:t>
            </a:r>
          </a:p>
          <a:p>
            <a:pPr marL="228600" indent="-114300">
              <a:spcAft>
                <a:spcPts val="1400"/>
              </a:spcAft>
              <a:buChar char="•"/>
              <a:defRPr sz="2025" b="0">
                <a:solidFill>
                  <a:srgbClr val="F1F4F6"/>
                </a:solidFill>
                <a:latin typeface="Arial"/>
                <a:ea typeface="Arial"/>
                <a:cs typeface="Arial"/>
              </a:defRPr>
            </a:pPr>
            <a:r>
              <a:rPr sz="2025">
                <a:solidFill>
                  <a:srgbClr val="F1F4F6"/>
                </a:solidFill>
                <a:latin typeface="Arial"/>
                <a:ea typeface="Arial"/>
                <a:cs typeface="Arial"/>
              </a:rPr>
              <a:t>Generate customer and management reports through background workers.</a:t>
            </a:r>
          </a:p>
          <a:p>
            <a:pPr marL="228600" indent="-114300">
              <a:spcAft>
                <a:spcPts val="1400"/>
              </a:spcAft>
              <a:buChar char="•"/>
              <a:defRPr sz="2025" b="0">
                <a:solidFill>
                  <a:srgbClr val="F1F4F6"/>
                </a:solidFill>
                <a:latin typeface="Arial"/>
                <a:ea typeface="Arial"/>
                <a:cs typeface="Arial"/>
              </a:defRPr>
            </a:pPr>
            <a:r>
              <a:rPr sz="2025">
                <a:solidFill>
                  <a:srgbClr val="F1F4F6"/>
                </a:solidFill>
                <a:latin typeface="Arial"/>
                <a:ea typeface="Arial"/>
                <a:cs typeface="Arial"/>
              </a:rPr>
              <a:t>Preserve report datasets, template versions and processing history.</a:t>
            </a:r>
          </a:p>
        </p:txBody>
      </p:sp>
    </p:spTree>
    <p:extLst>
      <p:ext uri="{BB962C8B-B14F-4D97-AF65-F5344CB8AC3E}">
        <p14:creationId xmlns:p14="http://schemas.microsoft.com/office/powerpoint/2010/main" val="316375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8E990D3-6048-46E1-BB92-9366D2FAD3EA}"/>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Scope of the implementation</a:t>
            </a:r>
          </a:p>
        </p:txBody>
      </p:sp>
      <p:sp>
        <p:nvSpPr>
          <p:cNvPr id="2" name="Rectangle 1">
            <a:extLst>
              <a:ext uri="{FF2B5EF4-FFF2-40B4-BE49-F238E27FC236}">
                <a16:creationId xmlns:a16="http://schemas.microsoft.com/office/drawing/2014/main" id="{3E79DE73-69E5-4ED4-BF88-F7CB80BF1E2F}"/>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05</a:t>
            </a:r>
          </a:p>
        </p:txBody>
      </p:sp>
      <p:sp>
        <p:nvSpPr>
          <p:cNvPr id="3" name="Rectangle 2">
            <a:extLst>
              <a:ext uri="{FF2B5EF4-FFF2-40B4-BE49-F238E27FC236}">
                <a16:creationId xmlns:a16="http://schemas.microsoft.com/office/drawing/2014/main" id="{562DE5D5-F1FA-40E5-8E40-A42A12F2D335}"/>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1574B002-B267-4144-A958-C7BF996CF457}"/>
              </a:ext>
            </a:extLst>
          </p:cNvPr>
          <p:cNvGraphicFramePr/>
          <p:nvPr/>
        </p:nvGraphicFramePr>
        <p:xfrm>
          <a:off x="609600" y="1619250"/>
          <a:ext cx="10972800" cy="3810000"/>
        </p:xfrm>
        <a:graphic>
          <a:graphicData uri="http://schemas.openxmlformats.org/drawingml/2006/table">
            <a:tbl>
              <a:tblPr firstRow="1"/>
              <a:tblGrid>
                <a:gridCol w="2190750">
                  <a:extLst>
                    <a:ext uri="{9D8B030D-6E8A-4147-A177-3AD203B41FA5}">
                      <a16:colId xmlns:a16="http://schemas.microsoft.com/office/drawing/2014/main" val="20000"/>
                    </a:ext>
                  </a:extLst>
                </a:gridCol>
                <a:gridCol w="8782050">
                  <a:extLst>
                    <a:ext uri="{9D8B030D-6E8A-4147-A177-3AD203B41FA5}">
                      <a16:colId xmlns:a16="http://schemas.microsoft.com/office/drawing/2014/main" val="20001"/>
                    </a:ext>
                  </a:extLst>
                </a:gridCol>
              </a:tblGrid>
              <a:tr h="635000">
                <a:tc>
                  <a:txBody>
                    <a:bodyPr/>
                    <a:lstStyle/>
                    <a:p>
                      <a:r>
                        <a:rPr sz="1875" b="1">
                          <a:solidFill>
                            <a:srgbClr val="70D6C4"/>
                          </a:solidFill>
                          <a:latin typeface="Arial"/>
                          <a:ea typeface="Arial"/>
                          <a:cs typeface="Arial"/>
                        </a:rPr>
                        <a:t>Workflow</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Implemented behavior</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635000">
                <a:tc>
                  <a:txBody>
                    <a:bodyPr/>
                    <a:lstStyle/>
                    <a:p>
                      <a:r>
                        <a:rPr sz="1875" b="0">
                          <a:solidFill>
                            <a:srgbClr val="F1F4F6"/>
                          </a:solidFill>
                          <a:latin typeface="Arial"/>
                          <a:ea typeface="Arial"/>
                          <a:cs typeface="Arial"/>
                        </a:rPr>
                        <a:t>Sales import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Map CSV headers, preview errors, commit complete valid orders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635000">
                <a:tc>
                  <a:txBody>
                    <a:bodyPr/>
                    <a:lstStyle/>
                    <a:p>
                      <a:r>
                        <a:rPr sz="1875" b="0">
                          <a:solidFill>
                            <a:srgbClr val="F1F4F6"/>
                          </a:solidFill>
                          <a:latin typeface="Arial"/>
                          <a:ea typeface="Arial"/>
                          <a:cs typeface="Arial"/>
                        </a:rPr>
                        <a:t>Inventory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Record receipts and sales, reject overselling, reconcile a ledger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635000">
                <a:tc>
                  <a:txBody>
                    <a:bodyPr/>
                    <a:lstStyle/>
                    <a:p>
                      <a:r>
                        <a:rPr sz="1875" b="0">
                          <a:solidFill>
                            <a:srgbClr val="F1F4F6"/>
                          </a:solidFill>
                          <a:latin typeface="Arial"/>
                          <a:ea typeface="Arial"/>
                          <a:cs typeface="Arial"/>
                        </a:rPr>
                        <a:t>Analysis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Calculate sales totals, monthly comparisons and low-stock alerts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635000">
                <a:tc>
                  <a:txBody>
                    <a:bodyPr/>
                    <a:lstStyle/>
                    <a:p>
                      <a:r>
                        <a:rPr sz="1875" b="0">
                          <a:solidFill>
                            <a:srgbClr val="F1F4F6"/>
                          </a:solidFill>
                          <a:latin typeface="Arial"/>
                          <a:ea typeface="Arial"/>
                          <a:cs typeface="Arial"/>
                        </a:rPr>
                        <a:t>Questions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Preview approved SQL and bound parameters before execution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635000">
                <a:tc>
                  <a:txBody>
                    <a:bodyPr/>
                    <a:lstStyle/>
                    <a:p>
                      <a:r>
                        <a:rPr sz="1875" b="0">
                          <a:solidFill>
                            <a:srgbClr val="F1F4F6"/>
                          </a:solidFill>
                          <a:latin typeface="Arial"/>
                          <a:ea typeface="Arial"/>
                          <a:cs typeface="Arial"/>
                        </a:rPr>
                        <a:t>Reports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Queue generation, retain datasets and download CSV / HTML</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9F9C5995-7A42-492E-8EA7-BA00EEB2AF99}"/>
              </a:ext>
            </a:extLst>
          </p:cNvPr>
          <p:cNvSpPr>
            <a:spLocks noGrp="1"/>
          </p:cNvSpPr>
          <p:nvPr/>
        </p:nvSpPr>
        <p:spPr>
          <a:xfrm>
            <a:off x="609600" y="595312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PostgreSQL owns validation, relationships, calculations and transactions.</a:t>
            </a:r>
          </a:p>
        </p:txBody>
      </p:sp>
    </p:spTree>
    <p:extLst>
      <p:ext uri="{BB962C8B-B14F-4D97-AF65-F5344CB8AC3E}">
        <p14:creationId xmlns:p14="http://schemas.microsoft.com/office/powerpoint/2010/main" val="117785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cxnSp>
        <p:nvCxnSpPr>
          <p:cNvPr id="12" name="Straight Arrow Connector 11">
            <a:extLst>
              <a:ext uri="{FF2B5EF4-FFF2-40B4-BE49-F238E27FC236}">
                <a16:creationId xmlns:a16="http://schemas.microsoft.com/office/drawing/2014/main" id="{6711FD66-7097-4B49-81E3-1777F12B325A}"/>
              </a:ext>
            </a:extLst>
          </p:cNvPr>
          <p:cNvCxnSpPr>
            <a:stCxn id="7" idx="3"/>
            <a:endCxn id="8" idx="1"/>
          </p:cNvCxnSpPr>
          <p:nvPr/>
        </p:nvCxnSpPr>
        <p:spPr>
          <a:xfrm>
            <a:off x="7410450" y="4629150"/>
            <a:ext cx="1200150" cy="0"/>
          </a:xfrm>
          <a:prstGeom prst="straightConnector1">
            <a:avLst/>
          </a:prstGeom>
          <a:ln w="19050">
            <a:solidFill>
              <a:srgbClr val="70D6C4"/>
            </a:solidFill>
            <a:tailEnd type="arrow" w="med" len="med"/>
          </a:ln>
        </p:spPr>
      </p:cxnSp>
      <p:cxnSp>
        <p:nvCxnSpPr>
          <p:cNvPr id="11" name="Connector: Elbow 10">
            <a:extLst>
              <a:ext uri="{FF2B5EF4-FFF2-40B4-BE49-F238E27FC236}">
                <a16:creationId xmlns:a16="http://schemas.microsoft.com/office/drawing/2014/main" id="{0CCA3701-7422-4D1E-BC58-62AC825EAA8D}"/>
              </a:ext>
            </a:extLst>
          </p:cNvPr>
          <p:cNvCxnSpPr>
            <a:stCxn id="6" idx="2"/>
            <a:endCxn id="7" idx="0"/>
          </p:cNvCxnSpPr>
          <p:nvPr/>
        </p:nvCxnSpPr>
        <p:spPr>
          <a:xfrm flipH="1">
            <a:off x="6067425" y="2781300"/>
            <a:ext cx="3971925" cy="1314450"/>
          </a:xfrm>
          <a:prstGeom prst="bentConnector4">
            <a:avLst>
              <a:gd name="adj1" fmla="val 0"/>
              <a:gd name="adj2" fmla="val 50000"/>
            </a:avLst>
          </a:prstGeom>
          <a:ln w="19050">
            <a:solidFill>
              <a:srgbClr val="70D6C4"/>
            </a:solidFill>
            <a:tailEnd type="arrow" w="med" len="med"/>
          </a:ln>
        </p:spPr>
      </p:cxnSp>
      <p:cxnSp>
        <p:nvCxnSpPr>
          <p:cNvPr id="10" name="Straight Arrow Connector 9">
            <a:extLst>
              <a:ext uri="{FF2B5EF4-FFF2-40B4-BE49-F238E27FC236}">
                <a16:creationId xmlns:a16="http://schemas.microsoft.com/office/drawing/2014/main" id="{85A4D21D-518A-453E-9802-47DDEA85B176}"/>
              </a:ext>
            </a:extLst>
          </p:cNvPr>
          <p:cNvCxnSpPr>
            <a:stCxn id="5" idx="3"/>
            <a:endCxn id="6" idx="1"/>
          </p:cNvCxnSpPr>
          <p:nvPr/>
        </p:nvCxnSpPr>
        <p:spPr>
          <a:xfrm>
            <a:off x="7410450" y="2247900"/>
            <a:ext cx="1200150" cy="0"/>
          </a:xfrm>
          <a:prstGeom prst="straightConnector1">
            <a:avLst/>
          </a:prstGeom>
          <a:ln w="19050">
            <a:solidFill>
              <a:srgbClr val="70D6C4"/>
            </a:solidFill>
            <a:tailEnd type="arrow" w="med" len="med"/>
          </a:ln>
        </p:spPr>
      </p:cxnSp>
      <p:cxnSp>
        <p:nvCxnSpPr>
          <p:cNvPr id="9" name="Straight Arrow Connector 8">
            <a:extLst>
              <a:ext uri="{FF2B5EF4-FFF2-40B4-BE49-F238E27FC236}">
                <a16:creationId xmlns:a16="http://schemas.microsoft.com/office/drawing/2014/main" id="{25E521FA-0D4B-47F1-8CCF-1BB3DCADFF00}"/>
              </a:ext>
            </a:extLst>
          </p:cNvPr>
          <p:cNvCxnSpPr>
            <a:stCxn id="4" idx="3"/>
            <a:endCxn id="5" idx="1"/>
          </p:cNvCxnSpPr>
          <p:nvPr/>
        </p:nvCxnSpPr>
        <p:spPr>
          <a:xfrm>
            <a:off x="3286125" y="2247900"/>
            <a:ext cx="1438275" cy="0"/>
          </a:xfrm>
          <a:prstGeom prst="straightConnector1">
            <a:avLst/>
          </a:prstGeom>
          <a:ln w="19050">
            <a:solidFill>
              <a:srgbClr val="70D6C4"/>
            </a:solidFill>
            <a:tailEnd type="arrow" w="med" len="med"/>
          </a:ln>
        </p:spPr>
      </p:cxnSp>
      <p:sp>
        <p:nvSpPr>
          <p:cNvPr id="14" name="Rectangle 13">
            <a:extLst>
              <a:ext uri="{FF2B5EF4-FFF2-40B4-BE49-F238E27FC236}">
                <a16:creationId xmlns:a16="http://schemas.microsoft.com/office/drawing/2014/main" id="{252CA707-E895-4170-A316-1BDC1AFD1025}"/>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System architecture</a:t>
            </a:r>
          </a:p>
        </p:txBody>
      </p:sp>
      <p:sp>
        <p:nvSpPr>
          <p:cNvPr id="2" name="Rectangle 1">
            <a:extLst>
              <a:ext uri="{FF2B5EF4-FFF2-40B4-BE49-F238E27FC236}">
                <a16:creationId xmlns:a16="http://schemas.microsoft.com/office/drawing/2014/main" id="{2BE5FDC0-D738-424C-A6F3-638090043089}"/>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06</a:t>
            </a:r>
          </a:p>
        </p:txBody>
      </p:sp>
      <p:sp>
        <p:nvSpPr>
          <p:cNvPr id="3" name="Rectangle 2">
            <a:extLst>
              <a:ext uri="{FF2B5EF4-FFF2-40B4-BE49-F238E27FC236}">
                <a16:creationId xmlns:a16="http://schemas.microsoft.com/office/drawing/2014/main" id="{C7DA495B-397F-463B-805F-D817E48E8F0A}"/>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F2BE547C-82E6-4897-A8B0-5117F752A1E0}"/>
              </a:ext>
            </a:extLst>
          </p:cNvPr>
          <p:cNvSpPr>
            <a:spLocks noGrp="1"/>
          </p:cNvSpPr>
          <p:nvPr/>
        </p:nvSpPr>
        <p:spPr>
          <a:xfrm>
            <a:off x="666750" y="1714500"/>
            <a:ext cx="2619375" cy="1066800"/>
          </a:xfrm>
          <a:prstGeom prst="rect">
            <a:avLst/>
          </a:prstGeom>
          <a:solidFill>
            <a:srgbClr val="172431"/>
          </a:solidFill>
          <a:ln w="9525">
            <a:solidFill>
              <a:srgbClr val="344352"/>
            </a:solidFill>
          </a:ln>
        </p:spPr>
        <p:txBody>
          <a:bodyPr lIns="114300" tIns="114300" rIns="114300" bIns="114300" anchor="ctr"/>
          <a:lstStyle>
            <a:defPPr algn="ctr">
              <a:defRPr sz="1875">
                <a:solidFill>
                  <a:srgbClr val="F1F4F6"/>
                </a:solidFill>
                <a:latin typeface="Arial"/>
                <a:ea typeface="Arial"/>
                <a:cs typeface="Arial"/>
              </a:defRPr>
            </a:defPPr>
            <a:lvl1pPr algn="ctr">
              <a:defRPr sz="1875">
                <a:solidFill>
                  <a:srgbClr val="F1F4F6"/>
                </a:solidFill>
                <a:latin typeface="Arial"/>
                <a:ea typeface="Arial"/>
                <a:cs typeface="Arial"/>
              </a:defRPr>
            </a:lvl1pPr>
            <a:lvl2pPr algn="ctr">
              <a:defRPr sz="1875">
                <a:solidFill>
                  <a:srgbClr val="F1F4F6"/>
                </a:solidFill>
                <a:latin typeface="Arial"/>
                <a:ea typeface="Arial"/>
                <a:cs typeface="Arial"/>
              </a:defRPr>
            </a:lvl2pPr>
            <a:lvl3pPr algn="ctr">
              <a:defRPr sz="1875">
                <a:solidFill>
                  <a:srgbClr val="F1F4F6"/>
                </a:solidFill>
                <a:latin typeface="Arial"/>
                <a:ea typeface="Arial"/>
                <a:cs typeface="Arial"/>
              </a:defRPr>
            </a:lvl3pPr>
            <a:lvl4pPr algn="ctr">
              <a:defRPr sz="1875">
                <a:solidFill>
                  <a:srgbClr val="F1F4F6"/>
                </a:solidFill>
                <a:latin typeface="Arial"/>
                <a:ea typeface="Arial"/>
                <a:cs typeface="Arial"/>
              </a:defRPr>
            </a:lvl4pPr>
            <a:lvl5pPr algn="ctr">
              <a:defRPr sz="1875">
                <a:solidFill>
                  <a:srgbClr val="F1F4F6"/>
                </a:solidFill>
                <a:latin typeface="Arial"/>
                <a:ea typeface="Arial"/>
                <a:cs typeface="Arial"/>
              </a:defRPr>
            </a:lvl5pPr>
            <a:lvl6pPr algn="ctr">
              <a:defRPr sz="1875">
                <a:solidFill>
                  <a:srgbClr val="F1F4F6"/>
                </a:solidFill>
                <a:latin typeface="Arial"/>
                <a:ea typeface="Arial"/>
                <a:cs typeface="Arial"/>
              </a:defRPr>
            </a:lvl6pPr>
            <a:lvl7pPr algn="ctr">
              <a:defRPr sz="1875">
                <a:solidFill>
                  <a:srgbClr val="F1F4F6"/>
                </a:solidFill>
                <a:latin typeface="Arial"/>
                <a:ea typeface="Arial"/>
                <a:cs typeface="Arial"/>
              </a:defRPr>
            </a:lvl7pPr>
            <a:lvl8pPr algn="ctr">
              <a:defRPr sz="1875">
                <a:solidFill>
                  <a:srgbClr val="F1F4F6"/>
                </a:solidFill>
                <a:latin typeface="Arial"/>
                <a:ea typeface="Arial"/>
                <a:cs typeface="Arial"/>
              </a:defRPr>
            </a:lvl8pPr>
            <a:lvl9pPr algn="ctr">
              <a:defRPr sz="1875">
                <a:solidFill>
                  <a:srgbClr val="F1F4F6"/>
                </a:solidFill>
                <a:latin typeface="Arial"/>
                <a:ea typeface="Arial"/>
                <a:cs typeface="Arial"/>
              </a:defRPr>
            </a:lvl9pPr>
          </a:lstStyle>
          <a:p>
            <a:pPr algn="ctr">
              <a:defRPr sz="1875">
                <a:solidFill>
                  <a:srgbClr val="F1F4F6"/>
                </a:solidFill>
                <a:latin typeface="Arial"/>
                <a:ea typeface="Arial"/>
                <a:cs typeface="Arial"/>
              </a:defRPr>
            </a:pPr>
            <a:r>
              <a:rPr sz="1875">
                <a:solidFill>
                  <a:srgbClr val="F1F4F6"/>
                </a:solidFill>
                <a:latin typeface="Arial"/>
                <a:ea typeface="Arial"/>
                <a:cs typeface="Arial"/>
              </a:rPr>
              <a:t>Browser</a:t>
            </a:r>
          </a:p>
          <a:p>
            <a:pPr algn="ctr">
              <a:defRPr sz="1875">
                <a:solidFill>
                  <a:srgbClr val="F1F4F6"/>
                </a:solidFill>
                <a:latin typeface="Arial"/>
                <a:ea typeface="Arial"/>
                <a:cs typeface="Arial"/>
              </a:defRPr>
            </a:pPr>
            <a:r>
              <a:rPr sz="1875">
                <a:solidFill>
                  <a:srgbClr val="F1F4F6"/>
                </a:solidFill>
                <a:latin typeface="Arial"/>
                <a:ea typeface="Arial"/>
                <a:cs typeface="Arial"/>
              </a:rPr>
              <a:t>Jinja templates</a:t>
            </a:r>
          </a:p>
        </p:txBody>
      </p:sp>
      <p:sp>
        <p:nvSpPr>
          <p:cNvPr id="5" name="Rectangle 4">
            <a:extLst>
              <a:ext uri="{FF2B5EF4-FFF2-40B4-BE49-F238E27FC236}">
                <a16:creationId xmlns:a16="http://schemas.microsoft.com/office/drawing/2014/main" id="{EE71E8EF-31E8-4BDC-A3F9-BA099A11CDA3}"/>
              </a:ext>
            </a:extLst>
          </p:cNvPr>
          <p:cNvSpPr>
            <a:spLocks noGrp="1"/>
          </p:cNvSpPr>
          <p:nvPr/>
        </p:nvSpPr>
        <p:spPr>
          <a:xfrm>
            <a:off x="4724400" y="1714500"/>
            <a:ext cx="2686050" cy="1066800"/>
          </a:xfrm>
          <a:prstGeom prst="rect">
            <a:avLst/>
          </a:prstGeom>
          <a:solidFill>
            <a:srgbClr val="172431"/>
          </a:solidFill>
          <a:ln w="9525">
            <a:solidFill>
              <a:srgbClr val="344352"/>
            </a:solidFill>
          </a:ln>
        </p:spPr>
        <p:txBody>
          <a:bodyPr lIns="114300" tIns="114300" rIns="114300" bIns="114300" anchor="ctr"/>
          <a:lstStyle>
            <a:defPPr algn="ctr">
              <a:defRPr sz="1875">
                <a:solidFill>
                  <a:srgbClr val="F1F4F6"/>
                </a:solidFill>
                <a:latin typeface="Arial"/>
                <a:ea typeface="Arial"/>
                <a:cs typeface="Arial"/>
              </a:defRPr>
            </a:defPPr>
            <a:lvl1pPr algn="ctr">
              <a:defRPr sz="1875">
                <a:solidFill>
                  <a:srgbClr val="F1F4F6"/>
                </a:solidFill>
                <a:latin typeface="Arial"/>
                <a:ea typeface="Arial"/>
                <a:cs typeface="Arial"/>
              </a:defRPr>
            </a:lvl1pPr>
            <a:lvl2pPr algn="ctr">
              <a:defRPr sz="1875">
                <a:solidFill>
                  <a:srgbClr val="F1F4F6"/>
                </a:solidFill>
                <a:latin typeface="Arial"/>
                <a:ea typeface="Arial"/>
                <a:cs typeface="Arial"/>
              </a:defRPr>
            </a:lvl2pPr>
            <a:lvl3pPr algn="ctr">
              <a:defRPr sz="1875">
                <a:solidFill>
                  <a:srgbClr val="F1F4F6"/>
                </a:solidFill>
                <a:latin typeface="Arial"/>
                <a:ea typeface="Arial"/>
                <a:cs typeface="Arial"/>
              </a:defRPr>
            </a:lvl3pPr>
            <a:lvl4pPr algn="ctr">
              <a:defRPr sz="1875">
                <a:solidFill>
                  <a:srgbClr val="F1F4F6"/>
                </a:solidFill>
                <a:latin typeface="Arial"/>
                <a:ea typeface="Arial"/>
                <a:cs typeface="Arial"/>
              </a:defRPr>
            </a:lvl4pPr>
            <a:lvl5pPr algn="ctr">
              <a:defRPr sz="1875">
                <a:solidFill>
                  <a:srgbClr val="F1F4F6"/>
                </a:solidFill>
                <a:latin typeface="Arial"/>
                <a:ea typeface="Arial"/>
                <a:cs typeface="Arial"/>
              </a:defRPr>
            </a:lvl5pPr>
            <a:lvl6pPr algn="ctr">
              <a:defRPr sz="1875">
                <a:solidFill>
                  <a:srgbClr val="F1F4F6"/>
                </a:solidFill>
                <a:latin typeface="Arial"/>
                <a:ea typeface="Arial"/>
                <a:cs typeface="Arial"/>
              </a:defRPr>
            </a:lvl6pPr>
            <a:lvl7pPr algn="ctr">
              <a:defRPr sz="1875">
                <a:solidFill>
                  <a:srgbClr val="F1F4F6"/>
                </a:solidFill>
                <a:latin typeface="Arial"/>
                <a:ea typeface="Arial"/>
                <a:cs typeface="Arial"/>
              </a:defRPr>
            </a:lvl7pPr>
            <a:lvl8pPr algn="ctr">
              <a:defRPr sz="1875">
                <a:solidFill>
                  <a:srgbClr val="F1F4F6"/>
                </a:solidFill>
                <a:latin typeface="Arial"/>
                <a:ea typeface="Arial"/>
                <a:cs typeface="Arial"/>
              </a:defRPr>
            </a:lvl8pPr>
            <a:lvl9pPr algn="ctr">
              <a:defRPr sz="1875">
                <a:solidFill>
                  <a:srgbClr val="F1F4F6"/>
                </a:solidFill>
                <a:latin typeface="Arial"/>
                <a:ea typeface="Arial"/>
                <a:cs typeface="Arial"/>
              </a:defRPr>
            </a:lvl9pPr>
          </a:lstStyle>
          <a:p>
            <a:pPr algn="ctr">
              <a:defRPr sz="1875">
                <a:solidFill>
                  <a:srgbClr val="F1F4F6"/>
                </a:solidFill>
                <a:latin typeface="Arial"/>
                <a:ea typeface="Arial"/>
                <a:cs typeface="Arial"/>
              </a:defRPr>
            </a:pPr>
            <a:r>
              <a:rPr sz="1875">
                <a:solidFill>
                  <a:srgbClr val="F1F4F6"/>
                </a:solidFill>
                <a:latin typeface="Arial"/>
                <a:ea typeface="Arial"/>
                <a:cs typeface="Arial"/>
              </a:rPr>
              <a:t>FastAPI</a:t>
            </a:r>
          </a:p>
          <a:p>
            <a:pPr algn="ctr">
              <a:defRPr sz="1875">
                <a:solidFill>
                  <a:srgbClr val="F1F4F6"/>
                </a:solidFill>
                <a:latin typeface="Arial"/>
                <a:ea typeface="Arial"/>
                <a:cs typeface="Arial"/>
              </a:defRPr>
            </a:pPr>
            <a:r>
              <a:rPr sz="1875">
                <a:solidFill>
                  <a:srgbClr val="F1F4F6"/>
                </a:solidFill>
                <a:latin typeface="Arial"/>
                <a:ea typeface="Arial"/>
                <a:cs typeface="Arial"/>
              </a:rPr>
              <a:t>Python application</a:t>
            </a:r>
          </a:p>
        </p:txBody>
      </p:sp>
      <p:sp>
        <p:nvSpPr>
          <p:cNvPr id="6" name="Rectangle 5">
            <a:extLst>
              <a:ext uri="{FF2B5EF4-FFF2-40B4-BE49-F238E27FC236}">
                <a16:creationId xmlns:a16="http://schemas.microsoft.com/office/drawing/2014/main" id="{659C4E2D-2472-4194-BE04-5A529D0DA3AB}"/>
              </a:ext>
            </a:extLst>
          </p:cNvPr>
          <p:cNvSpPr>
            <a:spLocks noGrp="1"/>
          </p:cNvSpPr>
          <p:nvPr/>
        </p:nvSpPr>
        <p:spPr>
          <a:xfrm>
            <a:off x="8610600" y="1714500"/>
            <a:ext cx="2857500" cy="1066800"/>
          </a:xfrm>
          <a:prstGeom prst="rect">
            <a:avLst/>
          </a:prstGeom>
          <a:solidFill>
            <a:srgbClr val="172431"/>
          </a:solidFill>
          <a:ln w="9525">
            <a:solidFill>
              <a:srgbClr val="344352"/>
            </a:solidFill>
          </a:ln>
        </p:spPr>
        <p:txBody>
          <a:bodyPr lIns="114300" tIns="114300" rIns="114300" bIns="114300" anchor="ctr"/>
          <a:lstStyle>
            <a:defPPr algn="ctr">
              <a:defRPr sz="1875">
                <a:solidFill>
                  <a:srgbClr val="F1F4F6"/>
                </a:solidFill>
                <a:latin typeface="Arial"/>
                <a:ea typeface="Arial"/>
                <a:cs typeface="Arial"/>
              </a:defRPr>
            </a:defPPr>
            <a:lvl1pPr algn="ctr">
              <a:defRPr sz="1875">
                <a:solidFill>
                  <a:srgbClr val="F1F4F6"/>
                </a:solidFill>
                <a:latin typeface="Arial"/>
                <a:ea typeface="Arial"/>
                <a:cs typeface="Arial"/>
              </a:defRPr>
            </a:lvl1pPr>
            <a:lvl2pPr algn="ctr">
              <a:defRPr sz="1875">
                <a:solidFill>
                  <a:srgbClr val="F1F4F6"/>
                </a:solidFill>
                <a:latin typeface="Arial"/>
                <a:ea typeface="Arial"/>
                <a:cs typeface="Arial"/>
              </a:defRPr>
            </a:lvl2pPr>
            <a:lvl3pPr algn="ctr">
              <a:defRPr sz="1875">
                <a:solidFill>
                  <a:srgbClr val="F1F4F6"/>
                </a:solidFill>
                <a:latin typeface="Arial"/>
                <a:ea typeface="Arial"/>
                <a:cs typeface="Arial"/>
              </a:defRPr>
            </a:lvl3pPr>
            <a:lvl4pPr algn="ctr">
              <a:defRPr sz="1875">
                <a:solidFill>
                  <a:srgbClr val="F1F4F6"/>
                </a:solidFill>
                <a:latin typeface="Arial"/>
                <a:ea typeface="Arial"/>
                <a:cs typeface="Arial"/>
              </a:defRPr>
            </a:lvl4pPr>
            <a:lvl5pPr algn="ctr">
              <a:defRPr sz="1875">
                <a:solidFill>
                  <a:srgbClr val="F1F4F6"/>
                </a:solidFill>
                <a:latin typeface="Arial"/>
                <a:ea typeface="Arial"/>
                <a:cs typeface="Arial"/>
              </a:defRPr>
            </a:lvl5pPr>
            <a:lvl6pPr algn="ctr">
              <a:defRPr sz="1875">
                <a:solidFill>
                  <a:srgbClr val="F1F4F6"/>
                </a:solidFill>
                <a:latin typeface="Arial"/>
                <a:ea typeface="Arial"/>
                <a:cs typeface="Arial"/>
              </a:defRPr>
            </a:lvl6pPr>
            <a:lvl7pPr algn="ctr">
              <a:defRPr sz="1875">
                <a:solidFill>
                  <a:srgbClr val="F1F4F6"/>
                </a:solidFill>
                <a:latin typeface="Arial"/>
                <a:ea typeface="Arial"/>
                <a:cs typeface="Arial"/>
              </a:defRPr>
            </a:lvl7pPr>
            <a:lvl8pPr algn="ctr">
              <a:defRPr sz="1875">
                <a:solidFill>
                  <a:srgbClr val="F1F4F6"/>
                </a:solidFill>
                <a:latin typeface="Arial"/>
                <a:ea typeface="Arial"/>
                <a:cs typeface="Arial"/>
              </a:defRPr>
            </a:lvl8pPr>
            <a:lvl9pPr algn="ctr">
              <a:defRPr sz="1875">
                <a:solidFill>
                  <a:srgbClr val="F1F4F6"/>
                </a:solidFill>
                <a:latin typeface="Arial"/>
                <a:ea typeface="Arial"/>
                <a:cs typeface="Arial"/>
              </a:defRPr>
            </a:lvl9pPr>
          </a:lstStyle>
          <a:p>
            <a:pPr algn="ctr">
              <a:defRPr sz="1875">
                <a:solidFill>
                  <a:srgbClr val="F1F4F6"/>
                </a:solidFill>
                <a:latin typeface="Arial"/>
                <a:ea typeface="Arial"/>
                <a:cs typeface="Arial"/>
              </a:defRPr>
            </a:pPr>
            <a:r>
              <a:rPr sz="1875">
                <a:solidFill>
                  <a:srgbClr val="F1F4F6"/>
                </a:solidFill>
                <a:latin typeface="Arial"/>
                <a:ea typeface="Arial"/>
                <a:cs typeface="Arial"/>
              </a:rPr>
              <a:t>PostgreSQL 16</a:t>
            </a:r>
          </a:p>
          <a:p>
            <a:pPr algn="ctr">
              <a:defRPr sz="1875">
                <a:solidFill>
                  <a:srgbClr val="F1F4F6"/>
                </a:solidFill>
                <a:latin typeface="Arial"/>
                <a:ea typeface="Arial"/>
                <a:cs typeface="Arial"/>
              </a:defRPr>
            </a:pPr>
            <a:r>
              <a:rPr sz="1875">
                <a:solidFill>
                  <a:srgbClr val="F1F4F6"/>
                </a:solidFill>
                <a:latin typeface="Arial"/>
                <a:ea typeface="Arial"/>
                <a:cs typeface="Arial"/>
              </a:rPr>
              <a:t>Business data + jobs</a:t>
            </a:r>
          </a:p>
        </p:txBody>
      </p:sp>
      <p:sp>
        <p:nvSpPr>
          <p:cNvPr id="7" name="Rectangle 6">
            <a:extLst>
              <a:ext uri="{FF2B5EF4-FFF2-40B4-BE49-F238E27FC236}">
                <a16:creationId xmlns:a16="http://schemas.microsoft.com/office/drawing/2014/main" id="{806EF290-A6F4-4F68-8648-8045BDA42A9A}"/>
              </a:ext>
            </a:extLst>
          </p:cNvPr>
          <p:cNvSpPr>
            <a:spLocks noGrp="1"/>
          </p:cNvSpPr>
          <p:nvPr/>
        </p:nvSpPr>
        <p:spPr>
          <a:xfrm>
            <a:off x="4724400" y="4095750"/>
            <a:ext cx="2686050" cy="1066800"/>
          </a:xfrm>
          <a:prstGeom prst="rect">
            <a:avLst/>
          </a:prstGeom>
          <a:solidFill>
            <a:srgbClr val="172431"/>
          </a:solidFill>
          <a:ln w="9525">
            <a:solidFill>
              <a:srgbClr val="344352"/>
            </a:solidFill>
          </a:ln>
        </p:spPr>
        <p:txBody>
          <a:bodyPr lIns="114300" tIns="114300" rIns="114300" bIns="114300" anchor="ctr"/>
          <a:lstStyle>
            <a:defPPr algn="ctr">
              <a:defRPr sz="1875">
                <a:solidFill>
                  <a:srgbClr val="F1F4F6"/>
                </a:solidFill>
                <a:latin typeface="Arial"/>
                <a:ea typeface="Arial"/>
                <a:cs typeface="Arial"/>
              </a:defRPr>
            </a:defPPr>
            <a:lvl1pPr algn="ctr">
              <a:defRPr sz="1875">
                <a:solidFill>
                  <a:srgbClr val="F1F4F6"/>
                </a:solidFill>
                <a:latin typeface="Arial"/>
                <a:ea typeface="Arial"/>
                <a:cs typeface="Arial"/>
              </a:defRPr>
            </a:lvl1pPr>
            <a:lvl2pPr algn="ctr">
              <a:defRPr sz="1875">
                <a:solidFill>
                  <a:srgbClr val="F1F4F6"/>
                </a:solidFill>
                <a:latin typeface="Arial"/>
                <a:ea typeface="Arial"/>
                <a:cs typeface="Arial"/>
              </a:defRPr>
            </a:lvl2pPr>
            <a:lvl3pPr algn="ctr">
              <a:defRPr sz="1875">
                <a:solidFill>
                  <a:srgbClr val="F1F4F6"/>
                </a:solidFill>
                <a:latin typeface="Arial"/>
                <a:ea typeface="Arial"/>
                <a:cs typeface="Arial"/>
              </a:defRPr>
            </a:lvl3pPr>
            <a:lvl4pPr algn="ctr">
              <a:defRPr sz="1875">
                <a:solidFill>
                  <a:srgbClr val="F1F4F6"/>
                </a:solidFill>
                <a:latin typeface="Arial"/>
                <a:ea typeface="Arial"/>
                <a:cs typeface="Arial"/>
              </a:defRPr>
            </a:lvl4pPr>
            <a:lvl5pPr algn="ctr">
              <a:defRPr sz="1875">
                <a:solidFill>
                  <a:srgbClr val="F1F4F6"/>
                </a:solidFill>
                <a:latin typeface="Arial"/>
                <a:ea typeface="Arial"/>
                <a:cs typeface="Arial"/>
              </a:defRPr>
            </a:lvl5pPr>
            <a:lvl6pPr algn="ctr">
              <a:defRPr sz="1875">
                <a:solidFill>
                  <a:srgbClr val="F1F4F6"/>
                </a:solidFill>
                <a:latin typeface="Arial"/>
                <a:ea typeface="Arial"/>
                <a:cs typeface="Arial"/>
              </a:defRPr>
            </a:lvl6pPr>
            <a:lvl7pPr algn="ctr">
              <a:defRPr sz="1875">
                <a:solidFill>
                  <a:srgbClr val="F1F4F6"/>
                </a:solidFill>
                <a:latin typeface="Arial"/>
                <a:ea typeface="Arial"/>
                <a:cs typeface="Arial"/>
              </a:defRPr>
            </a:lvl7pPr>
            <a:lvl8pPr algn="ctr">
              <a:defRPr sz="1875">
                <a:solidFill>
                  <a:srgbClr val="F1F4F6"/>
                </a:solidFill>
                <a:latin typeface="Arial"/>
                <a:ea typeface="Arial"/>
                <a:cs typeface="Arial"/>
              </a:defRPr>
            </a:lvl8pPr>
            <a:lvl9pPr algn="ctr">
              <a:defRPr sz="1875">
                <a:solidFill>
                  <a:srgbClr val="F1F4F6"/>
                </a:solidFill>
                <a:latin typeface="Arial"/>
                <a:ea typeface="Arial"/>
                <a:cs typeface="Arial"/>
              </a:defRPr>
            </a:lvl9pPr>
          </a:lstStyle>
          <a:p>
            <a:pPr algn="ctr">
              <a:defRPr sz="1875">
                <a:solidFill>
                  <a:srgbClr val="F1F4F6"/>
                </a:solidFill>
                <a:latin typeface="Arial"/>
                <a:ea typeface="Arial"/>
                <a:cs typeface="Arial"/>
              </a:defRPr>
            </a:pPr>
            <a:r>
              <a:rPr sz="1875">
                <a:solidFill>
                  <a:srgbClr val="F1F4F6"/>
                </a:solidFill>
                <a:latin typeface="Arial"/>
                <a:ea typeface="Arial"/>
                <a:cs typeface="Arial"/>
              </a:rPr>
              <a:t>Background worker</a:t>
            </a:r>
          </a:p>
          <a:p>
            <a:pPr algn="ctr">
              <a:defRPr sz="1875">
                <a:solidFill>
                  <a:srgbClr val="F1F4F6"/>
                </a:solidFill>
                <a:latin typeface="Arial"/>
                <a:ea typeface="Arial"/>
                <a:cs typeface="Arial"/>
              </a:defRPr>
            </a:pPr>
            <a:r>
              <a:rPr sz="1875">
                <a:solidFill>
                  <a:srgbClr val="F1F4F6"/>
                </a:solidFill>
                <a:latin typeface="Arial"/>
                <a:ea typeface="Arial"/>
                <a:cs typeface="Arial"/>
              </a:rPr>
              <a:t>Prepare + render</a:t>
            </a:r>
          </a:p>
        </p:txBody>
      </p:sp>
      <p:sp>
        <p:nvSpPr>
          <p:cNvPr id="8" name="Rectangle 7">
            <a:extLst>
              <a:ext uri="{FF2B5EF4-FFF2-40B4-BE49-F238E27FC236}">
                <a16:creationId xmlns:a16="http://schemas.microsoft.com/office/drawing/2014/main" id="{818C65DA-0E8E-41C8-AFB2-968FE973CB10}"/>
              </a:ext>
            </a:extLst>
          </p:cNvPr>
          <p:cNvSpPr>
            <a:spLocks noGrp="1"/>
          </p:cNvSpPr>
          <p:nvPr/>
        </p:nvSpPr>
        <p:spPr>
          <a:xfrm>
            <a:off x="8610600" y="4095750"/>
            <a:ext cx="2857500" cy="1066800"/>
          </a:xfrm>
          <a:prstGeom prst="rect">
            <a:avLst/>
          </a:prstGeom>
          <a:solidFill>
            <a:srgbClr val="172431"/>
          </a:solidFill>
          <a:ln w="9525">
            <a:solidFill>
              <a:srgbClr val="344352"/>
            </a:solidFill>
          </a:ln>
        </p:spPr>
        <p:txBody>
          <a:bodyPr lIns="114300" tIns="114300" rIns="114300" bIns="114300" anchor="ctr"/>
          <a:lstStyle>
            <a:defPPr algn="ctr">
              <a:defRPr sz="1875">
                <a:solidFill>
                  <a:srgbClr val="F1F4F6"/>
                </a:solidFill>
                <a:latin typeface="Arial"/>
                <a:ea typeface="Arial"/>
                <a:cs typeface="Arial"/>
              </a:defRPr>
            </a:defPPr>
            <a:lvl1pPr algn="ctr">
              <a:defRPr sz="1875">
                <a:solidFill>
                  <a:srgbClr val="F1F4F6"/>
                </a:solidFill>
                <a:latin typeface="Arial"/>
                <a:ea typeface="Arial"/>
                <a:cs typeface="Arial"/>
              </a:defRPr>
            </a:lvl1pPr>
            <a:lvl2pPr algn="ctr">
              <a:defRPr sz="1875">
                <a:solidFill>
                  <a:srgbClr val="F1F4F6"/>
                </a:solidFill>
                <a:latin typeface="Arial"/>
                <a:ea typeface="Arial"/>
                <a:cs typeface="Arial"/>
              </a:defRPr>
            </a:lvl2pPr>
            <a:lvl3pPr algn="ctr">
              <a:defRPr sz="1875">
                <a:solidFill>
                  <a:srgbClr val="F1F4F6"/>
                </a:solidFill>
                <a:latin typeface="Arial"/>
                <a:ea typeface="Arial"/>
                <a:cs typeface="Arial"/>
              </a:defRPr>
            </a:lvl3pPr>
            <a:lvl4pPr algn="ctr">
              <a:defRPr sz="1875">
                <a:solidFill>
                  <a:srgbClr val="F1F4F6"/>
                </a:solidFill>
                <a:latin typeface="Arial"/>
                <a:ea typeface="Arial"/>
                <a:cs typeface="Arial"/>
              </a:defRPr>
            </a:lvl4pPr>
            <a:lvl5pPr algn="ctr">
              <a:defRPr sz="1875">
                <a:solidFill>
                  <a:srgbClr val="F1F4F6"/>
                </a:solidFill>
                <a:latin typeface="Arial"/>
                <a:ea typeface="Arial"/>
                <a:cs typeface="Arial"/>
              </a:defRPr>
            </a:lvl5pPr>
            <a:lvl6pPr algn="ctr">
              <a:defRPr sz="1875">
                <a:solidFill>
                  <a:srgbClr val="F1F4F6"/>
                </a:solidFill>
                <a:latin typeface="Arial"/>
                <a:ea typeface="Arial"/>
                <a:cs typeface="Arial"/>
              </a:defRPr>
            </a:lvl6pPr>
            <a:lvl7pPr algn="ctr">
              <a:defRPr sz="1875">
                <a:solidFill>
                  <a:srgbClr val="F1F4F6"/>
                </a:solidFill>
                <a:latin typeface="Arial"/>
                <a:ea typeface="Arial"/>
                <a:cs typeface="Arial"/>
              </a:defRPr>
            </a:lvl7pPr>
            <a:lvl8pPr algn="ctr">
              <a:defRPr sz="1875">
                <a:solidFill>
                  <a:srgbClr val="F1F4F6"/>
                </a:solidFill>
                <a:latin typeface="Arial"/>
                <a:ea typeface="Arial"/>
                <a:cs typeface="Arial"/>
              </a:defRPr>
            </a:lvl8pPr>
            <a:lvl9pPr algn="ctr">
              <a:defRPr sz="1875">
                <a:solidFill>
                  <a:srgbClr val="F1F4F6"/>
                </a:solidFill>
                <a:latin typeface="Arial"/>
                <a:ea typeface="Arial"/>
                <a:cs typeface="Arial"/>
              </a:defRPr>
            </a:lvl9pPr>
          </a:lstStyle>
          <a:p>
            <a:pPr algn="ctr">
              <a:defRPr sz="1875">
                <a:solidFill>
                  <a:srgbClr val="F1F4F6"/>
                </a:solidFill>
                <a:latin typeface="Arial"/>
                <a:ea typeface="Arial"/>
                <a:cs typeface="Arial"/>
              </a:defRPr>
            </a:pPr>
            <a:r>
              <a:rPr sz="1875">
                <a:solidFill>
                  <a:srgbClr val="F1F4F6"/>
                </a:solidFill>
                <a:latin typeface="Arial"/>
                <a:ea typeface="Arial"/>
                <a:cs typeface="Arial"/>
              </a:rPr>
              <a:t>Local output files</a:t>
            </a:r>
          </a:p>
          <a:p>
            <a:pPr algn="ctr">
              <a:defRPr sz="1875">
                <a:solidFill>
                  <a:srgbClr val="F1F4F6"/>
                </a:solidFill>
                <a:latin typeface="Arial"/>
                <a:ea typeface="Arial"/>
                <a:cs typeface="Arial"/>
              </a:defRPr>
            </a:pPr>
            <a:r>
              <a:rPr sz="1875">
                <a:solidFill>
                  <a:srgbClr val="F1F4F6"/>
                </a:solidFill>
                <a:latin typeface="Arial"/>
                <a:ea typeface="Arial"/>
                <a:cs typeface="Arial"/>
              </a:rPr>
              <a:t>CSV + HTML</a:t>
            </a:r>
          </a:p>
        </p:txBody>
      </p:sp>
      <p:sp>
        <p:nvSpPr>
          <p:cNvPr id="13" name="Rectangle 12">
            <a:extLst>
              <a:ext uri="{FF2B5EF4-FFF2-40B4-BE49-F238E27FC236}">
                <a16:creationId xmlns:a16="http://schemas.microsoft.com/office/drawing/2014/main" id="{7D0410F9-F38F-4B46-AF58-309CD6CC342B}"/>
              </a:ext>
            </a:extLst>
          </p:cNvPr>
          <p:cNvSpPr>
            <a:spLocks noGrp="1"/>
          </p:cNvSpPr>
          <p:nvPr/>
        </p:nvSpPr>
        <p:spPr>
          <a:xfrm>
            <a:off x="609600" y="595312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Native PostgreSQL and Python services. Portable setup scripts replace Docker.</a:t>
            </a:r>
          </a:p>
        </p:txBody>
      </p:sp>
    </p:spTree>
    <p:extLst>
      <p:ext uri="{BB962C8B-B14F-4D97-AF65-F5344CB8AC3E}">
        <p14:creationId xmlns:p14="http://schemas.microsoft.com/office/powerpoint/2010/main" val="10473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BCFB449-67FB-4561-A89B-C1ECBB40C73B}"/>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Demonstration workflow</a:t>
            </a:r>
          </a:p>
        </p:txBody>
      </p:sp>
      <p:sp>
        <p:nvSpPr>
          <p:cNvPr id="2" name="Rectangle 1">
            <a:extLst>
              <a:ext uri="{FF2B5EF4-FFF2-40B4-BE49-F238E27FC236}">
                <a16:creationId xmlns:a16="http://schemas.microsoft.com/office/drawing/2014/main" id="{95DD93D5-C118-4199-90DB-E9996201A1B4}"/>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07</a:t>
            </a:r>
          </a:p>
        </p:txBody>
      </p:sp>
      <p:sp>
        <p:nvSpPr>
          <p:cNvPr id="3" name="Rectangle 2">
            <a:extLst>
              <a:ext uri="{FF2B5EF4-FFF2-40B4-BE49-F238E27FC236}">
                <a16:creationId xmlns:a16="http://schemas.microsoft.com/office/drawing/2014/main" id="{9410CB26-4D24-429B-9F09-18686C0A2C46}"/>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43EAABAC-7463-4614-AEEF-B01D0C304DA7}"/>
              </a:ext>
            </a:extLst>
          </p:cNvPr>
          <p:cNvGraphicFramePr/>
          <p:nvPr/>
        </p:nvGraphicFramePr>
        <p:xfrm>
          <a:off x="609600" y="1619250"/>
          <a:ext cx="10972800" cy="3905250"/>
        </p:xfrm>
        <a:graphic>
          <a:graphicData uri="http://schemas.openxmlformats.org/drawingml/2006/table">
            <a:tbl>
              <a:tblPr firstRow="1"/>
              <a:tblGrid>
                <a:gridCol w="904875">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6019800">
                  <a:extLst>
                    <a:ext uri="{9D8B030D-6E8A-4147-A177-3AD203B41FA5}">
                      <a16:colId xmlns:a16="http://schemas.microsoft.com/office/drawing/2014/main" val="20002"/>
                    </a:ext>
                  </a:extLst>
                </a:gridCol>
              </a:tblGrid>
              <a:tr h="650875">
                <a:tc>
                  <a:txBody>
                    <a:bodyPr/>
                    <a:lstStyle/>
                    <a:p>
                      <a:r>
                        <a:rPr sz="1800" b="1">
                          <a:solidFill>
                            <a:srgbClr val="70D6C4"/>
                          </a:solidFill>
                          <a:latin typeface="Arial"/>
                          <a:ea typeface="Arial"/>
                          <a:cs typeface="Arial"/>
                        </a:rPr>
                        <a:t>Step</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Action in the demo</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Database evidence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650875">
                <a:tc>
                  <a:txBody>
                    <a:bodyPr/>
                    <a:lstStyle/>
                    <a:p>
                      <a:r>
                        <a:rPr sz="1800" b="0">
                          <a:solidFill>
                            <a:srgbClr val="F1F4F6"/>
                          </a:solidFill>
                          <a:latin typeface="Arial"/>
                          <a:ea typeface="Arial"/>
                          <a:cs typeface="Arial"/>
                        </a:rPr>
                        <a:t>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Import and correct a sales file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Staging rows, validation, duplicate protection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650875">
                <a:tc>
                  <a:txBody>
                    <a:bodyPr/>
                    <a:lstStyle/>
                    <a:p>
                      <a:r>
                        <a:rPr sz="1800" b="0">
                          <a:solidFill>
                            <a:srgbClr val="F1F4F6"/>
                          </a:solidFill>
                          <a:latin typeface="Arial"/>
                          <a:ea typeface="Arial"/>
                          <a:cs typeface="Arial"/>
                        </a:rPr>
                        <a:t>02</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Receive stock and post a sale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Stock function, foreign keys, transaction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650875">
                <a:tc>
                  <a:txBody>
                    <a:bodyPr/>
                    <a:lstStyle/>
                    <a:p>
                      <a:r>
                        <a:rPr sz="1800" b="0">
                          <a:solidFill>
                            <a:srgbClr val="F1F4F6"/>
                          </a:solidFill>
                          <a:latin typeface="Arial"/>
                          <a:ea typeface="Arial"/>
                          <a:cs typeface="Arial"/>
                        </a:rPr>
                        <a:t>03</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Ask a business question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Visible JOIN / GROUP BY SQL and parameters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650875">
                <a:tc>
                  <a:txBody>
                    <a:bodyPr/>
                    <a:lstStyle/>
                    <a:p>
                      <a:r>
                        <a:rPr sz="1800" b="0">
                          <a:solidFill>
                            <a:srgbClr val="F1F4F6"/>
                          </a:solidFill>
                          <a:latin typeface="Arial"/>
                          <a:ea typeface="Arial"/>
                          <a:cs typeface="Arial"/>
                        </a:rPr>
                        <a:t>04</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Inspect analysis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SQL totals, window functions and retained facts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650875">
                <a:tc>
                  <a:txBody>
                    <a:bodyPr/>
                    <a:lstStyle/>
                    <a:p>
                      <a:r>
                        <a:rPr sz="1800" b="0">
                          <a:solidFill>
                            <a:srgbClr val="F1F4F6"/>
                          </a:solidFill>
                          <a:latin typeface="Arial"/>
                          <a:ea typeface="Arial"/>
                          <a:cs typeface="Arial"/>
                        </a:rPr>
                        <a:t>05</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Generate and download a report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Job state, saved dataset, result metadata</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19934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a:extLst>
            <a:ext uri="{FF2B5EF4-FFF2-40B4-BE49-F238E27FC236}">
              <a16:creationId xmlns:a16="http://schemas.microsoft.com/office/drawing/2014/main" id="{559332A8-BF42-1D4B-556E-89C5BAA47875}"/>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A31F9C6C-AA8A-6B40-CFBD-F9FE7C0A25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3" y="0"/>
            <a:ext cx="11845633" cy="6857999"/>
          </a:xfrm>
          <a:prstGeom prst="rect">
            <a:avLst/>
          </a:prstGeom>
        </p:spPr>
      </p:pic>
    </p:spTree>
    <p:extLst>
      <p:ext uri="{BB962C8B-B14F-4D97-AF65-F5344CB8AC3E}">
        <p14:creationId xmlns:p14="http://schemas.microsoft.com/office/powerpoint/2010/main" val="2087651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a:extLst>
            <a:ext uri="{FF2B5EF4-FFF2-40B4-BE49-F238E27FC236}">
              <a16:creationId xmlns:a16="http://schemas.microsoft.com/office/drawing/2014/main" id="{A4D7DDAC-7A13-FE8C-CBBA-5D508D7C29A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F254FF0-7132-C811-274B-70CE90D5FA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1618259" cy="6858000"/>
          </a:xfrm>
          <a:prstGeom prst="rect">
            <a:avLst/>
          </a:prstGeom>
        </p:spPr>
      </p:pic>
    </p:spTree>
    <p:extLst>
      <p:ext uri="{BB962C8B-B14F-4D97-AF65-F5344CB8AC3E}">
        <p14:creationId xmlns:p14="http://schemas.microsoft.com/office/powerpoint/2010/main" val="4174844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20F21C8-FBF8-43A2-B100-DB1FB475E672}"/>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Reporting and workflow relations</a:t>
            </a:r>
          </a:p>
        </p:txBody>
      </p:sp>
      <p:sp>
        <p:nvSpPr>
          <p:cNvPr id="2" name="Rectangle 1">
            <a:extLst>
              <a:ext uri="{FF2B5EF4-FFF2-40B4-BE49-F238E27FC236}">
                <a16:creationId xmlns:a16="http://schemas.microsoft.com/office/drawing/2014/main" id="{E3C32CA3-77EA-4355-8665-C5A846F1A395}"/>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11</a:t>
            </a:r>
          </a:p>
        </p:txBody>
      </p:sp>
      <p:sp>
        <p:nvSpPr>
          <p:cNvPr id="3" name="Rectangle 2">
            <a:extLst>
              <a:ext uri="{FF2B5EF4-FFF2-40B4-BE49-F238E27FC236}">
                <a16:creationId xmlns:a16="http://schemas.microsoft.com/office/drawing/2014/main" id="{062F1AAB-CAF5-47A8-87F8-3B4CEA85D0DF}"/>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3A5FC71C-FD73-43C8-A928-6881DA657E8D}"/>
              </a:ext>
            </a:extLst>
          </p:cNvPr>
          <p:cNvGraphicFramePr/>
          <p:nvPr/>
        </p:nvGraphicFramePr>
        <p:xfrm>
          <a:off x="609600" y="1619250"/>
          <a:ext cx="10972800" cy="3905250"/>
        </p:xfrm>
        <a:graphic>
          <a:graphicData uri="http://schemas.openxmlformats.org/drawingml/2006/table">
            <a:tbl>
              <a:tblPr firstRow="1"/>
              <a:tblGrid>
                <a:gridCol w="3143250">
                  <a:extLst>
                    <a:ext uri="{9D8B030D-6E8A-4147-A177-3AD203B41FA5}">
                      <a16:colId xmlns:a16="http://schemas.microsoft.com/office/drawing/2014/main" val="20000"/>
                    </a:ext>
                  </a:extLst>
                </a:gridCol>
                <a:gridCol w="7829550">
                  <a:extLst>
                    <a:ext uri="{9D8B030D-6E8A-4147-A177-3AD203B41FA5}">
                      <a16:colId xmlns:a16="http://schemas.microsoft.com/office/drawing/2014/main" val="20001"/>
                    </a:ext>
                  </a:extLst>
                </a:gridCol>
              </a:tblGrid>
              <a:tr h="650875">
                <a:tc>
                  <a:txBody>
                    <a:bodyPr/>
                    <a:lstStyle/>
                    <a:p>
                      <a:r>
                        <a:rPr sz="1800" b="1">
                          <a:solidFill>
                            <a:srgbClr val="70D6C4"/>
                          </a:solidFill>
                          <a:latin typeface="Arial"/>
                          <a:ea typeface="Arial"/>
                          <a:cs typeface="Arial"/>
                        </a:rPr>
                        <a:t>Area</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Tables shown in this demonstration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650875">
                <a:tc>
                  <a:txBody>
                    <a:bodyPr/>
                    <a:lstStyle/>
                    <a:p>
                      <a:r>
                        <a:rPr sz="1800" b="0">
                          <a:solidFill>
                            <a:srgbClr val="F1F4F6"/>
                          </a:solidFill>
                          <a:latin typeface="Arial"/>
                          <a:ea typeface="Arial"/>
                          <a:cs typeface="Arial"/>
                        </a:rPr>
                        <a:t>Sales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customer, product, sales_order, order_item</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650875">
                <a:tc>
                  <a:txBody>
                    <a:bodyPr/>
                    <a:lstStyle/>
                    <a:p>
                      <a:r>
                        <a:rPr sz="1800" b="0">
                          <a:solidFill>
                            <a:srgbClr val="F1F4F6"/>
                          </a:solidFill>
                          <a:latin typeface="Arial"/>
                          <a:ea typeface="Arial"/>
                          <a:cs typeface="Arial"/>
                        </a:rPr>
                        <a:t>Stock</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inventory_balance, stock_movement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650875">
                <a:tc>
                  <a:txBody>
                    <a:bodyPr/>
                    <a:lstStyle/>
                    <a:p>
                      <a:r>
                        <a:rPr sz="1800" b="0">
                          <a:solidFill>
                            <a:srgbClr val="F1F4F6"/>
                          </a:solidFill>
                          <a:latin typeface="Arial"/>
                          <a:ea typeface="Arial"/>
                          <a:cs typeface="Arial"/>
                        </a:rPr>
                        <a:t>Import staging</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import_batch, import_row</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650875">
                <a:tc>
                  <a:txBody>
                    <a:bodyPr/>
                    <a:lstStyle/>
                    <a:p>
                      <a:r>
                        <a:rPr sz="1800" b="0">
                          <a:solidFill>
                            <a:srgbClr val="F1F4F6"/>
                          </a:solidFill>
                          <a:latin typeface="Arial"/>
                          <a:ea typeface="Arial"/>
                          <a:cs typeface="Arial"/>
                        </a:rPr>
                        <a:t>Reporting history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template_version, report_run, report_request,</a:t>
                      </a:r>
                    </a:p>
                    <a:p>
                      <a:r>
                        <a:rPr sz="1800" b="0">
                          <a:solidFill>
                            <a:srgbClr val="F1F4F6"/>
                          </a:solidFill>
                          <a:latin typeface="Arial"/>
                          <a:ea typeface="Arial"/>
                          <a:cs typeface="Arial"/>
                        </a:rPr>
                        <a:t>report_dataset, report_result, report_audit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650875">
                <a:tc>
                  <a:txBody>
                    <a:bodyPr/>
                    <a:lstStyle/>
                    <a:p>
                      <a:r>
                        <a:rPr sz="1800" b="0">
                          <a:solidFill>
                            <a:srgbClr val="F1F4F6"/>
                          </a:solidFill>
                          <a:latin typeface="Arial"/>
                          <a:ea typeface="Arial"/>
                          <a:cs typeface="Arial"/>
                        </a:rPr>
                        <a:t>Question and analysis history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assistant_request, analysis_run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183E52C3-EF98-40A4-B851-1502EC907155}"/>
              </a:ext>
            </a:extLst>
          </p:cNvPr>
          <p:cNvSpPr>
            <a:spLocks noGrp="1"/>
          </p:cNvSpPr>
          <p:nvPr/>
        </p:nvSpPr>
        <p:spPr>
          <a:xfrm>
            <a:off x="609600" y="595312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All names on this slide are in the reporting schema. Column dictionary follows in the appendix.</a:t>
            </a:r>
          </a:p>
        </p:txBody>
      </p:sp>
    </p:spTree>
    <p:extLst>
      <p:ext uri="{BB962C8B-B14F-4D97-AF65-F5344CB8AC3E}">
        <p14:creationId xmlns:p14="http://schemas.microsoft.com/office/powerpoint/2010/main" val="687280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8F31A20-8015-4864-B167-6F5D6CB2E3BC}"/>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Relational schema: sales</a:t>
            </a:r>
          </a:p>
        </p:txBody>
      </p:sp>
      <p:sp>
        <p:nvSpPr>
          <p:cNvPr id="2" name="Rectangle 1">
            <a:extLst>
              <a:ext uri="{FF2B5EF4-FFF2-40B4-BE49-F238E27FC236}">
                <a16:creationId xmlns:a16="http://schemas.microsoft.com/office/drawing/2014/main" id="{6F9C53B9-3927-4006-9F3C-F5AE3B0CD124}"/>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12</a:t>
            </a:r>
          </a:p>
        </p:txBody>
      </p:sp>
      <p:sp>
        <p:nvSpPr>
          <p:cNvPr id="3" name="Rectangle 2">
            <a:extLst>
              <a:ext uri="{FF2B5EF4-FFF2-40B4-BE49-F238E27FC236}">
                <a16:creationId xmlns:a16="http://schemas.microsoft.com/office/drawing/2014/main" id="{B2CDB8F1-CCF5-45D6-9212-6459CCACBDE6}"/>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4D6C1B10-AFAB-4D9B-9C61-315DF695AF70}"/>
              </a:ext>
            </a:extLst>
          </p:cNvPr>
          <p:cNvGraphicFramePr/>
          <p:nvPr/>
        </p:nvGraphicFramePr>
        <p:xfrm>
          <a:off x="609600" y="1619250"/>
          <a:ext cx="10972800" cy="3762375"/>
        </p:xfrm>
        <a:graphic>
          <a:graphicData uri="http://schemas.openxmlformats.org/drawingml/2006/table">
            <a:tbl>
              <a:tblPr firstRow="1"/>
              <a:tblGrid>
                <a:gridCol w="2333625">
                  <a:extLst>
                    <a:ext uri="{9D8B030D-6E8A-4147-A177-3AD203B41FA5}">
                      <a16:colId xmlns:a16="http://schemas.microsoft.com/office/drawing/2014/main" val="20000"/>
                    </a:ext>
                  </a:extLst>
                </a:gridCol>
                <a:gridCol w="8639175">
                  <a:extLst>
                    <a:ext uri="{9D8B030D-6E8A-4147-A177-3AD203B41FA5}">
                      <a16:colId xmlns:a16="http://schemas.microsoft.com/office/drawing/2014/main" val="20001"/>
                    </a:ext>
                  </a:extLst>
                </a:gridCol>
              </a:tblGrid>
              <a:tr h="752475">
                <a:tc>
                  <a:txBody>
                    <a:bodyPr/>
                    <a:lstStyle/>
                    <a:p>
                      <a:r>
                        <a:rPr sz="1950" b="1">
                          <a:solidFill>
                            <a:srgbClr val="70D6C4"/>
                          </a:solidFill>
                          <a:latin typeface="Arial"/>
                          <a:ea typeface="Arial"/>
                          <a:cs typeface="Arial"/>
                        </a:rPr>
                        <a:t>Relation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950" b="1">
                          <a:solidFill>
                            <a:srgbClr val="70D6C4"/>
                          </a:solidFill>
                          <a:latin typeface="Arial"/>
                          <a:ea typeface="Arial"/>
                          <a:cs typeface="Arial"/>
                        </a:rPr>
                        <a:t>Columns and keys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752475">
                <a:tc>
                  <a:txBody>
                    <a:bodyPr/>
                    <a:lstStyle/>
                    <a:p>
                      <a:r>
                        <a:rPr sz="1950" b="0">
                          <a:solidFill>
                            <a:srgbClr val="F1F4F6"/>
                          </a:solidFill>
                          <a:latin typeface="Arial"/>
                          <a:ea typeface="Arial"/>
                          <a:cs typeface="Arial"/>
                        </a:rPr>
                        <a:t>customer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customer_id PK, customer_ref UQ, full_name, email UQ, region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752475">
                <a:tc>
                  <a:txBody>
                    <a:bodyPr/>
                    <a:lstStyle/>
                    <a:p>
                      <a:r>
                        <a:rPr sz="1950" b="0">
                          <a:solidFill>
                            <a:srgbClr val="F1F4F6"/>
                          </a:solidFill>
                          <a:latin typeface="Arial"/>
                          <a:ea typeface="Arial"/>
                          <a:cs typeface="Arial"/>
                        </a:rPr>
                        <a:t>product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product_id PK, sku UQ, product_name, category, catalogue_price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752475">
                <a:tc>
                  <a:txBody>
                    <a:bodyPr/>
                    <a:lstStyle/>
                    <a:p>
                      <a:r>
                        <a:rPr sz="1950" b="0">
                          <a:solidFill>
                            <a:srgbClr val="F1F4F6"/>
                          </a:solidFill>
                          <a:latin typeface="Arial"/>
                          <a:ea typeface="Arial"/>
                          <a:cs typeface="Arial"/>
                        </a:rPr>
                        <a:t>sales_order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order_id PK, order_ref UQ, customer_id FK, ordered_at, status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752475">
                <a:tc>
                  <a:txBody>
                    <a:bodyPr/>
                    <a:lstStyle/>
                    <a:p>
                      <a:r>
                        <a:rPr sz="1950" b="0">
                          <a:solidFill>
                            <a:srgbClr val="F1F4F6"/>
                          </a:solidFill>
                          <a:latin typeface="Arial"/>
                          <a:ea typeface="Arial"/>
                          <a:cs typeface="Arial"/>
                        </a:rPr>
                        <a:t>order_item</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order_id PK/FK, line_number PK, product_id FK, quantity, unit_price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5357B258-198E-4F27-A19E-EBD8BDCE7493}"/>
              </a:ext>
            </a:extLst>
          </p:cNvPr>
          <p:cNvSpPr>
            <a:spLocks noGrp="1"/>
          </p:cNvSpPr>
          <p:nvPr/>
        </p:nvSpPr>
        <p:spPr>
          <a:xfrm>
            <a:off x="609600" y="5581650"/>
            <a:ext cx="10858500" cy="619125"/>
          </a:xfrm>
          <a:prstGeom prst="rect">
            <a:avLst/>
          </a:prstGeom>
          <a:noFill/>
          <a:ln w="0">
            <a:noFill/>
          </a:ln>
        </p:spPr>
        <p:txBody>
          <a:bodyPr wrap="square" lIns="0" tIns="0" rIns="0" bIns="0" anchor="t">
            <a:noAutofit/>
          </a:bodyPr>
          <a:lstStyle>
            <a:defPPr>
              <a:defRPr sz="1875" b="0">
                <a:solidFill>
                  <a:srgbClr val="70D6C4"/>
                </a:solidFill>
                <a:latin typeface="Arial"/>
                <a:ea typeface="Arial"/>
                <a:cs typeface="Arial"/>
              </a:defRPr>
            </a:defPPr>
            <a:lvl1pPr>
              <a:defRPr sz="1875" b="0">
                <a:solidFill>
                  <a:srgbClr val="70D6C4"/>
                </a:solidFill>
                <a:latin typeface="Arial"/>
                <a:ea typeface="Arial"/>
                <a:cs typeface="Arial"/>
              </a:defRPr>
            </a:lvl1pPr>
            <a:lvl2pPr>
              <a:defRPr sz="1875" b="0">
                <a:solidFill>
                  <a:srgbClr val="70D6C4"/>
                </a:solidFill>
                <a:latin typeface="Arial"/>
                <a:ea typeface="Arial"/>
                <a:cs typeface="Arial"/>
              </a:defRPr>
            </a:lvl2pPr>
            <a:lvl3pPr>
              <a:defRPr sz="1875" b="0">
                <a:solidFill>
                  <a:srgbClr val="70D6C4"/>
                </a:solidFill>
                <a:latin typeface="Arial"/>
                <a:ea typeface="Arial"/>
                <a:cs typeface="Arial"/>
              </a:defRPr>
            </a:lvl3pPr>
            <a:lvl4pPr>
              <a:defRPr sz="1875" b="0">
                <a:solidFill>
                  <a:srgbClr val="70D6C4"/>
                </a:solidFill>
                <a:latin typeface="Arial"/>
                <a:ea typeface="Arial"/>
                <a:cs typeface="Arial"/>
              </a:defRPr>
            </a:lvl4pPr>
            <a:lvl5pPr>
              <a:defRPr sz="1875" b="0">
                <a:solidFill>
                  <a:srgbClr val="70D6C4"/>
                </a:solidFill>
                <a:latin typeface="Arial"/>
                <a:ea typeface="Arial"/>
                <a:cs typeface="Arial"/>
              </a:defRPr>
            </a:lvl5pPr>
            <a:lvl6pPr>
              <a:defRPr sz="1875" b="0">
                <a:solidFill>
                  <a:srgbClr val="70D6C4"/>
                </a:solidFill>
                <a:latin typeface="Arial"/>
                <a:ea typeface="Arial"/>
                <a:cs typeface="Arial"/>
              </a:defRPr>
            </a:lvl6pPr>
            <a:lvl7pPr>
              <a:defRPr sz="1875" b="0">
                <a:solidFill>
                  <a:srgbClr val="70D6C4"/>
                </a:solidFill>
                <a:latin typeface="Arial"/>
                <a:ea typeface="Arial"/>
                <a:cs typeface="Arial"/>
              </a:defRPr>
            </a:lvl7pPr>
            <a:lvl8pPr>
              <a:defRPr sz="1875" b="0">
                <a:solidFill>
                  <a:srgbClr val="70D6C4"/>
                </a:solidFill>
                <a:latin typeface="Arial"/>
                <a:ea typeface="Arial"/>
                <a:cs typeface="Arial"/>
              </a:defRPr>
            </a:lvl8pPr>
            <a:lvl9pPr>
              <a:defRPr sz="1875" b="0">
                <a:solidFill>
                  <a:srgbClr val="70D6C4"/>
                </a:solidFill>
                <a:latin typeface="Arial"/>
                <a:ea typeface="Arial"/>
                <a:cs typeface="Arial"/>
              </a:defRPr>
            </a:lvl9pPr>
          </a:lstStyle>
          <a:p>
            <a:pPr>
              <a:defRPr sz="1875" b="0">
                <a:solidFill>
                  <a:srgbClr val="70D6C4"/>
                </a:solidFill>
                <a:latin typeface="Arial"/>
                <a:ea typeface="Arial"/>
                <a:cs typeface="Arial"/>
              </a:defRPr>
            </a:pPr>
            <a:r>
              <a:rPr sz="1875" b="0">
                <a:solidFill>
                  <a:srgbClr val="70D6C4"/>
                </a:solidFill>
                <a:latin typeface="Arial"/>
                <a:ea typeface="Arial"/>
                <a:cs typeface="Arial"/>
              </a:rPr>
              <a:t>Order items connect each sale to its order and product.</a:t>
            </a:r>
          </a:p>
          <a:p>
            <a:pPr>
              <a:defRPr sz="1875" b="0">
                <a:solidFill>
                  <a:srgbClr val="70D6C4"/>
                </a:solidFill>
                <a:latin typeface="Arial"/>
                <a:ea typeface="Arial"/>
                <a:cs typeface="Arial"/>
              </a:defRPr>
            </a:pPr>
            <a:r>
              <a:rPr sz="1875" b="0">
                <a:solidFill>
                  <a:srgbClr val="70D6C4"/>
                </a:solidFill>
                <a:latin typeface="Arial"/>
                <a:ea typeface="Arial"/>
                <a:cs typeface="Arial"/>
              </a:rPr>
              <a:t>Their composite primary key is (order_id, line_number).</a:t>
            </a:r>
          </a:p>
        </p:txBody>
      </p:sp>
    </p:spTree>
    <p:extLst>
      <p:ext uri="{BB962C8B-B14F-4D97-AF65-F5344CB8AC3E}">
        <p14:creationId xmlns:p14="http://schemas.microsoft.com/office/powerpoint/2010/main" val="1665762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A9CD6F7-09CF-46D9-90CA-DF1FC321EEC9}"/>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Relational schema: inventory</a:t>
            </a:r>
          </a:p>
        </p:txBody>
      </p:sp>
      <p:sp>
        <p:nvSpPr>
          <p:cNvPr id="2" name="Rectangle 1">
            <a:extLst>
              <a:ext uri="{FF2B5EF4-FFF2-40B4-BE49-F238E27FC236}">
                <a16:creationId xmlns:a16="http://schemas.microsoft.com/office/drawing/2014/main" id="{46C8FE8E-55B4-44C1-A98D-29BE26EF6A42}"/>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13</a:t>
            </a:r>
          </a:p>
        </p:txBody>
      </p:sp>
      <p:sp>
        <p:nvSpPr>
          <p:cNvPr id="3" name="Rectangle 2">
            <a:extLst>
              <a:ext uri="{FF2B5EF4-FFF2-40B4-BE49-F238E27FC236}">
                <a16:creationId xmlns:a16="http://schemas.microsoft.com/office/drawing/2014/main" id="{3A677088-6752-4F1E-A8FE-2C7DC7350252}"/>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FB53160F-8B91-42DF-AA92-179CAEAD8AF1}"/>
              </a:ext>
            </a:extLst>
          </p:cNvPr>
          <p:cNvGraphicFramePr/>
          <p:nvPr/>
        </p:nvGraphicFramePr>
        <p:xfrm>
          <a:off x="609600" y="1619250"/>
          <a:ext cx="10972800" cy="2857500"/>
        </p:xfrm>
        <a:graphic>
          <a:graphicData uri="http://schemas.openxmlformats.org/drawingml/2006/table">
            <a:tbl>
              <a:tblPr firstRow="1"/>
              <a:tblGrid>
                <a:gridCol w="2619375">
                  <a:extLst>
                    <a:ext uri="{9D8B030D-6E8A-4147-A177-3AD203B41FA5}">
                      <a16:colId xmlns:a16="http://schemas.microsoft.com/office/drawing/2014/main" val="20000"/>
                    </a:ext>
                  </a:extLst>
                </a:gridCol>
                <a:gridCol w="8353425">
                  <a:extLst>
                    <a:ext uri="{9D8B030D-6E8A-4147-A177-3AD203B41FA5}">
                      <a16:colId xmlns:a16="http://schemas.microsoft.com/office/drawing/2014/main" val="20001"/>
                    </a:ext>
                  </a:extLst>
                </a:gridCol>
              </a:tblGrid>
              <a:tr h="952500">
                <a:tc>
                  <a:txBody>
                    <a:bodyPr/>
                    <a:lstStyle/>
                    <a:p>
                      <a:r>
                        <a:rPr sz="1800" b="1">
                          <a:solidFill>
                            <a:srgbClr val="70D6C4"/>
                          </a:solidFill>
                          <a:latin typeface="Arial"/>
                          <a:ea typeface="Arial"/>
                          <a:cs typeface="Arial"/>
                        </a:rPr>
                        <a:t>Relation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Columns and keys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952500">
                <a:tc>
                  <a:txBody>
                    <a:bodyPr/>
                    <a:lstStyle/>
                    <a:p>
                      <a:r>
                        <a:rPr sz="1800" b="0">
                          <a:solidFill>
                            <a:srgbClr val="F1F4F6"/>
                          </a:solidFill>
                          <a:latin typeface="Arial"/>
                          <a:ea typeface="Arial"/>
                          <a:cs typeface="Arial"/>
                        </a:rPr>
                        <a:t>inventory_balance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product_id PK/FK, quantity, reorder_level, updated_at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952500">
                <a:tc>
                  <a:txBody>
                    <a:bodyPr/>
                    <a:lstStyle/>
                    <a:p>
                      <a:r>
                        <a:rPr sz="1800" b="0">
                          <a:solidFill>
                            <a:srgbClr val="F1F4F6"/>
                          </a:solidFill>
                          <a:latin typeface="Arial"/>
                          <a:ea typeface="Arial"/>
                          <a:cs typeface="Arial"/>
                        </a:rPr>
                        <a:t>stock_movement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movement_id PK, product_id FK, kind, quantity_delta, reference UQ,</a:t>
                      </a:r>
                    </a:p>
                    <a:p>
                      <a:r>
                        <a:rPr sz="1800" b="0">
                          <a:solidFill>
                            <a:srgbClr val="F1F4F6"/>
                          </a:solidFill>
                          <a:latin typeface="Arial"/>
                          <a:ea typeface="Arial"/>
                          <a:cs typeface="Arial"/>
                        </a:rPr>
                        <a:t>note, actor, customer_id FK, unit_price, order_id FK/UQ,</a:t>
                      </a:r>
                    </a:p>
                    <a:p>
                      <a:r>
                        <a:rPr sz="1800" b="0">
                          <a:solidFill>
                            <a:srgbClr val="F1F4F6"/>
                          </a:solidFill>
                          <a:latin typeface="Arial"/>
                          <a:ea typeface="Arial"/>
                          <a:cs typeface="Arial"/>
                        </a:rPr>
                        <a:t>posted_on, created_at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1F41892B-9057-4C0E-8EB3-7F100888CB56}"/>
              </a:ext>
            </a:extLst>
          </p:cNvPr>
          <p:cNvSpPr>
            <a:spLocks noGrp="1"/>
          </p:cNvSpPr>
          <p:nvPr/>
        </p:nvSpPr>
        <p:spPr>
          <a:xfrm>
            <a:off x="609600" y="4905375"/>
            <a:ext cx="10858500" cy="809625"/>
          </a:xfrm>
          <a:prstGeom prst="rect">
            <a:avLst/>
          </a:prstGeom>
          <a:noFill/>
          <a:ln w="0">
            <a:noFill/>
          </a:ln>
        </p:spPr>
        <p:txBody>
          <a:bodyPr wrap="square" lIns="0" tIns="0" rIns="0" bIns="0" anchor="t">
            <a:noAutofit/>
          </a:bodyPr>
          <a:lstStyle>
            <a:defPPr>
              <a:defRPr sz="2100" b="0">
                <a:solidFill>
                  <a:srgbClr val="70D6C4"/>
                </a:solidFill>
                <a:latin typeface="Arial"/>
                <a:ea typeface="Arial"/>
                <a:cs typeface="Arial"/>
              </a:defRPr>
            </a:defPPr>
            <a:lvl1pPr>
              <a:defRPr sz="2100" b="0">
                <a:solidFill>
                  <a:srgbClr val="70D6C4"/>
                </a:solidFill>
                <a:latin typeface="Arial"/>
                <a:ea typeface="Arial"/>
                <a:cs typeface="Arial"/>
              </a:defRPr>
            </a:lvl1pPr>
            <a:lvl2pPr>
              <a:defRPr sz="2100" b="0">
                <a:solidFill>
                  <a:srgbClr val="70D6C4"/>
                </a:solidFill>
                <a:latin typeface="Arial"/>
                <a:ea typeface="Arial"/>
                <a:cs typeface="Arial"/>
              </a:defRPr>
            </a:lvl2pPr>
            <a:lvl3pPr>
              <a:defRPr sz="2100" b="0">
                <a:solidFill>
                  <a:srgbClr val="70D6C4"/>
                </a:solidFill>
                <a:latin typeface="Arial"/>
                <a:ea typeface="Arial"/>
                <a:cs typeface="Arial"/>
              </a:defRPr>
            </a:lvl3pPr>
            <a:lvl4pPr>
              <a:defRPr sz="2100" b="0">
                <a:solidFill>
                  <a:srgbClr val="70D6C4"/>
                </a:solidFill>
                <a:latin typeface="Arial"/>
                <a:ea typeface="Arial"/>
                <a:cs typeface="Arial"/>
              </a:defRPr>
            </a:lvl4pPr>
            <a:lvl5pPr>
              <a:defRPr sz="2100" b="0">
                <a:solidFill>
                  <a:srgbClr val="70D6C4"/>
                </a:solidFill>
                <a:latin typeface="Arial"/>
                <a:ea typeface="Arial"/>
                <a:cs typeface="Arial"/>
              </a:defRPr>
            </a:lvl5pPr>
            <a:lvl6pPr>
              <a:defRPr sz="2100" b="0">
                <a:solidFill>
                  <a:srgbClr val="70D6C4"/>
                </a:solidFill>
                <a:latin typeface="Arial"/>
                <a:ea typeface="Arial"/>
                <a:cs typeface="Arial"/>
              </a:defRPr>
            </a:lvl6pPr>
            <a:lvl7pPr>
              <a:defRPr sz="2100" b="0">
                <a:solidFill>
                  <a:srgbClr val="70D6C4"/>
                </a:solidFill>
                <a:latin typeface="Arial"/>
                <a:ea typeface="Arial"/>
                <a:cs typeface="Arial"/>
              </a:defRPr>
            </a:lvl7pPr>
            <a:lvl8pPr>
              <a:defRPr sz="2100" b="0">
                <a:solidFill>
                  <a:srgbClr val="70D6C4"/>
                </a:solidFill>
                <a:latin typeface="Arial"/>
                <a:ea typeface="Arial"/>
                <a:cs typeface="Arial"/>
              </a:defRPr>
            </a:lvl8pPr>
            <a:lvl9pPr>
              <a:defRPr sz="2100" b="0">
                <a:solidFill>
                  <a:srgbClr val="70D6C4"/>
                </a:solidFill>
                <a:latin typeface="Arial"/>
                <a:ea typeface="Arial"/>
                <a:cs typeface="Arial"/>
              </a:defRPr>
            </a:lvl9pPr>
          </a:lstStyle>
          <a:p>
            <a:pPr>
              <a:defRPr sz="2100" b="0">
                <a:solidFill>
                  <a:srgbClr val="70D6C4"/>
                </a:solidFill>
                <a:latin typeface="Arial"/>
                <a:ea typeface="Arial"/>
                <a:cs typeface="Arial"/>
              </a:defRPr>
            </a:pPr>
            <a:r>
              <a:rPr sz="2100" b="0">
                <a:solidFill>
                  <a:srgbClr val="70D6C4"/>
                </a:solidFill>
                <a:latin typeface="Arial"/>
                <a:ea typeface="Arial"/>
                <a:cs typeface="Arial"/>
              </a:rPr>
              <a:t>product_id links both relations to the product catalogue.</a:t>
            </a:r>
          </a:p>
          <a:p>
            <a:pPr>
              <a:defRPr sz="2100" b="0">
                <a:solidFill>
                  <a:srgbClr val="70D6C4"/>
                </a:solidFill>
                <a:latin typeface="Arial"/>
                <a:ea typeface="Arial"/>
                <a:cs typeface="Arial"/>
              </a:defRPr>
            </a:pPr>
            <a:r>
              <a:rPr sz="2100" b="0">
                <a:solidFill>
                  <a:srgbClr val="70D6C4"/>
                </a:solidFill>
                <a:latin typeface="Arial"/>
                <a:ea typeface="Arial"/>
                <a:cs typeface="Arial"/>
              </a:rPr>
              <a:t>A sale movement also links its customer and resulting sales order.</a:t>
            </a:r>
          </a:p>
        </p:txBody>
      </p:sp>
      <p:sp>
        <p:nvSpPr>
          <p:cNvPr id="6" name="Rectangle 5">
            <a:extLst>
              <a:ext uri="{FF2B5EF4-FFF2-40B4-BE49-F238E27FC236}">
                <a16:creationId xmlns:a16="http://schemas.microsoft.com/office/drawing/2014/main" id="{831C7733-84FA-4948-8E5D-38B397444162}"/>
              </a:ext>
            </a:extLst>
          </p:cNvPr>
          <p:cNvSpPr>
            <a:spLocks noGrp="1"/>
          </p:cNvSpPr>
          <p:nvPr/>
        </p:nvSpPr>
        <p:spPr>
          <a:xfrm>
            <a:off x="609600" y="6038850"/>
            <a:ext cx="10915650" cy="295275"/>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Receipt movements have no customer, sale price or order. The movement ledger is append-only.</a:t>
            </a:r>
          </a:p>
        </p:txBody>
      </p:sp>
    </p:spTree>
    <p:extLst>
      <p:ext uri="{BB962C8B-B14F-4D97-AF65-F5344CB8AC3E}">
        <p14:creationId xmlns:p14="http://schemas.microsoft.com/office/powerpoint/2010/main" val="1428904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3962D7-3A20-497E-9C73-460354E54E14}"/>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Relational schema: report execution</a:t>
            </a:r>
          </a:p>
        </p:txBody>
      </p:sp>
      <p:sp>
        <p:nvSpPr>
          <p:cNvPr id="2" name="Rectangle 1">
            <a:extLst>
              <a:ext uri="{FF2B5EF4-FFF2-40B4-BE49-F238E27FC236}">
                <a16:creationId xmlns:a16="http://schemas.microsoft.com/office/drawing/2014/main" id="{CE90FEAA-685E-4C00-9018-F55889C0FEF1}"/>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14</a:t>
            </a:r>
          </a:p>
        </p:txBody>
      </p:sp>
      <p:sp>
        <p:nvSpPr>
          <p:cNvPr id="3" name="Rectangle 2">
            <a:extLst>
              <a:ext uri="{FF2B5EF4-FFF2-40B4-BE49-F238E27FC236}">
                <a16:creationId xmlns:a16="http://schemas.microsoft.com/office/drawing/2014/main" id="{83161EFA-23E0-4CE0-A44D-A41200132280}"/>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32C71D38-29FD-4037-88F3-F6FB63148ED3}"/>
              </a:ext>
            </a:extLst>
          </p:cNvPr>
          <p:cNvGraphicFramePr/>
          <p:nvPr/>
        </p:nvGraphicFramePr>
        <p:xfrm>
          <a:off x="609600" y="1619250"/>
          <a:ext cx="10972800" cy="3810000"/>
        </p:xfrm>
        <a:graphic>
          <a:graphicData uri="http://schemas.openxmlformats.org/drawingml/2006/table">
            <a:tbl>
              <a:tblPr firstRow="1"/>
              <a:tblGrid>
                <a:gridCol w="2333625">
                  <a:extLst>
                    <a:ext uri="{9D8B030D-6E8A-4147-A177-3AD203B41FA5}">
                      <a16:colId xmlns:a16="http://schemas.microsoft.com/office/drawing/2014/main" val="20000"/>
                    </a:ext>
                  </a:extLst>
                </a:gridCol>
                <a:gridCol w="8639175">
                  <a:extLst>
                    <a:ext uri="{9D8B030D-6E8A-4147-A177-3AD203B41FA5}">
                      <a16:colId xmlns:a16="http://schemas.microsoft.com/office/drawing/2014/main" val="20001"/>
                    </a:ext>
                  </a:extLst>
                </a:gridCol>
              </a:tblGrid>
              <a:tr h="952500">
                <a:tc>
                  <a:txBody>
                    <a:bodyPr/>
                    <a:lstStyle/>
                    <a:p>
                      <a:r>
                        <a:rPr sz="1725" b="1">
                          <a:solidFill>
                            <a:srgbClr val="70D6C4"/>
                          </a:solidFill>
                          <a:latin typeface="Arial"/>
                          <a:ea typeface="Arial"/>
                          <a:cs typeface="Arial"/>
                        </a:rPr>
                        <a:t>Relation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725" b="1">
                          <a:solidFill>
                            <a:srgbClr val="70D6C4"/>
                          </a:solidFill>
                          <a:latin typeface="Arial"/>
                          <a:ea typeface="Arial"/>
                          <a:cs typeface="Arial"/>
                        </a:rPr>
                        <a:t>Columns and keys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952500">
                <a:tc>
                  <a:txBody>
                    <a:bodyPr/>
                    <a:lstStyle/>
                    <a:p>
                      <a:r>
                        <a:rPr sz="1725" b="0">
                          <a:solidFill>
                            <a:srgbClr val="F1F4F6"/>
                          </a:solidFill>
                          <a:latin typeface="Arial"/>
                          <a:ea typeface="Arial"/>
                          <a:cs typeface="Arial"/>
                        </a:rPr>
                        <a:t>report_run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run_id PK, submission_key UQ, template_id FK, requested_by FK,</a:t>
                      </a:r>
                    </a:p>
                    <a:p>
                      <a:r>
                        <a:rPr sz="1725" b="0">
                          <a:solidFill>
                            <a:srgbClr val="F1F4F6"/>
                          </a:solidFill>
                          <a:latin typeface="Arial"/>
                          <a:ea typeface="Arial"/>
                          <a:cs typeface="Arial"/>
                        </a:rPr>
                        <a:t>customer_id FK, start_date, end_date, top_n, bulk, status,</a:t>
                      </a:r>
                    </a:p>
                    <a:p>
                      <a:r>
                        <a:rPr sz="1725" b="0">
                          <a:solidFill>
                            <a:srgbClr val="F1F4F6"/>
                          </a:solidFill>
                          <a:latin typeface="Arial"/>
                          <a:ea typeface="Arial"/>
                          <a:cs typeface="Arial"/>
                        </a:rPr>
                        <a:t>created_at, prepared_at, error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952500">
                <a:tc>
                  <a:txBody>
                    <a:bodyPr/>
                    <a:lstStyle/>
                    <a:p>
                      <a:r>
                        <a:rPr sz="1725" b="0">
                          <a:solidFill>
                            <a:srgbClr val="F1F4F6"/>
                          </a:solidFill>
                          <a:latin typeface="Arial"/>
                          <a:ea typeface="Arial"/>
                          <a:cs typeface="Arial"/>
                        </a:rPr>
                        <a:t>report_request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request_id PK, run_id FK, subject_key, customer_id FK, state,</a:t>
                      </a:r>
                    </a:p>
                    <a:p>
                      <a:r>
                        <a:rPr sz="1725" b="0">
                          <a:solidFill>
                            <a:srgbClr val="F1F4F6"/>
                          </a:solidFill>
                          <a:latin typeface="Arial"/>
                          <a:ea typeface="Arial"/>
                          <a:cs typeface="Arial"/>
                        </a:rPr>
                        <a:t>created_at, completed_at, last_error, attempts, enqueued</a:t>
                      </a:r>
                    </a:p>
                    <a:p>
                      <a:r>
                        <a:rPr sz="1725" b="0">
                          <a:solidFill>
                            <a:srgbClr val="F1F4F6"/>
                          </a:solidFill>
                          <a:latin typeface="Arial"/>
                          <a:ea typeface="Arial"/>
                          <a:cs typeface="Arial"/>
                        </a:rPr>
                        <a:t>UQ (run_id, subject_key)</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952500">
                <a:tc>
                  <a:txBody>
                    <a:bodyPr/>
                    <a:lstStyle/>
                    <a:p>
                      <a:r>
                        <a:rPr sz="1725" b="0">
                          <a:solidFill>
                            <a:srgbClr val="F1F4F6"/>
                          </a:solidFill>
                          <a:latin typeface="Arial"/>
                          <a:ea typeface="Arial"/>
                          <a:cs typeface="Arial"/>
                        </a:rPr>
                        <a:t>report_dataset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request_id PK/FK, rows JSONB, captured_at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9CFC6B37-EA0A-4202-BB76-5B017A661F4B}"/>
              </a:ext>
            </a:extLst>
          </p:cNvPr>
          <p:cNvSpPr>
            <a:spLocks noGrp="1"/>
          </p:cNvSpPr>
          <p:nvPr/>
        </p:nvSpPr>
        <p:spPr>
          <a:xfrm>
            <a:off x="609600" y="6038850"/>
            <a:ext cx="10915650" cy="295275"/>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One run can contain many report requests. Each request can have one retained dataset.</a:t>
            </a:r>
          </a:p>
        </p:txBody>
      </p:sp>
    </p:spTree>
    <p:extLst>
      <p:ext uri="{BB962C8B-B14F-4D97-AF65-F5344CB8AC3E}">
        <p14:creationId xmlns:p14="http://schemas.microsoft.com/office/powerpoint/2010/main" val="920750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3B4A3EA-669D-4760-8054-2D0786C43C17}"/>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Normalization: starting records</a:t>
            </a:r>
          </a:p>
        </p:txBody>
      </p:sp>
      <p:sp>
        <p:nvSpPr>
          <p:cNvPr id="2" name="Rectangle 1">
            <a:extLst>
              <a:ext uri="{FF2B5EF4-FFF2-40B4-BE49-F238E27FC236}">
                <a16:creationId xmlns:a16="http://schemas.microsoft.com/office/drawing/2014/main" id="{500F7D0E-6997-4C48-A872-7C436B189417}"/>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15</a:t>
            </a:r>
          </a:p>
        </p:txBody>
      </p:sp>
      <p:sp>
        <p:nvSpPr>
          <p:cNvPr id="3" name="Rectangle 2">
            <a:extLst>
              <a:ext uri="{FF2B5EF4-FFF2-40B4-BE49-F238E27FC236}">
                <a16:creationId xmlns:a16="http://schemas.microsoft.com/office/drawing/2014/main" id="{3CEDD73F-E26A-46EC-9F4B-F21D8072369C}"/>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31BC9E60-F343-4E97-B853-D265F388902C}"/>
              </a:ext>
            </a:extLst>
          </p:cNvPr>
          <p:cNvSpPr>
            <a:spLocks noGrp="1"/>
          </p:cNvSpPr>
          <p:nvPr/>
        </p:nvSpPr>
        <p:spPr>
          <a:xfrm>
            <a:off x="609600" y="1428750"/>
            <a:ext cx="10858500" cy="476250"/>
          </a:xfrm>
          <a:prstGeom prst="rect">
            <a:avLst/>
          </a:prstGeom>
          <a:noFill/>
          <a:ln w="0">
            <a:noFill/>
          </a:ln>
        </p:spPr>
        <p:txBody>
          <a:bodyPr wrap="square" lIns="0" tIns="0" rIns="0" bIns="0" anchor="t">
            <a:noAutofit/>
          </a:bodyPr>
          <a:lstStyle>
            <a:defPPr>
              <a:defRPr sz="2175" b="1">
                <a:solidFill>
                  <a:srgbClr val="70D6C4"/>
                </a:solidFill>
                <a:latin typeface="Arial"/>
                <a:ea typeface="Arial"/>
                <a:cs typeface="Arial"/>
              </a:defRPr>
            </a:defPPr>
            <a:lvl1pPr>
              <a:defRPr sz="2175" b="1">
                <a:solidFill>
                  <a:srgbClr val="70D6C4"/>
                </a:solidFill>
                <a:latin typeface="Arial"/>
                <a:ea typeface="Arial"/>
                <a:cs typeface="Arial"/>
              </a:defRPr>
            </a:lvl1pPr>
            <a:lvl2pPr>
              <a:defRPr sz="2175" b="1">
                <a:solidFill>
                  <a:srgbClr val="70D6C4"/>
                </a:solidFill>
                <a:latin typeface="Arial"/>
                <a:ea typeface="Arial"/>
                <a:cs typeface="Arial"/>
              </a:defRPr>
            </a:lvl2pPr>
            <a:lvl3pPr>
              <a:defRPr sz="2175" b="1">
                <a:solidFill>
                  <a:srgbClr val="70D6C4"/>
                </a:solidFill>
                <a:latin typeface="Arial"/>
                <a:ea typeface="Arial"/>
                <a:cs typeface="Arial"/>
              </a:defRPr>
            </a:lvl3pPr>
            <a:lvl4pPr>
              <a:defRPr sz="2175" b="1">
                <a:solidFill>
                  <a:srgbClr val="70D6C4"/>
                </a:solidFill>
                <a:latin typeface="Arial"/>
                <a:ea typeface="Arial"/>
                <a:cs typeface="Arial"/>
              </a:defRPr>
            </a:lvl4pPr>
            <a:lvl5pPr>
              <a:defRPr sz="2175" b="1">
                <a:solidFill>
                  <a:srgbClr val="70D6C4"/>
                </a:solidFill>
                <a:latin typeface="Arial"/>
                <a:ea typeface="Arial"/>
                <a:cs typeface="Arial"/>
              </a:defRPr>
            </a:lvl5pPr>
            <a:lvl6pPr>
              <a:defRPr sz="2175" b="1">
                <a:solidFill>
                  <a:srgbClr val="70D6C4"/>
                </a:solidFill>
                <a:latin typeface="Arial"/>
                <a:ea typeface="Arial"/>
                <a:cs typeface="Arial"/>
              </a:defRPr>
            </a:lvl6pPr>
            <a:lvl7pPr>
              <a:defRPr sz="2175" b="1">
                <a:solidFill>
                  <a:srgbClr val="70D6C4"/>
                </a:solidFill>
                <a:latin typeface="Arial"/>
                <a:ea typeface="Arial"/>
                <a:cs typeface="Arial"/>
              </a:defRPr>
            </a:lvl7pPr>
            <a:lvl8pPr>
              <a:defRPr sz="2175" b="1">
                <a:solidFill>
                  <a:srgbClr val="70D6C4"/>
                </a:solidFill>
                <a:latin typeface="Arial"/>
                <a:ea typeface="Arial"/>
                <a:cs typeface="Arial"/>
              </a:defRPr>
            </a:lvl8pPr>
            <a:lvl9pPr>
              <a:defRPr sz="2175" b="1">
                <a:solidFill>
                  <a:srgbClr val="70D6C4"/>
                </a:solidFill>
                <a:latin typeface="Arial"/>
                <a:ea typeface="Arial"/>
                <a:cs typeface="Arial"/>
              </a:defRPr>
            </a:lvl9pPr>
          </a:lstStyle>
          <a:p>
            <a:pPr>
              <a:defRPr sz="2175" b="1">
                <a:solidFill>
                  <a:srgbClr val="70D6C4"/>
                </a:solidFill>
                <a:latin typeface="Arial"/>
                <a:ea typeface="Arial"/>
                <a:cs typeface="Arial"/>
              </a:defRPr>
            </a:pPr>
            <a:r>
              <a:rPr sz="2175" b="1">
                <a:solidFill>
                  <a:srgbClr val="70D6C4"/>
                </a:solidFill>
                <a:latin typeface="Arial"/>
                <a:ea typeface="Arial"/>
                <a:cs typeface="Arial"/>
              </a:rPr>
              <a:t>Existing order DEMO-000001-1: three items, total 750.00</a:t>
            </a:r>
          </a:p>
        </p:txBody>
      </p:sp>
      <p:graphicFrame>
        <p:nvGraphicFramePr>
          <p:cNvPr id="5" name="Table 4">
            <a:extLst>
              <a:ext uri="{FF2B5EF4-FFF2-40B4-BE49-F238E27FC236}">
                <a16:creationId xmlns:a16="http://schemas.microsoft.com/office/drawing/2014/main" id="{A3C8D59A-8DF9-4059-B9AD-9E61D5431140}"/>
              </a:ext>
            </a:extLst>
          </p:cNvPr>
          <p:cNvGraphicFramePr/>
          <p:nvPr/>
        </p:nvGraphicFramePr>
        <p:xfrm>
          <a:off x="609600" y="2171700"/>
          <a:ext cx="10972800" cy="2143124"/>
        </p:xfrm>
        <a:graphic>
          <a:graphicData uri="http://schemas.openxmlformats.org/drawingml/2006/table">
            <a:tbl>
              <a:tblPr firstRow="1"/>
              <a:tblGrid>
                <a:gridCol w="904875">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2238375">
                  <a:extLst>
                    <a:ext uri="{9D8B030D-6E8A-4147-A177-3AD203B41FA5}">
                      <a16:colId xmlns:a16="http://schemas.microsoft.com/office/drawing/2014/main" val="20003"/>
                    </a:ext>
                  </a:extLst>
                </a:gridCol>
                <a:gridCol w="214312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2305050">
                  <a:extLst>
                    <a:ext uri="{9D8B030D-6E8A-4147-A177-3AD203B41FA5}">
                      <a16:colId xmlns:a16="http://schemas.microsoft.com/office/drawing/2014/main" val="20006"/>
                    </a:ext>
                  </a:extLst>
                </a:gridCol>
              </a:tblGrid>
              <a:tr h="535781">
                <a:tc>
                  <a:txBody>
                    <a:bodyPr/>
                    <a:lstStyle/>
                    <a:p>
                      <a:r>
                        <a:rPr sz="1800" b="1">
                          <a:solidFill>
                            <a:srgbClr val="70D6C4"/>
                          </a:solidFill>
                          <a:latin typeface="Arial"/>
                          <a:ea typeface="Arial"/>
                          <a:cs typeface="Arial"/>
                        </a:rPr>
                        <a:t>Order</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Line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Date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Customer</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Product</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Qty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35781">
                <a:tc>
                  <a:txBody>
                    <a:bodyPr/>
                    <a:lstStyle/>
                    <a:p>
                      <a:r>
                        <a:rPr sz="1800" b="0">
                          <a:solidFill>
                            <a:srgbClr val="F1F4F6"/>
                          </a:solidFill>
                          <a:latin typeface="Arial"/>
                          <a:ea typeface="Arial"/>
                          <a:cs typeface="Arial"/>
                        </a:rPr>
                        <a:t>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2026-01-09</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Customer 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Product 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35781">
                <a:tc>
                  <a:txBody>
                    <a:bodyPr/>
                    <a:lstStyle/>
                    <a:p>
                      <a:r>
                        <a:rPr sz="1800" b="0">
                          <a:solidFill>
                            <a:srgbClr val="F1F4F6"/>
                          </a:solidFill>
                          <a:latin typeface="Arial"/>
                          <a:ea typeface="Arial"/>
                          <a:cs typeface="Arial"/>
                        </a:rPr>
                        <a:t>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2</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2026-01-09</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Customer 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Product 4</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4</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100.00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35781">
                <a:tc>
                  <a:txBody>
                    <a:bodyPr/>
                    <a:lstStyle/>
                    <a:p>
                      <a:r>
                        <a:rPr sz="1800" b="0">
                          <a:solidFill>
                            <a:srgbClr val="F1F4F6"/>
                          </a:solidFill>
                          <a:latin typeface="Arial"/>
                          <a:ea typeface="Arial"/>
                          <a:cs typeface="Arial"/>
                        </a:rPr>
                        <a:t>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2026-01-09</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Customer 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Product 5</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125.00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DEBFB143-1424-4CC3-8655-E2A566F9A26F}"/>
              </a:ext>
            </a:extLst>
          </p:cNvPr>
          <p:cNvSpPr>
            <a:spLocks noGrp="1"/>
          </p:cNvSpPr>
          <p:nvPr/>
        </p:nvSpPr>
        <p:spPr>
          <a:xfrm>
            <a:off x="609600" y="4714875"/>
            <a:ext cx="10810875" cy="857250"/>
          </a:xfrm>
          <a:prstGeom prst="rect">
            <a:avLst/>
          </a:prstGeom>
          <a:noFill/>
          <a:ln w="0">
            <a:noFill/>
          </a:ln>
        </p:spPr>
        <p:txBody>
          <a:bodyPr wrap="square" lIns="0" tIns="0" rIns="0" bIns="0" anchor="t">
            <a:noAutofit/>
          </a:bodyPr>
          <a:lstStyle>
            <a:defPPr>
              <a:defRPr sz="2100" b="0">
                <a:solidFill>
                  <a:srgbClr val="F1F4F6"/>
                </a:solidFill>
                <a:latin typeface="Arial"/>
                <a:ea typeface="Arial"/>
                <a:cs typeface="Arial"/>
              </a:defRPr>
            </a:defPPr>
            <a:lvl1pPr>
              <a:defRPr sz="2100" b="0">
                <a:solidFill>
                  <a:srgbClr val="F1F4F6"/>
                </a:solidFill>
                <a:latin typeface="Arial"/>
                <a:ea typeface="Arial"/>
                <a:cs typeface="Arial"/>
              </a:defRPr>
            </a:lvl1pPr>
            <a:lvl2pPr>
              <a:defRPr sz="2100" b="0">
                <a:solidFill>
                  <a:srgbClr val="F1F4F6"/>
                </a:solidFill>
                <a:latin typeface="Arial"/>
                <a:ea typeface="Arial"/>
                <a:cs typeface="Arial"/>
              </a:defRPr>
            </a:lvl2pPr>
            <a:lvl3pPr>
              <a:defRPr sz="2100" b="0">
                <a:solidFill>
                  <a:srgbClr val="F1F4F6"/>
                </a:solidFill>
                <a:latin typeface="Arial"/>
                <a:ea typeface="Arial"/>
                <a:cs typeface="Arial"/>
              </a:defRPr>
            </a:lvl3pPr>
            <a:lvl4pPr>
              <a:defRPr sz="2100" b="0">
                <a:solidFill>
                  <a:srgbClr val="F1F4F6"/>
                </a:solidFill>
                <a:latin typeface="Arial"/>
                <a:ea typeface="Arial"/>
                <a:cs typeface="Arial"/>
              </a:defRPr>
            </a:lvl4pPr>
            <a:lvl5pPr>
              <a:defRPr sz="2100" b="0">
                <a:solidFill>
                  <a:srgbClr val="F1F4F6"/>
                </a:solidFill>
                <a:latin typeface="Arial"/>
                <a:ea typeface="Arial"/>
                <a:cs typeface="Arial"/>
              </a:defRPr>
            </a:lvl5pPr>
            <a:lvl6pPr>
              <a:defRPr sz="2100" b="0">
                <a:solidFill>
                  <a:srgbClr val="F1F4F6"/>
                </a:solidFill>
                <a:latin typeface="Arial"/>
                <a:ea typeface="Arial"/>
                <a:cs typeface="Arial"/>
              </a:defRPr>
            </a:lvl6pPr>
            <a:lvl7pPr>
              <a:defRPr sz="2100" b="0">
                <a:solidFill>
                  <a:srgbClr val="F1F4F6"/>
                </a:solidFill>
                <a:latin typeface="Arial"/>
                <a:ea typeface="Arial"/>
                <a:cs typeface="Arial"/>
              </a:defRPr>
            </a:lvl7pPr>
            <a:lvl8pPr>
              <a:defRPr sz="2100" b="0">
                <a:solidFill>
                  <a:srgbClr val="F1F4F6"/>
                </a:solidFill>
                <a:latin typeface="Arial"/>
                <a:ea typeface="Arial"/>
                <a:cs typeface="Arial"/>
              </a:defRPr>
            </a:lvl8pPr>
            <a:lvl9pPr>
              <a:defRPr sz="2100" b="0">
                <a:solidFill>
                  <a:srgbClr val="F1F4F6"/>
                </a:solidFill>
                <a:latin typeface="Arial"/>
                <a:ea typeface="Arial"/>
                <a:cs typeface="Arial"/>
              </a:defRPr>
            </a:lvl9pPr>
          </a:lstStyle>
          <a:p>
            <a:pPr>
              <a:defRPr sz="2100" b="0">
                <a:solidFill>
                  <a:srgbClr val="F1F4F6"/>
                </a:solidFill>
                <a:latin typeface="Arial"/>
                <a:ea typeface="Arial"/>
                <a:cs typeface="Arial"/>
              </a:defRPr>
            </a:pPr>
            <a:r>
              <a:rPr sz="2100" b="0">
                <a:solidFill>
                  <a:srgbClr val="F1F4F6"/>
                </a:solidFill>
                <a:latin typeface="Arial"/>
                <a:ea typeface="Arial"/>
                <a:cs typeface="Arial"/>
              </a:rPr>
              <a:t>A flat sales sheet repeats order dates and descriptive information.</a:t>
            </a:r>
          </a:p>
          <a:p>
            <a:pPr>
              <a:defRPr sz="2100" b="0">
                <a:solidFill>
                  <a:srgbClr val="F1F4F6"/>
                </a:solidFill>
                <a:latin typeface="Arial"/>
                <a:ea typeface="Arial"/>
                <a:cs typeface="Arial"/>
              </a:defRPr>
            </a:pPr>
            <a:r>
              <a:rPr sz="2100" b="0">
                <a:solidFill>
                  <a:srgbClr val="F1F4F6"/>
                </a:solidFill>
                <a:latin typeface="Arial"/>
                <a:ea typeface="Arial"/>
                <a:cs typeface="Arial"/>
              </a:rPr>
              <a:t>Updating a customer email in many rows can leave inconsistent copies.</a:t>
            </a:r>
          </a:p>
        </p:txBody>
      </p:sp>
      <p:sp>
        <p:nvSpPr>
          <p:cNvPr id="7" name="Rectangle 6">
            <a:extLst>
              <a:ext uri="{FF2B5EF4-FFF2-40B4-BE49-F238E27FC236}">
                <a16:creationId xmlns:a16="http://schemas.microsoft.com/office/drawing/2014/main" id="{6CFE693D-8EA0-4A0C-A1E5-031B6C41FDF7}"/>
              </a:ext>
            </a:extLst>
          </p:cNvPr>
          <p:cNvSpPr>
            <a:spLocks noGrp="1"/>
          </p:cNvSpPr>
          <p:nvPr/>
        </p:nvSpPr>
        <p:spPr>
          <a:xfrm>
            <a:off x="609600" y="6038850"/>
            <a:ext cx="10915650" cy="295275"/>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Worked decomposition of actual synthetic demo records. This is not the stored table structure.</a:t>
            </a:r>
          </a:p>
        </p:txBody>
      </p:sp>
    </p:spTree>
    <p:extLst>
      <p:ext uri="{BB962C8B-B14F-4D97-AF65-F5344CB8AC3E}">
        <p14:creationId xmlns:p14="http://schemas.microsoft.com/office/powerpoint/2010/main" val="683094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11A35-1582-4616-8AA8-F4757DBD3915}"/>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First Normal Form: one item per row</a:t>
            </a:r>
          </a:p>
        </p:txBody>
      </p:sp>
      <p:sp>
        <p:nvSpPr>
          <p:cNvPr id="2" name="Rectangle 1">
            <a:extLst>
              <a:ext uri="{FF2B5EF4-FFF2-40B4-BE49-F238E27FC236}">
                <a16:creationId xmlns:a16="http://schemas.microsoft.com/office/drawing/2014/main" id="{EE712A79-C38A-40F0-BD7F-DD04635797DC}"/>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16</a:t>
            </a:r>
          </a:p>
        </p:txBody>
      </p:sp>
      <p:sp>
        <p:nvSpPr>
          <p:cNvPr id="3" name="Rectangle 2">
            <a:extLst>
              <a:ext uri="{FF2B5EF4-FFF2-40B4-BE49-F238E27FC236}">
                <a16:creationId xmlns:a16="http://schemas.microsoft.com/office/drawing/2014/main" id="{F040C09D-8348-45C5-BF1C-C59E1FDE4E6D}"/>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7332145F-BFE1-4AE5-A651-48D530F1EAB2}"/>
              </a:ext>
            </a:extLst>
          </p:cNvPr>
          <p:cNvSpPr>
            <a:spLocks noGrp="1"/>
          </p:cNvSpPr>
          <p:nvPr/>
        </p:nvSpPr>
        <p:spPr>
          <a:xfrm>
            <a:off x="609600" y="1476375"/>
            <a:ext cx="10810875" cy="428625"/>
          </a:xfrm>
          <a:prstGeom prst="rect">
            <a:avLst/>
          </a:prstGeom>
          <a:noFill/>
          <a:ln w="0">
            <a:noFill/>
          </a:ln>
        </p:spPr>
        <p:txBody>
          <a:bodyPr wrap="square" lIns="0" tIns="0" rIns="0" bIns="0" anchor="t">
            <a:noAutofit/>
          </a:bodyPr>
          <a:lstStyle>
            <a:defPPr>
              <a:defRPr sz="2100" b="1">
                <a:solidFill>
                  <a:srgbClr val="70D6C4"/>
                </a:solidFill>
                <a:latin typeface="Arial"/>
                <a:ea typeface="Arial"/>
                <a:cs typeface="Arial"/>
              </a:defRPr>
            </a:defPPr>
            <a:lvl1pPr>
              <a:defRPr sz="2100" b="1">
                <a:solidFill>
                  <a:srgbClr val="70D6C4"/>
                </a:solidFill>
                <a:latin typeface="Arial"/>
                <a:ea typeface="Arial"/>
                <a:cs typeface="Arial"/>
              </a:defRPr>
            </a:lvl1pPr>
            <a:lvl2pPr>
              <a:defRPr sz="2100" b="1">
                <a:solidFill>
                  <a:srgbClr val="70D6C4"/>
                </a:solidFill>
                <a:latin typeface="Arial"/>
                <a:ea typeface="Arial"/>
                <a:cs typeface="Arial"/>
              </a:defRPr>
            </a:lvl2pPr>
            <a:lvl3pPr>
              <a:defRPr sz="2100" b="1">
                <a:solidFill>
                  <a:srgbClr val="70D6C4"/>
                </a:solidFill>
                <a:latin typeface="Arial"/>
                <a:ea typeface="Arial"/>
                <a:cs typeface="Arial"/>
              </a:defRPr>
            </a:lvl3pPr>
            <a:lvl4pPr>
              <a:defRPr sz="2100" b="1">
                <a:solidFill>
                  <a:srgbClr val="70D6C4"/>
                </a:solidFill>
                <a:latin typeface="Arial"/>
                <a:ea typeface="Arial"/>
                <a:cs typeface="Arial"/>
              </a:defRPr>
            </a:lvl4pPr>
            <a:lvl5pPr>
              <a:defRPr sz="2100" b="1">
                <a:solidFill>
                  <a:srgbClr val="70D6C4"/>
                </a:solidFill>
                <a:latin typeface="Arial"/>
                <a:ea typeface="Arial"/>
                <a:cs typeface="Arial"/>
              </a:defRPr>
            </a:lvl5pPr>
            <a:lvl6pPr>
              <a:defRPr sz="2100" b="1">
                <a:solidFill>
                  <a:srgbClr val="70D6C4"/>
                </a:solidFill>
                <a:latin typeface="Arial"/>
                <a:ea typeface="Arial"/>
                <a:cs typeface="Arial"/>
              </a:defRPr>
            </a:lvl6pPr>
            <a:lvl7pPr>
              <a:defRPr sz="2100" b="1">
                <a:solidFill>
                  <a:srgbClr val="70D6C4"/>
                </a:solidFill>
                <a:latin typeface="Arial"/>
                <a:ea typeface="Arial"/>
                <a:cs typeface="Arial"/>
              </a:defRPr>
            </a:lvl7pPr>
            <a:lvl8pPr>
              <a:defRPr sz="2100" b="1">
                <a:solidFill>
                  <a:srgbClr val="70D6C4"/>
                </a:solidFill>
                <a:latin typeface="Arial"/>
                <a:ea typeface="Arial"/>
                <a:cs typeface="Arial"/>
              </a:defRPr>
            </a:lvl8pPr>
            <a:lvl9pPr>
              <a:defRPr sz="2100" b="1">
                <a:solidFill>
                  <a:srgbClr val="70D6C4"/>
                </a:solidFill>
                <a:latin typeface="Arial"/>
                <a:ea typeface="Arial"/>
                <a:cs typeface="Arial"/>
              </a:defRPr>
            </a:lvl9pPr>
          </a:lstStyle>
          <a:p>
            <a:pPr>
              <a:defRPr sz="2100" b="1">
                <a:solidFill>
                  <a:srgbClr val="70D6C4"/>
                </a:solidFill>
                <a:latin typeface="Arial"/>
                <a:ea typeface="Arial"/>
                <a:cs typeface="Arial"/>
              </a:defRPr>
            </a:pPr>
            <a:r>
              <a:rPr sz="2100" b="1">
                <a:solidFill>
                  <a:srgbClr val="70D6C4"/>
                </a:solidFill>
                <a:latin typeface="Arial"/>
                <a:ea typeface="Arial"/>
                <a:cs typeface="Arial"/>
              </a:rPr>
              <a:t>Before: one order record contains a repeating item list</a:t>
            </a:r>
          </a:p>
        </p:txBody>
      </p:sp>
      <p:sp>
        <p:nvSpPr>
          <p:cNvPr id="5" name="Rectangle 4">
            <a:extLst>
              <a:ext uri="{FF2B5EF4-FFF2-40B4-BE49-F238E27FC236}">
                <a16:creationId xmlns:a16="http://schemas.microsoft.com/office/drawing/2014/main" id="{03F2438A-084B-4030-A79B-56749A13EC44}"/>
              </a:ext>
            </a:extLst>
          </p:cNvPr>
          <p:cNvSpPr>
            <a:spLocks noGrp="1"/>
          </p:cNvSpPr>
          <p:nvPr/>
        </p:nvSpPr>
        <p:spPr>
          <a:xfrm>
            <a:off x="609600" y="2038350"/>
            <a:ext cx="10953750" cy="819150"/>
          </a:xfrm>
          <a:prstGeom prst="rect">
            <a:avLst/>
          </a:prstGeom>
          <a:noFill/>
          <a:ln w="0">
            <a:noFill/>
          </a:ln>
        </p:spPr>
        <p:txBody>
          <a:bodyPr wrap="square" lIns="0" tIns="0" rIns="0" bIns="0" anchor="t">
            <a:noAutofit/>
          </a:bodyPr>
          <a:lstStyle>
            <a:defPPr>
              <a:defRPr sz="1725" b="0">
                <a:solidFill>
                  <a:srgbClr val="70D6C4"/>
                </a:solidFill>
                <a:latin typeface="Consolas"/>
                <a:ea typeface="Consolas"/>
                <a:cs typeface="Consolas"/>
              </a:defRPr>
            </a:defPPr>
            <a:lvl1pPr>
              <a:defRPr sz="1725" b="0">
                <a:solidFill>
                  <a:srgbClr val="70D6C4"/>
                </a:solidFill>
                <a:latin typeface="Consolas"/>
                <a:ea typeface="Consolas"/>
                <a:cs typeface="Consolas"/>
              </a:defRPr>
            </a:lvl1pPr>
            <a:lvl2pPr>
              <a:defRPr sz="1725" b="0">
                <a:solidFill>
                  <a:srgbClr val="70D6C4"/>
                </a:solidFill>
                <a:latin typeface="Consolas"/>
                <a:ea typeface="Consolas"/>
                <a:cs typeface="Consolas"/>
              </a:defRPr>
            </a:lvl2pPr>
            <a:lvl3pPr>
              <a:defRPr sz="1725" b="0">
                <a:solidFill>
                  <a:srgbClr val="70D6C4"/>
                </a:solidFill>
                <a:latin typeface="Consolas"/>
                <a:ea typeface="Consolas"/>
                <a:cs typeface="Consolas"/>
              </a:defRPr>
            </a:lvl3pPr>
            <a:lvl4pPr>
              <a:defRPr sz="1725" b="0">
                <a:solidFill>
                  <a:srgbClr val="70D6C4"/>
                </a:solidFill>
                <a:latin typeface="Consolas"/>
                <a:ea typeface="Consolas"/>
                <a:cs typeface="Consolas"/>
              </a:defRPr>
            </a:lvl4pPr>
            <a:lvl5pPr>
              <a:defRPr sz="1725" b="0">
                <a:solidFill>
                  <a:srgbClr val="70D6C4"/>
                </a:solidFill>
                <a:latin typeface="Consolas"/>
                <a:ea typeface="Consolas"/>
                <a:cs typeface="Consolas"/>
              </a:defRPr>
            </a:lvl5pPr>
            <a:lvl6pPr>
              <a:defRPr sz="1725" b="0">
                <a:solidFill>
                  <a:srgbClr val="70D6C4"/>
                </a:solidFill>
                <a:latin typeface="Consolas"/>
                <a:ea typeface="Consolas"/>
                <a:cs typeface="Consolas"/>
              </a:defRPr>
            </a:lvl6pPr>
            <a:lvl7pPr>
              <a:defRPr sz="1725" b="0">
                <a:solidFill>
                  <a:srgbClr val="70D6C4"/>
                </a:solidFill>
                <a:latin typeface="Consolas"/>
                <a:ea typeface="Consolas"/>
                <a:cs typeface="Consolas"/>
              </a:defRPr>
            </a:lvl7pPr>
            <a:lvl8pPr>
              <a:defRPr sz="1725" b="0">
                <a:solidFill>
                  <a:srgbClr val="70D6C4"/>
                </a:solidFill>
                <a:latin typeface="Consolas"/>
                <a:ea typeface="Consolas"/>
                <a:cs typeface="Consolas"/>
              </a:defRPr>
            </a:lvl8pPr>
            <a:lvl9pPr>
              <a:defRPr sz="1725" b="0">
                <a:solidFill>
                  <a:srgbClr val="70D6C4"/>
                </a:solidFill>
                <a:latin typeface="Consolas"/>
                <a:ea typeface="Consolas"/>
                <a:cs typeface="Consolas"/>
              </a:defRPr>
            </a:lvl9pPr>
          </a:lstStyle>
          <a:p>
            <a:pPr>
              <a:defRPr sz="1725" b="0">
                <a:solidFill>
                  <a:srgbClr val="70D6C4"/>
                </a:solidFill>
                <a:latin typeface="Consolas"/>
                <a:ea typeface="Consolas"/>
                <a:cs typeface="Consolas"/>
              </a:defRPr>
            </a:pPr>
            <a:r>
              <a:rPr sz="1725" b="0">
                <a:solidFill>
                  <a:srgbClr val="70D6C4"/>
                </a:solidFill>
                <a:latin typeface="Consolas"/>
                <a:ea typeface="Consolas"/>
                <a:cs typeface="Consolas"/>
              </a:rPr>
              <a:t>DEMO-000001-1: [(Product 3, 3, 75.00),</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(Product 4, 4, 100.00), (Product 5, 1, 125.00)]</a:t>
            </a:r>
          </a:p>
        </p:txBody>
      </p:sp>
      <p:graphicFrame>
        <p:nvGraphicFramePr>
          <p:cNvPr id="6" name="Table 5">
            <a:extLst>
              <a:ext uri="{FF2B5EF4-FFF2-40B4-BE49-F238E27FC236}">
                <a16:creationId xmlns:a16="http://schemas.microsoft.com/office/drawing/2014/main" id="{1EA7A29F-BBEC-4C16-910B-8081BAA193F3}"/>
              </a:ext>
            </a:extLst>
          </p:cNvPr>
          <p:cNvGraphicFramePr/>
          <p:nvPr/>
        </p:nvGraphicFramePr>
        <p:xfrm>
          <a:off x="609600" y="3190875"/>
          <a:ext cx="10972800" cy="2095500"/>
        </p:xfrm>
        <a:graphic>
          <a:graphicData uri="http://schemas.openxmlformats.org/drawingml/2006/table">
            <a:tbl>
              <a:tblPr firstRow="1"/>
              <a:tblGrid>
                <a:gridCol w="1952625">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952625">
                  <a:extLst>
                    <a:ext uri="{9D8B030D-6E8A-4147-A177-3AD203B41FA5}">
                      <a16:colId xmlns:a16="http://schemas.microsoft.com/office/drawing/2014/main" val="20003"/>
                    </a:ext>
                  </a:extLst>
                </a:gridCol>
                <a:gridCol w="2495550">
                  <a:extLst>
                    <a:ext uri="{9D8B030D-6E8A-4147-A177-3AD203B41FA5}">
                      <a16:colId xmlns:a16="http://schemas.microsoft.com/office/drawing/2014/main" val="20004"/>
                    </a:ext>
                  </a:extLst>
                </a:gridCol>
              </a:tblGrid>
              <a:tr h="523875">
                <a:tc>
                  <a:txBody>
                    <a:bodyPr/>
                    <a:lstStyle/>
                    <a:p>
                      <a:r>
                        <a:rPr sz="1875" b="1">
                          <a:solidFill>
                            <a:srgbClr val="70D6C4"/>
                          </a:solidFill>
                          <a:latin typeface="Arial"/>
                          <a:ea typeface="Arial"/>
                          <a:cs typeface="Arial"/>
                        </a:rPr>
                        <a:t>order_id</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line_number</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product_id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quantity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unit_price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23875">
                <a:tc>
                  <a:txBody>
                    <a:bodyPr/>
                    <a:lstStyle/>
                    <a:p>
                      <a:r>
                        <a:rPr sz="1875" b="0">
                          <a:solidFill>
                            <a:srgbClr val="F1F4F6"/>
                          </a:solidFill>
                          <a:latin typeface="Arial"/>
                          <a:ea typeface="Arial"/>
                          <a:cs typeface="Arial"/>
                        </a:rPr>
                        <a:t>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23875">
                <a:tc>
                  <a:txBody>
                    <a:bodyPr/>
                    <a:lstStyle/>
                    <a:p>
                      <a:r>
                        <a:rPr sz="1875" b="0">
                          <a:solidFill>
                            <a:srgbClr val="F1F4F6"/>
                          </a:solidFill>
                          <a:latin typeface="Arial"/>
                          <a:ea typeface="Arial"/>
                          <a:cs typeface="Arial"/>
                        </a:rPr>
                        <a:t>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2</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4</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4</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100.00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23875">
                <a:tc>
                  <a:txBody>
                    <a:bodyPr/>
                    <a:lstStyle/>
                    <a:p>
                      <a:r>
                        <a:rPr sz="1875" b="0">
                          <a:solidFill>
                            <a:srgbClr val="F1F4F6"/>
                          </a:solidFill>
                          <a:latin typeface="Arial"/>
                          <a:ea typeface="Arial"/>
                          <a:cs typeface="Arial"/>
                        </a:rPr>
                        <a:t>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5</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125.00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1CFE32DE-329C-4F8A-AFA1-77222AF19357}"/>
              </a:ext>
            </a:extLst>
          </p:cNvPr>
          <p:cNvSpPr>
            <a:spLocks noGrp="1"/>
          </p:cNvSpPr>
          <p:nvPr/>
        </p:nvSpPr>
        <p:spPr>
          <a:xfrm>
            <a:off x="609600" y="5581650"/>
            <a:ext cx="10858500" cy="381000"/>
          </a:xfrm>
          <a:prstGeom prst="rect">
            <a:avLst/>
          </a:prstGeom>
          <a:noFill/>
          <a:ln w="0">
            <a:noFill/>
          </a:ln>
        </p:spPr>
        <p:txBody>
          <a:bodyPr wrap="square" lIns="0" tIns="0" rIns="0" bIns="0" anchor="t">
            <a:noAutofit/>
          </a:bodyPr>
          <a:lstStyle>
            <a:defPPr>
              <a:defRPr sz="2100" b="0">
                <a:solidFill>
                  <a:srgbClr val="70D6C4"/>
                </a:solidFill>
                <a:latin typeface="Arial"/>
                <a:ea typeface="Arial"/>
                <a:cs typeface="Arial"/>
              </a:defRPr>
            </a:defPPr>
            <a:lvl1pPr>
              <a:defRPr sz="2100" b="0">
                <a:solidFill>
                  <a:srgbClr val="70D6C4"/>
                </a:solidFill>
                <a:latin typeface="Arial"/>
                <a:ea typeface="Arial"/>
                <a:cs typeface="Arial"/>
              </a:defRPr>
            </a:lvl1pPr>
            <a:lvl2pPr>
              <a:defRPr sz="2100" b="0">
                <a:solidFill>
                  <a:srgbClr val="70D6C4"/>
                </a:solidFill>
                <a:latin typeface="Arial"/>
                <a:ea typeface="Arial"/>
                <a:cs typeface="Arial"/>
              </a:defRPr>
            </a:lvl2pPr>
            <a:lvl3pPr>
              <a:defRPr sz="2100" b="0">
                <a:solidFill>
                  <a:srgbClr val="70D6C4"/>
                </a:solidFill>
                <a:latin typeface="Arial"/>
                <a:ea typeface="Arial"/>
                <a:cs typeface="Arial"/>
              </a:defRPr>
            </a:lvl3pPr>
            <a:lvl4pPr>
              <a:defRPr sz="2100" b="0">
                <a:solidFill>
                  <a:srgbClr val="70D6C4"/>
                </a:solidFill>
                <a:latin typeface="Arial"/>
                <a:ea typeface="Arial"/>
                <a:cs typeface="Arial"/>
              </a:defRPr>
            </a:lvl4pPr>
            <a:lvl5pPr>
              <a:defRPr sz="2100" b="0">
                <a:solidFill>
                  <a:srgbClr val="70D6C4"/>
                </a:solidFill>
                <a:latin typeface="Arial"/>
                <a:ea typeface="Arial"/>
                <a:cs typeface="Arial"/>
              </a:defRPr>
            </a:lvl5pPr>
            <a:lvl6pPr>
              <a:defRPr sz="2100" b="0">
                <a:solidFill>
                  <a:srgbClr val="70D6C4"/>
                </a:solidFill>
                <a:latin typeface="Arial"/>
                <a:ea typeface="Arial"/>
                <a:cs typeface="Arial"/>
              </a:defRPr>
            </a:lvl6pPr>
            <a:lvl7pPr>
              <a:defRPr sz="2100" b="0">
                <a:solidFill>
                  <a:srgbClr val="70D6C4"/>
                </a:solidFill>
                <a:latin typeface="Arial"/>
                <a:ea typeface="Arial"/>
                <a:cs typeface="Arial"/>
              </a:defRPr>
            </a:lvl7pPr>
            <a:lvl8pPr>
              <a:defRPr sz="2100" b="0">
                <a:solidFill>
                  <a:srgbClr val="70D6C4"/>
                </a:solidFill>
                <a:latin typeface="Arial"/>
                <a:ea typeface="Arial"/>
                <a:cs typeface="Arial"/>
              </a:defRPr>
            </a:lvl8pPr>
            <a:lvl9pPr>
              <a:defRPr sz="2100" b="0">
                <a:solidFill>
                  <a:srgbClr val="70D6C4"/>
                </a:solidFill>
                <a:latin typeface="Arial"/>
                <a:ea typeface="Arial"/>
                <a:cs typeface="Arial"/>
              </a:defRPr>
            </a:lvl9pPr>
          </a:lstStyle>
          <a:p>
            <a:pPr>
              <a:defRPr sz="2100" b="0">
                <a:solidFill>
                  <a:srgbClr val="70D6C4"/>
                </a:solidFill>
                <a:latin typeface="Arial"/>
                <a:ea typeface="Arial"/>
                <a:cs typeface="Arial"/>
              </a:defRPr>
            </a:pPr>
            <a:r>
              <a:rPr sz="2100" b="0">
                <a:solidFill>
                  <a:srgbClr val="70D6C4"/>
                </a:solidFill>
                <a:latin typeface="Arial"/>
                <a:ea typeface="Arial"/>
                <a:cs typeface="Arial"/>
              </a:rPr>
              <a:t>After: atomic item values. Key = (order_id, line_number).</a:t>
            </a:r>
          </a:p>
        </p:txBody>
      </p:sp>
      <p:sp>
        <p:nvSpPr>
          <p:cNvPr id="8" name="Rectangle 7">
            <a:extLst>
              <a:ext uri="{FF2B5EF4-FFF2-40B4-BE49-F238E27FC236}">
                <a16:creationId xmlns:a16="http://schemas.microsoft.com/office/drawing/2014/main" id="{7A0DD0F2-E2CA-426F-8A10-048930A70839}"/>
              </a:ext>
            </a:extLst>
          </p:cNvPr>
          <p:cNvSpPr>
            <a:spLocks noGrp="1"/>
          </p:cNvSpPr>
          <p:nvPr/>
        </p:nvSpPr>
        <p:spPr>
          <a:xfrm>
            <a:off x="609600" y="6038850"/>
            <a:ext cx="10915650" cy="295275"/>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This is a projection of the 1NF rows. Repeated order and customer descriptions still need decomposition.</a:t>
            </a:r>
          </a:p>
        </p:txBody>
      </p:sp>
    </p:spTree>
    <p:extLst>
      <p:ext uri="{BB962C8B-B14F-4D97-AF65-F5344CB8AC3E}">
        <p14:creationId xmlns:p14="http://schemas.microsoft.com/office/powerpoint/2010/main" val="986456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A1AEAC-36F1-45AD-9E07-AE140C761251}"/>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Second Normal Form: remove partial dependencies</a:t>
            </a:r>
          </a:p>
        </p:txBody>
      </p:sp>
      <p:sp>
        <p:nvSpPr>
          <p:cNvPr id="2" name="Rectangle 1">
            <a:extLst>
              <a:ext uri="{FF2B5EF4-FFF2-40B4-BE49-F238E27FC236}">
                <a16:creationId xmlns:a16="http://schemas.microsoft.com/office/drawing/2014/main" id="{F0880819-B0E0-4016-9792-F358BDC4BE43}"/>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17</a:t>
            </a:r>
          </a:p>
        </p:txBody>
      </p:sp>
      <p:sp>
        <p:nvSpPr>
          <p:cNvPr id="3" name="Rectangle 2">
            <a:extLst>
              <a:ext uri="{FF2B5EF4-FFF2-40B4-BE49-F238E27FC236}">
                <a16:creationId xmlns:a16="http://schemas.microsoft.com/office/drawing/2014/main" id="{7E2ED01A-4342-4B56-BB31-560C9FA20C2D}"/>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70011266-D28D-48D3-B663-867C30827CA9}"/>
              </a:ext>
            </a:extLst>
          </p:cNvPr>
          <p:cNvSpPr>
            <a:spLocks noGrp="1"/>
          </p:cNvSpPr>
          <p:nvPr/>
        </p:nvSpPr>
        <p:spPr>
          <a:xfrm>
            <a:off x="609600" y="1485900"/>
            <a:ext cx="10858500" cy="857250"/>
          </a:xfrm>
          <a:prstGeom prst="rect">
            <a:avLst/>
          </a:prstGeom>
          <a:noFill/>
          <a:ln w="0">
            <a:noFill/>
          </a:ln>
        </p:spPr>
        <p:txBody>
          <a:bodyPr wrap="square" lIns="0" tIns="0" rIns="0" bIns="0" anchor="t">
            <a:noAutofit/>
          </a:bodyPr>
          <a:lstStyle>
            <a:defPPr>
              <a:defRPr sz="2250" b="0">
                <a:solidFill>
                  <a:srgbClr val="70D6C4"/>
                </a:solidFill>
                <a:latin typeface="Arial"/>
                <a:ea typeface="Arial"/>
                <a:cs typeface="Arial"/>
              </a:defRPr>
            </a:defPPr>
            <a:lvl1pPr>
              <a:defRPr sz="2250" b="0">
                <a:solidFill>
                  <a:srgbClr val="70D6C4"/>
                </a:solidFill>
                <a:latin typeface="Arial"/>
                <a:ea typeface="Arial"/>
                <a:cs typeface="Arial"/>
              </a:defRPr>
            </a:lvl1pPr>
            <a:lvl2pPr>
              <a:defRPr sz="2250" b="0">
                <a:solidFill>
                  <a:srgbClr val="70D6C4"/>
                </a:solidFill>
                <a:latin typeface="Arial"/>
                <a:ea typeface="Arial"/>
                <a:cs typeface="Arial"/>
              </a:defRPr>
            </a:lvl2pPr>
            <a:lvl3pPr>
              <a:defRPr sz="2250" b="0">
                <a:solidFill>
                  <a:srgbClr val="70D6C4"/>
                </a:solidFill>
                <a:latin typeface="Arial"/>
                <a:ea typeface="Arial"/>
                <a:cs typeface="Arial"/>
              </a:defRPr>
            </a:lvl3pPr>
            <a:lvl4pPr>
              <a:defRPr sz="2250" b="0">
                <a:solidFill>
                  <a:srgbClr val="70D6C4"/>
                </a:solidFill>
                <a:latin typeface="Arial"/>
                <a:ea typeface="Arial"/>
                <a:cs typeface="Arial"/>
              </a:defRPr>
            </a:lvl4pPr>
            <a:lvl5pPr>
              <a:defRPr sz="2250" b="0">
                <a:solidFill>
                  <a:srgbClr val="70D6C4"/>
                </a:solidFill>
                <a:latin typeface="Arial"/>
                <a:ea typeface="Arial"/>
                <a:cs typeface="Arial"/>
              </a:defRPr>
            </a:lvl5pPr>
            <a:lvl6pPr>
              <a:defRPr sz="2250" b="0">
                <a:solidFill>
                  <a:srgbClr val="70D6C4"/>
                </a:solidFill>
                <a:latin typeface="Arial"/>
                <a:ea typeface="Arial"/>
                <a:cs typeface="Arial"/>
              </a:defRPr>
            </a:lvl6pPr>
            <a:lvl7pPr>
              <a:defRPr sz="2250" b="0">
                <a:solidFill>
                  <a:srgbClr val="70D6C4"/>
                </a:solidFill>
                <a:latin typeface="Arial"/>
                <a:ea typeface="Arial"/>
                <a:cs typeface="Arial"/>
              </a:defRPr>
            </a:lvl7pPr>
            <a:lvl8pPr>
              <a:defRPr sz="2250" b="0">
                <a:solidFill>
                  <a:srgbClr val="70D6C4"/>
                </a:solidFill>
                <a:latin typeface="Arial"/>
                <a:ea typeface="Arial"/>
                <a:cs typeface="Arial"/>
              </a:defRPr>
            </a:lvl8pPr>
            <a:lvl9pPr>
              <a:defRPr sz="2250" b="0">
                <a:solidFill>
                  <a:srgbClr val="70D6C4"/>
                </a:solidFill>
                <a:latin typeface="Arial"/>
                <a:ea typeface="Arial"/>
                <a:cs typeface="Arial"/>
              </a:defRPr>
            </a:lvl9pPr>
          </a:lstStyle>
          <a:p>
            <a:pPr>
              <a:defRPr sz="2250" b="0">
                <a:solidFill>
                  <a:srgbClr val="70D6C4"/>
                </a:solidFill>
                <a:latin typeface="Arial"/>
                <a:ea typeface="Arial"/>
                <a:cs typeface="Arial"/>
              </a:defRPr>
            </a:pPr>
            <a:r>
              <a:rPr sz="2250" b="0">
                <a:solidFill>
                  <a:srgbClr val="70D6C4"/>
                </a:solidFill>
                <a:latin typeface="Arial"/>
                <a:ea typeface="Arial"/>
                <a:cs typeface="Arial"/>
              </a:rPr>
              <a:t>The item key is (order_id, line_number).</a:t>
            </a:r>
          </a:p>
          <a:p>
            <a:pPr>
              <a:defRPr sz="2250" b="0">
                <a:solidFill>
                  <a:srgbClr val="70D6C4"/>
                </a:solidFill>
                <a:latin typeface="Arial"/>
                <a:ea typeface="Arial"/>
                <a:cs typeface="Arial"/>
              </a:defRPr>
            </a:pPr>
            <a:r>
              <a:rPr sz="2250" b="0">
                <a:solidFill>
                  <a:srgbClr val="70D6C4"/>
                </a:solidFill>
                <a:latin typeface="Arial"/>
                <a:ea typeface="Arial"/>
                <a:cs typeface="Arial"/>
              </a:rPr>
              <a:t>Order date and customer depend on order_id alone.</a:t>
            </a:r>
          </a:p>
        </p:txBody>
      </p:sp>
      <p:graphicFrame>
        <p:nvGraphicFramePr>
          <p:cNvPr id="5" name="Table 4">
            <a:extLst>
              <a:ext uri="{FF2B5EF4-FFF2-40B4-BE49-F238E27FC236}">
                <a16:creationId xmlns:a16="http://schemas.microsoft.com/office/drawing/2014/main" id="{7A734919-C243-421B-A9BA-69DBC73FFDA9}"/>
              </a:ext>
            </a:extLst>
          </p:cNvPr>
          <p:cNvGraphicFramePr/>
          <p:nvPr/>
        </p:nvGraphicFramePr>
        <p:xfrm>
          <a:off x="609600" y="2686050"/>
          <a:ext cx="10972800" cy="1964690"/>
        </p:xfrm>
        <a:graphic>
          <a:graphicData uri="http://schemas.openxmlformats.org/drawingml/2006/table">
            <a:tbl>
              <a:tblPr firstRow="1"/>
              <a:tblGrid>
                <a:gridCol w="5286375">
                  <a:extLst>
                    <a:ext uri="{9D8B030D-6E8A-4147-A177-3AD203B41FA5}">
                      <a16:colId xmlns:a16="http://schemas.microsoft.com/office/drawing/2014/main" val="20000"/>
                    </a:ext>
                  </a:extLst>
                </a:gridCol>
                <a:gridCol w="5686425">
                  <a:extLst>
                    <a:ext uri="{9D8B030D-6E8A-4147-A177-3AD203B41FA5}">
                      <a16:colId xmlns:a16="http://schemas.microsoft.com/office/drawing/2014/main" val="20001"/>
                    </a:ext>
                  </a:extLst>
                </a:gridCol>
              </a:tblGrid>
              <a:tr h="650875">
                <a:tc>
                  <a:txBody>
                    <a:bodyPr/>
                    <a:lstStyle/>
                    <a:p>
                      <a:r>
                        <a:rPr sz="1875" b="1">
                          <a:solidFill>
                            <a:srgbClr val="70D6C4"/>
                          </a:solidFill>
                          <a:latin typeface="Arial"/>
                          <a:ea typeface="Arial"/>
                          <a:cs typeface="Arial"/>
                        </a:rPr>
                        <a:t>Dependency in the flat relation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Result of the 2NF decomposition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650875">
                <a:tc>
                  <a:txBody>
                    <a:bodyPr/>
                    <a:lstStyle/>
                    <a:p>
                      <a:r>
                        <a:rPr sz="1875" b="0">
                          <a:solidFill>
                            <a:srgbClr val="F1F4F6"/>
                          </a:solidFill>
                          <a:latin typeface="Arial"/>
                          <a:ea typeface="Arial"/>
                          <a:cs typeface="Arial"/>
                        </a:rPr>
                        <a:t>order_id determines date and customer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Keep order-level facts in one order header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650875">
                <a:tc>
                  <a:txBody>
                    <a:bodyPr/>
                    <a:lstStyle/>
                    <a:p>
                      <a:r>
                        <a:rPr sz="1875" b="0">
                          <a:solidFill>
                            <a:srgbClr val="F1F4F6"/>
                          </a:solidFill>
                          <a:latin typeface="Arial"/>
                          <a:ea typeface="Arial"/>
                          <a:cs typeface="Arial"/>
                        </a:rPr>
                        <a:t>(order_id, line_number) determines</a:t>
                      </a:r>
                    </a:p>
                    <a:p>
                      <a:r>
                        <a:rPr sz="1875" b="0">
                          <a:solidFill>
                            <a:srgbClr val="F1F4F6"/>
                          </a:solidFill>
                          <a:latin typeface="Arial"/>
                          <a:ea typeface="Arial"/>
                          <a:cs typeface="Arial"/>
                        </a:rPr>
                        <a:t>product, quantity and sale price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Keep line-level facts in separate item rows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7E769A48-23B1-4B57-8A81-EB01A68107A9}"/>
              </a:ext>
            </a:extLst>
          </p:cNvPr>
          <p:cNvSpPr>
            <a:spLocks noGrp="1"/>
          </p:cNvSpPr>
          <p:nvPr/>
        </p:nvSpPr>
        <p:spPr>
          <a:xfrm>
            <a:off x="609600" y="5000625"/>
            <a:ext cx="10858500" cy="809625"/>
          </a:xfrm>
          <a:prstGeom prst="rect">
            <a:avLst/>
          </a:prstGeom>
          <a:noFill/>
          <a:ln w="0">
            <a:noFill/>
          </a:ln>
        </p:spPr>
        <p:txBody>
          <a:bodyPr wrap="square" lIns="0" tIns="0" rIns="0" bIns="0" anchor="t">
            <a:noAutofit/>
          </a:bodyPr>
          <a:lstStyle>
            <a:defPPr>
              <a:defRPr sz="2025" b="0">
                <a:solidFill>
                  <a:srgbClr val="F1F4F6"/>
                </a:solidFill>
                <a:latin typeface="Arial"/>
                <a:ea typeface="Arial"/>
                <a:cs typeface="Arial"/>
              </a:defRPr>
            </a:defPPr>
            <a:lvl1pPr>
              <a:defRPr sz="2025" b="0">
                <a:solidFill>
                  <a:srgbClr val="F1F4F6"/>
                </a:solidFill>
                <a:latin typeface="Arial"/>
                <a:ea typeface="Arial"/>
                <a:cs typeface="Arial"/>
              </a:defRPr>
            </a:lvl1pPr>
            <a:lvl2pPr>
              <a:defRPr sz="2025" b="0">
                <a:solidFill>
                  <a:srgbClr val="F1F4F6"/>
                </a:solidFill>
                <a:latin typeface="Arial"/>
                <a:ea typeface="Arial"/>
                <a:cs typeface="Arial"/>
              </a:defRPr>
            </a:lvl2pPr>
            <a:lvl3pPr>
              <a:defRPr sz="2025" b="0">
                <a:solidFill>
                  <a:srgbClr val="F1F4F6"/>
                </a:solidFill>
                <a:latin typeface="Arial"/>
                <a:ea typeface="Arial"/>
                <a:cs typeface="Arial"/>
              </a:defRPr>
            </a:lvl3pPr>
            <a:lvl4pPr>
              <a:defRPr sz="2025" b="0">
                <a:solidFill>
                  <a:srgbClr val="F1F4F6"/>
                </a:solidFill>
                <a:latin typeface="Arial"/>
                <a:ea typeface="Arial"/>
                <a:cs typeface="Arial"/>
              </a:defRPr>
            </a:lvl4pPr>
            <a:lvl5pPr>
              <a:defRPr sz="2025" b="0">
                <a:solidFill>
                  <a:srgbClr val="F1F4F6"/>
                </a:solidFill>
                <a:latin typeface="Arial"/>
                <a:ea typeface="Arial"/>
                <a:cs typeface="Arial"/>
              </a:defRPr>
            </a:lvl5pPr>
            <a:lvl6pPr>
              <a:defRPr sz="2025" b="0">
                <a:solidFill>
                  <a:srgbClr val="F1F4F6"/>
                </a:solidFill>
                <a:latin typeface="Arial"/>
                <a:ea typeface="Arial"/>
                <a:cs typeface="Arial"/>
              </a:defRPr>
            </a:lvl6pPr>
            <a:lvl7pPr>
              <a:defRPr sz="2025" b="0">
                <a:solidFill>
                  <a:srgbClr val="F1F4F6"/>
                </a:solidFill>
                <a:latin typeface="Arial"/>
                <a:ea typeface="Arial"/>
                <a:cs typeface="Arial"/>
              </a:defRPr>
            </a:lvl7pPr>
            <a:lvl8pPr>
              <a:defRPr sz="2025" b="0">
                <a:solidFill>
                  <a:srgbClr val="F1F4F6"/>
                </a:solidFill>
                <a:latin typeface="Arial"/>
                <a:ea typeface="Arial"/>
                <a:cs typeface="Arial"/>
              </a:defRPr>
            </a:lvl8pPr>
            <a:lvl9pPr>
              <a:defRPr sz="2025" b="0">
                <a:solidFill>
                  <a:srgbClr val="F1F4F6"/>
                </a:solidFill>
                <a:latin typeface="Arial"/>
                <a:ea typeface="Arial"/>
                <a:cs typeface="Arial"/>
              </a:defRPr>
            </a:lvl9pPr>
          </a:lstStyle>
          <a:p>
            <a:pPr>
              <a:defRPr sz="2025" b="0">
                <a:solidFill>
                  <a:srgbClr val="F1F4F6"/>
                </a:solidFill>
                <a:latin typeface="Arial"/>
                <a:ea typeface="Arial"/>
                <a:cs typeface="Arial"/>
              </a:defRPr>
            </a:pPr>
            <a:r>
              <a:rPr sz="2025" b="0">
                <a:solidFill>
                  <a:srgbClr val="F1F4F6"/>
                </a:solidFill>
                <a:latin typeface="Arial"/>
                <a:ea typeface="Arial"/>
                <a:cs typeface="Arial"/>
              </a:rPr>
              <a:t>For DEMO-000001-1, the date 2026-01-09 appears once in the header.</a:t>
            </a:r>
          </a:p>
          <a:p>
            <a:pPr>
              <a:defRPr sz="2025" b="0">
                <a:solidFill>
                  <a:srgbClr val="F1F4F6"/>
                </a:solidFill>
                <a:latin typeface="Arial"/>
                <a:ea typeface="Arial"/>
                <a:cs typeface="Arial"/>
              </a:defRPr>
            </a:pPr>
            <a:r>
              <a:rPr sz="2025" b="0">
                <a:solidFill>
                  <a:srgbClr val="F1F4F6"/>
                </a:solidFill>
                <a:latin typeface="Arial"/>
                <a:ea typeface="Arial"/>
                <a:cs typeface="Arial"/>
              </a:rPr>
              <a:t>All three items reference the same order_id = 1.</a:t>
            </a:r>
          </a:p>
        </p:txBody>
      </p:sp>
      <p:sp>
        <p:nvSpPr>
          <p:cNvPr id="7" name="Rectangle 6">
            <a:extLst>
              <a:ext uri="{FF2B5EF4-FFF2-40B4-BE49-F238E27FC236}">
                <a16:creationId xmlns:a16="http://schemas.microsoft.com/office/drawing/2014/main" id="{BC01981B-BB08-4878-A6AB-F14910244729}"/>
              </a:ext>
            </a:extLst>
          </p:cNvPr>
          <p:cNvSpPr>
            <a:spLocks noGrp="1"/>
          </p:cNvSpPr>
          <p:nvPr/>
        </p:nvSpPr>
        <p:spPr>
          <a:xfrm>
            <a:off x="609600" y="6038850"/>
            <a:ext cx="10915650" cy="295275"/>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Customer and product descriptions can still have transitive dependencies after this step.</a:t>
            </a:r>
          </a:p>
        </p:txBody>
      </p:sp>
    </p:spTree>
    <p:extLst>
      <p:ext uri="{BB962C8B-B14F-4D97-AF65-F5344CB8AC3E}">
        <p14:creationId xmlns:p14="http://schemas.microsoft.com/office/powerpoint/2010/main" val="441589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9610F87-77B5-49A0-85DB-2B699105E6A4}"/>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Third Normal Form: remove transitive dependencies</a:t>
            </a:r>
          </a:p>
        </p:txBody>
      </p:sp>
      <p:sp>
        <p:nvSpPr>
          <p:cNvPr id="2" name="Rectangle 1">
            <a:extLst>
              <a:ext uri="{FF2B5EF4-FFF2-40B4-BE49-F238E27FC236}">
                <a16:creationId xmlns:a16="http://schemas.microsoft.com/office/drawing/2014/main" id="{78F338D8-5D85-41EC-BDF8-050A8F5B582B}"/>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18</a:t>
            </a:r>
          </a:p>
        </p:txBody>
      </p:sp>
      <p:sp>
        <p:nvSpPr>
          <p:cNvPr id="3" name="Rectangle 2">
            <a:extLst>
              <a:ext uri="{FF2B5EF4-FFF2-40B4-BE49-F238E27FC236}">
                <a16:creationId xmlns:a16="http://schemas.microsoft.com/office/drawing/2014/main" id="{85CCEE97-8120-497A-9667-AFE649CCCB4E}"/>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844F93C3-B860-4004-80C3-741E99DEDD19}"/>
              </a:ext>
            </a:extLst>
          </p:cNvPr>
          <p:cNvGraphicFramePr/>
          <p:nvPr/>
        </p:nvGraphicFramePr>
        <p:xfrm>
          <a:off x="609600" y="1619250"/>
          <a:ext cx="10972800" cy="2857500"/>
        </p:xfrm>
        <a:graphic>
          <a:graphicData uri="http://schemas.openxmlformats.org/drawingml/2006/table">
            <a:tbl>
              <a:tblPr firstRow="1"/>
              <a:tblGrid>
                <a:gridCol w="5429250">
                  <a:extLst>
                    <a:ext uri="{9D8B030D-6E8A-4147-A177-3AD203B41FA5}">
                      <a16:colId xmlns:a16="http://schemas.microsoft.com/office/drawing/2014/main" val="20000"/>
                    </a:ext>
                  </a:extLst>
                </a:gridCol>
                <a:gridCol w="5543550">
                  <a:extLst>
                    <a:ext uri="{9D8B030D-6E8A-4147-A177-3AD203B41FA5}">
                      <a16:colId xmlns:a16="http://schemas.microsoft.com/office/drawing/2014/main" val="20001"/>
                    </a:ext>
                  </a:extLst>
                </a:gridCol>
              </a:tblGrid>
              <a:tr h="952500">
                <a:tc>
                  <a:txBody>
                    <a:bodyPr/>
                    <a:lstStyle/>
                    <a:p>
                      <a:r>
                        <a:rPr sz="1875" b="1">
                          <a:solidFill>
                            <a:srgbClr val="70D6C4"/>
                          </a:solidFill>
                          <a:latin typeface="Arial"/>
                          <a:ea typeface="Arial"/>
                          <a:cs typeface="Arial"/>
                        </a:rPr>
                        <a:t>Transitive dependency</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Decomposition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952500">
                <a:tc>
                  <a:txBody>
                    <a:bodyPr/>
                    <a:lstStyle/>
                    <a:p>
                      <a:r>
                        <a:rPr sz="1875" b="0">
                          <a:solidFill>
                            <a:srgbClr val="F1F4F6"/>
                          </a:solidFill>
                          <a:latin typeface="Arial"/>
                          <a:ea typeface="Arial"/>
                          <a:cs typeface="Arial"/>
                        </a:rPr>
                        <a:t>order_id determines customer_id</a:t>
                      </a:r>
                    </a:p>
                    <a:p>
                      <a:r>
                        <a:rPr sz="1875" b="0">
                          <a:solidFill>
                            <a:srgbClr val="F1F4F6"/>
                          </a:solidFill>
                          <a:latin typeface="Arial"/>
                          <a:ea typeface="Arial"/>
                          <a:cs typeface="Arial"/>
                        </a:rPr>
                        <a:t>customer_id determines name, email and region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Move customer descriptions into customer.</a:t>
                      </a:r>
                    </a:p>
                    <a:p>
                      <a:r>
                        <a:rPr sz="1875" b="0">
                          <a:solidFill>
                            <a:srgbClr val="F1F4F6"/>
                          </a:solidFill>
                          <a:latin typeface="Arial"/>
                          <a:ea typeface="Arial"/>
                          <a:cs typeface="Arial"/>
                        </a:rPr>
                        <a:t>Keep customer_id as an FK in sales_order.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952500">
                <a:tc>
                  <a:txBody>
                    <a:bodyPr/>
                    <a:lstStyle/>
                    <a:p>
                      <a:r>
                        <a:rPr sz="1875" b="0">
                          <a:solidFill>
                            <a:srgbClr val="F1F4F6"/>
                          </a:solidFill>
                          <a:latin typeface="Arial"/>
                          <a:ea typeface="Arial"/>
                          <a:cs typeface="Arial"/>
                        </a:rPr>
                        <a:t>Item key determines product_id</a:t>
                      </a:r>
                    </a:p>
                    <a:p>
                      <a:r>
                        <a:rPr sz="1875" b="0">
                          <a:solidFill>
                            <a:srgbClr val="F1F4F6"/>
                          </a:solidFill>
                          <a:latin typeface="Arial"/>
                          <a:ea typeface="Arial"/>
                          <a:cs typeface="Arial"/>
                        </a:rPr>
                        <a:t>product_id determines name, category and catalogue price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Move product descriptions into product.</a:t>
                      </a:r>
                    </a:p>
                    <a:p>
                      <a:r>
                        <a:rPr sz="1875" b="0">
                          <a:solidFill>
                            <a:srgbClr val="F1F4F6"/>
                          </a:solidFill>
                          <a:latin typeface="Arial"/>
                          <a:ea typeface="Arial"/>
                          <a:cs typeface="Arial"/>
                        </a:rPr>
                        <a:t>Keep product_id as an FK in order_item.</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0F4C6CDC-C5CE-42C1-ABB9-0CB7790CBBEB}"/>
              </a:ext>
            </a:extLst>
          </p:cNvPr>
          <p:cNvSpPr>
            <a:spLocks noGrp="1"/>
          </p:cNvSpPr>
          <p:nvPr/>
        </p:nvSpPr>
        <p:spPr>
          <a:xfrm>
            <a:off x="609600" y="4905375"/>
            <a:ext cx="10858500" cy="904875"/>
          </a:xfrm>
          <a:prstGeom prst="rect">
            <a:avLst/>
          </a:prstGeom>
          <a:noFill/>
          <a:ln w="0">
            <a:noFill/>
          </a:ln>
        </p:spPr>
        <p:txBody>
          <a:bodyPr wrap="square" lIns="0" tIns="0" rIns="0" bIns="0" anchor="t">
            <a:noAutofit/>
          </a:bodyPr>
          <a:lstStyle>
            <a:defPPr>
              <a:defRPr sz="1950" b="0">
                <a:solidFill>
                  <a:srgbClr val="70D6C4"/>
                </a:solidFill>
                <a:latin typeface="Arial"/>
                <a:ea typeface="Arial"/>
                <a:cs typeface="Arial"/>
              </a:defRPr>
            </a:defPPr>
            <a:lvl1pPr>
              <a:defRPr sz="1950" b="0">
                <a:solidFill>
                  <a:srgbClr val="70D6C4"/>
                </a:solidFill>
                <a:latin typeface="Arial"/>
                <a:ea typeface="Arial"/>
                <a:cs typeface="Arial"/>
              </a:defRPr>
            </a:lvl1pPr>
            <a:lvl2pPr>
              <a:defRPr sz="1950" b="0">
                <a:solidFill>
                  <a:srgbClr val="70D6C4"/>
                </a:solidFill>
                <a:latin typeface="Arial"/>
                <a:ea typeface="Arial"/>
                <a:cs typeface="Arial"/>
              </a:defRPr>
            </a:lvl2pPr>
            <a:lvl3pPr>
              <a:defRPr sz="1950" b="0">
                <a:solidFill>
                  <a:srgbClr val="70D6C4"/>
                </a:solidFill>
                <a:latin typeface="Arial"/>
                <a:ea typeface="Arial"/>
                <a:cs typeface="Arial"/>
              </a:defRPr>
            </a:lvl3pPr>
            <a:lvl4pPr>
              <a:defRPr sz="1950" b="0">
                <a:solidFill>
                  <a:srgbClr val="70D6C4"/>
                </a:solidFill>
                <a:latin typeface="Arial"/>
                <a:ea typeface="Arial"/>
                <a:cs typeface="Arial"/>
              </a:defRPr>
            </a:lvl4pPr>
            <a:lvl5pPr>
              <a:defRPr sz="1950" b="0">
                <a:solidFill>
                  <a:srgbClr val="70D6C4"/>
                </a:solidFill>
                <a:latin typeface="Arial"/>
                <a:ea typeface="Arial"/>
                <a:cs typeface="Arial"/>
              </a:defRPr>
            </a:lvl5pPr>
            <a:lvl6pPr>
              <a:defRPr sz="1950" b="0">
                <a:solidFill>
                  <a:srgbClr val="70D6C4"/>
                </a:solidFill>
                <a:latin typeface="Arial"/>
                <a:ea typeface="Arial"/>
                <a:cs typeface="Arial"/>
              </a:defRPr>
            </a:lvl6pPr>
            <a:lvl7pPr>
              <a:defRPr sz="1950" b="0">
                <a:solidFill>
                  <a:srgbClr val="70D6C4"/>
                </a:solidFill>
                <a:latin typeface="Arial"/>
                <a:ea typeface="Arial"/>
                <a:cs typeface="Arial"/>
              </a:defRPr>
            </a:lvl7pPr>
            <a:lvl8pPr>
              <a:defRPr sz="1950" b="0">
                <a:solidFill>
                  <a:srgbClr val="70D6C4"/>
                </a:solidFill>
                <a:latin typeface="Arial"/>
                <a:ea typeface="Arial"/>
                <a:cs typeface="Arial"/>
              </a:defRPr>
            </a:lvl8pPr>
            <a:lvl9pPr>
              <a:defRPr sz="1950" b="0">
                <a:solidFill>
                  <a:srgbClr val="70D6C4"/>
                </a:solidFill>
                <a:latin typeface="Arial"/>
                <a:ea typeface="Arial"/>
                <a:cs typeface="Arial"/>
              </a:defRPr>
            </a:lvl9pPr>
          </a:lstStyle>
          <a:p>
            <a:pPr>
              <a:defRPr sz="1950" b="0">
                <a:solidFill>
                  <a:srgbClr val="70D6C4"/>
                </a:solidFill>
                <a:latin typeface="Arial"/>
                <a:ea typeface="Arial"/>
                <a:cs typeface="Arial"/>
              </a:defRPr>
            </a:pPr>
            <a:r>
              <a:rPr sz="1950" b="0">
                <a:solidFill>
                  <a:srgbClr val="70D6C4"/>
                </a:solidFill>
                <a:latin typeface="Arial"/>
                <a:ea typeface="Arial"/>
                <a:cs typeface="Arial"/>
              </a:rPr>
              <a:t>Actual customer record: 1, DEMO-000001, Customer 1, South</a:t>
            </a:r>
          </a:p>
          <a:p>
            <a:pPr>
              <a:defRPr sz="1950" b="0">
                <a:solidFill>
                  <a:srgbClr val="70D6C4"/>
                </a:solidFill>
                <a:latin typeface="Arial"/>
                <a:ea typeface="Arial"/>
                <a:cs typeface="Arial"/>
              </a:defRPr>
            </a:pPr>
            <a:r>
              <a:rPr sz="1950" b="0">
                <a:solidFill>
                  <a:srgbClr val="70D6C4"/>
                </a:solidFill>
                <a:latin typeface="Arial"/>
                <a:ea typeface="Arial"/>
                <a:cs typeface="Arial"/>
              </a:rPr>
              <a:t>Actual product record: 3, SKU-3, Product 3, Office, 75.00</a:t>
            </a:r>
          </a:p>
        </p:txBody>
      </p:sp>
      <p:sp>
        <p:nvSpPr>
          <p:cNvPr id="6" name="Rectangle 5">
            <a:extLst>
              <a:ext uri="{FF2B5EF4-FFF2-40B4-BE49-F238E27FC236}">
                <a16:creationId xmlns:a16="http://schemas.microsoft.com/office/drawing/2014/main" id="{B0D82F4B-CF24-4C27-93A1-DF4236BE17F0}"/>
              </a:ext>
            </a:extLst>
          </p:cNvPr>
          <p:cNvSpPr>
            <a:spLocks noGrp="1"/>
          </p:cNvSpPr>
          <p:nvPr/>
        </p:nvSpPr>
        <p:spPr>
          <a:xfrm>
            <a:off x="609600" y="6038850"/>
            <a:ext cx="10915650" cy="295275"/>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Customer email is customer1@example.test. Repeated foreign-key values are expected.</a:t>
            </a:r>
          </a:p>
        </p:txBody>
      </p:sp>
    </p:spTree>
    <p:extLst>
      <p:ext uri="{BB962C8B-B14F-4D97-AF65-F5344CB8AC3E}">
        <p14:creationId xmlns:p14="http://schemas.microsoft.com/office/powerpoint/2010/main" val="924048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1D729FF-9C0C-43F7-97F2-B8435942652A}"/>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Normalized result and historical sale values</a:t>
            </a:r>
          </a:p>
        </p:txBody>
      </p:sp>
      <p:sp>
        <p:nvSpPr>
          <p:cNvPr id="2" name="Rectangle 1">
            <a:extLst>
              <a:ext uri="{FF2B5EF4-FFF2-40B4-BE49-F238E27FC236}">
                <a16:creationId xmlns:a16="http://schemas.microsoft.com/office/drawing/2014/main" id="{8DAF59CA-9D7B-4EE5-9C0D-0F690BABA507}"/>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19</a:t>
            </a:r>
          </a:p>
        </p:txBody>
      </p:sp>
      <p:sp>
        <p:nvSpPr>
          <p:cNvPr id="3" name="Rectangle 2">
            <a:extLst>
              <a:ext uri="{FF2B5EF4-FFF2-40B4-BE49-F238E27FC236}">
                <a16:creationId xmlns:a16="http://schemas.microsoft.com/office/drawing/2014/main" id="{E84A133B-86D7-4E71-9FDD-B5C05C403AEC}"/>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75D48784-5EFF-4A42-B584-9024ABB781DA}"/>
              </a:ext>
            </a:extLst>
          </p:cNvPr>
          <p:cNvGraphicFramePr/>
          <p:nvPr/>
        </p:nvGraphicFramePr>
        <p:xfrm>
          <a:off x="609600" y="1524000"/>
          <a:ext cx="10972800" cy="2809875"/>
        </p:xfrm>
        <a:graphic>
          <a:graphicData uri="http://schemas.openxmlformats.org/drawingml/2006/table">
            <a:tbl>
              <a:tblPr firstRow="1"/>
              <a:tblGrid>
                <a:gridCol w="2476500">
                  <a:extLst>
                    <a:ext uri="{9D8B030D-6E8A-4147-A177-3AD203B41FA5}">
                      <a16:colId xmlns:a16="http://schemas.microsoft.com/office/drawing/2014/main" val="20000"/>
                    </a:ext>
                  </a:extLst>
                </a:gridCol>
                <a:gridCol w="8496300">
                  <a:extLst>
                    <a:ext uri="{9D8B030D-6E8A-4147-A177-3AD203B41FA5}">
                      <a16:colId xmlns:a16="http://schemas.microsoft.com/office/drawing/2014/main" val="20001"/>
                    </a:ext>
                  </a:extLst>
                </a:gridCol>
              </a:tblGrid>
              <a:tr h="561975">
                <a:tc>
                  <a:txBody>
                    <a:bodyPr/>
                    <a:lstStyle/>
                    <a:p>
                      <a:r>
                        <a:rPr sz="1950" b="1">
                          <a:solidFill>
                            <a:srgbClr val="70D6C4"/>
                          </a:solidFill>
                          <a:latin typeface="Arial"/>
                          <a:ea typeface="Arial"/>
                          <a:cs typeface="Arial"/>
                        </a:rPr>
                        <a:t>Resulting relation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950" b="1">
                          <a:solidFill>
                            <a:srgbClr val="70D6C4"/>
                          </a:solidFill>
                          <a:latin typeface="Arial"/>
                          <a:ea typeface="Arial"/>
                          <a:cs typeface="Arial"/>
                        </a:rPr>
                        <a:t>Responsibility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61975">
                <a:tc>
                  <a:txBody>
                    <a:bodyPr/>
                    <a:lstStyle/>
                    <a:p>
                      <a:r>
                        <a:rPr sz="1950" b="0">
                          <a:solidFill>
                            <a:srgbClr val="F1F4F6"/>
                          </a:solidFill>
                          <a:latin typeface="Arial"/>
                          <a:ea typeface="Arial"/>
                          <a:cs typeface="Arial"/>
                        </a:rPr>
                        <a:t>customer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One place for customer identity and descriptions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61975">
                <a:tc>
                  <a:txBody>
                    <a:bodyPr/>
                    <a:lstStyle/>
                    <a:p>
                      <a:r>
                        <a:rPr sz="1950" b="0">
                          <a:solidFill>
                            <a:srgbClr val="F1F4F6"/>
                          </a:solidFill>
                          <a:latin typeface="Arial"/>
                          <a:ea typeface="Arial"/>
                          <a:cs typeface="Arial"/>
                        </a:rPr>
                        <a:t>product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One place for current product and catalogue attributes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61975">
                <a:tc>
                  <a:txBody>
                    <a:bodyPr/>
                    <a:lstStyle/>
                    <a:p>
                      <a:r>
                        <a:rPr sz="1950" b="0">
                          <a:solidFill>
                            <a:srgbClr val="F1F4F6"/>
                          </a:solidFill>
                          <a:latin typeface="Arial"/>
                          <a:ea typeface="Arial"/>
                          <a:cs typeface="Arial"/>
                        </a:rPr>
                        <a:t>sales_order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Order header plus its customer foreign key</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61975">
                <a:tc>
                  <a:txBody>
                    <a:bodyPr/>
                    <a:lstStyle/>
                    <a:p>
                      <a:r>
                        <a:rPr sz="1950" b="0">
                          <a:solidFill>
                            <a:srgbClr val="F1F4F6"/>
                          </a:solidFill>
                          <a:latin typeface="Arial"/>
                          <a:ea typeface="Arial"/>
                          <a:cs typeface="Arial"/>
                        </a:rPr>
                        <a:t>order_item</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Product foreign key, quantity and historical sale 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55B40285-F5D9-4957-B3FC-AC74AC69EC01}"/>
              </a:ext>
            </a:extLst>
          </p:cNvPr>
          <p:cNvSpPr>
            <a:spLocks noGrp="1"/>
          </p:cNvSpPr>
          <p:nvPr/>
        </p:nvSpPr>
        <p:spPr>
          <a:xfrm>
            <a:off x="609600" y="4657725"/>
            <a:ext cx="10858500" cy="428625"/>
          </a:xfrm>
          <a:prstGeom prst="rect">
            <a:avLst/>
          </a:prstGeom>
          <a:noFill/>
          <a:ln w="0">
            <a:noFill/>
          </a:ln>
        </p:spPr>
        <p:txBody>
          <a:bodyPr wrap="square" lIns="0" tIns="0" rIns="0" bIns="0" anchor="t">
            <a:noAutofit/>
          </a:bodyPr>
          <a:lstStyle>
            <a:defPPr>
              <a:defRPr sz="2025" b="1">
                <a:solidFill>
                  <a:srgbClr val="70D6C4"/>
                </a:solidFill>
                <a:latin typeface="Arial"/>
                <a:ea typeface="Arial"/>
                <a:cs typeface="Arial"/>
              </a:defRPr>
            </a:defPPr>
            <a:lvl1pPr>
              <a:defRPr sz="2025" b="1">
                <a:solidFill>
                  <a:srgbClr val="70D6C4"/>
                </a:solidFill>
                <a:latin typeface="Arial"/>
                <a:ea typeface="Arial"/>
                <a:cs typeface="Arial"/>
              </a:defRPr>
            </a:lvl1pPr>
            <a:lvl2pPr>
              <a:defRPr sz="2025" b="1">
                <a:solidFill>
                  <a:srgbClr val="70D6C4"/>
                </a:solidFill>
                <a:latin typeface="Arial"/>
                <a:ea typeface="Arial"/>
                <a:cs typeface="Arial"/>
              </a:defRPr>
            </a:lvl2pPr>
            <a:lvl3pPr>
              <a:defRPr sz="2025" b="1">
                <a:solidFill>
                  <a:srgbClr val="70D6C4"/>
                </a:solidFill>
                <a:latin typeface="Arial"/>
                <a:ea typeface="Arial"/>
                <a:cs typeface="Arial"/>
              </a:defRPr>
            </a:lvl3pPr>
            <a:lvl4pPr>
              <a:defRPr sz="2025" b="1">
                <a:solidFill>
                  <a:srgbClr val="70D6C4"/>
                </a:solidFill>
                <a:latin typeface="Arial"/>
                <a:ea typeface="Arial"/>
                <a:cs typeface="Arial"/>
              </a:defRPr>
            </a:lvl4pPr>
            <a:lvl5pPr>
              <a:defRPr sz="2025" b="1">
                <a:solidFill>
                  <a:srgbClr val="70D6C4"/>
                </a:solidFill>
                <a:latin typeface="Arial"/>
                <a:ea typeface="Arial"/>
                <a:cs typeface="Arial"/>
              </a:defRPr>
            </a:lvl5pPr>
            <a:lvl6pPr>
              <a:defRPr sz="2025" b="1">
                <a:solidFill>
                  <a:srgbClr val="70D6C4"/>
                </a:solidFill>
                <a:latin typeface="Arial"/>
                <a:ea typeface="Arial"/>
                <a:cs typeface="Arial"/>
              </a:defRPr>
            </a:lvl6pPr>
            <a:lvl7pPr>
              <a:defRPr sz="2025" b="1">
                <a:solidFill>
                  <a:srgbClr val="70D6C4"/>
                </a:solidFill>
                <a:latin typeface="Arial"/>
                <a:ea typeface="Arial"/>
                <a:cs typeface="Arial"/>
              </a:defRPr>
            </a:lvl7pPr>
            <a:lvl8pPr>
              <a:defRPr sz="2025" b="1">
                <a:solidFill>
                  <a:srgbClr val="70D6C4"/>
                </a:solidFill>
                <a:latin typeface="Arial"/>
                <a:ea typeface="Arial"/>
                <a:cs typeface="Arial"/>
              </a:defRPr>
            </a:lvl8pPr>
            <a:lvl9pPr>
              <a:defRPr sz="2025" b="1">
                <a:solidFill>
                  <a:srgbClr val="70D6C4"/>
                </a:solidFill>
                <a:latin typeface="Arial"/>
                <a:ea typeface="Arial"/>
                <a:cs typeface="Arial"/>
              </a:defRPr>
            </a:lvl9pPr>
          </a:lstStyle>
          <a:p>
            <a:pPr>
              <a:defRPr sz="2025" b="1">
                <a:solidFill>
                  <a:srgbClr val="70D6C4"/>
                </a:solidFill>
                <a:latin typeface="Arial"/>
                <a:ea typeface="Arial"/>
                <a:cs typeface="Arial"/>
              </a:defRPr>
            </a:pPr>
            <a:r>
              <a:rPr sz="2025" b="1">
                <a:solidFill>
                  <a:srgbClr val="70D6C4"/>
                </a:solidFill>
                <a:latin typeface="Arial"/>
                <a:ea typeface="Arial"/>
                <a:cs typeface="Arial"/>
              </a:rPr>
              <a:t>JOIN reconstructs the actual order: 225.00 + 400.00 + 125.00 = 750.00</a:t>
            </a:r>
          </a:p>
        </p:txBody>
      </p:sp>
      <p:sp>
        <p:nvSpPr>
          <p:cNvPr id="6" name="Rectangle 5">
            <a:extLst>
              <a:ext uri="{FF2B5EF4-FFF2-40B4-BE49-F238E27FC236}">
                <a16:creationId xmlns:a16="http://schemas.microsoft.com/office/drawing/2014/main" id="{62368FA3-C856-413E-B87A-EB9A268937CD}"/>
              </a:ext>
            </a:extLst>
          </p:cNvPr>
          <p:cNvSpPr>
            <a:spLocks noGrp="1"/>
          </p:cNvSpPr>
          <p:nvPr/>
        </p:nvSpPr>
        <p:spPr>
          <a:xfrm>
            <a:off x="609600" y="5286375"/>
            <a:ext cx="10858500" cy="733425"/>
          </a:xfrm>
          <a:prstGeom prst="rect">
            <a:avLst/>
          </a:prstGeom>
          <a:noFill/>
          <a:ln w="0">
            <a:noFill/>
          </a:ln>
        </p:spPr>
        <p:txBody>
          <a:bodyPr wrap="square" lIns="0" tIns="0" rIns="0" bIns="0" anchor="t">
            <a:noAutofit/>
          </a:bodyPr>
          <a:lstStyle>
            <a:defPPr>
              <a:defRPr sz="1950" b="0">
                <a:solidFill>
                  <a:srgbClr val="F1F4F6"/>
                </a:solidFill>
                <a:latin typeface="Arial"/>
                <a:ea typeface="Arial"/>
                <a:cs typeface="Arial"/>
              </a:defRPr>
            </a:defPPr>
            <a:lvl1pPr>
              <a:defRPr sz="1950" b="0">
                <a:solidFill>
                  <a:srgbClr val="F1F4F6"/>
                </a:solidFill>
                <a:latin typeface="Arial"/>
                <a:ea typeface="Arial"/>
                <a:cs typeface="Arial"/>
              </a:defRPr>
            </a:lvl1pPr>
            <a:lvl2pPr>
              <a:defRPr sz="1950" b="0">
                <a:solidFill>
                  <a:srgbClr val="F1F4F6"/>
                </a:solidFill>
                <a:latin typeface="Arial"/>
                <a:ea typeface="Arial"/>
                <a:cs typeface="Arial"/>
              </a:defRPr>
            </a:lvl2pPr>
            <a:lvl3pPr>
              <a:defRPr sz="1950" b="0">
                <a:solidFill>
                  <a:srgbClr val="F1F4F6"/>
                </a:solidFill>
                <a:latin typeface="Arial"/>
                <a:ea typeface="Arial"/>
                <a:cs typeface="Arial"/>
              </a:defRPr>
            </a:lvl3pPr>
            <a:lvl4pPr>
              <a:defRPr sz="1950" b="0">
                <a:solidFill>
                  <a:srgbClr val="F1F4F6"/>
                </a:solidFill>
                <a:latin typeface="Arial"/>
                <a:ea typeface="Arial"/>
                <a:cs typeface="Arial"/>
              </a:defRPr>
            </a:lvl4pPr>
            <a:lvl5pPr>
              <a:defRPr sz="1950" b="0">
                <a:solidFill>
                  <a:srgbClr val="F1F4F6"/>
                </a:solidFill>
                <a:latin typeface="Arial"/>
                <a:ea typeface="Arial"/>
                <a:cs typeface="Arial"/>
              </a:defRPr>
            </a:lvl5pPr>
            <a:lvl6pPr>
              <a:defRPr sz="1950" b="0">
                <a:solidFill>
                  <a:srgbClr val="F1F4F6"/>
                </a:solidFill>
                <a:latin typeface="Arial"/>
                <a:ea typeface="Arial"/>
                <a:cs typeface="Arial"/>
              </a:defRPr>
            </a:lvl6pPr>
            <a:lvl7pPr>
              <a:defRPr sz="1950" b="0">
                <a:solidFill>
                  <a:srgbClr val="F1F4F6"/>
                </a:solidFill>
                <a:latin typeface="Arial"/>
                <a:ea typeface="Arial"/>
                <a:cs typeface="Arial"/>
              </a:defRPr>
            </a:lvl7pPr>
            <a:lvl8pPr>
              <a:defRPr sz="1950" b="0">
                <a:solidFill>
                  <a:srgbClr val="F1F4F6"/>
                </a:solidFill>
                <a:latin typeface="Arial"/>
                <a:ea typeface="Arial"/>
                <a:cs typeface="Arial"/>
              </a:defRPr>
            </a:lvl8pPr>
            <a:lvl9pPr>
              <a:defRPr sz="1950" b="0">
                <a:solidFill>
                  <a:srgbClr val="F1F4F6"/>
                </a:solidFill>
                <a:latin typeface="Arial"/>
                <a:ea typeface="Arial"/>
                <a:cs typeface="Arial"/>
              </a:defRPr>
            </a:lvl9pPr>
          </a:lstStyle>
          <a:p>
            <a:pPr>
              <a:defRPr sz="1950" b="0">
                <a:solidFill>
                  <a:srgbClr val="F1F4F6"/>
                </a:solidFill>
                <a:latin typeface="Arial"/>
                <a:ea typeface="Arial"/>
                <a:cs typeface="Arial"/>
              </a:defRPr>
            </a:pPr>
            <a:r>
              <a:rPr sz="1950" b="0">
                <a:solidFill>
                  <a:srgbClr val="F1F4F6"/>
                </a:solidFill>
                <a:latin typeface="Arial"/>
                <a:ea typeface="Arial"/>
                <a:cs typeface="Arial"/>
              </a:rPr>
              <a:t>unit_price belongs to the sale line. catalogue_price belongs to the product.</a:t>
            </a:r>
          </a:p>
          <a:p>
            <a:pPr>
              <a:defRPr sz="1950" b="0">
                <a:solidFill>
                  <a:srgbClr val="F1F4F6"/>
                </a:solidFill>
                <a:latin typeface="Arial"/>
                <a:ea typeface="Arial"/>
                <a:cs typeface="Arial"/>
              </a:defRPr>
            </a:pPr>
            <a:r>
              <a:rPr sz="1950" b="0">
                <a:solidFill>
                  <a:srgbClr val="F1F4F6"/>
                </a:solidFill>
                <a:latin typeface="Arial"/>
                <a:ea typeface="Arial"/>
                <a:cs typeface="Arial"/>
              </a:rPr>
              <a:t>The sales view calculates line_total from quantity × unit_price.</a:t>
            </a:r>
          </a:p>
        </p:txBody>
      </p:sp>
      <p:sp>
        <p:nvSpPr>
          <p:cNvPr id="7" name="Rectangle 6">
            <a:extLst>
              <a:ext uri="{FF2B5EF4-FFF2-40B4-BE49-F238E27FC236}">
                <a16:creationId xmlns:a16="http://schemas.microsoft.com/office/drawing/2014/main" id="{BD1F6AC5-6183-4097-8161-83DD1D362C3E}"/>
              </a:ext>
            </a:extLst>
          </p:cNvPr>
          <p:cNvSpPr>
            <a:spLocks noGrp="1"/>
          </p:cNvSpPr>
          <p:nvPr/>
        </p:nvSpPr>
        <p:spPr>
          <a:xfrm>
            <a:off x="609600" y="6115050"/>
            <a:ext cx="10915650" cy="295275"/>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The 3NF claim applies to the sales core. Retained JSON and stock balances serve explicit purposes.</a:t>
            </a:r>
          </a:p>
        </p:txBody>
      </p:sp>
    </p:spTree>
    <p:extLst>
      <p:ext uri="{BB962C8B-B14F-4D97-AF65-F5344CB8AC3E}">
        <p14:creationId xmlns:p14="http://schemas.microsoft.com/office/powerpoint/2010/main" val="406282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2B7CA64-88B4-402D-A275-2CBF48F46B51}"/>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DBMS choice: PostgreSQL</a:t>
            </a:r>
          </a:p>
        </p:txBody>
      </p:sp>
      <p:sp>
        <p:nvSpPr>
          <p:cNvPr id="2" name="Rectangle 1">
            <a:extLst>
              <a:ext uri="{FF2B5EF4-FFF2-40B4-BE49-F238E27FC236}">
                <a16:creationId xmlns:a16="http://schemas.microsoft.com/office/drawing/2014/main" id="{5BA82530-3F51-4B59-8635-F22828D58702}"/>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20</a:t>
            </a:r>
          </a:p>
        </p:txBody>
      </p:sp>
      <p:sp>
        <p:nvSpPr>
          <p:cNvPr id="3" name="Rectangle 2">
            <a:extLst>
              <a:ext uri="{FF2B5EF4-FFF2-40B4-BE49-F238E27FC236}">
                <a16:creationId xmlns:a16="http://schemas.microsoft.com/office/drawing/2014/main" id="{F1DB219F-AC44-4656-A4EF-F0BF5F16AE01}"/>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B0B40408-EC5D-4745-9E45-B00EDEDAA4AF}"/>
              </a:ext>
            </a:extLst>
          </p:cNvPr>
          <p:cNvSpPr>
            <a:spLocks noGrp="1"/>
          </p:cNvSpPr>
          <p:nvPr/>
        </p:nvSpPr>
        <p:spPr>
          <a:xfrm>
            <a:off x="609600" y="1457325"/>
            <a:ext cx="10858500" cy="838200"/>
          </a:xfrm>
          <a:prstGeom prst="rect">
            <a:avLst/>
          </a:prstGeom>
          <a:noFill/>
          <a:ln w="0">
            <a:noFill/>
          </a:ln>
        </p:spPr>
        <p:txBody>
          <a:bodyPr wrap="square" lIns="0" tIns="0" rIns="0" bIns="0" anchor="t">
            <a:noAutofit/>
          </a:bodyPr>
          <a:lstStyle>
            <a:defPPr>
              <a:defRPr sz="2250" b="1">
                <a:solidFill>
                  <a:srgbClr val="70D6C4"/>
                </a:solidFill>
                <a:latin typeface="Arial"/>
                <a:ea typeface="Arial"/>
                <a:cs typeface="Arial"/>
              </a:defRPr>
            </a:defPPr>
            <a:lvl1pPr>
              <a:defRPr sz="2250" b="1">
                <a:solidFill>
                  <a:srgbClr val="70D6C4"/>
                </a:solidFill>
                <a:latin typeface="Arial"/>
                <a:ea typeface="Arial"/>
                <a:cs typeface="Arial"/>
              </a:defRPr>
            </a:lvl1pPr>
            <a:lvl2pPr>
              <a:defRPr sz="2250" b="1">
                <a:solidFill>
                  <a:srgbClr val="70D6C4"/>
                </a:solidFill>
                <a:latin typeface="Arial"/>
                <a:ea typeface="Arial"/>
                <a:cs typeface="Arial"/>
              </a:defRPr>
            </a:lvl2pPr>
            <a:lvl3pPr>
              <a:defRPr sz="2250" b="1">
                <a:solidFill>
                  <a:srgbClr val="70D6C4"/>
                </a:solidFill>
                <a:latin typeface="Arial"/>
                <a:ea typeface="Arial"/>
                <a:cs typeface="Arial"/>
              </a:defRPr>
            </a:lvl3pPr>
            <a:lvl4pPr>
              <a:defRPr sz="2250" b="1">
                <a:solidFill>
                  <a:srgbClr val="70D6C4"/>
                </a:solidFill>
                <a:latin typeface="Arial"/>
                <a:ea typeface="Arial"/>
                <a:cs typeface="Arial"/>
              </a:defRPr>
            </a:lvl4pPr>
            <a:lvl5pPr>
              <a:defRPr sz="2250" b="1">
                <a:solidFill>
                  <a:srgbClr val="70D6C4"/>
                </a:solidFill>
                <a:latin typeface="Arial"/>
                <a:ea typeface="Arial"/>
                <a:cs typeface="Arial"/>
              </a:defRPr>
            </a:lvl5pPr>
            <a:lvl6pPr>
              <a:defRPr sz="2250" b="1">
                <a:solidFill>
                  <a:srgbClr val="70D6C4"/>
                </a:solidFill>
                <a:latin typeface="Arial"/>
                <a:ea typeface="Arial"/>
                <a:cs typeface="Arial"/>
              </a:defRPr>
            </a:lvl6pPr>
            <a:lvl7pPr>
              <a:defRPr sz="2250" b="1">
                <a:solidFill>
                  <a:srgbClr val="70D6C4"/>
                </a:solidFill>
                <a:latin typeface="Arial"/>
                <a:ea typeface="Arial"/>
                <a:cs typeface="Arial"/>
              </a:defRPr>
            </a:lvl7pPr>
            <a:lvl8pPr>
              <a:defRPr sz="2250" b="1">
                <a:solidFill>
                  <a:srgbClr val="70D6C4"/>
                </a:solidFill>
                <a:latin typeface="Arial"/>
                <a:ea typeface="Arial"/>
                <a:cs typeface="Arial"/>
              </a:defRPr>
            </a:lvl8pPr>
            <a:lvl9pPr>
              <a:defRPr sz="2250" b="1">
                <a:solidFill>
                  <a:srgbClr val="70D6C4"/>
                </a:solidFill>
                <a:latin typeface="Arial"/>
                <a:ea typeface="Arial"/>
                <a:cs typeface="Arial"/>
              </a:defRPr>
            </a:lvl9pPr>
          </a:lstStyle>
          <a:p>
            <a:pPr>
              <a:defRPr sz="2250" b="1">
                <a:solidFill>
                  <a:srgbClr val="70D6C4"/>
                </a:solidFill>
                <a:latin typeface="Arial"/>
                <a:ea typeface="Arial"/>
                <a:cs typeface="Arial"/>
              </a:defRPr>
            </a:pPr>
            <a:r>
              <a:rPr sz="2250" b="1">
                <a:solidFill>
                  <a:srgbClr val="70D6C4"/>
                </a:solidFill>
                <a:latin typeface="Arial"/>
                <a:ea typeface="Arial"/>
                <a:cs typeface="Arial"/>
              </a:rPr>
              <a:t>PostgreSQL 16.15 stores and processes the project data.</a:t>
            </a:r>
          </a:p>
          <a:p>
            <a:pPr>
              <a:defRPr sz="2250" b="1">
                <a:solidFill>
                  <a:srgbClr val="70D6C4"/>
                </a:solidFill>
                <a:latin typeface="Arial"/>
                <a:ea typeface="Arial"/>
                <a:cs typeface="Arial"/>
              </a:defRPr>
            </a:pPr>
            <a:r>
              <a:rPr sz="2250" b="1">
                <a:solidFill>
                  <a:srgbClr val="70D6C4"/>
                </a:solidFill>
                <a:latin typeface="Arial"/>
                <a:ea typeface="Arial"/>
                <a:cs typeface="Arial"/>
              </a:rPr>
              <a:t>SQL is the language used to define and query it.</a:t>
            </a:r>
          </a:p>
        </p:txBody>
      </p:sp>
      <p:graphicFrame>
        <p:nvGraphicFramePr>
          <p:cNvPr id="5" name="Table 4">
            <a:extLst>
              <a:ext uri="{FF2B5EF4-FFF2-40B4-BE49-F238E27FC236}">
                <a16:creationId xmlns:a16="http://schemas.microsoft.com/office/drawing/2014/main" id="{93DC32FA-4CCE-4F7F-99EA-E2089622C7BA}"/>
              </a:ext>
            </a:extLst>
          </p:cNvPr>
          <p:cNvGraphicFramePr/>
          <p:nvPr/>
        </p:nvGraphicFramePr>
        <p:xfrm>
          <a:off x="609600" y="2571750"/>
          <a:ext cx="10972800" cy="3143250"/>
        </p:xfrm>
        <a:graphic>
          <a:graphicData uri="http://schemas.openxmlformats.org/drawingml/2006/table">
            <a:tbl>
              <a:tblPr firstRow="1"/>
              <a:tblGrid>
                <a:gridCol w="4095750">
                  <a:extLst>
                    <a:ext uri="{9D8B030D-6E8A-4147-A177-3AD203B41FA5}">
                      <a16:colId xmlns:a16="http://schemas.microsoft.com/office/drawing/2014/main" val="20000"/>
                    </a:ext>
                  </a:extLst>
                </a:gridCol>
                <a:gridCol w="6877050">
                  <a:extLst>
                    <a:ext uri="{9D8B030D-6E8A-4147-A177-3AD203B41FA5}">
                      <a16:colId xmlns:a16="http://schemas.microsoft.com/office/drawing/2014/main" val="20001"/>
                    </a:ext>
                  </a:extLst>
                </a:gridCol>
              </a:tblGrid>
              <a:tr h="523875">
                <a:tc>
                  <a:txBody>
                    <a:bodyPr/>
                    <a:lstStyle/>
                    <a:p>
                      <a:r>
                        <a:rPr sz="1800" b="1">
                          <a:solidFill>
                            <a:srgbClr val="70D6C4"/>
                          </a:solidFill>
                          <a:latin typeface="Arial"/>
                          <a:ea typeface="Arial"/>
                          <a:cs typeface="Arial"/>
                        </a:rPr>
                        <a:t>Reason for choosing it</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Use in Conduit</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23875">
                <a:tc>
                  <a:txBody>
                    <a:bodyPr/>
                    <a:lstStyle/>
                    <a:p>
                      <a:r>
                        <a:rPr sz="1800" b="0">
                          <a:solidFill>
                            <a:srgbClr val="F1F4F6"/>
                          </a:solidFill>
                          <a:latin typeface="Arial"/>
                          <a:ea typeface="Arial"/>
                          <a:cs typeface="Arial"/>
                        </a:rPr>
                        <a:t>Relational integrity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Keys and constraints protect sales and stock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23875">
                <a:tc>
                  <a:txBody>
                    <a:bodyPr/>
                    <a:lstStyle/>
                    <a:p>
                      <a:r>
                        <a:rPr sz="1800" b="0">
                          <a:solidFill>
                            <a:srgbClr val="F1F4F6"/>
                          </a:solidFill>
                          <a:latin typeface="Arial"/>
                          <a:ea typeface="Arial"/>
                          <a:cs typeface="Arial"/>
                        </a:rPr>
                        <a:t>Transactions and row locking</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Stock and sales changes commit together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23875">
                <a:tc>
                  <a:txBody>
                    <a:bodyPr/>
                    <a:lstStyle/>
                    <a:p>
                      <a:r>
                        <a:rPr sz="1800" b="0">
                          <a:solidFill>
                            <a:srgbClr val="F1F4F6"/>
                          </a:solidFill>
                          <a:latin typeface="Arial"/>
                          <a:ea typeface="Arial"/>
                          <a:cs typeface="Arial"/>
                        </a:rPr>
                        <a:t>SQL and stored database logic</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Joins, aggregation, windows, views and functions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23875">
                <a:tc>
                  <a:txBody>
                    <a:bodyPr/>
                    <a:lstStyle/>
                    <a:p>
                      <a:r>
                        <a:rPr sz="1800" b="0">
                          <a:solidFill>
                            <a:srgbClr val="F1F4F6"/>
                          </a:solidFill>
                          <a:latin typeface="Arial"/>
                          <a:ea typeface="Arial"/>
                          <a:cs typeface="Arial"/>
                        </a:rPr>
                        <a:t>Relational data plus JSONB</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Staged inputs and saved report rows alongside tables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23875">
                <a:tc>
                  <a:txBody>
                    <a:bodyPr/>
                    <a:lstStyle/>
                    <a:p>
                      <a:r>
                        <a:rPr sz="1800" b="0">
                          <a:solidFill>
                            <a:srgbClr val="F1F4F6"/>
                          </a:solidFill>
                          <a:latin typeface="Arial"/>
                          <a:ea typeface="Arial"/>
                          <a:cs typeface="Arial"/>
                        </a:rPr>
                        <a:t>Local, free deployment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Portable native setup for the demonstration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98050CA6-B30F-4C5F-9ACF-9AAF5B3AA458}"/>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Chosen for this project’s requirements. PostgreSQL is the DBMS; SQL is the language.</a:t>
            </a:r>
          </a:p>
        </p:txBody>
      </p:sp>
    </p:spTree>
    <p:extLst>
      <p:ext uri="{BB962C8B-B14F-4D97-AF65-F5344CB8AC3E}">
        <p14:creationId xmlns:p14="http://schemas.microsoft.com/office/powerpoint/2010/main" val="121791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14565D-1ACB-4810-8C13-89F212A30FAA}"/>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Table creation and constraints</a:t>
            </a:r>
          </a:p>
        </p:txBody>
      </p:sp>
      <p:sp>
        <p:nvSpPr>
          <p:cNvPr id="2" name="Rectangle 1">
            <a:extLst>
              <a:ext uri="{FF2B5EF4-FFF2-40B4-BE49-F238E27FC236}">
                <a16:creationId xmlns:a16="http://schemas.microsoft.com/office/drawing/2014/main" id="{B0097151-89C2-4EDD-A750-8AE81448AD95}"/>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21</a:t>
            </a:r>
          </a:p>
        </p:txBody>
      </p:sp>
      <p:sp>
        <p:nvSpPr>
          <p:cNvPr id="3" name="Rectangle 2">
            <a:extLst>
              <a:ext uri="{FF2B5EF4-FFF2-40B4-BE49-F238E27FC236}">
                <a16:creationId xmlns:a16="http://schemas.microsoft.com/office/drawing/2014/main" id="{2B78C457-F3E0-4428-9439-A5BA426476E4}"/>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15039141-884E-4167-8611-F3251C452976}"/>
              </a:ext>
            </a:extLst>
          </p:cNvPr>
          <p:cNvSpPr>
            <a:spLocks noGrp="1"/>
          </p:cNvSpPr>
          <p:nvPr/>
        </p:nvSpPr>
        <p:spPr>
          <a:xfrm>
            <a:off x="609600" y="1600200"/>
            <a:ext cx="10953750" cy="3000375"/>
          </a:xfrm>
          <a:prstGeom prst="rect">
            <a:avLst/>
          </a:prstGeom>
          <a:noFill/>
          <a:ln w="0">
            <a:noFill/>
          </a:ln>
        </p:spPr>
        <p:txBody>
          <a:bodyPr wrap="square" lIns="0" tIns="0" rIns="0" bIns="0" anchor="t">
            <a:noAutofit/>
          </a:bodyPr>
          <a:lstStyle>
            <a:defPPr>
              <a:defRPr sz="1725" b="0">
                <a:solidFill>
                  <a:srgbClr val="70D6C4"/>
                </a:solidFill>
                <a:latin typeface="Consolas"/>
                <a:ea typeface="Consolas"/>
                <a:cs typeface="Consolas"/>
              </a:defRPr>
            </a:defPPr>
            <a:lvl1pPr>
              <a:defRPr sz="1725" b="0">
                <a:solidFill>
                  <a:srgbClr val="70D6C4"/>
                </a:solidFill>
                <a:latin typeface="Consolas"/>
                <a:ea typeface="Consolas"/>
                <a:cs typeface="Consolas"/>
              </a:defRPr>
            </a:lvl1pPr>
            <a:lvl2pPr>
              <a:defRPr sz="1725" b="0">
                <a:solidFill>
                  <a:srgbClr val="70D6C4"/>
                </a:solidFill>
                <a:latin typeface="Consolas"/>
                <a:ea typeface="Consolas"/>
                <a:cs typeface="Consolas"/>
              </a:defRPr>
            </a:lvl2pPr>
            <a:lvl3pPr>
              <a:defRPr sz="1725" b="0">
                <a:solidFill>
                  <a:srgbClr val="70D6C4"/>
                </a:solidFill>
                <a:latin typeface="Consolas"/>
                <a:ea typeface="Consolas"/>
                <a:cs typeface="Consolas"/>
              </a:defRPr>
            </a:lvl3pPr>
            <a:lvl4pPr>
              <a:defRPr sz="1725" b="0">
                <a:solidFill>
                  <a:srgbClr val="70D6C4"/>
                </a:solidFill>
                <a:latin typeface="Consolas"/>
                <a:ea typeface="Consolas"/>
                <a:cs typeface="Consolas"/>
              </a:defRPr>
            </a:lvl4pPr>
            <a:lvl5pPr>
              <a:defRPr sz="1725" b="0">
                <a:solidFill>
                  <a:srgbClr val="70D6C4"/>
                </a:solidFill>
                <a:latin typeface="Consolas"/>
                <a:ea typeface="Consolas"/>
                <a:cs typeface="Consolas"/>
              </a:defRPr>
            </a:lvl5pPr>
            <a:lvl6pPr>
              <a:defRPr sz="1725" b="0">
                <a:solidFill>
                  <a:srgbClr val="70D6C4"/>
                </a:solidFill>
                <a:latin typeface="Consolas"/>
                <a:ea typeface="Consolas"/>
                <a:cs typeface="Consolas"/>
              </a:defRPr>
            </a:lvl6pPr>
            <a:lvl7pPr>
              <a:defRPr sz="1725" b="0">
                <a:solidFill>
                  <a:srgbClr val="70D6C4"/>
                </a:solidFill>
                <a:latin typeface="Consolas"/>
                <a:ea typeface="Consolas"/>
                <a:cs typeface="Consolas"/>
              </a:defRPr>
            </a:lvl7pPr>
            <a:lvl8pPr>
              <a:defRPr sz="1725" b="0">
                <a:solidFill>
                  <a:srgbClr val="70D6C4"/>
                </a:solidFill>
                <a:latin typeface="Consolas"/>
                <a:ea typeface="Consolas"/>
                <a:cs typeface="Consolas"/>
              </a:defRPr>
            </a:lvl8pPr>
            <a:lvl9pPr>
              <a:defRPr sz="1725" b="0">
                <a:solidFill>
                  <a:srgbClr val="70D6C4"/>
                </a:solidFill>
                <a:latin typeface="Consolas"/>
                <a:ea typeface="Consolas"/>
                <a:cs typeface="Consolas"/>
              </a:defRPr>
            </a:lvl9pPr>
          </a:lstStyle>
          <a:p>
            <a:pPr>
              <a:defRPr sz="1725" b="0">
                <a:solidFill>
                  <a:srgbClr val="70D6C4"/>
                </a:solidFill>
                <a:latin typeface="Consolas"/>
                <a:ea typeface="Consolas"/>
                <a:cs typeface="Consolas"/>
              </a:defRPr>
            </a:pPr>
            <a:r>
              <a:rPr sz="1725" b="0">
                <a:solidFill>
                  <a:srgbClr val="70D6C4"/>
                </a:solidFill>
                <a:latin typeface="Consolas"/>
                <a:ea typeface="Consolas"/>
                <a:cs typeface="Consolas"/>
              </a:rPr>
              <a:t>CREATE TABLE reporting.order_item (</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order_id bigint NOT NULL REFERENCES reporting.sales_order(order_id),</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line_number integer NOT NULL CHECK (line_number &gt; 0),</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product_id bigint NOT NULL REFERENCES reporting.product(product_id),</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quantity integer NOT NULL CHECK (quantity BETWEEN 1 AND 1000000),</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unit_price numeric(12,2) NOT NULL CHECK (unit_price &gt;= 0),</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PRIMARY KEY (order_id, line_number)</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a:t>
            </a:r>
          </a:p>
        </p:txBody>
      </p:sp>
      <p:graphicFrame>
        <p:nvGraphicFramePr>
          <p:cNvPr id="5" name="Table 4">
            <a:extLst>
              <a:ext uri="{FF2B5EF4-FFF2-40B4-BE49-F238E27FC236}">
                <a16:creationId xmlns:a16="http://schemas.microsoft.com/office/drawing/2014/main" id="{0D7D19DB-8C19-4B13-9922-CB39ABC7D3F7}"/>
              </a:ext>
            </a:extLst>
          </p:cNvPr>
          <p:cNvGraphicFramePr/>
          <p:nvPr/>
        </p:nvGraphicFramePr>
        <p:xfrm>
          <a:off x="609600" y="4714875"/>
          <a:ext cx="10972800" cy="1417320"/>
        </p:xfrm>
        <a:graphic>
          <a:graphicData uri="http://schemas.openxmlformats.org/drawingml/2006/table">
            <a:tbl>
              <a:tblPr firstRow="1"/>
              <a:tblGrid>
                <a:gridCol w="2857500">
                  <a:extLst>
                    <a:ext uri="{9D8B030D-6E8A-4147-A177-3AD203B41FA5}">
                      <a16:colId xmlns:a16="http://schemas.microsoft.com/office/drawing/2014/main" val="20000"/>
                    </a:ext>
                  </a:extLst>
                </a:gridCol>
                <a:gridCol w="8115300">
                  <a:extLst>
                    <a:ext uri="{9D8B030D-6E8A-4147-A177-3AD203B41FA5}">
                      <a16:colId xmlns:a16="http://schemas.microsoft.com/office/drawing/2014/main" val="20001"/>
                    </a:ext>
                  </a:extLst>
                </a:gridCol>
              </a:tblGrid>
              <a:tr h="345281">
                <a:tc>
                  <a:txBody>
                    <a:bodyPr/>
                    <a:lstStyle/>
                    <a:p>
                      <a:r>
                        <a:rPr sz="1725" b="1">
                          <a:solidFill>
                            <a:srgbClr val="70D6C4"/>
                          </a:solidFill>
                          <a:latin typeface="Arial"/>
                          <a:ea typeface="Arial"/>
                          <a:cs typeface="Arial"/>
                        </a:rPr>
                        <a:t>Constraint</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725" b="1">
                          <a:solidFill>
                            <a:srgbClr val="70D6C4"/>
                          </a:solidFill>
                          <a:latin typeface="Arial"/>
                          <a:ea typeface="Arial"/>
                          <a:cs typeface="Arial"/>
                        </a:rPr>
                        <a:t>What it prevents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345281">
                <a:tc>
                  <a:txBody>
                    <a:bodyPr/>
                    <a:lstStyle/>
                    <a:p>
                      <a:r>
                        <a:rPr sz="1725" b="0">
                          <a:solidFill>
                            <a:srgbClr val="F1F4F6"/>
                          </a:solidFill>
                          <a:latin typeface="Arial"/>
                          <a:ea typeface="Arial"/>
                          <a:cs typeface="Arial"/>
                        </a:rPr>
                        <a:t>PRIMARY KEY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Two copies of the same order line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345281">
                <a:tc>
                  <a:txBody>
                    <a:bodyPr/>
                    <a:lstStyle/>
                    <a:p>
                      <a:r>
                        <a:rPr sz="1725" b="0">
                          <a:solidFill>
                            <a:srgbClr val="F1F4F6"/>
                          </a:solidFill>
                          <a:latin typeface="Arial"/>
                          <a:ea typeface="Arial"/>
                          <a:cs typeface="Arial"/>
                        </a:rPr>
                        <a:t>FOREIGN KEY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An item without an existing order or product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345281">
                <a:tc>
                  <a:txBody>
                    <a:bodyPr/>
                    <a:lstStyle/>
                    <a:p>
                      <a:r>
                        <a:rPr sz="1725" b="0">
                          <a:solidFill>
                            <a:srgbClr val="F1F4F6"/>
                          </a:solidFill>
                          <a:latin typeface="Arial"/>
                          <a:ea typeface="Arial"/>
                          <a:cs typeface="Arial"/>
                        </a:rPr>
                        <a:t>NOT NULL + CHECK</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Missing values, zero quantity or negative 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22178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E27DA8-D672-459A-B5B0-5FBE15B4286F}"/>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Constraints protect the stored data</a:t>
            </a:r>
          </a:p>
        </p:txBody>
      </p:sp>
      <p:sp>
        <p:nvSpPr>
          <p:cNvPr id="2" name="Rectangle 1">
            <a:extLst>
              <a:ext uri="{FF2B5EF4-FFF2-40B4-BE49-F238E27FC236}">
                <a16:creationId xmlns:a16="http://schemas.microsoft.com/office/drawing/2014/main" id="{5B04A15B-DF8E-4B0E-8D51-B799733EB833}"/>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22</a:t>
            </a:r>
          </a:p>
        </p:txBody>
      </p:sp>
      <p:sp>
        <p:nvSpPr>
          <p:cNvPr id="3" name="Rectangle 2">
            <a:extLst>
              <a:ext uri="{FF2B5EF4-FFF2-40B4-BE49-F238E27FC236}">
                <a16:creationId xmlns:a16="http://schemas.microsoft.com/office/drawing/2014/main" id="{234D0AAC-1714-4341-8800-09C6F6EEC76C}"/>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FCF2DAFA-BAA6-4463-A5C7-E4BD6FF7FF60}"/>
              </a:ext>
            </a:extLst>
          </p:cNvPr>
          <p:cNvGraphicFramePr/>
          <p:nvPr/>
        </p:nvGraphicFramePr>
        <p:xfrm>
          <a:off x="609600" y="1562100"/>
          <a:ext cx="10972800" cy="3777615"/>
        </p:xfrm>
        <a:graphic>
          <a:graphicData uri="http://schemas.openxmlformats.org/drawingml/2006/table">
            <a:tbl>
              <a:tblPr firstRow="1"/>
              <a:tblGrid>
                <a:gridCol w="1952625">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gridCol w="4352925">
                  <a:extLst>
                    <a:ext uri="{9D8B030D-6E8A-4147-A177-3AD203B41FA5}">
                      <a16:colId xmlns:a16="http://schemas.microsoft.com/office/drawing/2014/main" val="20002"/>
                    </a:ext>
                  </a:extLst>
                </a:gridCol>
              </a:tblGrid>
              <a:tr h="619125">
                <a:tc>
                  <a:txBody>
                    <a:bodyPr/>
                    <a:lstStyle/>
                    <a:p>
                      <a:r>
                        <a:rPr sz="1800" b="1">
                          <a:solidFill>
                            <a:srgbClr val="70D6C4"/>
                          </a:solidFill>
                          <a:latin typeface="Arial"/>
                          <a:ea typeface="Arial"/>
                          <a:cs typeface="Arial"/>
                        </a:rPr>
                        <a:t>Constraint</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Project example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What it enforces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619125">
                <a:tc>
                  <a:txBody>
                    <a:bodyPr/>
                    <a:lstStyle/>
                    <a:p>
                      <a:r>
                        <a:rPr sz="1800" b="0">
                          <a:solidFill>
                            <a:srgbClr val="F1F4F6"/>
                          </a:solidFill>
                          <a:latin typeface="Arial"/>
                          <a:ea typeface="Arial"/>
                          <a:cs typeface="Arial"/>
                        </a:rPr>
                        <a:t>PRIMARY KEY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order_item (order_id, line_number)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One identity for each line within an order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619125">
                <a:tc>
                  <a:txBody>
                    <a:bodyPr/>
                    <a:lstStyle/>
                    <a:p>
                      <a:r>
                        <a:rPr sz="1800" b="0">
                          <a:solidFill>
                            <a:srgbClr val="F1F4F6"/>
                          </a:solidFill>
                          <a:latin typeface="Arial"/>
                          <a:ea typeface="Arial"/>
                          <a:cs typeface="Arial"/>
                        </a:rPr>
                        <a:t>FOREIGN KEY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order_item.product_id → product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Every item references an existing product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619125">
                <a:tc>
                  <a:txBody>
                    <a:bodyPr/>
                    <a:lstStyle/>
                    <a:p>
                      <a:r>
                        <a:rPr sz="1800" b="0">
                          <a:solidFill>
                            <a:srgbClr val="F1F4F6"/>
                          </a:solidFill>
                          <a:latin typeface="Arial"/>
                          <a:ea typeface="Arial"/>
                          <a:cs typeface="Arial"/>
                        </a:rPr>
                        <a:t>UNIQUE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sales_order.order_ref; product.sku</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No repeated order reference or product code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619125">
                <a:tc>
                  <a:txBody>
                    <a:bodyPr/>
                    <a:lstStyle/>
                    <a:p>
                      <a:r>
                        <a:rPr sz="1800" b="0">
                          <a:solidFill>
                            <a:srgbClr val="F1F4F6"/>
                          </a:solidFill>
                          <a:latin typeface="Arial"/>
                          <a:ea typeface="Arial"/>
                          <a:cs typeface="Arial"/>
                        </a:rPr>
                        <a:t>NOT NULL</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quantity, unit_price, customer_id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Required values cannot be 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619125">
                <a:tc>
                  <a:txBody>
                    <a:bodyPr/>
                    <a:lstStyle/>
                    <a:p>
                      <a:r>
                        <a:rPr sz="1800" b="0">
                          <a:solidFill>
                            <a:srgbClr val="F1F4F6"/>
                          </a:solidFill>
                          <a:latin typeface="Arial"/>
                          <a:ea typeface="Arial"/>
                          <a:cs typeface="Arial"/>
                        </a:rPr>
                        <a:t>CHECK</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quantity BETWEEN 1 AND 1000000;</a:t>
                      </a:r>
                    </a:p>
                    <a:p>
                      <a:r>
                        <a:rPr sz="1800" b="0">
                          <a:solidFill>
                            <a:srgbClr val="F1F4F6"/>
                          </a:solidFill>
                          <a:latin typeface="Arial"/>
                          <a:ea typeface="Arial"/>
                          <a:cs typeface="Arial"/>
                        </a:rPr>
                        <a:t>unit_price &gt;= 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Values satisfy the declared business bounds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B8D2B6C9-C356-4DE6-AC03-E058C3E206AC}"/>
              </a:ext>
            </a:extLst>
          </p:cNvPr>
          <p:cNvSpPr>
            <a:spLocks noGrp="1"/>
          </p:cNvSpPr>
          <p:nvPr/>
        </p:nvSpPr>
        <p:spPr>
          <a:xfrm>
            <a:off x="609600" y="5810250"/>
            <a:ext cx="10858500" cy="428625"/>
          </a:xfrm>
          <a:prstGeom prst="rect">
            <a:avLst/>
          </a:prstGeom>
          <a:noFill/>
          <a:ln w="0">
            <a:noFill/>
          </a:ln>
        </p:spPr>
        <p:txBody>
          <a:bodyPr wrap="square" lIns="0" tIns="0" rIns="0" bIns="0" anchor="t">
            <a:noAutofit/>
          </a:bodyPr>
          <a:lstStyle>
            <a:defPPr>
              <a:defRPr sz="2025" b="0">
                <a:solidFill>
                  <a:srgbClr val="70D6C4"/>
                </a:solidFill>
                <a:latin typeface="Arial"/>
                <a:ea typeface="Arial"/>
                <a:cs typeface="Arial"/>
              </a:defRPr>
            </a:defPPr>
            <a:lvl1pPr>
              <a:defRPr sz="2025" b="0">
                <a:solidFill>
                  <a:srgbClr val="70D6C4"/>
                </a:solidFill>
                <a:latin typeface="Arial"/>
                <a:ea typeface="Arial"/>
                <a:cs typeface="Arial"/>
              </a:defRPr>
            </a:lvl1pPr>
            <a:lvl2pPr>
              <a:defRPr sz="2025" b="0">
                <a:solidFill>
                  <a:srgbClr val="70D6C4"/>
                </a:solidFill>
                <a:latin typeface="Arial"/>
                <a:ea typeface="Arial"/>
                <a:cs typeface="Arial"/>
              </a:defRPr>
            </a:lvl2pPr>
            <a:lvl3pPr>
              <a:defRPr sz="2025" b="0">
                <a:solidFill>
                  <a:srgbClr val="70D6C4"/>
                </a:solidFill>
                <a:latin typeface="Arial"/>
                <a:ea typeface="Arial"/>
                <a:cs typeface="Arial"/>
              </a:defRPr>
            </a:lvl3pPr>
            <a:lvl4pPr>
              <a:defRPr sz="2025" b="0">
                <a:solidFill>
                  <a:srgbClr val="70D6C4"/>
                </a:solidFill>
                <a:latin typeface="Arial"/>
                <a:ea typeface="Arial"/>
                <a:cs typeface="Arial"/>
              </a:defRPr>
            </a:lvl4pPr>
            <a:lvl5pPr>
              <a:defRPr sz="2025" b="0">
                <a:solidFill>
                  <a:srgbClr val="70D6C4"/>
                </a:solidFill>
                <a:latin typeface="Arial"/>
                <a:ea typeface="Arial"/>
                <a:cs typeface="Arial"/>
              </a:defRPr>
            </a:lvl5pPr>
            <a:lvl6pPr>
              <a:defRPr sz="2025" b="0">
                <a:solidFill>
                  <a:srgbClr val="70D6C4"/>
                </a:solidFill>
                <a:latin typeface="Arial"/>
                <a:ea typeface="Arial"/>
                <a:cs typeface="Arial"/>
              </a:defRPr>
            </a:lvl6pPr>
            <a:lvl7pPr>
              <a:defRPr sz="2025" b="0">
                <a:solidFill>
                  <a:srgbClr val="70D6C4"/>
                </a:solidFill>
                <a:latin typeface="Arial"/>
                <a:ea typeface="Arial"/>
                <a:cs typeface="Arial"/>
              </a:defRPr>
            </a:lvl7pPr>
            <a:lvl8pPr>
              <a:defRPr sz="2025" b="0">
                <a:solidFill>
                  <a:srgbClr val="70D6C4"/>
                </a:solidFill>
                <a:latin typeface="Arial"/>
                <a:ea typeface="Arial"/>
                <a:cs typeface="Arial"/>
              </a:defRPr>
            </a:lvl8pPr>
            <a:lvl9pPr>
              <a:defRPr sz="2025" b="0">
                <a:solidFill>
                  <a:srgbClr val="70D6C4"/>
                </a:solidFill>
                <a:latin typeface="Arial"/>
                <a:ea typeface="Arial"/>
                <a:cs typeface="Arial"/>
              </a:defRPr>
            </a:lvl9pPr>
          </a:lstStyle>
          <a:p>
            <a:pPr>
              <a:defRPr sz="2025" b="0">
                <a:solidFill>
                  <a:srgbClr val="70D6C4"/>
                </a:solidFill>
                <a:latin typeface="Arial"/>
                <a:ea typeface="Arial"/>
                <a:cs typeface="Arial"/>
              </a:defRPr>
            </a:pPr>
            <a:r>
              <a:rPr sz="2025" b="0">
                <a:solidFill>
                  <a:srgbClr val="70D6C4"/>
                </a:solidFill>
                <a:latin typeface="Arial"/>
                <a:ea typeface="Arial"/>
                <a:cs typeface="Arial"/>
              </a:rPr>
              <a:t>PostgreSQL applies these rules even when SQL bypasses the web form.</a:t>
            </a:r>
          </a:p>
        </p:txBody>
      </p:sp>
    </p:spTree>
    <p:extLst>
      <p:ext uri="{BB962C8B-B14F-4D97-AF65-F5344CB8AC3E}">
        <p14:creationId xmlns:p14="http://schemas.microsoft.com/office/powerpoint/2010/main" val="1968778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DB8B0AF-60C2-4581-810E-F85D58806721}"/>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INSERT: create an order header</a:t>
            </a:r>
          </a:p>
        </p:txBody>
      </p:sp>
      <p:sp>
        <p:nvSpPr>
          <p:cNvPr id="2" name="Rectangle 1">
            <a:extLst>
              <a:ext uri="{FF2B5EF4-FFF2-40B4-BE49-F238E27FC236}">
                <a16:creationId xmlns:a16="http://schemas.microsoft.com/office/drawing/2014/main" id="{C2E98F55-2552-407B-B68F-28D1F360C6C9}"/>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23</a:t>
            </a:r>
          </a:p>
        </p:txBody>
      </p:sp>
      <p:sp>
        <p:nvSpPr>
          <p:cNvPr id="3" name="Rectangle 2">
            <a:extLst>
              <a:ext uri="{FF2B5EF4-FFF2-40B4-BE49-F238E27FC236}">
                <a16:creationId xmlns:a16="http://schemas.microsoft.com/office/drawing/2014/main" id="{CBF65363-BBE8-4D0D-8597-E8FE129A66F9}"/>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56E53DCE-54C5-4099-B7F9-942D092CFD40}"/>
              </a:ext>
            </a:extLst>
          </p:cNvPr>
          <p:cNvSpPr>
            <a:spLocks noGrp="1"/>
          </p:cNvSpPr>
          <p:nvPr/>
        </p:nvSpPr>
        <p:spPr>
          <a:xfrm>
            <a:off x="609600" y="1476375"/>
            <a:ext cx="10953750" cy="2400300"/>
          </a:xfrm>
          <a:prstGeom prst="rect">
            <a:avLst/>
          </a:prstGeom>
          <a:noFill/>
          <a:ln w="0">
            <a:noFill/>
          </a:ln>
        </p:spPr>
        <p:txBody>
          <a:bodyPr wrap="square" lIns="0" tIns="0" rIns="0" bIns="0" anchor="t">
            <a:noAutofit/>
          </a:bodyPr>
          <a:lstStyle>
            <a:defPPr>
              <a:defRPr sz="1800" b="0">
                <a:solidFill>
                  <a:srgbClr val="70D6C4"/>
                </a:solidFill>
                <a:latin typeface="Consolas"/>
                <a:ea typeface="Consolas"/>
                <a:cs typeface="Consolas"/>
              </a:defRPr>
            </a:defPPr>
            <a:lvl1pPr>
              <a:defRPr sz="1800" b="0">
                <a:solidFill>
                  <a:srgbClr val="70D6C4"/>
                </a:solidFill>
                <a:latin typeface="Consolas"/>
                <a:ea typeface="Consolas"/>
                <a:cs typeface="Consolas"/>
              </a:defRPr>
            </a:lvl1pPr>
            <a:lvl2pPr>
              <a:defRPr sz="1800" b="0">
                <a:solidFill>
                  <a:srgbClr val="70D6C4"/>
                </a:solidFill>
                <a:latin typeface="Consolas"/>
                <a:ea typeface="Consolas"/>
                <a:cs typeface="Consolas"/>
              </a:defRPr>
            </a:lvl2pPr>
            <a:lvl3pPr>
              <a:defRPr sz="1800" b="0">
                <a:solidFill>
                  <a:srgbClr val="70D6C4"/>
                </a:solidFill>
                <a:latin typeface="Consolas"/>
                <a:ea typeface="Consolas"/>
                <a:cs typeface="Consolas"/>
              </a:defRPr>
            </a:lvl3pPr>
            <a:lvl4pPr>
              <a:defRPr sz="1800" b="0">
                <a:solidFill>
                  <a:srgbClr val="70D6C4"/>
                </a:solidFill>
                <a:latin typeface="Consolas"/>
                <a:ea typeface="Consolas"/>
                <a:cs typeface="Consolas"/>
              </a:defRPr>
            </a:lvl4pPr>
            <a:lvl5pPr>
              <a:defRPr sz="1800" b="0">
                <a:solidFill>
                  <a:srgbClr val="70D6C4"/>
                </a:solidFill>
                <a:latin typeface="Consolas"/>
                <a:ea typeface="Consolas"/>
                <a:cs typeface="Consolas"/>
              </a:defRPr>
            </a:lvl5pPr>
            <a:lvl6pPr>
              <a:defRPr sz="1800" b="0">
                <a:solidFill>
                  <a:srgbClr val="70D6C4"/>
                </a:solidFill>
                <a:latin typeface="Consolas"/>
                <a:ea typeface="Consolas"/>
                <a:cs typeface="Consolas"/>
              </a:defRPr>
            </a:lvl6pPr>
            <a:lvl7pPr>
              <a:defRPr sz="1800" b="0">
                <a:solidFill>
                  <a:srgbClr val="70D6C4"/>
                </a:solidFill>
                <a:latin typeface="Consolas"/>
                <a:ea typeface="Consolas"/>
                <a:cs typeface="Consolas"/>
              </a:defRPr>
            </a:lvl7pPr>
            <a:lvl8pPr>
              <a:defRPr sz="1800" b="0">
                <a:solidFill>
                  <a:srgbClr val="70D6C4"/>
                </a:solidFill>
                <a:latin typeface="Consolas"/>
                <a:ea typeface="Consolas"/>
                <a:cs typeface="Consolas"/>
              </a:defRPr>
            </a:lvl8pPr>
            <a:lvl9pPr>
              <a:defRPr sz="1800" b="0">
                <a:solidFill>
                  <a:srgbClr val="70D6C4"/>
                </a:solidFill>
                <a:latin typeface="Consolas"/>
                <a:ea typeface="Consolas"/>
                <a:cs typeface="Consolas"/>
              </a:defRPr>
            </a:lvl9pPr>
          </a:lstStyle>
          <a:p>
            <a:pPr>
              <a:defRPr sz="1800" b="0">
                <a:solidFill>
                  <a:srgbClr val="70D6C4"/>
                </a:solidFill>
                <a:latin typeface="Consolas"/>
                <a:ea typeface="Consolas"/>
                <a:cs typeface="Consolas"/>
              </a:defRPr>
            </a:pPr>
            <a:r>
              <a:rPr sz="1800" b="0">
                <a:solidFill>
                  <a:srgbClr val="70D6C4"/>
                </a:solidFill>
                <a:latin typeface="Consolas"/>
                <a:ea typeface="Consolas"/>
                <a:cs typeface="Consolas"/>
              </a:rPr>
              <a:t>BEGIN;</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INSERT INTO reporting.sales_order</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(order_id, order_ref, customer_id, ordered_at, status)</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OVERRIDING SYSTEM VALUE</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VALUES (900001, 'PPT-REVIEW-001', 1,</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DATE '2026-10-20', 'completed')</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RETURNING order_id, order_ref, customer_id, ordered_at, status;</a:t>
            </a:r>
          </a:p>
        </p:txBody>
      </p:sp>
      <p:sp>
        <p:nvSpPr>
          <p:cNvPr id="5" name="Rectangle 4">
            <a:extLst>
              <a:ext uri="{FF2B5EF4-FFF2-40B4-BE49-F238E27FC236}">
                <a16:creationId xmlns:a16="http://schemas.microsoft.com/office/drawing/2014/main" id="{A8C2F561-4B2B-4426-8579-6274F015017B}"/>
              </a:ext>
            </a:extLst>
          </p:cNvPr>
          <p:cNvSpPr>
            <a:spLocks noGrp="1"/>
          </p:cNvSpPr>
          <p:nvPr/>
        </p:nvSpPr>
        <p:spPr>
          <a:xfrm>
            <a:off x="609600" y="4152900"/>
            <a:ext cx="10858500" cy="304800"/>
          </a:xfrm>
          <a:prstGeom prst="rect">
            <a:avLst/>
          </a:prstGeom>
          <a:noFill/>
          <a:ln w="0">
            <a:noFill/>
          </a:ln>
        </p:spPr>
        <p:txBody>
          <a:bodyPr wrap="square" lIns="0" tIns="0" rIns="0" bIns="0" anchor="t">
            <a:noAutofit/>
          </a:bodyPr>
          <a:lstStyle>
            <a:defPPr>
              <a:defRPr sz="1800" b="1">
                <a:solidFill>
                  <a:srgbClr val="F1F4F6"/>
                </a:solidFill>
                <a:latin typeface="Arial"/>
                <a:ea typeface="Arial"/>
                <a:cs typeface="Arial"/>
              </a:defRPr>
            </a:defPPr>
            <a:lvl1pPr>
              <a:defRPr sz="1800" b="1">
                <a:solidFill>
                  <a:srgbClr val="F1F4F6"/>
                </a:solidFill>
                <a:latin typeface="Arial"/>
                <a:ea typeface="Arial"/>
                <a:cs typeface="Arial"/>
              </a:defRPr>
            </a:lvl1pPr>
            <a:lvl2pPr>
              <a:defRPr sz="1800" b="1">
                <a:solidFill>
                  <a:srgbClr val="F1F4F6"/>
                </a:solidFill>
                <a:latin typeface="Arial"/>
                <a:ea typeface="Arial"/>
                <a:cs typeface="Arial"/>
              </a:defRPr>
            </a:lvl2pPr>
            <a:lvl3pPr>
              <a:defRPr sz="1800" b="1">
                <a:solidFill>
                  <a:srgbClr val="F1F4F6"/>
                </a:solidFill>
                <a:latin typeface="Arial"/>
                <a:ea typeface="Arial"/>
                <a:cs typeface="Arial"/>
              </a:defRPr>
            </a:lvl3pPr>
            <a:lvl4pPr>
              <a:defRPr sz="1800" b="1">
                <a:solidFill>
                  <a:srgbClr val="F1F4F6"/>
                </a:solidFill>
                <a:latin typeface="Arial"/>
                <a:ea typeface="Arial"/>
                <a:cs typeface="Arial"/>
              </a:defRPr>
            </a:lvl4pPr>
            <a:lvl5pPr>
              <a:defRPr sz="1800" b="1">
                <a:solidFill>
                  <a:srgbClr val="F1F4F6"/>
                </a:solidFill>
                <a:latin typeface="Arial"/>
                <a:ea typeface="Arial"/>
                <a:cs typeface="Arial"/>
              </a:defRPr>
            </a:lvl5pPr>
            <a:lvl6pPr>
              <a:defRPr sz="1800" b="1">
                <a:solidFill>
                  <a:srgbClr val="F1F4F6"/>
                </a:solidFill>
                <a:latin typeface="Arial"/>
                <a:ea typeface="Arial"/>
                <a:cs typeface="Arial"/>
              </a:defRPr>
            </a:lvl6pPr>
            <a:lvl7pPr>
              <a:defRPr sz="1800" b="1">
                <a:solidFill>
                  <a:srgbClr val="F1F4F6"/>
                </a:solidFill>
                <a:latin typeface="Arial"/>
                <a:ea typeface="Arial"/>
                <a:cs typeface="Arial"/>
              </a:defRPr>
            </a:lvl7pPr>
            <a:lvl8pPr>
              <a:defRPr sz="1800" b="1">
                <a:solidFill>
                  <a:srgbClr val="F1F4F6"/>
                </a:solidFill>
                <a:latin typeface="Arial"/>
                <a:ea typeface="Arial"/>
                <a:cs typeface="Arial"/>
              </a:defRPr>
            </a:lvl8pPr>
            <a:lvl9pPr>
              <a:defRPr sz="1800" b="1">
                <a:solidFill>
                  <a:srgbClr val="F1F4F6"/>
                </a:solidFill>
                <a:latin typeface="Arial"/>
                <a:ea typeface="Arial"/>
                <a:cs typeface="Arial"/>
              </a:defRPr>
            </a:lvl9pPr>
          </a:lstStyle>
          <a:p>
            <a:pPr>
              <a:defRPr sz="1800" b="1">
                <a:solidFill>
                  <a:srgbClr val="F1F4F6"/>
                </a:solidFill>
                <a:latin typeface="Arial"/>
                <a:ea typeface="Arial"/>
                <a:cs typeface="Arial"/>
              </a:defRPr>
            </a:pPr>
            <a:r>
              <a:rPr sz="1800" b="1">
                <a:solidFill>
                  <a:srgbClr val="F1F4F6"/>
                </a:solidFill>
                <a:latin typeface="Arial"/>
                <a:ea typeface="Arial"/>
                <a:cs typeface="Arial"/>
              </a:rPr>
              <a:t>Returned row  ·  INSERT 0 1</a:t>
            </a:r>
          </a:p>
        </p:txBody>
      </p:sp>
      <p:graphicFrame>
        <p:nvGraphicFramePr>
          <p:cNvPr id="6" name="Table 5">
            <a:extLst>
              <a:ext uri="{FF2B5EF4-FFF2-40B4-BE49-F238E27FC236}">
                <a16:creationId xmlns:a16="http://schemas.microsoft.com/office/drawing/2014/main" id="{F335BF5E-3C77-4498-AB95-93568782A85A}"/>
              </a:ext>
            </a:extLst>
          </p:cNvPr>
          <p:cNvGraphicFramePr/>
          <p:nvPr/>
        </p:nvGraphicFramePr>
        <p:xfrm>
          <a:off x="609600" y="4581525"/>
          <a:ext cx="10972800" cy="952500"/>
        </p:xfrm>
        <a:graphic>
          <a:graphicData uri="http://schemas.openxmlformats.org/drawingml/2006/table">
            <a:tbl>
              <a:tblPr firstRow="1"/>
              <a:tblGrid>
                <a:gridCol w="15240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381250">
                  <a:extLst>
                    <a:ext uri="{9D8B030D-6E8A-4147-A177-3AD203B41FA5}">
                      <a16:colId xmlns:a16="http://schemas.microsoft.com/office/drawing/2014/main" val="20003"/>
                    </a:ext>
                  </a:extLst>
                </a:gridCol>
                <a:gridCol w="2114550">
                  <a:extLst>
                    <a:ext uri="{9D8B030D-6E8A-4147-A177-3AD203B41FA5}">
                      <a16:colId xmlns:a16="http://schemas.microsoft.com/office/drawing/2014/main" val="20004"/>
                    </a:ext>
                  </a:extLst>
                </a:gridCol>
              </a:tblGrid>
              <a:tr h="476250">
                <a:tc>
                  <a:txBody>
                    <a:bodyPr/>
                    <a:lstStyle/>
                    <a:p>
                      <a:r>
                        <a:rPr sz="1800" b="1">
                          <a:solidFill>
                            <a:srgbClr val="70D6C4"/>
                          </a:solidFill>
                          <a:latin typeface="Arial"/>
                          <a:ea typeface="Arial"/>
                          <a:cs typeface="Arial"/>
                        </a:rPr>
                        <a:t>order_id</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order_ref</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customer_id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ordered_at</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status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476250">
                <a:tc>
                  <a:txBody>
                    <a:bodyPr/>
                    <a:lstStyle/>
                    <a:p>
                      <a:r>
                        <a:rPr sz="1800" b="0">
                          <a:solidFill>
                            <a:srgbClr val="F1F4F6"/>
                          </a:solidFill>
                          <a:latin typeface="Arial"/>
                          <a:ea typeface="Arial"/>
                          <a:cs typeface="Arial"/>
                        </a:rPr>
                        <a:t>900001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PPT-REVIEW-001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2026-10-20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completed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8EAB2DA0-8699-4EF2-83B2-7A6018CE4F36}"/>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Controlled SQL demonstration. Existing customer 1; the entire example is rolled back after capture.</a:t>
            </a:r>
          </a:p>
        </p:txBody>
      </p:sp>
    </p:spTree>
    <p:extLst>
      <p:ext uri="{BB962C8B-B14F-4D97-AF65-F5344CB8AC3E}">
        <p14:creationId xmlns:p14="http://schemas.microsoft.com/office/powerpoint/2010/main" val="1379994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1F02B0-ED10-4161-B9D6-E406CE670B75}"/>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INSERT: add three order items</a:t>
            </a:r>
          </a:p>
        </p:txBody>
      </p:sp>
      <p:sp>
        <p:nvSpPr>
          <p:cNvPr id="2" name="Rectangle 1">
            <a:extLst>
              <a:ext uri="{FF2B5EF4-FFF2-40B4-BE49-F238E27FC236}">
                <a16:creationId xmlns:a16="http://schemas.microsoft.com/office/drawing/2014/main" id="{30590D0B-4162-4962-93C4-2BD9F72879B5}"/>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24</a:t>
            </a:r>
          </a:p>
        </p:txBody>
      </p:sp>
      <p:sp>
        <p:nvSpPr>
          <p:cNvPr id="3" name="Rectangle 2">
            <a:extLst>
              <a:ext uri="{FF2B5EF4-FFF2-40B4-BE49-F238E27FC236}">
                <a16:creationId xmlns:a16="http://schemas.microsoft.com/office/drawing/2014/main" id="{756DD3CD-6642-4149-8940-D75A3EE09095}"/>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EAFA18D0-C22A-4A50-8980-B3D7ACEBD3DE}"/>
              </a:ext>
            </a:extLst>
          </p:cNvPr>
          <p:cNvSpPr>
            <a:spLocks noGrp="1"/>
          </p:cNvSpPr>
          <p:nvPr/>
        </p:nvSpPr>
        <p:spPr>
          <a:xfrm>
            <a:off x="609600" y="1476375"/>
            <a:ext cx="10953750" cy="2190750"/>
          </a:xfrm>
          <a:prstGeom prst="rect">
            <a:avLst/>
          </a:prstGeom>
          <a:noFill/>
          <a:ln w="0">
            <a:noFill/>
          </a:ln>
        </p:spPr>
        <p:txBody>
          <a:bodyPr wrap="square" lIns="0" tIns="0" rIns="0" bIns="0" anchor="t">
            <a:noAutofit/>
          </a:bodyPr>
          <a:lstStyle>
            <a:defPPr>
              <a:defRPr sz="1800" b="0">
                <a:solidFill>
                  <a:srgbClr val="70D6C4"/>
                </a:solidFill>
                <a:latin typeface="Consolas"/>
                <a:ea typeface="Consolas"/>
                <a:cs typeface="Consolas"/>
              </a:defRPr>
            </a:defPPr>
            <a:lvl1pPr>
              <a:defRPr sz="1800" b="0">
                <a:solidFill>
                  <a:srgbClr val="70D6C4"/>
                </a:solidFill>
                <a:latin typeface="Consolas"/>
                <a:ea typeface="Consolas"/>
                <a:cs typeface="Consolas"/>
              </a:defRPr>
            </a:lvl1pPr>
            <a:lvl2pPr>
              <a:defRPr sz="1800" b="0">
                <a:solidFill>
                  <a:srgbClr val="70D6C4"/>
                </a:solidFill>
                <a:latin typeface="Consolas"/>
                <a:ea typeface="Consolas"/>
                <a:cs typeface="Consolas"/>
              </a:defRPr>
            </a:lvl2pPr>
            <a:lvl3pPr>
              <a:defRPr sz="1800" b="0">
                <a:solidFill>
                  <a:srgbClr val="70D6C4"/>
                </a:solidFill>
                <a:latin typeface="Consolas"/>
                <a:ea typeface="Consolas"/>
                <a:cs typeface="Consolas"/>
              </a:defRPr>
            </a:lvl3pPr>
            <a:lvl4pPr>
              <a:defRPr sz="1800" b="0">
                <a:solidFill>
                  <a:srgbClr val="70D6C4"/>
                </a:solidFill>
                <a:latin typeface="Consolas"/>
                <a:ea typeface="Consolas"/>
                <a:cs typeface="Consolas"/>
              </a:defRPr>
            </a:lvl4pPr>
            <a:lvl5pPr>
              <a:defRPr sz="1800" b="0">
                <a:solidFill>
                  <a:srgbClr val="70D6C4"/>
                </a:solidFill>
                <a:latin typeface="Consolas"/>
                <a:ea typeface="Consolas"/>
                <a:cs typeface="Consolas"/>
              </a:defRPr>
            </a:lvl5pPr>
            <a:lvl6pPr>
              <a:defRPr sz="1800" b="0">
                <a:solidFill>
                  <a:srgbClr val="70D6C4"/>
                </a:solidFill>
                <a:latin typeface="Consolas"/>
                <a:ea typeface="Consolas"/>
                <a:cs typeface="Consolas"/>
              </a:defRPr>
            </a:lvl6pPr>
            <a:lvl7pPr>
              <a:defRPr sz="1800" b="0">
                <a:solidFill>
                  <a:srgbClr val="70D6C4"/>
                </a:solidFill>
                <a:latin typeface="Consolas"/>
                <a:ea typeface="Consolas"/>
                <a:cs typeface="Consolas"/>
              </a:defRPr>
            </a:lvl7pPr>
            <a:lvl8pPr>
              <a:defRPr sz="1800" b="0">
                <a:solidFill>
                  <a:srgbClr val="70D6C4"/>
                </a:solidFill>
                <a:latin typeface="Consolas"/>
                <a:ea typeface="Consolas"/>
                <a:cs typeface="Consolas"/>
              </a:defRPr>
            </a:lvl8pPr>
            <a:lvl9pPr>
              <a:defRPr sz="1800" b="0">
                <a:solidFill>
                  <a:srgbClr val="70D6C4"/>
                </a:solidFill>
                <a:latin typeface="Consolas"/>
                <a:ea typeface="Consolas"/>
                <a:cs typeface="Consolas"/>
              </a:defRPr>
            </a:lvl9pPr>
          </a:lstStyle>
          <a:p>
            <a:pPr>
              <a:defRPr sz="1800" b="0">
                <a:solidFill>
                  <a:srgbClr val="70D6C4"/>
                </a:solidFill>
                <a:latin typeface="Consolas"/>
                <a:ea typeface="Consolas"/>
                <a:cs typeface="Consolas"/>
              </a:defRPr>
            </a:pPr>
            <a:r>
              <a:rPr sz="1800" b="0">
                <a:solidFill>
                  <a:srgbClr val="70D6C4"/>
                </a:solidFill>
                <a:latin typeface="Consolas"/>
                <a:ea typeface="Consolas"/>
                <a:cs typeface="Consolas"/>
              </a:rPr>
              <a:t>INSERT INTO reporting.order_item</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(order_id, line_number, product_id, quantity, unit_price)</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VALUES (900001, 1, 3, 3, 75.00),</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(900001, 2, 4, 4, 100.00),</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(900001, 3, 5, 1, 125.00)</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RETURNING order_id, line_number, product_id, quantity, unit_price;</a:t>
            </a:r>
          </a:p>
        </p:txBody>
      </p:sp>
      <p:sp>
        <p:nvSpPr>
          <p:cNvPr id="5" name="Rectangle 4">
            <a:extLst>
              <a:ext uri="{FF2B5EF4-FFF2-40B4-BE49-F238E27FC236}">
                <a16:creationId xmlns:a16="http://schemas.microsoft.com/office/drawing/2014/main" id="{37E00F7A-7FF7-4F29-A70D-BA517C43B785}"/>
              </a:ext>
            </a:extLst>
          </p:cNvPr>
          <p:cNvSpPr>
            <a:spLocks noGrp="1"/>
          </p:cNvSpPr>
          <p:nvPr/>
        </p:nvSpPr>
        <p:spPr>
          <a:xfrm>
            <a:off x="609600" y="3876675"/>
            <a:ext cx="10858500" cy="304800"/>
          </a:xfrm>
          <a:prstGeom prst="rect">
            <a:avLst/>
          </a:prstGeom>
          <a:noFill/>
          <a:ln w="0">
            <a:noFill/>
          </a:ln>
        </p:spPr>
        <p:txBody>
          <a:bodyPr wrap="square" lIns="0" tIns="0" rIns="0" bIns="0" anchor="t">
            <a:noAutofit/>
          </a:bodyPr>
          <a:lstStyle>
            <a:defPPr>
              <a:defRPr sz="1800" b="1">
                <a:solidFill>
                  <a:srgbClr val="F1F4F6"/>
                </a:solidFill>
                <a:latin typeface="Arial"/>
                <a:ea typeface="Arial"/>
                <a:cs typeface="Arial"/>
              </a:defRPr>
            </a:defPPr>
            <a:lvl1pPr>
              <a:defRPr sz="1800" b="1">
                <a:solidFill>
                  <a:srgbClr val="F1F4F6"/>
                </a:solidFill>
                <a:latin typeface="Arial"/>
                <a:ea typeface="Arial"/>
                <a:cs typeface="Arial"/>
              </a:defRPr>
            </a:lvl1pPr>
            <a:lvl2pPr>
              <a:defRPr sz="1800" b="1">
                <a:solidFill>
                  <a:srgbClr val="F1F4F6"/>
                </a:solidFill>
                <a:latin typeface="Arial"/>
                <a:ea typeface="Arial"/>
                <a:cs typeface="Arial"/>
              </a:defRPr>
            </a:lvl2pPr>
            <a:lvl3pPr>
              <a:defRPr sz="1800" b="1">
                <a:solidFill>
                  <a:srgbClr val="F1F4F6"/>
                </a:solidFill>
                <a:latin typeface="Arial"/>
                <a:ea typeface="Arial"/>
                <a:cs typeface="Arial"/>
              </a:defRPr>
            </a:lvl3pPr>
            <a:lvl4pPr>
              <a:defRPr sz="1800" b="1">
                <a:solidFill>
                  <a:srgbClr val="F1F4F6"/>
                </a:solidFill>
                <a:latin typeface="Arial"/>
                <a:ea typeface="Arial"/>
                <a:cs typeface="Arial"/>
              </a:defRPr>
            </a:lvl4pPr>
            <a:lvl5pPr>
              <a:defRPr sz="1800" b="1">
                <a:solidFill>
                  <a:srgbClr val="F1F4F6"/>
                </a:solidFill>
                <a:latin typeface="Arial"/>
                <a:ea typeface="Arial"/>
                <a:cs typeface="Arial"/>
              </a:defRPr>
            </a:lvl5pPr>
            <a:lvl6pPr>
              <a:defRPr sz="1800" b="1">
                <a:solidFill>
                  <a:srgbClr val="F1F4F6"/>
                </a:solidFill>
                <a:latin typeface="Arial"/>
                <a:ea typeface="Arial"/>
                <a:cs typeface="Arial"/>
              </a:defRPr>
            </a:lvl6pPr>
            <a:lvl7pPr>
              <a:defRPr sz="1800" b="1">
                <a:solidFill>
                  <a:srgbClr val="F1F4F6"/>
                </a:solidFill>
                <a:latin typeface="Arial"/>
                <a:ea typeface="Arial"/>
                <a:cs typeface="Arial"/>
              </a:defRPr>
            </a:lvl7pPr>
            <a:lvl8pPr>
              <a:defRPr sz="1800" b="1">
                <a:solidFill>
                  <a:srgbClr val="F1F4F6"/>
                </a:solidFill>
                <a:latin typeface="Arial"/>
                <a:ea typeface="Arial"/>
                <a:cs typeface="Arial"/>
              </a:defRPr>
            </a:lvl8pPr>
            <a:lvl9pPr>
              <a:defRPr sz="1800" b="1">
                <a:solidFill>
                  <a:srgbClr val="F1F4F6"/>
                </a:solidFill>
                <a:latin typeface="Arial"/>
                <a:ea typeface="Arial"/>
                <a:cs typeface="Arial"/>
              </a:defRPr>
            </a:lvl9pPr>
          </a:lstStyle>
          <a:p>
            <a:pPr>
              <a:defRPr sz="1800" b="1">
                <a:solidFill>
                  <a:srgbClr val="F1F4F6"/>
                </a:solidFill>
                <a:latin typeface="Arial"/>
                <a:ea typeface="Arial"/>
                <a:cs typeface="Arial"/>
              </a:defRPr>
            </a:pPr>
            <a:r>
              <a:rPr sz="1800" b="1">
                <a:solidFill>
                  <a:srgbClr val="F1F4F6"/>
                </a:solidFill>
                <a:latin typeface="Arial"/>
                <a:ea typeface="Arial"/>
                <a:cs typeface="Arial"/>
              </a:rPr>
              <a:t>Returned rows  ·  INSERT 0 3</a:t>
            </a:r>
          </a:p>
        </p:txBody>
      </p:sp>
      <p:graphicFrame>
        <p:nvGraphicFramePr>
          <p:cNvPr id="6" name="Table 5">
            <a:extLst>
              <a:ext uri="{FF2B5EF4-FFF2-40B4-BE49-F238E27FC236}">
                <a16:creationId xmlns:a16="http://schemas.microsoft.com/office/drawing/2014/main" id="{2EF20AA5-6E48-4575-8217-D58328FE8535}"/>
              </a:ext>
            </a:extLst>
          </p:cNvPr>
          <p:cNvGraphicFramePr/>
          <p:nvPr/>
        </p:nvGraphicFramePr>
        <p:xfrm>
          <a:off x="609600" y="4286250"/>
          <a:ext cx="10972800" cy="1524000"/>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952625">
                  <a:extLst>
                    <a:ext uri="{9D8B030D-6E8A-4147-A177-3AD203B41FA5}">
                      <a16:colId xmlns:a16="http://schemas.microsoft.com/office/drawing/2014/main" val="20003"/>
                    </a:ext>
                  </a:extLst>
                </a:gridCol>
                <a:gridCol w="2400300">
                  <a:extLst>
                    <a:ext uri="{9D8B030D-6E8A-4147-A177-3AD203B41FA5}">
                      <a16:colId xmlns:a16="http://schemas.microsoft.com/office/drawing/2014/main" val="20004"/>
                    </a:ext>
                  </a:extLst>
                </a:gridCol>
              </a:tblGrid>
              <a:tr h="381000">
                <a:tc>
                  <a:txBody>
                    <a:bodyPr/>
                    <a:lstStyle/>
                    <a:p>
                      <a:r>
                        <a:rPr sz="1800" b="1">
                          <a:solidFill>
                            <a:srgbClr val="70D6C4"/>
                          </a:solidFill>
                          <a:latin typeface="Arial"/>
                          <a:ea typeface="Arial"/>
                          <a:cs typeface="Arial"/>
                        </a:rPr>
                        <a:t>order_id</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line_number</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product_id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quantity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unit_price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381000">
                <a:tc>
                  <a:txBody>
                    <a:bodyPr/>
                    <a:lstStyle/>
                    <a:p>
                      <a:r>
                        <a:rPr sz="1800" b="0">
                          <a:solidFill>
                            <a:srgbClr val="F1F4F6"/>
                          </a:solidFill>
                          <a:latin typeface="Arial"/>
                          <a:ea typeface="Arial"/>
                          <a:cs typeface="Arial"/>
                        </a:rPr>
                        <a:t>900001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381000">
                <a:tc>
                  <a:txBody>
                    <a:bodyPr/>
                    <a:lstStyle/>
                    <a:p>
                      <a:r>
                        <a:rPr sz="1800" b="0">
                          <a:solidFill>
                            <a:srgbClr val="F1F4F6"/>
                          </a:solidFill>
                          <a:latin typeface="Arial"/>
                          <a:ea typeface="Arial"/>
                          <a:cs typeface="Arial"/>
                        </a:rPr>
                        <a:t>900001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2</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4</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4</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100.00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381000">
                <a:tc>
                  <a:txBody>
                    <a:bodyPr/>
                    <a:lstStyle/>
                    <a:p>
                      <a:r>
                        <a:rPr sz="1800" b="0">
                          <a:solidFill>
                            <a:srgbClr val="F1F4F6"/>
                          </a:solidFill>
                          <a:latin typeface="Arial"/>
                          <a:ea typeface="Arial"/>
                          <a:cs typeface="Arial"/>
                        </a:rPr>
                        <a:t>900001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5</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125.00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3B278DDA-BEE6-4A77-A772-4358C13C245F}"/>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Total = 3 × 75.00 + 4 × 100.00 + 1 × 125.00 = 750.00. ROLLBACK; restores the test transaction.</a:t>
            </a:r>
          </a:p>
        </p:txBody>
      </p:sp>
    </p:spTree>
    <p:extLst>
      <p:ext uri="{BB962C8B-B14F-4D97-AF65-F5344CB8AC3E}">
        <p14:creationId xmlns:p14="http://schemas.microsoft.com/office/powerpoint/2010/main" val="1991303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CBD47C8-AC33-4488-B416-A2E77AC0CAF4}"/>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Transactional import and correction</a:t>
            </a:r>
          </a:p>
        </p:txBody>
      </p:sp>
      <p:sp>
        <p:nvSpPr>
          <p:cNvPr id="2" name="Rectangle 1">
            <a:extLst>
              <a:ext uri="{FF2B5EF4-FFF2-40B4-BE49-F238E27FC236}">
                <a16:creationId xmlns:a16="http://schemas.microsoft.com/office/drawing/2014/main" id="{D2943F37-7010-4C35-942C-7224BF907B75}"/>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25</a:t>
            </a:r>
          </a:p>
        </p:txBody>
      </p:sp>
      <p:sp>
        <p:nvSpPr>
          <p:cNvPr id="3" name="Rectangle 2">
            <a:extLst>
              <a:ext uri="{FF2B5EF4-FFF2-40B4-BE49-F238E27FC236}">
                <a16:creationId xmlns:a16="http://schemas.microsoft.com/office/drawing/2014/main" id="{110B8C65-0A9B-4C24-B7D2-392A36A03AA0}"/>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8FECBFFB-CED7-4897-9BD3-990F39F18599}"/>
              </a:ext>
            </a:extLst>
          </p:cNvPr>
          <p:cNvSpPr>
            <a:spLocks noGrp="1"/>
          </p:cNvSpPr>
          <p:nvPr/>
        </p:nvSpPr>
        <p:spPr>
          <a:xfrm>
            <a:off x="609600" y="1600200"/>
            <a:ext cx="10953750" cy="1190625"/>
          </a:xfrm>
          <a:prstGeom prst="rect">
            <a:avLst/>
          </a:prstGeom>
          <a:noFill/>
          <a:ln w="0">
            <a:noFill/>
          </a:ln>
        </p:spPr>
        <p:txBody>
          <a:bodyPr wrap="square" lIns="0" tIns="0" rIns="0" bIns="0" anchor="t">
            <a:noAutofit/>
          </a:bodyPr>
          <a:lstStyle>
            <a:defPPr>
              <a:defRPr sz="1875" b="0">
                <a:solidFill>
                  <a:srgbClr val="70D6C4"/>
                </a:solidFill>
                <a:latin typeface="Consolas"/>
                <a:ea typeface="Consolas"/>
                <a:cs typeface="Consolas"/>
              </a:defRPr>
            </a:defPPr>
            <a:lvl1pPr>
              <a:defRPr sz="1875" b="0">
                <a:solidFill>
                  <a:srgbClr val="70D6C4"/>
                </a:solidFill>
                <a:latin typeface="Consolas"/>
                <a:ea typeface="Consolas"/>
                <a:cs typeface="Consolas"/>
              </a:defRPr>
            </a:lvl1pPr>
            <a:lvl2pPr>
              <a:defRPr sz="1875" b="0">
                <a:solidFill>
                  <a:srgbClr val="70D6C4"/>
                </a:solidFill>
                <a:latin typeface="Consolas"/>
                <a:ea typeface="Consolas"/>
                <a:cs typeface="Consolas"/>
              </a:defRPr>
            </a:lvl2pPr>
            <a:lvl3pPr>
              <a:defRPr sz="1875" b="0">
                <a:solidFill>
                  <a:srgbClr val="70D6C4"/>
                </a:solidFill>
                <a:latin typeface="Consolas"/>
                <a:ea typeface="Consolas"/>
                <a:cs typeface="Consolas"/>
              </a:defRPr>
            </a:lvl3pPr>
            <a:lvl4pPr>
              <a:defRPr sz="1875" b="0">
                <a:solidFill>
                  <a:srgbClr val="70D6C4"/>
                </a:solidFill>
                <a:latin typeface="Consolas"/>
                <a:ea typeface="Consolas"/>
                <a:cs typeface="Consolas"/>
              </a:defRPr>
            </a:lvl4pPr>
            <a:lvl5pPr>
              <a:defRPr sz="1875" b="0">
                <a:solidFill>
                  <a:srgbClr val="70D6C4"/>
                </a:solidFill>
                <a:latin typeface="Consolas"/>
                <a:ea typeface="Consolas"/>
                <a:cs typeface="Consolas"/>
              </a:defRPr>
            </a:lvl5pPr>
            <a:lvl6pPr>
              <a:defRPr sz="1875" b="0">
                <a:solidFill>
                  <a:srgbClr val="70D6C4"/>
                </a:solidFill>
                <a:latin typeface="Consolas"/>
                <a:ea typeface="Consolas"/>
                <a:cs typeface="Consolas"/>
              </a:defRPr>
            </a:lvl6pPr>
            <a:lvl7pPr>
              <a:defRPr sz="1875" b="0">
                <a:solidFill>
                  <a:srgbClr val="70D6C4"/>
                </a:solidFill>
                <a:latin typeface="Consolas"/>
                <a:ea typeface="Consolas"/>
                <a:cs typeface="Consolas"/>
              </a:defRPr>
            </a:lvl7pPr>
            <a:lvl8pPr>
              <a:defRPr sz="1875" b="0">
                <a:solidFill>
                  <a:srgbClr val="70D6C4"/>
                </a:solidFill>
                <a:latin typeface="Consolas"/>
                <a:ea typeface="Consolas"/>
                <a:cs typeface="Consolas"/>
              </a:defRPr>
            </a:lvl8pPr>
            <a:lvl9pPr>
              <a:defRPr sz="1875" b="0">
                <a:solidFill>
                  <a:srgbClr val="70D6C4"/>
                </a:solidFill>
                <a:latin typeface="Consolas"/>
                <a:ea typeface="Consolas"/>
                <a:cs typeface="Consolas"/>
              </a:defRPr>
            </a:lvl9pPr>
          </a:lstStyle>
          <a:p>
            <a:pPr>
              <a:defRPr sz="1875" b="0">
                <a:solidFill>
                  <a:srgbClr val="70D6C4"/>
                </a:solidFill>
                <a:latin typeface="Consolas"/>
                <a:ea typeface="Consolas"/>
                <a:cs typeface="Consolas"/>
              </a:defRPr>
            </a:pPr>
            <a:r>
              <a:rPr sz="1875" b="0">
                <a:solidFill>
                  <a:srgbClr val="70D6C4"/>
                </a:solidFill>
                <a:latin typeface="Consolas"/>
                <a:ea typeface="Consolas"/>
                <a:cs typeface="Consolas"/>
              </a:rPr>
              <a:t>INSERT INTO reporting.order_item</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       (order_id, line_number, product_id, quantity, unit_price)</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VALUES (:order_id, :line_number, :product_id, :quantity, :unit_price);</a:t>
            </a:r>
          </a:p>
        </p:txBody>
      </p:sp>
      <p:graphicFrame>
        <p:nvGraphicFramePr>
          <p:cNvPr id="5" name="Table 4">
            <a:extLst>
              <a:ext uri="{FF2B5EF4-FFF2-40B4-BE49-F238E27FC236}">
                <a16:creationId xmlns:a16="http://schemas.microsoft.com/office/drawing/2014/main" id="{0EDF28A4-FFB1-4CC6-AC5D-9620D7BA0126}"/>
              </a:ext>
            </a:extLst>
          </p:cNvPr>
          <p:cNvGraphicFramePr/>
          <p:nvPr/>
        </p:nvGraphicFramePr>
        <p:xfrm>
          <a:off x="609600" y="3171825"/>
          <a:ext cx="10972800" cy="2667000"/>
        </p:xfrm>
        <a:graphic>
          <a:graphicData uri="http://schemas.openxmlformats.org/drawingml/2006/table">
            <a:tbl>
              <a:tblPr firstRow="1"/>
              <a:tblGrid>
                <a:gridCol w="5524500">
                  <a:extLst>
                    <a:ext uri="{9D8B030D-6E8A-4147-A177-3AD203B41FA5}">
                      <a16:colId xmlns:a16="http://schemas.microsoft.com/office/drawing/2014/main" val="20000"/>
                    </a:ext>
                  </a:extLst>
                </a:gridCol>
                <a:gridCol w="5448300">
                  <a:extLst>
                    <a:ext uri="{9D8B030D-6E8A-4147-A177-3AD203B41FA5}">
                      <a16:colId xmlns:a16="http://schemas.microsoft.com/office/drawing/2014/main" val="20001"/>
                    </a:ext>
                  </a:extLst>
                </a:gridCol>
              </a:tblGrid>
              <a:tr h="533400">
                <a:tc>
                  <a:txBody>
                    <a:bodyPr/>
                    <a:lstStyle/>
                    <a:p>
                      <a:r>
                        <a:rPr sz="1800" b="1">
                          <a:solidFill>
                            <a:srgbClr val="70D6C4"/>
                          </a:solidFill>
                          <a:latin typeface="Arial"/>
                          <a:ea typeface="Arial"/>
                          <a:cs typeface="Arial"/>
                        </a:rPr>
                        <a:t>Input / action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Result</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33400">
                <a:tc>
                  <a:txBody>
                    <a:bodyPr/>
                    <a:lstStyle/>
                    <a:p>
                      <a:r>
                        <a:rPr sz="1800" b="0">
                          <a:solidFill>
                            <a:srgbClr val="F1F4F6"/>
                          </a:solidFill>
                          <a:latin typeface="Arial"/>
                          <a:ea typeface="Arial"/>
                          <a:cs typeface="Arial"/>
                        </a:rPr>
                        <a:t>Valid order with 2 × 25.00 and 1 × 50.00</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Accept the complete order, total 100.00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33400">
                <a:tc>
                  <a:txBody>
                    <a:bodyPr/>
                    <a:lstStyle/>
                    <a:p>
                      <a:r>
                        <a:rPr sz="1800" b="0">
                          <a:solidFill>
                            <a:srgbClr val="F1F4F6"/>
                          </a:solidFill>
                          <a:latin typeface="Arial"/>
                          <a:ea typeface="Arial"/>
                          <a:cs typeface="Arial"/>
                        </a:rPr>
                        <a:t>Order containing a negative price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Keep all its lines in staging with errors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33400">
                <a:tc>
                  <a:txBody>
                    <a:bodyPr/>
                    <a:lstStyle/>
                    <a:p>
                      <a:r>
                        <a:rPr sz="1800" b="0">
                          <a:solidFill>
                            <a:srgbClr val="F1F4F6"/>
                          </a:solidFill>
                          <a:latin typeface="Arial"/>
                          <a:ea typeface="Arial"/>
                          <a:cs typeface="Arial"/>
                        </a:rPr>
                        <a:t>Repeat an identical accepted order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Mark duplicate, create no second order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33400">
                <a:tc>
                  <a:txBody>
                    <a:bodyPr/>
                    <a:lstStyle/>
                    <a:p>
                      <a:r>
                        <a:rPr sz="1800" b="0">
                          <a:solidFill>
                            <a:srgbClr val="F1F4F6"/>
                          </a:solidFill>
                          <a:latin typeface="Arial"/>
                          <a:ea typeface="Arial"/>
                          <a:cs typeface="Arial"/>
                        </a:rPr>
                        <a:t>Correct the rejected order and retry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Accept the repaired order after validation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395E015D-A33F-423B-935B-CD606656A172}"/>
              </a:ext>
            </a:extLst>
          </p:cNvPr>
          <p:cNvSpPr>
            <a:spLocks noGrp="1"/>
          </p:cNvSpPr>
          <p:nvPr/>
        </p:nvSpPr>
        <p:spPr>
          <a:xfrm>
            <a:off x="609600" y="595312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SQL shown with named explanatory placeholders. Application code uses bound psycopg parameters.</a:t>
            </a:r>
          </a:p>
        </p:txBody>
      </p:sp>
    </p:spTree>
    <p:extLst>
      <p:ext uri="{BB962C8B-B14F-4D97-AF65-F5344CB8AC3E}">
        <p14:creationId xmlns:p14="http://schemas.microsoft.com/office/powerpoint/2010/main" val="448018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D58BD8-6DDD-4470-BC84-51E10E343142}"/>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SQL: the four-table JOIN</a:t>
            </a:r>
          </a:p>
        </p:txBody>
      </p:sp>
      <p:sp>
        <p:nvSpPr>
          <p:cNvPr id="2" name="Rectangle 1">
            <a:extLst>
              <a:ext uri="{FF2B5EF4-FFF2-40B4-BE49-F238E27FC236}">
                <a16:creationId xmlns:a16="http://schemas.microsoft.com/office/drawing/2014/main" id="{3BEBDA25-1C22-477F-82F3-F7D0A48859A5}"/>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26</a:t>
            </a:r>
          </a:p>
        </p:txBody>
      </p:sp>
      <p:sp>
        <p:nvSpPr>
          <p:cNvPr id="3" name="Rectangle 2">
            <a:extLst>
              <a:ext uri="{FF2B5EF4-FFF2-40B4-BE49-F238E27FC236}">
                <a16:creationId xmlns:a16="http://schemas.microsoft.com/office/drawing/2014/main" id="{C4F9B774-6F10-447F-AF64-29EE04AE8857}"/>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503D2B00-2F00-410C-A053-924F833F7627}"/>
              </a:ext>
            </a:extLst>
          </p:cNvPr>
          <p:cNvSpPr>
            <a:spLocks noGrp="1"/>
          </p:cNvSpPr>
          <p:nvPr/>
        </p:nvSpPr>
        <p:spPr>
          <a:xfrm>
            <a:off x="609600" y="1381125"/>
            <a:ext cx="10953750" cy="2895600"/>
          </a:xfrm>
          <a:prstGeom prst="rect">
            <a:avLst/>
          </a:prstGeom>
          <a:noFill/>
          <a:ln w="0">
            <a:noFill/>
          </a:ln>
        </p:spPr>
        <p:txBody>
          <a:bodyPr wrap="square" lIns="0" tIns="0" rIns="0" bIns="0" anchor="t">
            <a:noAutofit/>
          </a:bodyPr>
          <a:lstStyle>
            <a:defPPr>
              <a:defRPr sz="1575" b="0">
                <a:solidFill>
                  <a:srgbClr val="70D6C4"/>
                </a:solidFill>
                <a:latin typeface="Consolas"/>
                <a:ea typeface="Consolas"/>
                <a:cs typeface="Consolas"/>
              </a:defRPr>
            </a:defPPr>
            <a:lvl1pPr>
              <a:defRPr sz="1575" b="0">
                <a:solidFill>
                  <a:srgbClr val="70D6C4"/>
                </a:solidFill>
                <a:latin typeface="Consolas"/>
                <a:ea typeface="Consolas"/>
                <a:cs typeface="Consolas"/>
              </a:defRPr>
            </a:lvl1pPr>
            <a:lvl2pPr>
              <a:defRPr sz="1575" b="0">
                <a:solidFill>
                  <a:srgbClr val="70D6C4"/>
                </a:solidFill>
                <a:latin typeface="Consolas"/>
                <a:ea typeface="Consolas"/>
                <a:cs typeface="Consolas"/>
              </a:defRPr>
            </a:lvl2pPr>
            <a:lvl3pPr>
              <a:defRPr sz="1575" b="0">
                <a:solidFill>
                  <a:srgbClr val="70D6C4"/>
                </a:solidFill>
                <a:latin typeface="Consolas"/>
                <a:ea typeface="Consolas"/>
                <a:cs typeface="Consolas"/>
              </a:defRPr>
            </a:lvl3pPr>
            <a:lvl4pPr>
              <a:defRPr sz="1575" b="0">
                <a:solidFill>
                  <a:srgbClr val="70D6C4"/>
                </a:solidFill>
                <a:latin typeface="Consolas"/>
                <a:ea typeface="Consolas"/>
                <a:cs typeface="Consolas"/>
              </a:defRPr>
            </a:lvl4pPr>
            <a:lvl5pPr>
              <a:defRPr sz="1575" b="0">
                <a:solidFill>
                  <a:srgbClr val="70D6C4"/>
                </a:solidFill>
                <a:latin typeface="Consolas"/>
                <a:ea typeface="Consolas"/>
                <a:cs typeface="Consolas"/>
              </a:defRPr>
            </a:lvl5pPr>
            <a:lvl6pPr>
              <a:defRPr sz="1575" b="0">
                <a:solidFill>
                  <a:srgbClr val="70D6C4"/>
                </a:solidFill>
                <a:latin typeface="Consolas"/>
                <a:ea typeface="Consolas"/>
                <a:cs typeface="Consolas"/>
              </a:defRPr>
            </a:lvl6pPr>
            <a:lvl7pPr>
              <a:defRPr sz="1575" b="0">
                <a:solidFill>
                  <a:srgbClr val="70D6C4"/>
                </a:solidFill>
                <a:latin typeface="Consolas"/>
                <a:ea typeface="Consolas"/>
                <a:cs typeface="Consolas"/>
              </a:defRPr>
            </a:lvl7pPr>
            <a:lvl8pPr>
              <a:defRPr sz="1575" b="0">
                <a:solidFill>
                  <a:srgbClr val="70D6C4"/>
                </a:solidFill>
                <a:latin typeface="Consolas"/>
                <a:ea typeface="Consolas"/>
                <a:cs typeface="Consolas"/>
              </a:defRPr>
            </a:lvl8pPr>
            <a:lvl9pPr>
              <a:defRPr sz="1575" b="0">
                <a:solidFill>
                  <a:srgbClr val="70D6C4"/>
                </a:solidFill>
                <a:latin typeface="Consolas"/>
                <a:ea typeface="Consolas"/>
                <a:cs typeface="Consolas"/>
              </a:defRPr>
            </a:lvl9pPr>
          </a:lstStyle>
          <a:p>
            <a:pPr>
              <a:defRPr sz="1575" b="0">
                <a:solidFill>
                  <a:srgbClr val="70D6C4"/>
                </a:solidFill>
                <a:latin typeface="Consolas"/>
                <a:ea typeface="Consolas"/>
                <a:cs typeface="Consolas"/>
              </a:defRPr>
            </a:pPr>
            <a:r>
              <a:rPr sz="1575" b="0">
                <a:solidFill>
                  <a:srgbClr val="70D6C4"/>
                </a:solidFill>
                <a:latin typeface="Consolas"/>
                <a:ea typeface="Consolas"/>
                <a:cs typeface="Consolas"/>
              </a:rPr>
              <a:t>SELECT c.customer_ref, o.order_ref, i.line_number,</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p.product_name, i.quantity, i.unit_price,</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(i.quantity * i.unit_price)::numeric(20,2) AS line_total</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FROM reporting.customer c</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JOIN reporting.sales_order o ON o.customer_id = c.customer_id</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JOIN reporting.order_item i ON i.order_id = o.order_id</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JOIN reporting.product p ON p.product_id = i.product_id</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WHERE c.customer_id = 1 AND o.status = 'completed'</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AND o.ordered_at &gt;= DATE '2026-01-01'</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AND o.ordered_at &lt; DATE '2027-01-01'</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ORDER BY o.ordered_at, o.order_id, i.line_number</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LIMIT 3;</a:t>
            </a:r>
          </a:p>
        </p:txBody>
      </p:sp>
      <p:graphicFrame>
        <p:nvGraphicFramePr>
          <p:cNvPr id="5" name="Table 4">
            <a:extLst>
              <a:ext uri="{FF2B5EF4-FFF2-40B4-BE49-F238E27FC236}">
                <a16:creationId xmlns:a16="http://schemas.microsoft.com/office/drawing/2014/main" id="{753D9E06-C257-4637-89E2-0314E8C12BF1}"/>
              </a:ext>
            </a:extLst>
          </p:cNvPr>
          <p:cNvGraphicFramePr/>
          <p:nvPr/>
        </p:nvGraphicFramePr>
        <p:xfrm>
          <a:off x="609600" y="4495800"/>
          <a:ext cx="10972800" cy="1476376"/>
        </p:xfrm>
        <a:graphic>
          <a:graphicData uri="http://schemas.openxmlformats.org/drawingml/2006/table">
            <a:tbl>
              <a:tblPr firstRow="1"/>
              <a:tblGrid>
                <a:gridCol w="1762125">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gridCol w="857250">
                  <a:extLst>
                    <a:ext uri="{9D8B030D-6E8A-4147-A177-3AD203B41FA5}">
                      <a16:colId xmlns:a16="http://schemas.microsoft.com/office/drawing/2014/main" val="20004"/>
                    </a:ext>
                  </a:extLst>
                </a:gridCol>
                <a:gridCol w="1714500">
                  <a:extLst>
                    <a:ext uri="{9D8B030D-6E8A-4147-A177-3AD203B41FA5}">
                      <a16:colId xmlns:a16="http://schemas.microsoft.com/office/drawing/2014/main" val="20005"/>
                    </a:ext>
                  </a:extLst>
                </a:gridCol>
                <a:gridCol w="2066925">
                  <a:extLst>
                    <a:ext uri="{9D8B030D-6E8A-4147-A177-3AD203B41FA5}">
                      <a16:colId xmlns:a16="http://schemas.microsoft.com/office/drawing/2014/main" val="20006"/>
                    </a:ext>
                  </a:extLst>
                </a:gridCol>
              </a:tblGrid>
              <a:tr h="369094">
                <a:tc>
                  <a:txBody>
                    <a:bodyPr/>
                    <a:lstStyle/>
                    <a:p>
                      <a:r>
                        <a:rPr sz="1575" b="1">
                          <a:solidFill>
                            <a:srgbClr val="70D6C4"/>
                          </a:solidFill>
                          <a:latin typeface="Arial"/>
                          <a:ea typeface="Arial"/>
                          <a:cs typeface="Arial"/>
                        </a:rPr>
                        <a:t>customer_ref</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order_ref</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Line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Product</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Qty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line_total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369094">
                <a:tc>
                  <a:txBody>
                    <a:bodyPr/>
                    <a:lstStyle/>
                    <a:p>
                      <a:r>
                        <a:rPr sz="1575" b="0">
                          <a:solidFill>
                            <a:srgbClr val="F1F4F6"/>
                          </a:solidFill>
                          <a:latin typeface="Arial"/>
                          <a:ea typeface="Arial"/>
                          <a:cs typeface="Arial"/>
                        </a:rPr>
                        <a:t>DEMO-000001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DEMO-000001-1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Product 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225.00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369094">
                <a:tc>
                  <a:txBody>
                    <a:bodyPr/>
                    <a:lstStyle/>
                    <a:p>
                      <a:r>
                        <a:rPr sz="1575" b="0">
                          <a:solidFill>
                            <a:srgbClr val="F1F4F6"/>
                          </a:solidFill>
                          <a:latin typeface="Arial"/>
                          <a:ea typeface="Arial"/>
                          <a:cs typeface="Arial"/>
                        </a:rPr>
                        <a:t>DEMO-000001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DEMO-000001-1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2</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Product 4</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4</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100.00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400.00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369094">
                <a:tc>
                  <a:txBody>
                    <a:bodyPr/>
                    <a:lstStyle/>
                    <a:p>
                      <a:r>
                        <a:rPr sz="1575" b="0">
                          <a:solidFill>
                            <a:srgbClr val="F1F4F6"/>
                          </a:solidFill>
                          <a:latin typeface="Arial"/>
                          <a:ea typeface="Arial"/>
                          <a:cs typeface="Arial"/>
                        </a:rPr>
                        <a:t>DEMO-000001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DEMO-000001-1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Product 5</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125.00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125.00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C0906F86-FE8A-40DC-9D6F-69827C3265AE}"/>
              </a:ext>
            </a:extLst>
          </p:cNvPr>
          <p:cNvSpPr>
            <a:spLocks noGrp="1"/>
          </p:cNvSpPr>
          <p:nvPr/>
        </p:nvSpPr>
        <p:spPr>
          <a:xfrm>
            <a:off x="609600" y="61436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Actual PostgreSQL output, 20 October 2026. Three rows shown by LIMIT 3.</a:t>
            </a:r>
          </a:p>
        </p:txBody>
      </p:sp>
    </p:spTree>
    <p:extLst>
      <p:ext uri="{BB962C8B-B14F-4D97-AF65-F5344CB8AC3E}">
        <p14:creationId xmlns:p14="http://schemas.microsoft.com/office/powerpoint/2010/main" val="51711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E1D18B0-0DDC-4A80-9A84-77AFB9F2CAF0}"/>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SQL: filtering, aggregation and HAVING</a:t>
            </a:r>
          </a:p>
        </p:txBody>
      </p:sp>
      <p:sp>
        <p:nvSpPr>
          <p:cNvPr id="2" name="Rectangle 1">
            <a:extLst>
              <a:ext uri="{FF2B5EF4-FFF2-40B4-BE49-F238E27FC236}">
                <a16:creationId xmlns:a16="http://schemas.microsoft.com/office/drawing/2014/main" id="{E201A813-3580-4A86-AEC6-4F391D88C1D1}"/>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27</a:t>
            </a:r>
          </a:p>
        </p:txBody>
      </p:sp>
      <p:sp>
        <p:nvSpPr>
          <p:cNvPr id="3" name="Rectangle 2">
            <a:extLst>
              <a:ext uri="{FF2B5EF4-FFF2-40B4-BE49-F238E27FC236}">
                <a16:creationId xmlns:a16="http://schemas.microsoft.com/office/drawing/2014/main" id="{D84BF0D5-7408-4032-8A45-55320A9CFBBC}"/>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80D8CEA7-8E29-4767-9813-8E437B83E5EB}"/>
              </a:ext>
            </a:extLst>
          </p:cNvPr>
          <p:cNvSpPr>
            <a:spLocks noGrp="1"/>
          </p:cNvSpPr>
          <p:nvPr/>
        </p:nvSpPr>
        <p:spPr>
          <a:xfrm>
            <a:off x="609600" y="1524000"/>
            <a:ext cx="10953750" cy="2286000"/>
          </a:xfrm>
          <a:prstGeom prst="rect">
            <a:avLst/>
          </a:prstGeom>
          <a:noFill/>
          <a:ln w="0">
            <a:noFill/>
          </a:ln>
        </p:spPr>
        <p:txBody>
          <a:bodyPr wrap="square" lIns="0" tIns="0" rIns="0" bIns="0" anchor="t">
            <a:noAutofit/>
          </a:bodyPr>
          <a:lstStyle>
            <a:defPPr>
              <a:defRPr sz="1950" b="0">
                <a:solidFill>
                  <a:srgbClr val="70D6C4"/>
                </a:solidFill>
                <a:latin typeface="Consolas"/>
                <a:ea typeface="Consolas"/>
                <a:cs typeface="Consolas"/>
              </a:defRPr>
            </a:defPPr>
            <a:lvl1pPr>
              <a:defRPr sz="1950" b="0">
                <a:solidFill>
                  <a:srgbClr val="70D6C4"/>
                </a:solidFill>
                <a:latin typeface="Consolas"/>
                <a:ea typeface="Consolas"/>
                <a:cs typeface="Consolas"/>
              </a:defRPr>
            </a:lvl1pPr>
            <a:lvl2pPr>
              <a:defRPr sz="1950" b="0">
                <a:solidFill>
                  <a:srgbClr val="70D6C4"/>
                </a:solidFill>
                <a:latin typeface="Consolas"/>
                <a:ea typeface="Consolas"/>
                <a:cs typeface="Consolas"/>
              </a:defRPr>
            </a:lvl2pPr>
            <a:lvl3pPr>
              <a:defRPr sz="1950" b="0">
                <a:solidFill>
                  <a:srgbClr val="70D6C4"/>
                </a:solidFill>
                <a:latin typeface="Consolas"/>
                <a:ea typeface="Consolas"/>
                <a:cs typeface="Consolas"/>
              </a:defRPr>
            </a:lvl3pPr>
            <a:lvl4pPr>
              <a:defRPr sz="1950" b="0">
                <a:solidFill>
                  <a:srgbClr val="70D6C4"/>
                </a:solidFill>
                <a:latin typeface="Consolas"/>
                <a:ea typeface="Consolas"/>
                <a:cs typeface="Consolas"/>
              </a:defRPr>
            </a:lvl4pPr>
            <a:lvl5pPr>
              <a:defRPr sz="1950" b="0">
                <a:solidFill>
                  <a:srgbClr val="70D6C4"/>
                </a:solidFill>
                <a:latin typeface="Consolas"/>
                <a:ea typeface="Consolas"/>
                <a:cs typeface="Consolas"/>
              </a:defRPr>
            </a:lvl5pPr>
            <a:lvl6pPr>
              <a:defRPr sz="1950" b="0">
                <a:solidFill>
                  <a:srgbClr val="70D6C4"/>
                </a:solidFill>
                <a:latin typeface="Consolas"/>
                <a:ea typeface="Consolas"/>
                <a:cs typeface="Consolas"/>
              </a:defRPr>
            </a:lvl6pPr>
            <a:lvl7pPr>
              <a:defRPr sz="1950" b="0">
                <a:solidFill>
                  <a:srgbClr val="70D6C4"/>
                </a:solidFill>
                <a:latin typeface="Consolas"/>
                <a:ea typeface="Consolas"/>
                <a:cs typeface="Consolas"/>
              </a:defRPr>
            </a:lvl7pPr>
            <a:lvl8pPr>
              <a:defRPr sz="1950" b="0">
                <a:solidFill>
                  <a:srgbClr val="70D6C4"/>
                </a:solidFill>
                <a:latin typeface="Consolas"/>
                <a:ea typeface="Consolas"/>
                <a:cs typeface="Consolas"/>
              </a:defRPr>
            </a:lvl8pPr>
            <a:lvl9pPr>
              <a:defRPr sz="1950" b="0">
                <a:solidFill>
                  <a:srgbClr val="70D6C4"/>
                </a:solidFill>
                <a:latin typeface="Consolas"/>
                <a:ea typeface="Consolas"/>
                <a:cs typeface="Consolas"/>
              </a:defRPr>
            </a:lvl9pPr>
          </a:lstStyle>
          <a:p>
            <a:pPr>
              <a:defRPr sz="1950" b="0">
                <a:solidFill>
                  <a:srgbClr val="70D6C4"/>
                </a:solidFill>
                <a:latin typeface="Consolas"/>
                <a:ea typeface="Consolas"/>
                <a:cs typeface="Consolas"/>
              </a:defRPr>
            </a:pPr>
            <a:r>
              <a:rPr sz="1950" b="0">
                <a:solidFill>
                  <a:srgbClr val="70D6C4"/>
                </a:solidFill>
                <a:latin typeface="Consolas"/>
                <a:ea typeface="Consolas"/>
                <a:cs typeface="Consolas"/>
              </a:rPr>
              <a:t>SELECT category, sum(line_total) AS sales</a:t>
            </a:r>
          </a:p>
          <a:p>
            <a:pPr>
              <a:defRPr sz="1950" b="0">
                <a:solidFill>
                  <a:srgbClr val="70D6C4"/>
                </a:solidFill>
                <a:latin typeface="Consolas"/>
                <a:ea typeface="Consolas"/>
                <a:cs typeface="Consolas"/>
              </a:defRPr>
            </a:pPr>
            <a:r>
              <a:rPr sz="1950" b="0">
                <a:solidFill>
                  <a:srgbClr val="70D6C4"/>
                </a:solidFill>
                <a:latin typeface="Consolas"/>
                <a:ea typeface="Consolas"/>
                <a:cs typeface="Consolas"/>
              </a:rPr>
              <a:t>FROM reporting.v_sales_lines</a:t>
            </a:r>
          </a:p>
          <a:p>
            <a:pPr>
              <a:defRPr sz="1950" b="0">
                <a:solidFill>
                  <a:srgbClr val="70D6C4"/>
                </a:solidFill>
                <a:latin typeface="Consolas"/>
                <a:ea typeface="Consolas"/>
                <a:cs typeface="Consolas"/>
              </a:defRPr>
            </a:pPr>
            <a:r>
              <a:rPr sz="1950" b="0">
                <a:solidFill>
                  <a:srgbClr val="70D6C4"/>
                </a:solidFill>
                <a:latin typeface="Consolas"/>
                <a:ea typeface="Consolas"/>
                <a:cs typeface="Consolas"/>
              </a:rPr>
              <a:t>WHERE ordered_at &gt;= DATE '2026-01-01'</a:t>
            </a:r>
          </a:p>
          <a:p>
            <a:pPr>
              <a:defRPr sz="1950" b="0">
                <a:solidFill>
                  <a:srgbClr val="70D6C4"/>
                </a:solidFill>
                <a:latin typeface="Consolas"/>
                <a:ea typeface="Consolas"/>
                <a:cs typeface="Consolas"/>
              </a:defRPr>
            </a:pPr>
            <a:r>
              <a:rPr sz="1950" b="0">
                <a:solidFill>
                  <a:srgbClr val="70D6C4"/>
                </a:solidFill>
                <a:latin typeface="Consolas"/>
                <a:ea typeface="Consolas"/>
                <a:cs typeface="Consolas"/>
              </a:rPr>
              <a:t>  AND ordered_at &lt; DATE '2027-01-01'</a:t>
            </a:r>
          </a:p>
          <a:p>
            <a:pPr>
              <a:defRPr sz="1950" b="0">
                <a:solidFill>
                  <a:srgbClr val="70D6C4"/>
                </a:solidFill>
                <a:latin typeface="Consolas"/>
                <a:ea typeface="Consolas"/>
                <a:cs typeface="Consolas"/>
              </a:defRPr>
            </a:pPr>
            <a:r>
              <a:rPr sz="1950" b="0">
                <a:solidFill>
                  <a:srgbClr val="70D6C4"/>
                </a:solidFill>
                <a:latin typeface="Consolas"/>
                <a:ea typeface="Consolas"/>
                <a:cs typeface="Consolas"/>
              </a:rPr>
              <a:t>GROUP BY category</a:t>
            </a:r>
          </a:p>
          <a:p>
            <a:pPr>
              <a:defRPr sz="1950" b="0">
                <a:solidFill>
                  <a:srgbClr val="70D6C4"/>
                </a:solidFill>
                <a:latin typeface="Consolas"/>
                <a:ea typeface="Consolas"/>
                <a:cs typeface="Consolas"/>
              </a:defRPr>
            </a:pPr>
            <a:r>
              <a:rPr sz="1950" b="0">
                <a:solidFill>
                  <a:srgbClr val="70D6C4"/>
                </a:solidFill>
                <a:latin typeface="Consolas"/>
                <a:ea typeface="Consolas"/>
                <a:cs typeface="Consolas"/>
              </a:rPr>
              <a:t>HAVING sum(line_total) &gt; 100000000</a:t>
            </a:r>
          </a:p>
          <a:p>
            <a:pPr>
              <a:defRPr sz="1950" b="0">
                <a:solidFill>
                  <a:srgbClr val="70D6C4"/>
                </a:solidFill>
                <a:latin typeface="Consolas"/>
                <a:ea typeface="Consolas"/>
                <a:cs typeface="Consolas"/>
              </a:defRPr>
            </a:pPr>
            <a:r>
              <a:rPr sz="1950" b="0">
                <a:solidFill>
                  <a:srgbClr val="70D6C4"/>
                </a:solidFill>
                <a:latin typeface="Consolas"/>
                <a:ea typeface="Consolas"/>
                <a:cs typeface="Consolas"/>
              </a:rPr>
              <a:t>ORDER BY sales DESC;</a:t>
            </a:r>
          </a:p>
        </p:txBody>
      </p:sp>
      <p:graphicFrame>
        <p:nvGraphicFramePr>
          <p:cNvPr id="5" name="Table 4">
            <a:extLst>
              <a:ext uri="{FF2B5EF4-FFF2-40B4-BE49-F238E27FC236}">
                <a16:creationId xmlns:a16="http://schemas.microsoft.com/office/drawing/2014/main" id="{42B41A46-4AE1-4FFB-A27F-528BB33D3E78}"/>
              </a:ext>
            </a:extLst>
          </p:cNvPr>
          <p:cNvGraphicFramePr/>
          <p:nvPr/>
        </p:nvGraphicFramePr>
        <p:xfrm>
          <a:off x="609600" y="4229100"/>
          <a:ext cx="10972800" cy="1028700"/>
        </p:xfrm>
        <a:graphic>
          <a:graphicData uri="http://schemas.openxmlformats.org/drawingml/2006/table">
            <a:tbl>
              <a:tblPr firstRow="1"/>
              <a:tblGrid>
                <a:gridCol w="5429250">
                  <a:extLst>
                    <a:ext uri="{9D8B030D-6E8A-4147-A177-3AD203B41FA5}">
                      <a16:colId xmlns:a16="http://schemas.microsoft.com/office/drawing/2014/main" val="20000"/>
                    </a:ext>
                  </a:extLst>
                </a:gridCol>
                <a:gridCol w="5543550">
                  <a:extLst>
                    <a:ext uri="{9D8B030D-6E8A-4147-A177-3AD203B41FA5}">
                      <a16:colId xmlns:a16="http://schemas.microsoft.com/office/drawing/2014/main" val="20001"/>
                    </a:ext>
                  </a:extLst>
                </a:gridCol>
              </a:tblGrid>
              <a:tr h="514350">
                <a:tc>
                  <a:txBody>
                    <a:bodyPr/>
                    <a:lstStyle/>
                    <a:p>
                      <a:r>
                        <a:rPr sz="2175" b="1">
                          <a:solidFill>
                            <a:srgbClr val="70D6C4"/>
                          </a:solidFill>
                          <a:latin typeface="Arial"/>
                          <a:ea typeface="Arial"/>
                          <a:cs typeface="Arial"/>
                        </a:rPr>
                        <a:t>category</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2175" b="1">
                          <a:solidFill>
                            <a:srgbClr val="70D6C4"/>
                          </a:solidFill>
                          <a:latin typeface="Arial"/>
                          <a:ea typeface="Arial"/>
                          <a:cs typeface="Arial"/>
                        </a:rPr>
                        <a:t>sales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14350">
                <a:tc>
                  <a:txBody>
                    <a:bodyPr/>
                    <a:lstStyle/>
                    <a:p>
                      <a:r>
                        <a:rPr sz="2175" b="0">
                          <a:solidFill>
                            <a:srgbClr val="F1F4F6"/>
                          </a:solidFill>
                          <a:latin typeface="Arial"/>
                          <a:ea typeface="Arial"/>
                          <a:cs typeface="Arial"/>
                        </a:rPr>
                        <a:t>Office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2175" b="0">
                          <a:solidFill>
                            <a:srgbClr val="F1F4F6"/>
                          </a:solidFill>
                          <a:latin typeface="Arial"/>
                          <a:ea typeface="Arial"/>
                          <a:cs typeface="Arial"/>
                        </a:rPr>
                        <a:t>104988900.00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
        <p:nvSpPr>
          <p:cNvPr id="6" name="Rectangle 5">
            <a:extLst>
              <a:ext uri="{FF2B5EF4-FFF2-40B4-BE49-F238E27FC236}">
                <a16:creationId xmlns:a16="http://schemas.microsoft.com/office/drawing/2014/main" id="{D562D29D-3B90-4DC7-9F93-CB11E13AD98F}"/>
              </a:ext>
            </a:extLst>
          </p:cNvPr>
          <p:cNvSpPr>
            <a:spLocks noGrp="1"/>
          </p:cNvSpPr>
          <p:nvPr/>
        </p:nvSpPr>
        <p:spPr>
          <a:xfrm>
            <a:off x="609600" y="5572125"/>
            <a:ext cx="10858500" cy="381000"/>
          </a:xfrm>
          <a:prstGeom prst="rect">
            <a:avLst/>
          </a:prstGeom>
          <a:noFill/>
          <a:ln w="0">
            <a:noFill/>
          </a:ln>
        </p:spPr>
        <p:txBody>
          <a:bodyPr wrap="square" lIns="0" tIns="0" rIns="0" bIns="0" anchor="t">
            <a:noAutofit/>
          </a:bodyPr>
          <a:lstStyle>
            <a:defPPr>
              <a:defRPr sz="2025" b="0">
                <a:solidFill>
                  <a:srgbClr val="70D6C4"/>
                </a:solidFill>
                <a:latin typeface="Arial"/>
                <a:ea typeface="Arial"/>
                <a:cs typeface="Arial"/>
              </a:defRPr>
            </a:defPPr>
            <a:lvl1pPr>
              <a:defRPr sz="2025" b="0">
                <a:solidFill>
                  <a:srgbClr val="70D6C4"/>
                </a:solidFill>
                <a:latin typeface="Arial"/>
                <a:ea typeface="Arial"/>
                <a:cs typeface="Arial"/>
              </a:defRPr>
            </a:lvl1pPr>
            <a:lvl2pPr>
              <a:defRPr sz="2025" b="0">
                <a:solidFill>
                  <a:srgbClr val="70D6C4"/>
                </a:solidFill>
                <a:latin typeface="Arial"/>
                <a:ea typeface="Arial"/>
                <a:cs typeface="Arial"/>
              </a:defRPr>
            </a:lvl2pPr>
            <a:lvl3pPr>
              <a:defRPr sz="2025" b="0">
                <a:solidFill>
                  <a:srgbClr val="70D6C4"/>
                </a:solidFill>
                <a:latin typeface="Arial"/>
                <a:ea typeface="Arial"/>
                <a:cs typeface="Arial"/>
              </a:defRPr>
            </a:lvl3pPr>
            <a:lvl4pPr>
              <a:defRPr sz="2025" b="0">
                <a:solidFill>
                  <a:srgbClr val="70D6C4"/>
                </a:solidFill>
                <a:latin typeface="Arial"/>
                <a:ea typeface="Arial"/>
                <a:cs typeface="Arial"/>
              </a:defRPr>
            </a:lvl4pPr>
            <a:lvl5pPr>
              <a:defRPr sz="2025" b="0">
                <a:solidFill>
                  <a:srgbClr val="70D6C4"/>
                </a:solidFill>
                <a:latin typeface="Arial"/>
                <a:ea typeface="Arial"/>
                <a:cs typeface="Arial"/>
              </a:defRPr>
            </a:lvl5pPr>
            <a:lvl6pPr>
              <a:defRPr sz="2025" b="0">
                <a:solidFill>
                  <a:srgbClr val="70D6C4"/>
                </a:solidFill>
                <a:latin typeface="Arial"/>
                <a:ea typeface="Arial"/>
                <a:cs typeface="Arial"/>
              </a:defRPr>
            </a:lvl6pPr>
            <a:lvl7pPr>
              <a:defRPr sz="2025" b="0">
                <a:solidFill>
                  <a:srgbClr val="70D6C4"/>
                </a:solidFill>
                <a:latin typeface="Arial"/>
                <a:ea typeface="Arial"/>
                <a:cs typeface="Arial"/>
              </a:defRPr>
            </a:lvl7pPr>
            <a:lvl8pPr>
              <a:defRPr sz="2025" b="0">
                <a:solidFill>
                  <a:srgbClr val="70D6C4"/>
                </a:solidFill>
                <a:latin typeface="Arial"/>
                <a:ea typeface="Arial"/>
                <a:cs typeface="Arial"/>
              </a:defRPr>
            </a:lvl8pPr>
            <a:lvl9pPr>
              <a:defRPr sz="2025" b="0">
                <a:solidFill>
                  <a:srgbClr val="70D6C4"/>
                </a:solidFill>
                <a:latin typeface="Arial"/>
                <a:ea typeface="Arial"/>
                <a:cs typeface="Arial"/>
              </a:defRPr>
            </a:lvl9pPr>
          </a:lstStyle>
          <a:p>
            <a:pPr>
              <a:defRPr sz="2025" b="0">
                <a:solidFill>
                  <a:srgbClr val="70D6C4"/>
                </a:solidFill>
                <a:latin typeface="Arial"/>
                <a:ea typeface="Arial"/>
                <a:cs typeface="Arial"/>
              </a:defRPr>
            </a:pPr>
            <a:r>
              <a:rPr sz="2025" b="0">
                <a:solidFill>
                  <a:srgbClr val="70D6C4"/>
                </a:solidFill>
                <a:latin typeface="Arial"/>
                <a:ea typeface="Arial"/>
                <a:cs typeface="Arial"/>
              </a:rPr>
              <a:t>WHERE filters rows. HAVING filters the calculated group totals.</a:t>
            </a:r>
          </a:p>
        </p:txBody>
      </p:sp>
      <p:sp>
        <p:nvSpPr>
          <p:cNvPr id="7" name="Rectangle 6">
            <a:extLst>
              <a:ext uri="{FF2B5EF4-FFF2-40B4-BE49-F238E27FC236}">
                <a16:creationId xmlns:a16="http://schemas.microsoft.com/office/drawing/2014/main" id="{DFEB016B-B8B7-4CD4-923C-BC957BA9BB54}"/>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Actual PostgreSQL output, 20 October 2026. All returned rows are shown.</a:t>
            </a:r>
          </a:p>
        </p:txBody>
      </p:sp>
    </p:spTree>
    <p:extLst>
      <p:ext uri="{BB962C8B-B14F-4D97-AF65-F5344CB8AC3E}">
        <p14:creationId xmlns:p14="http://schemas.microsoft.com/office/powerpoint/2010/main" val="3104588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469F947-4A24-4CDE-A94A-54FB6FC418DA}"/>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SQL: a total without losing item detail</a:t>
            </a:r>
          </a:p>
        </p:txBody>
      </p:sp>
      <p:sp>
        <p:nvSpPr>
          <p:cNvPr id="2" name="Rectangle 1">
            <a:extLst>
              <a:ext uri="{FF2B5EF4-FFF2-40B4-BE49-F238E27FC236}">
                <a16:creationId xmlns:a16="http://schemas.microsoft.com/office/drawing/2014/main" id="{C6FC2437-ACC3-43EE-AEBD-D26115D8B15D}"/>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28</a:t>
            </a:r>
          </a:p>
        </p:txBody>
      </p:sp>
      <p:sp>
        <p:nvSpPr>
          <p:cNvPr id="3" name="Rectangle 2">
            <a:extLst>
              <a:ext uri="{FF2B5EF4-FFF2-40B4-BE49-F238E27FC236}">
                <a16:creationId xmlns:a16="http://schemas.microsoft.com/office/drawing/2014/main" id="{44CBBB16-7A7D-4EC2-A481-23903A31C7EA}"/>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76C489E9-C00A-41D6-82CF-83658887FBF0}"/>
              </a:ext>
            </a:extLst>
          </p:cNvPr>
          <p:cNvSpPr>
            <a:spLocks noGrp="1"/>
          </p:cNvSpPr>
          <p:nvPr/>
        </p:nvSpPr>
        <p:spPr>
          <a:xfrm>
            <a:off x="609600" y="1428750"/>
            <a:ext cx="10953750" cy="2381250"/>
          </a:xfrm>
          <a:prstGeom prst="rect">
            <a:avLst/>
          </a:prstGeom>
          <a:noFill/>
          <a:ln w="0">
            <a:noFill/>
          </a:ln>
        </p:spPr>
        <p:txBody>
          <a:bodyPr wrap="square" lIns="0" tIns="0" rIns="0" bIns="0" anchor="t">
            <a:noAutofit/>
          </a:bodyPr>
          <a:lstStyle>
            <a:defPPr>
              <a:defRPr sz="1800" b="0">
                <a:solidFill>
                  <a:srgbClr val="70D6C4"/>
                </a:solidFill>
                <a:latin typeface="Consolas"/>
                <a:ea typeface="Consolas"/>
                <a:cs typeface="Consolas"/>
              </a:defRPr>
            </a:defPPr>
            <a:lvl1pPr>
              <a:defRPr sz="1800" b="0">
                <a:solidFill>
                  <a:srgbClr val="70D6C4"/>
                </a:solidFill>
                <a:latin typeface="Consolas"/>
                <a:ea typeface="Consolas"/>
                <a:cs typeface="Consolas"/>
              </a:defRPr>
            </a:lvl1pPr>
            <a:lvl2pPr>
              <a:defRPr sz="1800" b="0">
                <a:solidFill>
                  <a:srgbClr val="70D6C4"/>
                </a:solidFill>
                <a:latin typeface="Consolas"/>
                <a:ea typeface="Consolas"/>
                <a:cs typeface="Consolas"/>
              </a:defRPr>
            </a:lvl2pPr>
            <a:lvl3pPr>
              <a:defRPr sz="1800" b="0">
                <a:solidFill>
                  <a:srgbClr val="70D6C4"/>
                </a:solidFill>
                <a:latin typeface="Consolas"/>
                <a:ea typeface="Consolas"/>
                <a:cs typeface="Consolas"/>
              </a:defRPr>
            </a:lvl3pPr>
            <a:lvl4pPr>
              <a:defRPr sz="1800" b="0">
                <a:solidFill>
                  <a:srgbClr val="70D6C4"/>
                </a:solidFill>
                <a:latin typeface="Consolas"/>
                <a:ea typeface="Consolas"/>
                <a:cs typeface="Consolas"/>
              </a:defRPr>
            </a:lvl4pPr>
            <a:lvl5pPr>
              <a:defRPr sz="1800" b="0">
                <a:solidFill>
                  <a:srgbClr val="70D6C4"/>
                </a:solidFill>
                <a:latin typeface="Consolas"/>
                <a:ea typeface="Consolas"/>
                <a:cs typeface="Consolas"/>
              </a:defRPr>
            </a:lvl5pPr>
            <a:lvl6pPr>
              <a:defRPr sz="1800" b="0">
                <a:solidFill>
                  <a:srgbClr val="70D6C4"/>
                </a:solidFill>
                <a:latin typeface="Consolas"/>
                <a:ea typeface="Consolas"/>
                <a:cs typeface="Consolas"/>
              </a:defRPr>
            </a:lvl6pPr>
            <a:lvl7pPr>
              <a:defRPr sz="1800" b="0">
                <a:solidFill>
                  <a:srgbClr val="70D6C4"/>
                </a:solidFill>
                <a:latin typeface="Consolas"/>
                <a:ea typeface="Consolas"/>
                <a:cs typeface="Consolas"/>
              </a:defRPr>
            </a:lvl7pPr>
            <a:lvl8pPr>
              <a:defRPr sz="1800" b="0">
                <a:solidFill>
                  <a:srgbClr val="70D6C4"/>
                </a:solidFill>
                <a:latin typeface="Consolas"/>
                <a:ea typeface="Consolas"/>
                <a:cs typeface="Consolas"/>
              </a:defRPr>
            </a:lvl8pPr>
            <a:lvl9pPr>
              <a:defRPr sz="1800" b="0">
                <a:solidFill>
                  <a:srgbClr val="70D6C4"/>
                </a:solidFill>
                <a:latin typeface="Consolas"/>
                <a:ea typeface="Consolas"/>
                <a:cs typeface="Consolas"/>
              </a:defRPr>
            </a:lvl9pPr>
          </a:lstStyle>
          <a:p>
            <a:pPr>
              <a:defRPr sz="1800" b="0">
                <a:solidFill>
                  <a:srgbClr val="70D6C4"/>
                </a:solidFill>
                <a:latin typeface="Consolas"/>
                <a:ea typeface="Consolas"/>
                <a:cs typeface="Consolas"/>
              </a:defRPr>
            </a:pPr>
            <a:r>
              <a:rPr sz="1800" b="0">
                <a:solidFill>
                  <a:srgbClr val="70D6C4"/>
                </a:solidFill>
                <a:latin typeface="Consolas"/>
                <a:ea typeface="Consolas"/>
                <a:cs typeface="Consolas"/>
              </a:rPr>
              <a:t>SELECT customer_ref, order_ref, product_name,</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quantity, unit_price, line_total,</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sum(line_total) OVER () AS statement_total</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FROM reporting.v_sales_lines</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WHERE customer_id = 1</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AND ordered_at &gt;= DATE '2026-01-01'</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AND ordered_at &lt; DATE '2027-01-01'</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ORDER BY ordered_at, order_id, line_number</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LIMIT 3;</a:t>
            </a:r>
          </a:p>
        </p:txBody>
      </p:sp>
      <p:graphicFrame>
        <p:nvGraphicFramePr>
          <p:cNvPr id="5" name="Table 4">
            <a:extLst>
              <a:ext uri="{FF2B5EF4-FFF2-40B4-BE49-F238E27FC236}">
                <a16:creationId xmlns:a16="http://schemas.microsoft.com/office/drawing/2014/main" id="{8BBF3051-C44E-41CA-8C83-BC3081AE5071}"/>
              </a:ext>
            </a:extLst>
          </p:cNvPr>
          <p:cNvGraphicFramePr/>
          <p:nvPr/>
        </p:nvGraphicFramePr>
        <p:xfrm>
          <a:off x="609600" y="4143375"/>
          <a:ext cx="10972800" cy="1619252"/>
        </p:xfrm>
        <a:graphic>
          <a:graphicData uri="http://schemas.openxmlformats.org/drawingml/2006/table">
            <a:tbl>
              <a:tblPr firstRow="1"/>
              <a:tblGrid>
                <a:gridCol w="1762125">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714375">
                  <a:extLst>
                    <a:ext uri="{9D8B030D-6E8A-4147-A177-3AD203B41FA5}">
                      <a16:colId xmlns:a16="http://schemas.microsoft.com/office/drawing/2014/main" val="20003"/>
                    </a:ext>
                  </a:extLst>
                </a:gridCol>
                <a:gridCol w="1190625">
                  <a:extLst>
                    <a:ext uri="{9D8B030D-6E8A-4147-A177-3AD203B41FA5}">
                      <a16:colId xmlns:a16="http://schemas.microsoft.com/office/drawing/2014/main" val="20004"/>
                    </a:ext>
                  </a:extLst>
                </a:gridCol>
                <a:gridCol w="1524000">
                  <a:extLst>
                    <a:ext uri="{9D8B030D-6E8A-4147-A177-3AD203B41FA5}">
                      <a16:colId xmlns:a16="http://schemas.microsoft.com/office/drawing/2014/main" val="20005"/>
                    </a:ext>
                  </a:extLst>
                </a:gridCol>
                <a:gridCol w="2019300">
                  <a:extLst>
                    <a:ext uri="{9D8B030D-6E8A-4147-A177-3AD203B41FA5}">
                      <a16:colId xmlns:a16="http://schemas.microsoft.com/office/drawing/2014/main" val="20006"/>
                    </a:ext>
                  </a:extLst>
                </a:gridCol>
              </a:tblGrid>
              <a:tr h="404813">
                <a:tc>
                  <a:txBody>
                    <a:bodyPr/>
                    <a:lstStyle/>
                    <a:p>
                      <a:r>
                        <a:rPr sz="1575" b="1">
                          <a:solidFill>
                            <a:srgbClr val="70D6C4"/>
                          </a:solidFill>
                          <a:latin typeface="Arial"/>
                          <a:ea typeface="Arial"/>
                          <a:cs typeface="Arial"/>
                        </a:rPr>
                        <a:t>customer_ref</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order_ref</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Product</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Qty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line_total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statement_total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404813">
                <a:tc>
                  <a:txBody>
                    <a:bodyPr/>
                    <a:lstStyle/>
                    <a:p>
                      <a:r>
                        <a:rPr sz="1575" b="0">
                          <a:solidFill>
                            <a:srgbClr val="F1F4F6"/>
                          </a:solidFill>
                          <a:latin typeface="Arial"/>
                          <a:ea typeface="Arial"/>
                          <a:cs typeface="Arial"/>
                        </a:rPr>
                        <a:t>DEMO-000001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DEMO-000001-1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Product 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225.00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25550.00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404813">
                <a:tc>
                  <a:txBody>
                    <a:bodyPr/>
                    <a:lstStyle/>
                    <a:p>
                      <a:r>
                        <a:rPr sz="1575" b="0">
                          <a:solidFill>
                            <a:srgbClr val="F1F4F6"/>
                          </a:solidFill>
                          <a:latin typeface="Arial"/>
                          <a:ea typeface="Arial"/>
                          <a:cs typeface="Arial"/>
                        </a:rPr>
                        <a:t>DEMO-000001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DEMO-000001-1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Product 4</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4</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100.00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400.00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25550.00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404813">
                <a:tc>
                  <a:txBody>
                    <a:bodyPr/>
                    <a:lstStyle/>
                    <a:p>
                      <a:r>
                        <a:rPr sz="1575" b="0">
                          <a:solidFill>
                            <a:srgbClr val="F1F4F6"/>
                          </a:solidFill>
                          <a:latin typeface="Arial"/>
                          <a:ea typeface="Arial"/>
                          <a:cs typeface="Arial"/>
                        </a:rPr>
                        <a:t>DEMO-000001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DEMO-000001-1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Product 5</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125.00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125.00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25550.00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A67D7FC3-D1D0-43F6-8747-222651FFADDC}"/>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Actual output, 20 October 2026. The window total covers all matching rows before LIMIT 3.</a:t>
            </a:r>
          </a:p>
        </p:txBody>
      </p:sp>
    </p:spTree>
    <p:extLst>
      <p:ext uri="{BB962C8B-B14F-4D97-AF65-F5344CB8AC3E}">
        <p14:creationId xmlns:p14="http://schemas.microsoft.com/office/powerpoint/2010/main" val="1375057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8C1FC39-3990-4DF5-8189-26A32B063752}"/>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Advanced database concepts in Conduit</a:t>
            </a:r>
          </a:p>
        </p:txBody>
      </p:sp>
      <p:sp>
        <p:nvSpPr>
          <p:cNvPr id="2" name="Rectangle 1">
            <a:extLst>
              <a:ext uri="{FF2B5EF4-FFF2-40B4-BE49-F238E27FC236}">
                <a16:creationId xmlns:a16="http://schemas.microsoft.com/office/drawing/2014/main" id="{8B3A9994-4DA6-4911-B284-AD7510F9E0EC}"/>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29</a:t>
            </a:r>
          </a:p>
        </p:txBody>
      </p:sp>
      <p:sp>
        <p:nvSpPr>
          <p:cNvPr id="3" name="Rectangle 2">
            <a:extLst>
              <a:ext uri="{FF2B5EF4-FFF2-40B4-BE49-F238E27FC236}">
                <a16:creationId xmlns:a16="http://schemas.microsoft.com/office/drawing/2014/main" id="{90EBC9BE-AE8A-47AB-8B5D-ACA4504E7F91}"/>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435F06A6-CAE8-4C97-8268-CC3775F5F0DB}"/>
              </a:ext>
            </a:extLst>
          </p:cNvPr>
          <p:cNvGraphicFramePr/>
          <p:nvPr/>
        </p:nvGraphicFramePr>
        <p:xfrm>
          <a:off x="609600" y="1485900"/>
          <a:ext cx="10972800" cy="4137660"/>
        </p:xfrm>
        <a:graphic>
          <a:graphicData uri="http://schemas.openxmlformats.org/drawingml/2006/table">
            <a:tbl>
              <a:tblPr firstRow="1"/>
              <a:tblGrid>
                <a:gridCol w="3143250">
                  <a:extLst>
                    <a:ext uri="{9D8B030D-6E8A-4147-A177-3AD203B41FA5}">
                      <a16:colId xmlns:a16="http://schemas.microsoft.com/office/drawing/2014/main" val="20000"/>
                    </a:ext>
                  </a:extLst>
                </a:gridCol>
                <a:gridCol w="7829550">
                  <a:extLst>
                    <a:ext uri="{9D8B030D-6E8A-4147-A177-3AD203B41FA5}">
                      <a16:colId xmlns:a16="http://schemas.microsoft.com/office/drawing/2014/main" val="20001"/>
                    </a:ext>
                  </a:extLst>
                </a:gridCol>
              </a:tblGrid>
              <a:tr h="571500">
                <a:tc>
                  <a:txBody>
                    <a:bodyPr/>
                    <a:lstStyle/>
                    <a:p>
                      <a:r>
                        <a:rPr sz="1800" b="1">
                          <a:solidFill>
                            <a:srgbClr val="70D6C4"/>
                          </a:solidFill>
                          <a:latin typeface="Arial"/>
                          <a:ea typeface="Arial"/>
                          <a:cs typeface="Arial"/>
                        </a:rPr>
                        <a:t>Concept</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Implemented objects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71500">
                <a:tc>
                  <a:txBody>
                    <a:bodyPr/>
                    <a:lstStyle/>
                    <a:p>
                      <a:r>
                        <a:rPr sz="1800" b="0">
                          <a:solidFill>
                            <a:srgbClr val="F1F4F6"/>
                          </a:solidFill>
                          <a:latin typeface="Arial"/>
                          <a:ea typeface="Arial"/>
                          <a:cs typeface="Arial"/>
                        </a:rPr>
                        <a:t>Procedure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submit_run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71500">
                <a:tc>
                  <a:txBody>
                    <a:bodyPr/>
                    <a:lstStyle/>
                    <a:p>
                      <a:r>
                        <a:rPr sz="1800" b="0">
                          <a:solidFill>
                            <a:srgbClr val="F1F4F6"/>
                          </a:solidFill>
                          <a:latin typeface="Arial"/>
                          <a:ea typeface="Arial"/>
                          <a:cs typeface="Arial"/>
                        </a:rPr>
                        <a:t>Callable functions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post_stock, calculate, prepare_run, replay_request,</a:t>
                      </a:r>
                    </a:p>
                    <a:p>
                      <a:r>
                        <a:rPr sz="1800" b="0">
                          <a:solidFill>
                            <a:srgbClr val="F1F4F6"/>
                          </a:solidFill>
                          <a:latin typeface="Arial"/>
                          <a:ea typeface="Arial"/>
                          <a:cs typeface="Arial"/>
                        </a:rPr>
                        <a:t>enqueue_ready_requests, reconcile_failed_requests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71500">
                <a:tc>
                  <a:txBody>
                    <a:bodyPr/>
                    <a:lstStyle/>
                    <a:p>
                      <a:r>
                        <a:rPr sz="1800" b="0">
                          <a:solidFill>
                            <a:srgbClr val="F1F4F6"/>
                          </a:solidFill>
                          <a:latin typeface="Arial"/>
                          <a:ea typeface="Arial"/>
                          <a:cs typeface="Arial"/>
                        </a:rPr>
                        <a:t>Trigger functions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audit_state, prevent_history_change, protect_stock_history</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71500">
                <a:tc>
                  <a:txBody>
                    <a:bodyPr/>
                    <a:lstStyle/>
                    <a:p>
                      <a:r>
                        <a:rPr sz="1800" b="0">
                          <a:solidFill>
                            <a:srgbClr val="F1F4F6"/>
                          </a:solidFill>
                          <a:latin typeface="Arial"/>
                          <a:ea typeface="Arial"/>
                          <a:cs typeface="Arial"/>
                        </a:rPr>
                        <a:t>Views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v_sales_lines, v_inventory, v_run_progress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71500">
                <a:tc>
                  <a:txBody>
                    <a:bodyPr/>
                    <a:lstStyle/>
                    <a:p>
                      <a:r>
                        <a:rPr sz="1800" b="0">
                          <a:solidFill>
                            <a:srgbClr val="F1F4F6"/>
                          </a:solidFill>
                          <a:latin typeface="Arial"/>
                          <a:ea typeface="Arial"/>
                          <a:cs typeface="Arial"/>
                        </a:rPr>
                        <a:t>Materialized view and indexes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mv_monthly_sales; customer/date and other lookup indexes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r h="571500">
                <a:tc>
                  <a:txBody>
                    <a:bodyPr/>
                    <a:lstStyle/>
                    <a:p>
                      <a:r>
                        <a:rPr sz="1800" b="0">
                          <a:solidFill>
                            <a:srgbClr val="F1F4F6"/>
                          </a:solidFill>
                          <a:latin typeface="Arial"/>
                          <a:ea typeface="Arial"/>
                          <a:cs typeface="Arial"/>
                        </a:rPr>
                        <a:t>Transaction control</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BEGIN, COMMIT, ROLLBACK; row locks; REPEATABLE READ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6"/>
                  </a:ext>
                </a:extLst>
              </a:tr>
            </a:tbl>
          </a:graphicData>
        </a:graphic>
      </p:graphicFrame>
      <p:sp>
        <p:nvSpPr>
          <p:cNvPr id="5" name="Rectangle 4">
            <a:extLst>
              <a:ext uri="{FF2B5EF4-FFF2-40B4-BE49-F238E27FC236}">
                <a16:creationId xmlns:a16="http://schemas.microsoft.com/office/drawing/2014/main" id="{9A8DCF65-5DF6-44F3-AE6F-99BA767223DA}"/>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Main slides show core operations. Supporting routine code is in the viva appendix and speaker notes.</a:t>
            </a:r>
          </a:p>
        </p:txBody>
      </p:sp>
    </p:spTree>
    <p:extLst>
      <p:ext uri="{BB962C8B-B14F-4D97-AF65-F5344CB8AC3E}">
        <p14:creationId xmlns:p14="http://schemas.microsoft.com/office/powerpoint/2010/main" val="861813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284A4F1-C8E7-498B-BDEC-A30C20852F9B}"/>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Procedure: submit a report run</a:t>
            </a:r>
          </a:p>
        </p:txBody>
      </p:sp>
      <p:sp>
        <p:nvSpPr>
          <p:cNvPr id="2" name="Rectangle 1">
            <a:extLst>
              <a:ext uri="{FF2B5EF4-FFF2-40B4-BE49-F238E27FC236}">
                <a16:creationId xmlns:a16="http://schemas.microsoft.com/office/drawing/2014/main" id="{6292E38D-DAC6-46C0-8C74-F15F01261D5A}"/>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30</a:t>
            </a:r>
          </a:p>
        </p:txBody>
      </p:sp>
      <p:sp>
        <p:nvSpPr>
          <p:cNvPr id="3" name="Rectangle 2">
            <a:extLst>
              <a:ext uri="{FF2B5EF4-FFF2-40B4-BE49-F238E27FC236}">
                <a16:creationId xmlns:a16="http://schemas.microsoft.com/office/drawing/2014/main" id="{AE961D2D-8583-41D5-AAFF-0A68B368A36D}"/>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7BA47067-6D0D-47DE-8FF8-6A125572A32F}"/>
              </a:ext>
            </a:extLst>
          </p:cNvPr>
          <p:cNvSpPr>
            <a:spLocks noGrp="1"/>
          </p:cNvSpPr>
          <p:nvPr/>
        </p:nvSpPr>
        <p:spPr>
          <a:xfrm>
            <a:off x="609600" y="1476375"/>
            <a:ext cx="10953750" cy="1809750"/>
          </a:xfrm>
          <a:prstGeom prst="rect">
            <a:avLst/>
          </a:prstGeom>
          <a:noFill/>
          <a:ln w="0">
            <a:noFill/>
          </a:ln>
        </p:spPr>
        <p:txBody>
          <a:bodyPr wrap="square" lIns="0" tIns="0" rIns="0" bIns="0" anchor="t">
            <a:noAutofit/>
          </a:bodyPr>
          <a:lstStyle>
            <a:defPPr>
              <a:defRPr sz="1725" b="0">
                <a:solidFill>
                  <a:srgbClr val="70D6C4"/>
                </a:solidFill>
                <a:latin typeface="Consolas"/>
                <a:ea typeface="Consolas"/>
                <a:cs typeface="Consolas"/>
              </a:defRPr>
            </a:defPPr>
            <a:lvl1pPr>
              <a:defRPr sz="1725" b="0">
                <a:solidFill>
                  <a:srgbClr val="70D6C4"/>
                </a:solidFill>
                <a:latin typeface="Consolas"/>
                <a:ea typeface="Consolas"/>
                <a:cs typeface="Consolas"/>
              </a:defRPr>
            </a:lvl1pPr>
            <a:lvl2pPr>
              <a:defRPr sz="1725" b="0">
                <a:solidFill>
                  <a:srgbClr val="70D6C4"/>
                </a:solidFill>
                <a:latin typeface="Consolas"/>
                <a:ea typeface="Consolas"/>
                <a:cs typeface="Consolas"/>
              </a:defRPr>
            </a:lvl2pPr>
            <a:lvl3pPr>
              <a:defRPr sz="1725" b="0">
                <a:solidFill>
                  <a:srgbClr val="70D6C4"/>
                </a:solidFill>
                <a:latin typeface="Consolas"/>
                <a:ea typeface="Consolas"/>
                <a:cs typeface="Consolas"/>
              </a:defRPr>
            </a:lvl3pPr>
            <a:lvl4pPr>
              <a:defRPr sz="1725" b="0">
                <a:solidFill>
                  <a:srgbClr val="70D6C4"/>
                </a:solidFill>
                <a:latin typeface="Consolas"/>
                <a:ea typeface="Consolas"/>
                <a:cs typeface="Consolas"/>
              </a:defRPr>
            </a:lvl4pPr>
            <a:lvl5pPr>
              <a:defRPr sz="1725" b="0">
                <a:solidFill>
                  <a:srgbClr val="70D6C4"/>
                </a:solidFill>
                <a:latin typeface="Consolas"/>
                <a:ea typeface="Consolas"/>
                <a:cs typeface="Consolas"/>
              </a:defRPr>
            </a:lvl5pPr>
            <a:lvl6pPr>
              <a:defRPr sz="1725" b="0">
                <a:solidFill>
                  <a:srgbClr val="70D6C4"/>
                </a:solidFill>
                <a:latin typeface="Consolas"/>
                <a:ea typeface="Consolas"/>
                <a:cs typeface="Consolas"/>
              </a:defRPr>
            </a:lvl6pPr>
            <a:lvl7pPr>
              <a:defRPr sz="1725" b="0">
                <a:solidFill>
                  <a:srgbClr val="70D6C4"/>
                </a:solidFill>
                <a:latin typeface="Consolas"/>
                <a:ea typeface="Consolas"/>
                <a:cs typeface="Consolas"/>
              </a:defRPr>
            </a:lvl7pPr>
            <a:lvl8pPr>
              <a:defRPr sz="1725" b="0">
                <a:solidFill>
                  <a:srgbClr val="70D6C4"/>
                </a:solidFill>
                <a:latin typeface="Consolas"/>
                <a:ea typeface="Consolas"/>
                <a:cs typeface="Consolas"/>
              </a:defRPr>
            </a:lvl8pPr>
            <a:lvl9pPr>
              <a:defRPr sz="1725" b="0">
                <a:solidFill>
                  <a:srgbClr val="70D6C4"/>
                </a:solidFill>
                <a:latin typeface="Consolas"/>
                <a:ea typeface="Consolas"/>
                <a:cs typeface="Consolas"/>
              </a:defRPr>
            </a:lvl9pPr>
          </a:lstStyle>
          <a:p>
            <a:pPr>
              <a:defRPr sz="1725" b="0">
                <a:solidFill>
                  <a:srgbClr val="70D6C4"/>
                </a:solidFill>
                <a:latin typeface="Consolas"/>
                <a:ea typeface="Consolas"/>
                <a:cs typeface="Consolas"/>
              </a:defRPr>
            </a:pPr>
            <a:r>
              <a:rPr sz="1725" b="0">
                <a:solidFill>
                  <a:srgbClr val="70D6C4"/>
                </a:solidFill>
                <a:latin typeface="Consolas"/>
                <a:ea typeface="Consolas"/>
                <a:cs typeface="Consolas"/>
              </a:rPr>
              <a:t>CALL reporting.submit_run(</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'917022d7-a342-40a3-a7ce-10be7e9623a9'::uuid, 'customer_statement', 1,</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DATE '2026-01-01', DATE '2027-01-01',</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10, false, 1, NULL);</a:t>
            </a:r>
          </a:p>
        </p:txBody>
      </p:sp>
      <p:graphicFrame>
        <p:nvGraphicFramePr>
          <p:cNvPr id="5" name="Table 4">
            <a:extLst>
              <a:ext uri="{FF2B5EF4-FFF2-40B4-BE49-F238E27FC236}">
                <a16:creationId xmlns:a16="http://schemas.microsoft.com/office/drawing/2014/main" id="{8AACACC2-7A35-4057-87C0-4E85339B12CD}"/>
              </a:ext>
            </a:extLst>
          </p:cNvPr>
          <p:cNvGraphicFramePr/>
          <p:nvPr/>
        </p:nvGraphicFramePr>
        <p:xfrm>
          <a:off x="609600" y="3600450"/>
          <a:ext cx="10972800" cy="952500"/>
        </p:xfrm>
        <a:graphic>
          <a:graphicData uri="http://schemas.openxmlformats.org/drawingml/2006/table">
            <a:tbl>
              <a:tblPr firstRow="1"/>
              <a:tblGrid>
                <a:gridCol w="10972800">
                  <a:extLst>
                    <a:ext uri="{9D8B030D-6E8A-4147-A177-3AD203B41FA5}">
                      <a16:colId xmlns:a16="http://schemas.microsoft.com/office/drawing/2014/main" val="20000"/>
                    </a:ext>
                  </a:extLst>
                </a:gridCol>
              </a:tblGrid>
              <a:tr h="476250">
                <a:tc>
                  <a:txBody>
                    <a:bodyPr/>
                    <a:lstStyle/>
                    <a:p>
                      <a:r>
                        <a:rPr sz="2025" b="1">
                          <a:solidFill>
                            <a:srgbClr val="70D6C4"/>
                          </a:solidFill>
                          <a:latin typeface="Arial"/>
                          <a:ea typeface="Arial"/>
                          <a:cs typeface="Arial"/>
                        </a:rPr>
                        <a:t>p_run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476250">
                <a:tc>
                  <a:txBody>
                    <a:bodyPr/>
                    <a:lstStyle/>
                    <a:p>
                      <a:r>
                        <a:rPr sz="2025" b="0">
                          <a:solidFill>
                            <a:srgbClr val="F1F4F6"/>
                          </a:solidFill>
                          <a:latin typeface="Arial"/>
                          <a:ea typeface="Arial"/>
                          <a:cs typeface="Arial"/>
                        </a:rPr>
                        <a:t>3be97496-6ce6-4153-afc0-fa05d05337e3</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
        <p:nvSpPr>
          <p:cNvPr id="6" name="Rectangle 5">
            <a:extLst>
              <a:ext uri="{FF2B5EF4-FFF2-40B4-BE49-F238E27FC236}">
                <a16:creationId xmlns:a16="http://schemas.microsoft.com/office/drawing/2014/main" id="{ED3AFAA0-9993-4B0C-8D0C-69915BE41296}"/>
              </a:ext>
            </a:extLst>
          </p:cNvPr>
          <p:cNvSpPr>
            <a:spLocks noGrp="1"/>
          </p:cNvSpPr>
          <p:nvPr/>
        </p:nvSpPr>
        <p:spPr>
          <a:xfrm>
            <a:off x="609600" y="4819650"/>
            <a:ext cx="10763250" cy="381000"/>
          </a:xfrm>
          <a:prstGeom prst="rect">
            <a:avLst/>
          </a:prstGeom>
          <a:noFill/>
          <a:ln w="0">
            <a:noFill/>
          </a:ln>
        </p:spPr>
        <p:txBody>
          <a:bodyPr wrap="square" lIns="0" tIns="0" rIns="0" bIns="0" anchor="t">
            <a:noAutofit/>
          </a:bodyPr>
          <a:lstStyle>
            <a:defPPr>
              <a:defRPr sz="2025" b="0">
                <a:solidFill>
                  <a:srgbClr val="70D6C4"/>
                </a:solidFill>
                <a:latin typeface="Arial"/>
                <a:ea typeface="Arial"/>
                <a:cs typeface="Arial"/>
              </a:defRPr>
            </a:defPPr>
            <a:lvl1pPr>
              <a:defRPr sz="2025" b="0">
                <a:solidFill>
                  <a:srgbClr val="70D6C4"/>
                </a:solidFill>
                <a:latin typeface="Arial"/>
                <a:ea typeface="Arial"/>
                <a:cs typeface="Arial"/>
              </a:defRPr>
            </a:lvl1pPr>
            <a:lvl2pPr>
              <a:defRPr sz="2025" b="0">
                <a:solidFill>
                  <a:srgbClr val="70D6C4"/>
                </a:solidFill>
                <a:latin typeface="Arial"/>
                <a:ea typeface="Arial"/>
                <a:cs typeface="Arial"/>
              </a:defRPr>
            </a:lvl2pPr>
            <a:lvl3pPr>
              <a:defRPr sz="2025" b="0">
                <a:solidFill>
                  <a:srgbClr val="70D6C4"/>
                </a:solidFill>
                <a:latin typeface="Arial"/>
                <a:ea typeface="Arial"/>
                <a:cs typeface="Arial"/>
              </a:defRPr>
            </a:lvl3pPr>
            <a:lvl4pPr>
              <a:defRPr sz="2025" b="0">
                <a:solidFill>
                  <a:srgbClr val="70D6C4"/>
                </a:solidFill>
                <a:latin typeface="Arial"/>
                <a:ea typeface="Arial"/>
                <a:cs typeface="Arial"/>
              </a:defRPr>
            </a:lvl4pPr>
            <a:lvl5pPr>
              <a:defRPr sz="2025" b="0">
                <a:solidFill>
                  <a:srgbClr val="70D6C4"/>
                </a:solidFill>
                <a:latin typeface="Arial"/>
                <a:ea typeface="Arial"/>
                <a:cs typeface="Arial"/>
              </a:defRPr>
            </a:lvl5pPr>
            <a:lvl6pPr>
              <a:defRPr sz="2025" b="0">
                <a:solidFill>
                  <a:srgbClr val="70D6C4"/>
                </a:solidFill>
                <a:latin typeface="Arial"/>
                <a:ea typeface="Arial"/>
                <a:cs typeface="Arial"/>
              </a:defRPr>
            </a:lvl6pPr>
            <a:lvl7pPr>
              <a:defRPr sz="2025" b="0">
                <a:solidFill>
                  <a:srgbClr val="70D6C4"/>
                </a:solidFill>
                <a:latin typeface="Arial"/>
                <a:ea typeface="Arial"/>
                <a:cs typeface="Arial"/>
              </a:defRPr>
            </a:lvl7pPr>
            <a:lvl8pPr>
              <a:defRPr sz="2025" b="0">
                <a:solidFill>
                  <a:srgbClr val="70D6C4"/>
                </a:solidFill>
                <a:latin typeface="Arial"/>
                <a:ea typeface="Arial"/>
                <a:cs typeface="Arial"/>
              </a:defRPr>
            </a:lvl8pPr>
            <a:lvl9pPr>
              <a:defRPr sz="2025" b="0">
                <a:solidFill>
                  <a:srgbClr val="70D6C4"/>
                </a:solidFill>
                <a:latin typeface="Arial"/>
                <a:ea typeface="Arial"/>
                <a:cs typeface="Arial"/>
              </a:defRPr>
            </a:lvl9pPr>
          </a:lstStyle>
          <a:p>
            <a:pPr>
              <a:defRPr sz="2025" b="0">
                <a:solidFill>
                  <a:srgbClr val="70D6C4"/>
                </a:solidFill>
                <a:latin typeface="Arial"/>
                <a:ea typeface="Arial"/>
                <a:cs typeface="Arial"/>
              </a:defRPr>
            </a:pPr>
            <a:r>
              <a:rPr sz="2025" b="0">
                <a:solidFill>
                  <a:srgbClr val="70D6C4"/>
                </a:solidFill>
                <a:latin typeface="Arial"/>
                <a:ea typeface="Arial"/>
                <a:cs typeface="Arial"/>
              </a:rPr>
              <a:t>The returned run identifies the accepted report request.</a:t>
            </a:r>
          </a:p>
        </p:txBody>
      </p:sp>
      <p:graphicFrame>
        <p:nvGraphicFramePr>
          <p:cNvPr id="7" name="Table 6">
            <a:extLst>
              <a:ext uri="{FF2B5EF4-FFF2-40B4-BE49-F238E27FC236}">
                <a16:creationId xmlns:a16="http://schemas.microsoft.com/office/drawing/2014/main" id="{38EC5603-99FF-4DF2-A211-E49E77EB4C24}"/>
              </a:ext>
            </a:extLst>
          </p:cNvPr>
          <p:cNvGraphicFramePr/>
          <p:nvPr/>
        </p:nvGraphicFramePr>
        <p:xfrm>
          <a:off x="609600" y="5181600"/>
          <a:ext cx="10972800" cy="708660"/>
        </p:xfrm>
        <a:graphic>
          <a:graphicData uri="http://schemas.openxmlformats.org/drawingml/2006/table">
            <a:tbl>
              <a:tblPr firstRow="1"/>
              <a:tblGrid>
                <a:gridCol w="4762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309563">
                <a:tc>
                  <a:txBody>
                    <a:bodyPr/>
                    <a:lstStyle/>
                    <a:p>
                      <a:r>
                        <a:rPr sz="1725" b="1">
                          <a:solidFill>
                            <a:srgbClr val="70D6C4"/>
                          </a:solidFill>
                          <a:latin typeface="Arial"/>
                          <a:ea typeface="Arial"/>
                          <a:cs typeface="Arial"/>
                        </a:rPr>
                        <a:t>Observed run status</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725" b="1">
                          <a:solidFill>
                            <a:srgbClr val="70D6C4"/>
                          </a:solidFill>
                          <a:latin typeface="Arial"/>
                          <a:ea typeface="Arial"/>
                          <a:cs typeface="Arial"/>
                        </a:rPr>
                        <a:t>Customer</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725" b="1">
                          <a:solidFill>
                            <a:srgbClr val="70D6C4"/>
                          </a:solidFill>
                          <a:latin typeface="Arial"/>
                          <a:ea typeface="Arial"/>
                          <a:cs typeface="Arial"/>
                        </a:rPr>
                        <a:t>Bulk</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309563">
                <a:tc>
                  <a:txBody>
                    <a:bodyPr/>
                    <a:lstStyle/>
                    <a:p>
                      <a:r>
                        <a:rPr sz="1725" b="0">
                          <a:solidFill>
                            <a:srgbClr val="F1F4F6"/>
                          </a:solidFill>
                          <a:latin typeface="Arial"/>
                          <a:ea typeface="Arial"/>
                          <a:cs typeface="Arial"/>
                        </a:rPr>
                        <a:t>preparing</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false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
        <p:nvSpPr>
          <p:cNvPr id="8" name="Rectangle 7">
            <a:extLst>
              <a:ext uri="{FF2B5EF4-FFF2-40B4-BE49-F238E27FC236}">
                <a16:creationId xmlns:a16="http://schemas.microsoft.com/office/drawing/2014/main" id="{71B23F77-7C17-42A5-A3C5-1A8C8F1F5EA2}"/>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CALL output from a controlled transaction; the routine also records the preparation job atomically.</a:t>
            </a:r>
          </a:p>
        </p:txBody>
      </p:sp>
    </p:spTree>
    <p:extLst>
      <p:ext uri="{BB962C8B-B14F-4D97-AF65-F5344CB8AC3E}">
        <p14:creationId xmlns:p14="http://schemas.microsoft.com/office/powerpoint/2010/main" val="19106910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F005FF9-36BF-497B-B9C9-788585CCB310}"/>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Function: post stock and create a sale</a:t>
            </a:r>
          </a:p>
        </p:txBody>
      </p:sp>
      <p:sp>
        <p:nvSpPr>
          <p:cNvPr id="2" name="Rectangle 1">
            <a:extLst>
              <a:ext uri="{FF2B5EF4-FFF2-40B4-BE49-F238E27FC236}">
                <a16:creationId xmlns:a16="http://schemas.microsoft.com/office/drawing/2014/main" id="{5EB063F8-715A-40EE-8C47-7C48A1B3BCA7}"/>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31</a:t>
            </a:r>
          </a:p>
        </p:txBody>
      </p:sp>
      <p:sp>
        <p:nvSpPr>
          <p:cNvPr id="3" name="Rectangle 2">
            <a:extLst>
              <a:ext uri="{FF2B5EF4-FFF2-40B4-BE49-F238E27FC236}">
                <a16:creationId xmlns:a16="http://schemas.microsoft.com/office/drawing/2014/main" id="{1D64CFEF-57E0-415B-A0CF-46B1D6602DD1}"/>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5F8C8CD4-27AE-4D60-A21A-B24F59F6E145}"/>
              </a:ext>
            </a:extLst>
          </p:cNvPr>
          <p:cNvSpPr>
            <a:spLocks noGrp="1"/>
          </p:cNvSpPr>
          <p:nvPr/>
        </p:nvSpPr>
        <p:spPr>
          <a:xfrm>
            <a:off x="609600" y="1476375"/>
            <a:ext cx="10953750" cy="1333500"/>
          </a:xfrm>
          <a:prstGeom prst="rect">
            <a:avLst/>
          </a:prstGeom>
          <a:noFill/>
          <a:ln w="0">
            <a:noFill/>
          </a:ln>
        </p:spPr>
        <p:txBody>
          <a:bodyPr wrap="square" lIns="0" tIns="0" rIns="0" bIns="0" anchor="t">
            <a:noAutofit/>
          </a:bodyPr>
          <a:lstStyle>
            <a:defPPr>
              <a:defRPr sz="1875" b="0">
                <a:solidFill>
                  <a:srgbClr val="70D6C4"/>
                </a:solidFill>
                <a:latin typeface="Consolas"/>
                <a:ea typeface="Consolas"/>
                <a:cs typeface="Consolas"/>
              </a:defRPr>
            </a:defPPr>
            <a:lvl1pPr>
              <a:defRPr sz="1875" b="0">
                <a:solidFill>
                  <a:srgbClr val="70D6C4"/>
                </a:solidFill>
                <a:latin typeface="Consolas"/>
                <a:ea typeface="Consolas"/>
                <a:cs typeface="Consolas"/>
              </a:defRPr>
            </a:lvl1pPr>
            <a:lvl2pPr>
              <a:defRPr sz="1875" b="0">
                <a:solidFill>
                  <a:srgbClr val="70D6C4"/>
                </a:solidFill>
                <a:latin typeface="Consolas"/>
                <a:ea typeface="Consolas"/>
                <a:cs typeface="Consolas"/>
              </a:defRPr>
            </a:lvl2pPr>
            <a:lvl3pPr>
              <a:defRPr sz="1875" b="0">
                <a:solidFill>
                  <a:srgbClr val="70D6C4"/>
                </a:solidFill>
                <a:latin typeface="Consolas"/>
                <a:ea typeface="Consolas"/>
                <a:cs typeface="Consolas"/>
              </a:defRPr>
            </a:lvl3pPr>
            <a:lvl4pPr>
              <a:defRPr sz="1875" b="0">
                <a:solidFill>
                  <a:srgbClr val="70D6C4"/>
                </a:solidFill>
                <a:latin typeface="Consolas"/>
                <a:ea typeface="Consolas"/>
                <a:cs typeface="Consolas"/>
              </a:defRPr>
            </a:lvl4pPr>
            <a:lvl5pPr>
              <a:defRPr sz="1875" b="0">
                <a:solidFill>
                  <a:srgbClr val="70D6C4"/>
                </a:solidFill>
                <a:latin typeface="Consolas"/>
                <a:ea typeface="Consolas"/>
                <a:cs typeface="Consolas"/>
              </a:defRPr>
            </a:lvl5pPr>
            <a:lvl6pPr>
              <a:defRPr sz="1875" b="0">
                <a:solidFill>
                  <a:srgbClr val="70D6C4"/>
                </a:solidFill>
                <a:latin typeface="Consolas"/>
                <a:ea typeface="Consolas"/>
                <a:cs typeface="Consolas"/>
              </a:defRPr>
            </a:lvl6pPr>
            <a:lvl7pPr>
              <a:defRPr sz="1875" b="0">
                <a:solidFill>
                  <a:srgbClr val="70D6C4"/>
                </a:solidFill>
                <a:latin typeface="Consolas"/>
                <a:ea typeface="Consolas"/>
                <a:cs typeface="Consolas"/>
              </a:defRPr>
            </a:lvl7pPr>
            <a:lvl8pPr>
              <a:defRPr sz="1875" b="0">
                <a:solidFill>
                  <a:srgbClr val="70D6C4"/>
                </a:solidFill>
                <a:latin typeface="Consolas"/>
                <a:ea typeface="Consolas"/>
                <a:cs typeface="Consolas"/>
              </a:defRPr>
            </a:lvl8pPr>
            <a:lvl9pPr>
              <a:defRPr sz="1875" b="0">
                <a:solidFill>
                  <a:srgbClr val="70D6C4"/>
                </a:solidFill>
                <a:latin typeface="Consolas"/>
                <a:ea typeface="Consolas"/>
                <a:cs typeface="Consolas"/>
              </a:defRPr>
            </a:lvl9pPr>
          </a:lstStyle>
          <a:p>
            <a:pPr>
              <a:defRPr sz="1875" b="0">
                <a:solidFill>
                  <a:srgbClr val="70D6C4"/>
                </a:solidFill>
                <a:latin typeface="Consolas"/>
                <a:ea typeface="Consolas"/>
                <a:cs typeface="Consolas"/>
              </a:defRPr>
            </a:pPr>
            <a:r>
              <a:rPr sz="1875" b="0">
                <a:solidFill>
                  <a:srgbClr val="70D6C4"/>
                </a:solidFill>
                <a:latin typeface="Consolas"/>
                <a:ea typeface="Consolas"/>
                <a:cs typeface="Consolas"/>
              </a:rPr>
              <a:t>SELECT reporting.post_stock(900003, 'sale', 3,</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  'PPT-SALE-PROOF', '', 'ppt-review',</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  1, 75.00, DATE '2026-10-20') AS movement_id;</a:t>
            </a:r>
          </a:p>
        </p:txBody>
      </p:sp>
      <p:graphicFrame>
        <p:nvGraphicFramePr>
          <p:cNvPr id="5" name="Table 4">
            <a:extLst>
              <a:ext uri="{FF2B5EF4-FFF2-40B4-BE49-F238E27FC236}">
                <a16:creationId xmlns:a16="http://schemas.microsoft.com/office/drawing/2014/main" id="{69EAE2A5-1578-472C-AA44-E05949FADCC9}"/>
              </a:ext>
            </a:extLst>
          </p:cNvPr>
          <p:cNvGraphicFramePr/>
          <p:nvPr/>
        </p:nvGraphicFramePr>
        <p:xfrm>
          <a:off x="609600" y="3095625"/>
          <a:ext cx="10972800" cy="1047750"/>
        </p:xfrm>
        <a:graphic>
          <a:graphicData uri="http://schemas.openxmlformats.org/drawingml/2006/table">
            <a:tbl>
              <a:tblPr firstRow="1"/>
              <a:tblGrid>
                <a:gridCol w="33337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gridCol w="2686050">
                  <a:extLst>
                    <a:ext uri="{9D8B030D-6E8A-4147-A177-3AD203B41FA5}">
                      <a16:colId xmlns:a16="http://schemas.microsoft.com/office/drawing/2014/main" val="20003"/>
                    </a:ext>
                  </a:extLst>
                </a:gridCol>
              </a:tblGrid>
              <a:tr h="523875">
                <a:tc>
                  <a:txBody>
                    <a:bodyPr/>
                    <a:lstStyle/>
                    <a:p>
                      <a:r>
                        <a:rPr sz="1875" b="1">
                          <a:solidFill>
                            <a:srgbClr val="70D6C4"/>
                          </a:solidFill>
                          <a:latin typeface="Arial"/>
                          <a:ea typeface="Arial"/>
                          <a:cs typeface="Arial"/>
                        </a:rPr>
                        <a:t>Returned movement_id</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Stock before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Stock after</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Ledger quantity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23875">
                <a:tc>
                  <a:txBody>
                    <a:bodyPr/>
                    <a:lstStyle/>
                    <a:p>
                      <a:r>
                        <a:rPr sz="1875" b="0">
                          <a:solidFill>
                            <a:srgbClr val="F1F4F6"/>
                          </a:solidFill>
                          <a:latin typeface="Arial"/>
                          <a:ea typeface="Arial"/>
                          <a:cs typeface="Arial"/>
                        </a:rPr>
                        <a:t>9</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10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7</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7</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graphicFrame>
        <p:nvGraphicFramePr>
          <p:cNvPr id="6" name="Table 5">
            <a:extLst>
              <a:ext uri="{FF2B5EF4-FFF2-40B4-BE49-F238E27FC236}">
                <a16:creationId xmlns:a16="http://schemas.microsoft.com/office/drawing/2014/main" id="{D0E9FFC6-9E84-4A05-8BC6-806123204164}"/>
              </a:ext>
            </a:extLst>
          </p:cNvPr>
          <p:cNvGraphicFramePr/>
          <p:nvPr/>
        </p:nvGraphicFramePr>
        <p:xfrm>
          <a:off x="609600" y="4486275"/>
          <a:ext cx="10972800" cy="1047750"/>
        </p:xfrm>
        <a:graphic>
          <a:graphicData uri="http://schemas.openxmlformats.org/drawingml/2006/table">
            <a:tbl>
              <a:tblPr firstRow="1"/>
              <a:tblGrid>
                <a:gridCol w="4572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tblGrid>
              <a:tr h="523875">
                <a:tc>
                  <a:txBody>
                    <a:bodyPr/>
                    <a:lstStyle/>
                    <a:p>
                      <a:r>
                        <a:rPr sz="1800" b="1">
                          <a:solidFill>
                            <a:srgbClr val="70D6C4"/>
                          </a:solidFill>
                          <a:latin typeface="Arial"/>
                          <a:ea typeface="Arial"/>
                          <a:cs typeface="Arial"/>
                        </a:rPr>
                        <a:t>order_ref</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quantity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unit_price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line_total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23875">
                <a:tc>
                  <a:txBody>
                    <a:bodyPr/>
                    <a:lstStyle/>
                    <a:p>
                      <a:r>
                        <a:rPr sz="1800" b="0">
                          <a:solidFill>
                            <a:srgbClr val="F1F4F6"/>
                          </a:solidFill>
                          <a:latin typeface="Arial"/>
                          <a:ea typeface="Arial"/>
                          <a:cs typeface="Arial"/>
                        </a:rPr>
                        <a:t>STOCK-PPT-SALE-PROOF</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225.00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F3827515-4401-472D-8BA1-EAD564FB805E}"/>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Fixture: 10 received, 3 sold. One function updates balance, ledger, order and item together.</a:t>
            </a:r>
          </a:p>
        </p:txBody>
      </p:sp>
    </p:spTree>
    <p:extLst>
      <p:ext uri="{BB962C8B-B14F-4D97-AF65-F5344CB8AC3E}">
        <p14:creationId xmlns:p14="http://schemas.microsoft.com/office/powerpoint/2010/main" val="1285532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70CA886-41B0-4DAA-9810-4EAE237B1245}"/>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Inventory Management: reorder threshold</a:t>
            </a:r>
          </a:p>
        </p:txBody>
      </p:sp>
      <p:sp>
        <p:nvSpPr>
          <p:cNvPr id="2" name="Rectangle 1">
            <a:extLst>
              <a:ext uri="{FF2B5EF4-FFF2-40B4-BE49-F238E27FC236}">
                <a16:creationId xmlns:a16="http://schemas.microsoft.com/office/drawing/2014/main" id="{FC680FCD-32B7-4029-A16D-47ABB7FE5C67}"/>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32</a:t>
            </a:r>
          </a:p>
        </p:txBody>
      </p:sp>
      <p:sp>
        <p:nvSpPr>
          <p:cNvPr id="3" name="Rectangle 2">
            <a:extLst>
              <a:ext uri="{FF2B5EF4-FFF2-40B4-BE49-F238E27FC236}">
                <a16:creationId xmlns:a16="http://schemas.microsoft.com/office/drawing/2014/main" id="{54FFA9C4-EFDE-428D-ADAB-53522AA5789D}"/>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18807642-BBA6-4ECA-8732-CD69568798FF}"/>
              </a:ext>
            </a:extLst>
          </p:cNvPr>
          <p:cNvSpPr>
            <a:spLocks noGrp="1"/>
          </p:cNvSpPr>
          <p:nvPr/>
        </p:nvSpPr>
        <p:spPr>
          <a:xfrm>
            <a:off x="609600" y="1457325"/>
            <a:ext cx="10953750" cy="1438275"/>
          </a:xfrm>
          <a:prstGeom prst="rect">
            <a:avLst/>
          </a:prstGeom>
          <a:noFill/>
          <a:ln w="0">
            <a:noFill/>
          </a:ln>
        </p:spPr>
        <p:txBody>
          <a:bodyPr wrap="square" lIns="0" tIns="0" rIns="0" bIns="0" anchor="t">
            <a:noAutofit/>
          </a:bodyPr>
          <a:lstStyle>
            <a:defPPr>
              <a:defRPr sz="1875" b="0">
                <a:solidFill>
                  <a:srgbClr val="70D6C4"/>
                </a:solidFill>
                <a:latin typeface="Consolas"/>
                <a:ea typeface="Consolas"/>
                <a:cs typeface="Consolas"/>
              </a:defRPr>
            </a:defPPr>
            <a:lvl1pPr>
              <a:defRPr sz="1875" b="0">
                <a:solidFill>
                  <a:srgbClr val="70D6C4"/>
                </a:solidFill>
                <a:latin typeface="Consolas"/>
                <a:ea typeface="Consolas"/>
                <a:cs typeface="Consolas"/>
              </a:defRPr>
            </a:lvl1pPr>
            <a:lvl2pPr>
              <a:defRPr sz="1875" b="0">
                <a:solidFill>
                  <a:srgbClr val="70D6C4"/>
                </a:solidFill>
                <a:latin typeface="Consolas"/>
                <a:ea typeface="Consolas"/>
                <a:cs typeface="Consolas"/>
              </a:defRPr>
            </a:lvl2pPr>
            <a:lvl3pPr>
              <a:defRPr sz="1875" b="0">
                <a:solidFill>
                  <a:srgbClr val="70D6C4"/>
                </a:solidFill>
                <a:latin typeface="Consolas"/>
                <a:ea typeface="Consolas"/>
                <a:cs typeface="Consolas"/>
              </a:defRPr>
            </a:lvl3pPr>
            <a:lvl4pPr>
              <a:defRPr sz="1875" b="0">
                <a:solidFill>
                  <a:srgbClr val="70D6C4"/>
                </a:solidFill>
                <a:latin typeface="Consolas"/>
                <a:ea typeface="Consolas"/>
                <a:cs typeface="Consolas"/>
              </a:defRPr>
            </a:lvl4pPr>
            <a:lvl5pPr>
              <a:defRPr sz="1875" b="0">
                <a:solidFill>
                  <a:srgbClr val="70D6C4"/>
                </a:solidFill>
                <a:latin typeface="Consolas"/>
                <a:ea typeface="Consolas"/>
                <a:cs typeface="Consolas"/>
              </a:defRPr>
            </a:lvl5pPr>
            <a:lvl6pPr>
              <a:defRPr sz="1875" b="0">
                <a:solidFill>
                  <a:srgbClr val="70D6C4"/>
                </a:solidFill>
                <a:latin typeface="Consolas"/>
                <a:ea typeface="Consolas"/>
                <a:cs typeface="Consolas"/>
              </a:defRPr>
            </a:lvl6pPr>
            <a:lvl7pPr>
              <a:defRPr sz="1875" b="0">
                <a:solidFill>
                  <a:srgbClr val="70D6C4"/>
                </a:solidFill>
                <a:latin typeface="Consolas"/>
                <a:ea typeface="Consolas"/>
                <a:cs typeface="Consolas"/>
              </a:defRPr>
            </a:lvl7pPr>
            <a:lvl8pPr>
              <a:defRPr sz="1875" b="0">
                <a:solidFill>
                  <a:srgbClr val="70D6C4"/>
                </a:solidFill>
                <a:latin typeface="Consolas"/>
                <a:ea typeface="Consolas"/>
                <a:cs typeface="Consolas"/>
              </a:defRPr>
            </a:lvl8pPr>
            <a:lvl9pPr>
              <a:defRPr sz="1875" b="0">
                <a:solidFill>
                  <a:srgbClr val="70D6C4"/>
                </a:solidFill>
                <a:latin typeface="Consolas"/>
                <a:ea typeface="Consolas"/>
                <a:cs typeface="Consolas"/>
              </a:defRPr>
            </a:lvl9pPr>
          </a:lstStyle>
          <a:p>
            <a:pPr>
              <a:defRPr sz="1875" b="0">
                <a:solidFill>
                  <a:srgbClr val="70D6C4"/>
                </a:solidFill>
                <a:latin typeface="Consolas"/>
                <a:ea typeface="Consolas"/>
                <a:cs typeface="Consolas"/>
              </a:defRPr>
            </a:pPr>
            <a:r>
              <a:rPr sz="1875" b="0">
                <a:solidFill>
                  <a:srgbClr val="70D6C4"/>
                </a:solidFill>
                <a:latin typeface="Consolas"/>
                <a:ea typeface="Consolas"/>
                <a:cs typeface="Consolas"/>
              </a:rPr>
              <a:t>INSERT INTO reporting.inventory_balance(product_id,reorder_level)</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VALUES (900005,12)</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ON CONFLICT(product_id) DO UPDATE</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SET reorder_level=EXCLUDED.reorder_level,updated_at=now();</a:t>
            </a:r>
          </a:p>
        </p:txBody>
      </p:sp>
      <p:sp>
        <p:nvSpPr>
          <p:cNvPr id="5" name="Rectangle 4">
            <a:extLst>
              <a:ext uri="{FF2B5EF4-FFF2-40B4-BE49-F238E27FC236}">
                <a16:creationId xmlns:a16="http://schemas.microsoft.com/office/drawing/2014/main" id="{862EC11D-325B-4861-9D19-98CD821C16C8}"/>
              </a:ext>
            </a:extLst>
          </p:cNvPr>
          <p:cNvSpPr>
            <a:spLocks noGrp="1"/>
          </p:cNvSpPr>
          <p:nvPr/>
        </p:nvSpPr>
        <p:spPr>
          <a:xfrm>
            <a:off x="609600" y="3190875"/>
            <a:ext cx="10858500" cy="428625"/>
          </a:xfrm>
          <a:prstGeom prst="rect">
            <a:avLst/>
          </a:prstGeom>
          <a:noFill/>
          <a:ln w="0">
            <a:noFill/>
          </a:ln>
        </p:spPr>
        <p:txBody>
          <a:bodyPr wrap="square" lIns="0" tIns="0" rIns="0" bIns="0" anchor="t">
            <a:noAutofit/>
          </a:bodyPr>
          <a:lstStyle>
            <a:defPPr>
              <a:defRPr sz="2025" b="0">
                <a:solidFill>
                  <a:srgbClr val="70D6C4"/>
                </a:solidFill>
                <a:latin typeface="Arial"/>
                <a:ea typeface="Arial"/>
                <a:cs typeface="Arial"/>
              </a:defRPr>
            </a:defPPr>
            <a:lvl1pPr>
              <a:defRPr sz="2025" b="0">
                <a:solidFill>
                  <a:srgbClr val="70D6C4"/>
                </a:solidFill>
                <a:latin typeface="Arial"/>
                <a:ea typeface="Arial"/>
                <a:cs typeface="Arial"/>
              </a:defRPr>
            </a:lvl1pPr>
            <a:lvl2pPr>
              <a:defRPr sz="2025" b="0">
                <a:solidFill>
                  <a:srgbClr val="70D6C4"/>
                </a:solidFill>
                <a:latin typeface="Arial"/>
                <a:ea typeface="Arial"/>
                <a:cs typeface="Arial"/>
              </a:defRPr>
            </a:lvl2pPr>
            <a:lvl3pPr>
              <a:defRPr sz="2025" b="0">
                <a:solidFill>
                  <a:srgbClr val="70D6C4"/>
                </a:solidFill>
                <a:latin typeface="Arial"/>
                <a:ea typeface="Arial"/>
                <a:cs typeface="Arial"/>
              </a:defRPr>
            </a:lvl3pPr>
            <a:lvl4pPr>
              <a:defRPr sz="2025" b="0">
                <a:solidFill>
                  <a:srgbClr val="70D6C4"/>
                </a:solidFill>
                <a:latin typeface="Arial"/>
                <a:ea typeface="Arial"/>
                <a:cs typeface="Arial"/>
              </a:defRPr>
            </a:lvl4pPr>
            <a:lvl5pPr>
              <a:defRPr sz="2025" b="0">
                <a:solidFill>
                  <a:srgbClr val="70D6C4"/>
                </a:solidFill>
                <a:latin typeface="Arial"/>
                <a:ea typeface="Arial"/>
                <a:cs typeface="Arial"/>
              </a:defRPr>
            </a:lvl5pPr>
            <a:lvl6pPr>
              <a:defRPr sz="2025" b="0">
                <a:solidFill>
                  <a:srgbClr val="70D6C4"/>
                </a:solidFill>
                <a:latin typeface="Arial"/>
                <a:ea typeface="Arial"/>
                <a:cs typeface="Arial"/>
              </a:defRPr>
            </a:lvl6pPr>
            <a:lvl7pPr>
              <a:defRPr sz="2025" b="0">
                <a:solidFill>
                  <a:srgbClr val="70D6C4"/>
                </a:solidFill>
                <a:latin typeface="Arial"/>
                <a:ea typeface="Arial"/>
                <a:cs typeface="Arial"/>
              </a:defRPr>
            </a:lvl7pPr>
            <a:lvl8pPr>
              <a:defRPr sz="2025" b="0">
                <a:solidFill>
                  <a:srgbClr val="70D6C4"/>
                </a:solidFill>
                <a:latin typeface="Arial"/>
                <a:ea typeface="Arial"/>
                <a:cs typeface="Arial"/>
              </a:defRPr>
            </a:lvl8pPr>
            <a:lvl9pPr>
              <a:defRPr sz="2025" b="0">
                <a:solidFill>
                  <a:srgbClr val="70D6C4"/>
                </a:solidFill>
                <a:latin typeface="Arial"/>
                <a:ea typeface="Arial"/>
                <a:cs typeface="Arial"/>
              </a:defRPr>
            </a:lvl9pPr>
          </a:lstStyle>
          <a:p>
            <a:pPr>
              <a:defRPr sz="2025" b="0">
                <a:solidFill>
                  <a:srgbClr val="70D6C4"/>
                </a:solidFill>
                <a:latin typeface="Arial"/>
                <a:ea typeface="Arial"/>
                <a:cs typeface="Arial"/>
              </a:defRPr>
            </a:pPr>
            <a:r>
              <a:rPr sz="2025" b="0">
                <a:solidFill>
                  <a:srgbClr val="70D6C4"/>
                </a:solidFill>
                <a:latin typeface="Arial"/>
                <a:ea typeface="Arial"/>
                <a:cs typeface="Arial"/>
              </a:rPr>
              <a:t>UPSERT inserts a missing row or updates the existing threshold.</a:t>
            </a:r>
          </a:p>
        </p:txBody>
      </p:sp>
      <p:sp>
        <p:nvSpPr>
          <p:cNvPr id="6" name="Rectangle 5">
            <a:extLst>
              <a:ext uri="{FF2B5EF4-FFF2-40B4-BE49-F238E27FC236}">
                <a16:creationId xmlns:a16="http://schemas.microsoft.com/office/drawing/2014/main" id="{23ED8B9D-0E7A-43C1-922D-3C722FF9DFC8}"/>
              </a:ext>
            </a:extLst>
          </p:cNvPr>
          <p:cNvSpPr>
            <a:spLocks noGrp="1"/>
          </p:cNvSpPr>
          <p:nvPr/>
        </p:nvSpPr>
        <p:spPr>
          <a:xfrm>
            <a:off x="609600" y="3810000"/>
            <a:ext cx="10953750" cy="666750"/>
          </a:xfrm>
          <a:prstGeom prst="rect">
            <a:avLst/>
          </a:prstGeom>
          <a:noFill/>
          <a:ln w="0">
            <a:noFill/>
          </a:ln>
        </p:spPr>
        <p:txBody>
          <a:bodyPr wrap="square" lIns="0" tIns="0" rIns="0" bIns="0" anchor="t">
            <a:noAutofit/>
          </a:bodyPr>
          <a:lstStyle>
            <a:defPPr>
              <a:defRPr sz="1875" b="0">
                <a:solidFill>
                  <a:srgbClr val="70D6C4"/>
                </a:solidFill>
                <a:latin typeface="Consolas"/>
                <a:ea typeface="Consolas"/>
                <a:cs typeface="Consolas"/>
              </a:defRPr>
            </a:defPPr>
            <a:lvl1pPr>
              <a:defRPr sz="1875" b="0">
                <a:solidFill>
                  <a:srgbClr val="70D6C4"/>
                </a:solidFill>
                <a:latin typeface="Consolas"/>
                <a:ea typeface="Consolas"/>
                <a:cs typeface="Consolas"/>
              </a:defRPr>
            </a:lvl1pPr>
            <a:lvl2pPr>
              <a:defRPr sz="1875" b="0">
                <a:solidFill>
                  <a:srgbClr val="70D6C4"/>
                </a:solidFill>
                <a:latin typeface="Consolas"/>
                <a:ea typeface="Consolas"/>
                <a:cs typeface="Consolas"/>
              </a:defRPr>
            </a:lvl2pPr>
            <a:lvl3pPr>
              <a:defRPr sz="1875" b="0">
                <a:solidFill>
                  <a:srgbClr val="70D6C4"/>
                </a:solidFill>
                <a:latin typeface="Consolas"/>
                <a:ea typeface="Consolas"/>
                <a:cs typeface="Consolas"/>
              </a:defRPr>
            </a:lvl3pPr>
            <a:lvl4pPr>
              <a:defRPr sz="1875" b="0">
                <a:solidFill>
                  <a:srgbClr val="70D6C4"/>
                </a:solidFill>
                <a:latin typeface="Consolas"/>
                <a:ea typeface="Consolas"/>
                <a:cs typeface="Consolas"/>
              </a:defRPr>
            </a:lvl4pPr>
            <a:lvl5pPr>
              <a:defRPr sz="1875" b="0">
                <a:solidFill>
                  <a:srgbClr val="70D6C4"/>
                </a:solidFill>
                <a:latin typeface="Consolas"/>
                <a:ea typeface="Consolas"/>
                <a:cs typeface="Consolas"/>
              </a:defRPr>
            </a:lvl5pPr>
            <a:lvl6pPr>
              <a:defRPr sz="1875" b="0">
                <a:solidFill>
                  <a:srgbClr val="70D6C4"/>
                </a:solidFill>
                <a:latin typeface="Consolas"/>
                <a:ea typeface="Consolas"/>
                <a:cs typeface="Consolas"/>
              </a:defRPr>
            </a:lvl6pPr>
            <a:lvl7pPr>
              <a:defRPr sz="1875" b="0">
                <a:solidFill>
                  <a:srgbClr val="70D6C4"/>
                </a:solidFill>
                <a:latin typeface="Consolas"/>
                <a:ea typeface="Consolas"/>
                <a:cs typeface="Consolas"/>
              </a:defRPr>
            </a:lvl7pPr>
            <a:lvl8pPr>
              <a:defRPr sz="1875" b="0">
                <a:solidFill>
                  <a:srgbClr val="70D6C4"/>
                </a:solidFill>
                <a:latin typeface="Consolas"/>
                <a:ea typeface="Consolas"/>
                <a:cs typeface="Consolas"/>
              </a:defRPr>
            </a:lvl8pPr>
            <a:lvl9pPr>
              <a:defRPr sz="1875" b="0">
                <a:solidFill>
                  <a:srgbClr val="70D6C4"/>
                </a:solidFill>
                <a:latin typeface="Consolas"/>
                <a:ea typeface="Consolas"/>
                <a:cs typeface="Consolas"/>
              </a:defRPr>
            </a:lvl9pPr>
          </a:lstStyle>
          <a:p>
            <a:pPr>
              <a:defRPr sz="1875" b="0">
                <a:solidFill>
                  <a:srgbClr val="70D6C4"/>
                </a:solidFill>
                <a:latin typeface="Consolas"/>
                <a:ea typeface="Consolas"/>
                <a:cs typeface="Consolas"/>
              </a:defRPr>
            </a:pPr>
            <a:r>
              <a:rPr sz="1875" b="0">
                <a:solidFill>
                  <a:srgbClr val="70D6C4"/>
                </a:solidFill>
                <a:latin typeface="Consolas"/>
                <a:ea typeface="Consolas"/>
                <a:cs typeface="Consolas"/>
              </a:rPr>
              <a:t>SELECT quantity,reorder_level,low_stock</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FROM reporting.v_inventory WHERE product_id=900005;</a:t>
            </a:r>
          </a:p>
        </p:txBody>
      </p:sp>
      <p:graphicFrame>
        <p:nvGraphicFramePr>
          <p:cNvPr id="7" name="Table 6">
            <a:extLst>
              <a:ext uri="{FF2B5EF4-FFF2-40B4-BE49-F238E27FC236}">
                <a16:creationId xmlns:a16="http://schemas.microsoft.com/office/drawing/2014/main" id="{7F95AB0B-9ADF-4F69-801D-3E8884D4CC9C}"/>
              </a:ext>
            </a:extLst>
          </p:cNvPr>
          <p:cNvGraphicFramePr/>
          <p:nvPr/>
        </p:nvGraphicFramePr>
        <p:xfrm>
          <a:off x="609600" y="4781550"/>
          <a:ext cx="10972800" cy="1000126"/>
        </p:xfrm>
        <a:graphic>
          <a:graphicData uri="http://schemas.openxmlformats.org/drawingml/2006/table">
            <a:tbl>
              <a:tblPr firstRow="1"/>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00063">
                <a:tc>
                  <a:txBody>
                    <a:bodyPr/>
                    <a:lstStyle/>
                    <a:p>
                      <a:r>
                        <a:rPr sz="1950" b="1">
                          <a:solidFill>
                            <a:srgbClr val="70D6C4"/>
                          </a:solidFill>
                          <a:latin typeface="Arial"/>
                          <a:ea typeface="Arial"/>
                          <a:cs typeface="Arial"/>
                        </a:rPr>
                        <a:t>quantity</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950" b="1">
                          <a:solidFill>
                            <a:srgbClr val="70D6C4"/>
                          </a:solidFill>
                          <a:latin typeface="Arial"/>
                          <a:ea typeface="Arial"/>
                          <a:cs typeface="Arial"/>
                        </a:rPr>
                        <a:t>reorder_level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950" b="1">
                          <a:solidFill>
                            <a:srgbClr val="70D6C4"/>
                          </a:solidFill>
                          <a:latin typeface="Arial"/>
                          <a:ea typeface="Arial"/>
                          <a:cs typeface="Arial"/>
                        </a:rPr>
                        <a:t>low_stock</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00063">
                <a:tc>
                  <a:txBody>
                    <a:bodyPr/>
                    <a:lstStyle/>
                    <a:p>
                      <a:r>
                        <a:rPr sz="1950" b="0">
                          <a:solidFill>
                            <a:srgbClr val="F1F4F6"/>
                          </a:solidFill>
                          <a:latin typeface="Arial"/>
                          <a:ea typeface="Arial"/>
                          <a:cs typeface="Arial"/>
                        </a:rPr>
                        <a:t>10</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12</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true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
        <p:nvSpPr>
          <p:cNvPr id="8" name="Rectangle 7">
            <a:extLst>
              <a:ext uri="{FF2B5EF4-FFF2-40B4-BE49-F238E27FC236}">
                <a16:creationId xmlns:a16="http://schemas.microsoft.com/office/drawing/2014/main" id="{F6DAB913-5C91-478C-A6E4-5227DBA3FBF1}"/>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Command: INSERT 0 1. Quantity stays 10; quantity &lt;= reorder_level flags low stock. No automatic ordering.</a:t>
            </a:r>
          </a:p>
        </p:txBody>
      </p:sp>
    </p:spTree>
    <p:extLst>
      <p:ext uri="{BB962C8B-B14F-4D97-AF65-F5344CB8AC3E}">
        <p14:creationId xmlns:p14="http://schemas.microsoft.com/office/powerpoint/2010/main" val="18315512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996558-1A40-4024-9D6A-BEA84D559862}"/>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Inventory Management: product dropdown</a:t>
            </a:r>
          </a:p>
        </p:txBody>
      </p:sp>
      <p:sp>
        <p:nvSpPr>
          <p:cNvPr id="2" name="Rectangle 1">
            <a:extLst>
              <a:ext uri="{FF2B5EF4-FFF2-40B4-BE49-F238E27FC236}">
                <a16:creationId xmlns:a16="http://schemas.microsoft.com/office/drawing/2014/main" id="{38AB87FE-6A56-48E1-A06D-C5C5DCCD5770}"/>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33</a:t>
            </a:r>
          </a:p>
        </p:txBody>
      </p:sp>
      <p:sp>
        <p:nvSpPr>
          <p:cNvPr id="3" name="Rectangle 2">
            <a:extLst>
              <a:ext uri="{FF2B5EF4-FFF2-40B4-BE49-F238E27FC236}">
                <a16:creationId xmlns:a16="http://schemas.microsoft.com/office/drawing/2014/main" id="{357152C1-8F9B-49E9-88AE-1D279702D617}"/>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94B3A88D-6146-4FE0-ADEF-D93E56D29252}"/>
              </a:ext>
            </a:extLst>
          </p:cNvPr>
          <p:cNvSpPr>
            <a:spLocks noGrp="1"/>
          </p:cNvSpPr>
          <p:nvPr/>
        </p:nvSpPr>
        <p:spPr>
          <a:xfrm>
            <a:off x="609600" y="1504950"/>
            <a:ext cx="10953750" cy="1047750"/>
          </a:xfrm>
          <a:prstGeom prst="rect">
            <a:avLst/>
          </a:prstGeom>
          <a:noFill/>
          <a:ln w="0">
            <a:noFill/>
          </a:ln>
        </p:spPr>
        <p:txBody>
          <a:bodyPr wrap="square" lIns="0" tIns="0" rIns="0" bIns="0" anchor="t">
            <a:noAutofit/>
          </a:bodyPr>
          <a:lstStyle>
            <a:defPPr>
              <a:defRPr sz="2025" b="0">
                <a:solidFill>
                  <a:srgbClr val="70D6C4"/>
                </a:solidFill>
                <a:latin typeface="Consolas"/>
                <a:ea typeface="Consolas"/>
                <a:cs typeface="Consolas"/>
              </a:defRPr>
            </a:defPPr>
            <a:lvl1pPr>
              <a:defRPr sz="2025" b="0">
                <a:solidFill>
                  <a:srgbClr val="70D6C4"/>
                </a:solidFill>
                <a:latin typeface="Consolas"/>
                <a:ea typeface="Consolas"/>
                <a:cs typeface="Consolas"/>
              </a:defRPr>
            </a:lvl1pPr>
            <a:lvl2pPr>
              <a:defRPr sz="2025" b="0">
                <a:solidFill>
                  <a:srgbClr val="70D6C4"/>
                </a:solidFill>
                <a:latin typeface="Consolas"/>
                <a:ea typeface="Consolas"/>
                <a:cs typeface="Consolas"/>
              </a:defRPr>
            </a:lvl2pPr>
            <a:lvl3pPr>
              <a:defRPr sz="2025" b="0">
                <a:solidFill>
                  <a:srgbClr val="70D6C4"/>
                </a:solidFill>
                <a:latin typeface="Consolas"/>
                <a:ea typeface="Consolas"/>
                <a:cs typeface="Consolas"/>
              </a:defRPr>
            </a:lvl3pPr>
            <a:lvl4pPr>
              <a:defRPr sz="2025" b="0">
                <a:solidFill>
                  <a:srgbClr val="70D6C4"/>
                </a:solidFill>
                <a:latin typeface="Consolas"/>
                <a:ea typeface="Consolas"/>
                <a:cs typeface="Consolas"/>
              </a:defRPr>
            </a:lvl4pPr>
            <a:lvl5pPr>
              <a:defRPr sz="2025" b="0">
                <a:solidFill>
                  <a:srgbClr val="70D6C4"/>
                </a:solidFill>
                <a:latin typeface="Consolas"/>
                <a:ea typeface="Consolas"/>
                <a:cs typeface="Consolas"/>
              </a:defRPr>
            </a:lvl5pPr>
            <a:lvl6pPr>
              <a:defRPr sz="2025" b="0">
                <a:solidFill>
                  <a:srgbClr val="70D6C4"/>
                </a:solidFill>
                <a:latin typeface="Consolas"/>
                <a:ea typeface="Consolas"/>
                <a:cs typeface="Consolas"/>
              </a:defRPr>
            </a:lvl6pPr>
            <a:lvl7pPr>
              <a:defRPr sz="2025" b="0">
                <a:solidFill>
                  <a:srgbClr val="70D6C4"/>
                </a:solidFill>
                <a:latin typeface="Consolas"/>
                <a:ea typeface="Consolas"/>
                <a:cs typeface="Consolas"/>
              </a:defRPr>
            </a:lvl7pPr>
            <a:lvl8pPr>
              <a:defRPr sz="2025" b="0">
                <a:solidFill>
                  <a:srgbClr val="70D6C4"/>
                </a:solidFill>
                <a:latin typeface="Consolas"/>
                <a:ea typeface="Consolas"/>
                <a:cs typeface="Consolas"/>
              </a:defRPr>
            </a:lvl8pPr>
            <a:lvl9pPr>
              <a:defRPr sz="2025" b="0">
                <a:solidFill>
                  <a:srgbClr val="70D6C4"/>
                </a:solidFill>
                <a:latin typeface="Consolas"/>
                <a:ea typeface="Consolas"/>
                <a:cs typeface="Consolas"/>
              </a:defRPr>
            </a:lvl9pPr>
          </a:lstStyle>
          <a:p>
            <a:pPr>
              <a:defRPr sz="2025" b="0">
                <a:solidFill>
                  <a:srgbClr val="70D6C4"/>
                </a:solidFill>
                <a:latin typeface="Consolas"/>
                <a:ea typeface="Consolas"/>
                <a:cs typeface="Consolas"/>
              </a:defRPr>
            </a:pPr>
            <a:r>
              <a:rPr sz="2025" b="0">
                <a:solidFill>
                  <a:srgbClr val="70D6C4"/>
                </a:solidFill>
                <a:latin typeface="Consolas"/>
                <a:ea typeface="Consolas"/>
                <a:cs typeface="Consolas"/>
              </a:rPr>
              <a:t>SELECT sku,product_name,catalogue_price</a:t>
            </a:r>
          </a:p>
          <a:p>
            <a:pPr>
              <a:defRPr sz="2025" b="0">
                <a:solidFill>
                  <a:srgbClr val="70D6C4"/>
                </a:solidFill>
                <a:latin typeface="Consolas"/>
                <a:ea typeface="Consolas"/>
                <a:cs typeface="Consolas"/>
              </a:defRPr>
            </a:pPr>
            <a:r>
              <a:rPr sz="2025" b="0">
                <a:solidFill>
                  <a:srgbClr val="70D6C4"/>
                </a:solidFill>
                <a:latin typeface="Consolas"/>
                <a:ea typeface="Consolas"/>
                <a:cs typeface="Consolas"/>
              </a:rPr>
              <a:t>FROM reporting.product ORDER BY sku LIMIT 200;</a:t>
            </a:r>
          </a:p>
        </p:txBody>
      </p:sp>
      <p:sp>
        <p:nvSpPr>
          <p:cNvPr id="5" name="Rectangle 4">
            <a:extLst>
              <a:ext uri="{FF2B5EF4-FFF2-40B4-BE49-F238E27FC236}">
                <a16:creationId xmlns:a16="http://schemas.microsoft.com/office/drawing/2014/main" id="{B7D93A87-A124-46B9-A88A-1749AC974D38}"/>
              </a:ext>
            </a:extLst>
          </p:cNvPr>
          <p:cNvSpPr>
            <a:spLocks noGrp="1"/>
          </p:cNvSpPr>
          <p:nvPr/>
        </p:nvSpPr>
        <p:spPr>
          <a:xfrm>
            <a:off x="609600" y="2933700"/>
            <a:ext cx="10858500" cy="381000"/>
          </a:xfrm>
          <a:prstGeom prst="rect">
            <a:avLst/>
          </a:prstGeom>
          <a:noFill/>
          <a:ln w="0">
            <a:noFill/>
          </a:ln>
        </p:spPr>
        <p:txBody>
          <a:bodyPr wrap="square" lIns="0" tIns="0" rIns="0" bIns="0" anchor="t">
            <a:noAutofit/>
          </a:bodyPr>
          <a:lstStyle>
            <a:defPPr>
              <a:defRPr sz="2025" b="1">
                <a:solidFill>
                  <a:srgbClr val="F1F4F6"/>
                </a:solidFill>
                <a:latin typeface="Arial"/>
                <a:ea typeface="Arial"/>
                <a:cs typeface="Arial"/>
              </a:defRPr>
            </a:defPPr>
            <a:lvl1pPr>
              <a:defRPr sz="2025" b="1">
                <a:solidFill>
                  <a:srgbClr val="F1F4F6"/>
                </a:solidFill>
                <a:latin typeface="Arial"/>
                <a:ea typeface="Arial"/>
                <a:cs typeface="Arial"/>
              </a:defRPr>
            </a:lvl1pPr>
            <a:lvl2pPr>
              <a:defRPr sz="2025" b="1">
                <a:solidFill>
                  <a:srgbClr val="F1F4F6"/>
                </a:solidFill>
                <a:latin typeface="Arial"/>
                <a:ea typeface="Arial"/>
                <a:cs typeface="Arial"/>
              </a:defRPr>
            </a:lvl2pPr>
            <a:lvl3pPr>
              <a:defRPr sz="2025" b="1">
                <a:solidFill>
                  <a:srgbClr val="F1F4F6"/>
                </a:solidFill>
                <a:latin typeface="Arial"/>
                <a:ea typeface="Arial"/>
                <a:cs typeface="Arial"/>
              </a:defRPr>
            </a:lvl3pPr>
            <a:lvl4pPr>
              <a:defRPr sz="2025" b="1">
                <a:solidFill>
                  <a:srgbClr val="F1F4F6"/>
                </a:solidFill>
                <a:latin typeface="Arial"/>
                <a:ea typeface="Arial"/>
                <a:cs typeface="Arial"/>
              </a:defRPr>
            </a:lvl4pPr>
            <a:lvl5pPr>
              <a:defRPr sz="2025" b="1">
                <a:solidFill>
                  <a:srgbClr val="F1F4F6"/>
                </a:solidFill>
                <a:latin typeface="Arial"/>
                <a:ea typeface="Arial"/>
                <a:cs typeface="Arial"/>
              </a:defRPr>
            </a:lvl5pPr>
            <a:lvl6pPr>
              <a:defRPr sz="2025" b="1">
                <a:solidFill>
                  <a:srgbClr val="F1F4F6"/>
                </a:solidFill>
                <a:latin typeface="Arial"/>
                <a:ea typeface="Arial"/>
                <a:cs typeface="Arial"/>
              </a:defRPr>
            </a:lvl6pPr>
            <a:lvl7pPr>
              <a:defRPr sz="2025" b="1">
                <a:solidFill>
                  <a:srgbClr val="F1F4F6"/>
                </a:solidFill>
                <a:latin typeface="Arial"/>
                <a:ea typeface="Arial"/>
                <a:cs typeface="Arial"/>
              </a:defRPr>
            </a:lvl7pPr>
            <a:lvl8pPr>
              <a:defRPr sz="2025" b="1">
                <a:solidFill>
                  <a:srgbClr val="F1F4F6"/>
                </a:solidFill>
                <a:latin typeface="Arial"/>
                <a:ea typeface="Arial"/>
                <a:cs typeface="Arial"/>
              </a:defRPr>
            </a:lvl8pPr>
            <a:lvl9pPr>
              <a:defRPr sz="2025" b="1">
                <a:solidFill>
                  <a:srgbClr val="F1F4F6"/>
                </a:solidFill>
                <a:latin typeface="Arial"/>
                <a:ea typeface="Arial"/>
                <a:cs typeface="Arial"/>
              </a:defRPr>
            </a:lvl9pPr>
          </a:lstStyle>
          <a:p>
            <a:pPr>
              <a:defRPr sz="2025" b="1">
                <a:solidFill>
                  <a:srgbClr val="F1F4F6"/>
                </a:solidFill>
                <a:latin typeface="Arial"/>
                <a:ea typeface="Arial"/>
                <a:cs typeface="Arial"/>
              </a:defRPr>
            </a:pPr>
            <a:r>
              <a:rPr sz="2025" b="1">
                <a:solidFill>
                  <a:srgbClr val="F1F4F6"/>
                </a:solidFill>
                <a:latin typeface="Arial"/>
                <a:ea typeface="Arial"/>
                <a:cs typeface="Arial"/>
              </a:rPr>
              <a:t>Actual output excerpt: first 3 of 33 returned products</a:t>
            </a:r>
          </a:p>
        </p:txBody>
      </p:sp>
      <p:graphicFrame>
        <p:nvGraphicFramePr>
          <p:cNvPr id="6" name="Table 5">
            <a:extLst>
              <a:ext uri="{FF2B5EF4-FFF2-40B4-BE49-F238E27FC236}">
                <a16:creationId xmlns:a16="http://schemas.microsoft.com/office/drawing/2014/main" id="{28AF6F86-F17C-4D0C-9A8E-A2F359311009}"/>
              </a:ext>
            </a:extLst>
          </p:cNvPr>
          <p:cNvGraphicFramePr/>
          <p:nvPr/>
        </p:nvGraphicFramePr>
        <p:xfrm>
          <a:off x="609600" y="3533775"/>
          <a:ext cx="10972800" cy="1857376"/>
        </p:xfrm>
        <a:graphic>
          <a:graphicData uri="http://schemas.openxmlformats.org/drawingml/2006/table">
            <a:tbl>
              <a:tblPr firstRow="1"/>
              <a:tblGrid>
                <a:gridCol w="333375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067050">
                  <a:extLst>
                    <a:ext uri="{9D8B030D-6E8A-4147-A177-3AD203B41FA5}">
                      <a16:colId xmlns:a16="http://schemas.microsoft.com/office/drawing/2014/main" val="20002"/>
                    </a:ext>
                  </a:extLst>
                </a:gridCol>
              </a:tblGrid>
              <a:tr h="464344">
                <a:tc>
                  <a:txBody>
                    <a:bodyPr/>
                    <a:lstStyle/>
                    <a:p>
                      <a:r>
                        <a:rPr sz="1875" b="1">
                          <a:solidFill>
                            <a:srgbClr val="70D6C4"/>
                          </a:solidFill>
                          <a:latin typeface="Arial"/>
                          <a:ea typeface="Arial"/>
                          <a:cs typeface="Arial"/>
                        </a:rPr>
                        <a:t>sku</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product_name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catalogue_price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464344">
                <a:tc>
                  <a:txBody>
                    <a:bodyPr/>
                    <a:lstStyle/>
                    <a:p>
                      <a:r>
                        <a:rPr sz="1875" b="0">
                          <a:solidFill>
                            <a:srgbClr val="F1F4F6"/>
                          </a:solidFill>
                          <a:latin typeface="Arial"/>
                          <a:ea typeface="Arial"/>
                          <a:cs typeface="Arial"/>
                        </a:rPr>
                        <a:t>DEMO-HUB</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USB-C Hub</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1499.00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464344">
                <a:tc>
                  <a:txBody>
                    <a:bodyPr/>
                    <a:lstStyle/>
                    <a:p>
                      <a:r>
                        <a:rPr sz="1875" b="0">
                          <a:solidFill>
                            <a:srgbClr val="F1F4F6"/>
                          </a:solidFill>
                          <a:latin typeface="Arial"/>
                          <a:ea typeface="Arial"/>
                          <a:cs typeface="Arial"/>
                        </a:rPr>
                        <a:t>DEMO-KEYBOARD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Wireless Keyboard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2499.00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464344">
                <a:tc>
                  <a:txBody>
                    <a:bodyPr/>
                    <a:lstStyle/>
                    <a:p>
                      <a:r>
                        <a:rPr sz="1875" b="0">
                          <a:solidFill>
                            <a:srgbClr val="F1F4F6"/>
                          </a:solidFill>
                          <a:latin typeface="Arial"/>
                          <a:ea typeface="Arial"/>
                          <a:cs typeface="Arial"/>
                        </a:rPr>
                        <a:t>DEMO-MOUSE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Wireless Mouse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799.00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3B315DF5-156A-4431-9AE7-8B69B0A4B600}"/>
              </a:ext>
            </a:extLst>
          </p:cNvPr>
          <p:cNvSpPr>
            <a:spLocks noGrp="1"/>
          </p:cNvSpPr>
          <p:nvPr/>
        </p:nvSpPr>
        <p:spPr>
          <a:xfrm>
            <a:off x="609600" y="5686425"/>
            <a:ext cx="10858500" cy="381000"/>
          </a:xfrm>
          <a:prstGeom prst="rect">
            <a:avLst/>
          </a:prstGeom>
          <a:noFill/>
          <a:ln w="0">
            <a:noFill/>
          </a:ln>
        </p:spPr>
        <p:txBody>
          <a:bodyPr wrap="square" lIns="0" tIns="0" rIns="0" bIns="0" anchor="t">
            <a:noAutofit/>
          </a:bodyPr>
          <a:lstStyle>
            <a:defPPr>
              <a:defRPr sz="1950" b="0">
                <a:solidFill>
                  <a:srgbClr val="70D6C4"/>
                </a:solidFill>
                <a:latin typeface="Arial"/>
                <a:ea typeface="Arial"/>
                <a:cs typeface="Arial"/>
              </a:defRPr>
            </a:defPPr>
            <a:lvl1pPr>
              <a:defRPr sz="1950" b="0">
                <a:solidFill>
                  <a:srgbClr val="70D6C4"/>
                </a:solidFill>
                <a:latin typeface="Arial"/>
                <a:ea typeface="Arial"/>
                <a:cs typeface="Arial"/>
              </a:defRPr>
            </a:lvl1pPr>
            <a:lvl2pPr>
              <a:defRPr sz="1950" b="0">
                <a:solidFill>
                  <a:srgbClr val="70D6C4"/>
                </a:solidFill>
                <a:latin typeface="Arial"/>
                <a:ea typeface="Arial"/>
                <a:cs typeface="Arial"/>
              </a:defRPr>
            </a:lvl2pPr>
            <a:lvl3pPr>
              <a:defRPr sz="1950" b="0">
                <a:solidFill>
                  <a:srgbClr val="70D6C4"/>
                </a:solidFill>
                <a:latin typeface="Arial"/>
                <a:ea typeface="Arial"/>
                <a:cs typeface="Arial"/>
              </a:defRPr>
            </a:lvl3pPr>
            <a:lvl4pPr>
              <a:defRPr sz="1950" b="0">
                <a:solidFill>
                  <a:srgbClr val="70D6C4"/>
                </a:solidFill>
                <a:latin typeface="Arial"/>
                <a:ea typeface="Arial"/>
                <a:cs typeface="Arial"/>
              </a:defRPr>
            </a:lvl4pPr>
            <a:lvl5pPr>
              <a:defRPr sz="1950" b="0">
                <a:solidFill>
                  <a:srgbClr val="70D6C4"/>
                </a:solidFill>
                <a:latin typeface="Arial"/>
                <a:ea typeface="Arial"/>
                <a:cs typeface="Arial"/>
              </a:defRPr>
            </a:lvl5pPr>
            <a:lvl6pPr>
              <a:defRPr sz="1950" b="0">
                <a:solidFill>
                  <a:srgbClr val="70D6C4"/>
                </a:solidFill>
                <a:latin typeface="Arial"/>
                <a:ea typeface="Arial"/>
                <a:cs typeface="Arial"/>
              </a:defRPr>
            </a:lvl6pPr>
            <a:lvl7pPr>
              <a:defRPr sz="1950" b="0">
                <a:solidFill>
                  <a:srgbClr val="70D6C4"/>
                </a:solidFill>
                <a:latin typeface="Arial"/>
                <a:ea typeface="Arial"/>
                <a:cs typeface="Arial"/>
              </a:defRPr>
            </a:lvl7pPr>
            <a:lvl8pPr>
              <a:defRPr sz="1950" b="0">
                <a:solidFill>
                  <a:srgbClr val="70D6C4"/>
                </a:solidFill>
                <a:latin typeface="Arial"/>
                <a:ea typeface="Arial"/>
                <a:cs typeface="Arial"/>
              </a:defRPr>
            </a:lvl8pPr>
            <a:lvl9pPr>
              <a:defRPr sz="1950" b="0">
                <a:solidFill>
                  <a:srgbClr val="70D6C4"/>
                </a:solidFill>
                <a:latin typeface="Arial"/>
                <a:ea typeface="Arial"/>
                <a:cs typeface="Arial"/>
              </a:defRPr>
            </a:lvl9pPr>
          </a:lstStyle>
          <a:p>
            <a:pPr>
              <a:defRPr sz="1950" b="0">
                <a:solidFill>
                  <a:srgbClr val="70D6C4"/>
                </a:solidFill>
                <a:latin typeface="Arial"/>
                <a:ea typeface="Arial"/>
                <a:cs typeface="Arial"/>
              </a:defRPr>
            </a:pPr>
            <a:r>
              <a:rPr sz="1950" b="0">
                <a:solidFill>
                  <a:srgbClr val="70D6C4"/>
                </a:solidFill>
                <a:latin typeface="Arial"/>
                <a:ea typeface="Arial"/>
                <a:cs typeface="Arial"/>
              </a:rPr>
              <a:t>The selected SKU is resolved to product_id before posting.</a:t>
            </a:r>
          </a:p>
        </p:txBody>
      </p:sp>
      <p:sp>
        <p:nvSpPr>
          <p:cNvPr id="8" name="Rectangle 7">
            <a:extLst>
              <a:ext uri="{FF2B5EF4-FFF2-40B4-BE49-F238E27FC236}">
                <a16:creationId xmlns:a16="http://schemas.microsoft.com/office/drawing/2014/main" id="{80BE2991-1022-4C35-BD8B-3253F9F6E2FF}"/>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The dropdown reads product records. Selecting an option does not alter inventory.</a:t>
            </a:r>
          </a:p>
        </p:txBody>
      </p:sp>
    </p:spTree>
    <p:extLst>
      <p:ext uri="{BB962C8B-B14F-4D97-AF65-F5344CB8AC3E}">
        <p14:creationId xmlns:p14="http://schemas.microsoft.com/office/powerpoint/2010/main" val="5892869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0D325D4-8D27-4358-ACA8-89FCC1AC93F1}"/>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Inventory Management: receive stock</a:t>
            </a:r>
          </a:p>
        </p:txBody>
      </p:sp>
      <p:sp>
        <p:nvSpPr>
          <p:cNvPr id="2" name="Rectangle 1">
            <a:extLst>
              <a:ext uri="{FF2B5EF4-FFF2-40B4-BE49-F238E27FC236}">
                <a16:creationId xmlns:a16="http://schemas.microsoft.com/office/drawing/2014/main" id="{C1B609E9-2E24-47D9-9785-D66BADDB68C5}"/>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34</a:t>
            </a:r>
          </a:p>
        </p:txBody>
      </p:sp>
      <p:sp>
        <p:nvSpPr>
          <p:cNvPr id="3" name="Rectangle 2">
            <a:extLst>
              <a:ext uri="{FF2B5EF4-FFF2-40B4-BE49-F238E27FC236}">
                <a16:creationId xmlns:a16="http://schemas.microsoft.com/office/drawing/2014/main" id="{6209E066-A7BF-42C7-BCA5-617E8A59F7DD}"/>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E88A5952-1722-4B83-9179-FB9C6C589897}"/>
              </a:ext>
            </a:extLst>
          </p:cNvPr>
          <p:cNvSpPr>
            <a:spLocks noGrp="1"/>
          </p:cNvSpPr>
          <p:nvPr/>
        </p:nvSpPr>
        <p:spPr>
          <a:xfrm>
            <a:off x="609600" y="1428750"/>
            <a:ext cx="10953750" cy="3476625"/>
          </a:xfrm>
          <a:prstGeom prst="rect">
            <a:avLst/>
          </a:prstGeom>
          <a:noFill/>
          <a:ln w="0">
            <a:noFill/>
          </a:ln>
        </p:spPr>
        <p:txBody>
          <a:bodyPr wrap="square" lIns="0" tIns="0" rIns="0" bIns="0" anchor="t">
            <a:noAutofit/>
          </a:bodyPr>
          <a:lstStyle>
            <a:defPPr>
              <a:defRPr sz="1650" b="0">
                <a:solidFill>
                  <a:srgbClr val="70D6C4"/>
                </a:solidFill>
                <a:latin typeface="Consolas"/>
                <a:ea typeface="Consolas"/>
                <a:cs typeface="Consolas"/>
              </a:defRPr>
            </a:defPPr>
            <a:lvl1pPr>
              <a:defRPr sz="1650" b="0">
                <a:solidFill>
                  <a:srgbClr val="70D6C4"/>
                </a:solidFill>
                <a:latin typeface="Consolas"/>
                <a:ea typeface="Consolas"/>
                <a:cs typeface="Consolas"/>
              </a:defRPr>
            </a:lvl1pPr>
            <a:lvl2pPr>
              <a:defRPr sz="1650" b="0">
                <a:solidFill>
                  <a:srgbClr val="70D6C4"/>
                </a:solidFill>
                <a:latin typeface="Consolas"/>
                <a:ea typeface="Consolas"/>
                <a:cs typeface="Consolas"/>
              </a:defRPr>
            </a:lvl2pPr>
            <a:lvl3pPr>
              <a:defRPr sz="1650" b="0">
                <a:solidFill>
                  <a:srgbClr val="70D6C4"/>
                </a:solidFill>
                <a:latin typeface="Consolas"/>
                <a:ea typeface="Consolas"/>
                <a:cs typeface="Consolas"/>
              </a:defRPr>
            </a:lvl3pPr>
            <a:lvl4pPr>
              <a:defRPr sz="1650" b="0">
                <a:solidFill>
                  <a:srgbClr val="70D6C4"/>
                </a:solidFill>
                <a:latin typeface="Consolas"/>
                <a:ea typeface="Consolas"/>
                <a:cs typeface="Consolas"/>
              </a:defRPr>
            </a:lvl4pPr>
            <a:lvl5pPr>
              <a:defRPr sz="1650" b="0">
                <a:solidFill>
                  <a:srgbClr val="70D6C4"/>
                </a:solidFill>
                <a:latin typeface="Consolas"/>
                <a:ea typeface="Consolas"/>
                <a:cs typeface="Consolas"/>
              </a:defRPr>
            </a:lvl5pPr>
            <a:lvl6pPr>
              <a:defRPr sz="1650" b="0">
                <a:solidFill>
                  <a:srgbClr val="70D6C4"/>
                </a:solidFill>
                <a:latin typeface="Consolas"/>
                <a:ea typeface="Consolas"/>
                <a:cs typeface="Consolas"/>
              </a:defRPr>
            </a:lvl6pPr>
            <a:lvl7pPr>
              <a:defRPr sz="1650" b="0">
                <a:solidFill>
                  <a:srgbClr val="70D6C4"/>
                </a:solidFill>
                <a:latin typeface="Consolas"/>
                <a:ea typeface="Consolas"/>
                <a:cs typeface="Consolas"/>
              </a:defRPr>
            </a:lvl7pPr>
            <a:lvl8pPr>
              <a:defRPr sz="1650" b="0">
                <a:solidFill>
                  <a:srgbClr val="70D6C4"/>
                </a:solidFill>
                <a:latin typeface="Consolas"/>
                <a:ea typeface="Consolas"/>
                <a:cs typeface="Consolas"/>
              </a:defRPr>
            </a:lvl8pPr>
            <a:lvl9pPr>
              <a:defRPr sz="1650" b="0">
                <a:solidFill>
                  <a:srgbClr val="70D6C4"/>
                </a:solidFill>
                <a:latin typeface="Consolas"/>
                <a:ea typeface="Consolas"/>
                <a:cs typeface="Consolas"/>
              </a:defRPr>
            </a:lvl9pPr>
          </a:lstStyle>
          <a:p>
            <a:pPr>
              <a:defRPr sz="1650" b="0">
                <a:solidFill>
                  <a:srgbClr val="70D6C4"/>
                </a:solidFill>
                <a:latin typeface="Consolas"/>
                <a:ea typeface="Consolas"/>
                <a:cs typeface="Consolas"/>
              </a:defRPr>
            </a:pPr>
            <a:r>
              <a:rPr sz="1650" b="0">
                <a:solidFill>
                  <a:srgbClr val="70D6C4"/>
                </a:solidFill>
                <a:latin typeface="Consolas"/>
                <a:ea typeface="Consolas"/>
                <a:cs typeface="Consolas"/>
              </a:rPr>
              <a:t>-- Inside post_stock: receipt branch (10 units)</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INSERT INTO reporting.inventory_balance(product_id)</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VALUES(p_product) ON CONFLICT DO NOTHING;</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SELECT quantity INTO balance FROM reporting.inventory_balance</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WHERE product_id=p_product FOR UPDATE;</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UPDATE reporting.inventory_balance</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SET quantity=quantity+p_quantity,updated_at=now()</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WHERE product_id=p_product;</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INSERT INTO reporting.stock_movement</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 (product_id,kind,quantity_delta,reference,note,actor,</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  customer_id,unit_price,order_id,posted_on)</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VALUES(p_product,'receipt',p_quantity,p_reference,</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 COALESCE(p_note,''),p_actor,NULL,NULL,NULL,p_date);</a:t>
            </a:r>
          </a:p>
        </p:txBody>
      </p:sp>
      <p:graphicFrame>
        <p:nvGraphicFramePr>
          <p:cNvPr id="5" name="Table 4">
            <a:extLst>
              <a:ext uri="{FF2B5EF4-FFF2-40B4-BE49-F238E27FC236}">
                <a16:creationId xmlns:a16="http://schemas.microsoft.com/office/drawing/2014/main" id="{A5E38D85-3055-4722-B037-560FF77F8A35}"/>
              </a:ext>
            </a:extLst>
          </p:cNvPr>
          <p:cNvGraphicFramePr/>
          <p:nvPr/>
        </p:nvGraphicFramePr>
        <p:xfrm>
          <a:off x="609600" y="5191125"/>
          <a:ext cx="10972800" cy="838200"/>
        </p:xfrm>
        <a:graphic>
          <a:graphicData uri="http://schemas.openxmlformats.org/drawingml/2006/table">
            <a:tbl>
              <a:tblPr firstRow="1"/>
              <a:tblGrid>
                <a:gridCol w="33337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gridCol w="2686050">
                  <a:extLst>
                    <a:ext uri="{9D8B030D-6E8A-4147-A177-3AD203B41FA5}">
                      <a16:colId xmlns:a16="http://schemas.microsoft.com/office/drawing/2014/main" val="20003"/>
                    </a:ext>
                  </a:extLst>
                </a:gridCol>
              </a:tblGrid>
              <a:tr h="419100">
                <a:tc>
                  <a:txBody>
                    <a:bodyPr/>
                    <a:lstStyle/>
                    <a:p>
                      <a:r>
                        <a:rPr sz="1800" b="1">
                          <a:solidFill>
                            <a:srgbClr val="70D6C4"/>
                          </a:solidFill>
                          <a:latin typeface="Arial"/>
                          <a:ea typeface="Arial"/>
                          <a:cs typeface="Arial"/>
                        </a:rPr>
                        <a:t>Returned movement_id</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Stock before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Stock after</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Ledger quantity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419100">
                <a:tc>
                  <a:txBody>
                    <a:bodyPr/>
                    <a:lstStyle/>
                    <a:p>
                      <a:r>
                        <a:rPr sz="1800" b="0">
                          <a:solidFill>
                            <a:srgbClr val="F1F4F6"/>
                          </a:solidFill>
                          <a:latin typeface="Arial"/>
                          <a:ea typeface="Arial"/>
                          <a:cs typeface="Arial"/>
                        </a:rPr>
                        <a:t>13</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10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10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
        <p:nvSpPr>
          <p:cNvPr id="6" name="Rectangle 5">
            <a:extLst>
              <a:ext uri="{FF2B5EF4-FFF2-40B4-BE49-F238E27FC236}">
                <a16:creationId xmlns:a16="http://schemas.microsoft.com/office/drawing/2014/main" id="{A8A9FC44-4CED-4EAB-BFB0-65CE59C0F31B}"/>
              </a:ext>
            </a:extLst>
          </p:cNvPr>
          <p:cNvSpPr>
            <a:spLocks noGrp="1"/>
          </p:cNvSpPr>
          <p:nvPr/>
        </p:nvSpPr>
        <p:spPr>
          <a:xfrm>
            <a:off x="609600" y="6191250"/>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Receipt-branch equivalent of the function SQL. Ledger delta=+10; no customer sales order is created.</a:t>
            </a:r>
          </a:p>
        </p:txBody>
      </p:sp>
    </p:spTree>
    <p:extLst>
      <p:ext uri="{BB962C8B-B14F-4D97-AF65-F5344CB8AC3E}">
        <p14:creationId xmlns:p14="http://schemas.microsoft.com/office/powerpoint/2010/main" val="444215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9BC39A-0C82-48DE-96DF-48C8E15D6C02}"/>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Inventory Management: sale checks and records</a:t>
            </a:r>
          </a:p>
        </p:txBody>
      </p:sp>
      <p:sp>
        <p:nvSpPr>
          <p:cNvPr id="2" name="Rectangle 1">
            <a:extLst>
              <a:ext uri="{FF2B5EF4-FFF2-40B4-BE49-F238E27FC236}">
                <a16:creationId xmlns:a16="http://schemas.microsoft.com/office/drawing/2014/main" id="{4F4A45D4-24C4-497E-B6AD-91AA0E52B4E1}"/>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35</a:t>
            </a:r>
          </a:p>
        </p:txBody>
      </p:sp>
      <p:sp>
        <p:nvSpPr>
          <p:cNvPr id="3" name="Rectangle 2">
            <a:extLst>
              <a:ext uri="{FF2B5EF4-FFF2-40B4-BE49-F238E27FC236}">
                <a16:creationId xmlns:a16="http://schemas.microsoft.com/office/drawing/2014/main" id="{FC9212E0-E0BF-44E8-93FB-1936023CED87}"/>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01922BB1-DE27-4779-B673-4D6FCFD49658}"/>
              </a:ext>
            </a:extLst>
          </p:cNvPr>
          <p:cNvSpPr>
            <a:spLocks noGrp="1"/>
          </p:cNvSpPr>
          <p:nvPr/>
        </p:nvSpPr>
        <p:spPr>
          <a:xfrm>
            <a:off x="609600" y="1428750"/>
            <a:ext cx="10953750" cy="3476625"/>
          </a:xfrm>
          <a:prstGeom prst="rect">
            <a:avLst/>
          </a:prstGeom>
          <a:noFill/>
          <a:ln w="0">
            <a:noFill/>
          </a:ln>
        </p:spPr>
        <p:txBody>
          <a:bodyPr wrap="square" lIns="0" tIns="0" rIns="0" bIns="0" anchor="t">
            <a:noAutofit/>
          </a:bodyPr>
          <a:lstStyle>
            <a:defPPr>
              <a:defRPr sz="1650" b="0">
                <a:solidFill>
                  <a:srgbClr val="70D6C4"/>
                </a:solidFill>
                <a:latin typeface="Consolas"/>
                <a:ea typeface="Consolas"/>
                <a:cs typeface="Consolas"/>
              </a:defRPr>
            </a:defPPr>
            <a:lvl1pPr>
              <a:defRPr sz="1650" b="0">
                <a:solidFill>
                  <a:srgbClr val="70D6C4"/>
                </a:solidFill>
                <a:latin typeface="Consolas"/>
                <a:ea typeface="Consolas"/>
                <a:cs typeface="Consolas"/>
              </a:defRPr>
            </a:lvl1pPr>
            <a:lvl2pPr>
              <a:defRPr sz="1650" b="0">
                <a:solidFill>
                  <a:srgbClr val="70D6C4"/>
                </a:solidFill>
                <a:latin typeface="Consolas"/>
                <a:ea typeface="Consolas"/>
                <a:cs typeface="Consolas"/>
              </a:defRPr>
            </a:lvl2pPr>
            <a:lvl3pPr>
              <a:defRPr sz="1650" b="0">
                <a:solidFill>
                  <a:srgbClr val="70D6C4"/>
                </a:solidFill>
                <a:latin typeface="Consolas"/>
                <a:ea typeface="Consolas"/>
                <a:cs typeface="Consolas"/>
              </a:defRPr>
            </a:lvl3pPr>
            <a:lvl4pPr>
              <a:defRPr sz="1650" b="0">
                <a:solidFill>
                  <a:srgbClr val="70D6C4"/>
                </a:solidFill>
                <a:latin typeface="Consolas"/>
                <a:ea typeface="Consolas"/>
                <a:cs typeface="Consolas"/>
              </a:defRPr>
            </a:lvl4pPr>
            <a:lvl5pPr>
              <a:defRPr sz="1650" b="0">
                <a:solidFill>
                  <a:srgbClr val="70D6C4"/>
                </a:solidFill>
                <a:latin typeface="Consolas"/>
                <a:ea typeface="Consolas"/>
                <a:cs typeface="Consolas"/>
              </a:defRPr>
            </a:lvl5pPr>
            <a:lvl6pPr>
              <a:defRPr sz="1650" b="0">
                <a:solidFill>
                  <a:srgbClr val="70D6C4"/>
                </a:solidFill>
                <a:latin typeface="Consolas"/>
                <a:ea typeface="Consolas"/>
                <a:cs typeface="Consolas"/>
              </a:defRPr>
            </a:lvl6pPr>
            <a:lvl7pPr>
              <a:defRPr sz="1650" b="0">
                <a:solidFill>
                  <a:srgbClr val="70D6C4"/>
                </a:solidFill>
                <a:latin typeface="Consolas"/>
                <a:ea typeface="Consolas"/>
                <a:cs typeface="Consolas"/>
              </a:defRPr>
            </a:lvl7pPr>
            <a:lvl8pPr>
              <a:defRPr sz="1650" b="0">
                <a:solidFill>
                  <a:srgbClr val="70D6C4"/>
                </a:solidFill>
                <a:latin typeface="Consolas"/>
                <a:ea typeface="Consolas"/>
                <a:cs typeface="Consolas"/>
              </a:defRPr>
            </a:lvl8pPr>
            <a:lvl9pPr>
              <a:defRPr sz="1650" b="0">
                <a:solidFill>
                  <a:srgbClr val="70D6C4"/>
                </a:solidFill>
                <a:latin typeface="Consolas"/>
                <a:ea typeface="Consolas"/>
                <a:cs typeface="Consolas"/>
              </a:defRPr>
            </a:lvl9pPr>
          </a:lstStyle>
          <a:p>
            <a:pPr>
              <a:defRPr sz="1650" b="0">
                <a:solidFill>
                  <a:srgbClr val="70D6C4"/>
                </a:solidFill>
                <a:latin typeface="Consolas"/>
                <a:ea typeface="Consolas"/>
                <a:cs typeface="Consolas"/>
              </a:defRPr>
            </a:pPr>
            <a:r>
              <a:rPr sz="1650" b="0">
                <a:solidFill>
                  <a:srgbClr val="70D6C4"/>
                </a:solidFill>
                <a:latin typeface="Consolas"/>
                <a:ea typeface="Consolas"/>
                <a:cs typeface="Consolas"/>
              </a:rPr>
              <a:t>SELECT quantity INTO balance FROM reporting.inventory_balance</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WHERE product_id=p_product FOR UPDATE;</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IF balance&lt;p_quantity THEN</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 RAISE EXCEPTION 'Insufficient stock: % available, % requested',</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 balance,p_quantity USING ERRCODE='23514';</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END IF;</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INSERT INTO reporting.sales_order</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 (order_ref,customer_id,ordered_at,status)</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VALUES('STOCK-'||p_reference,p_customer,p_date,'completed')</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RETURNING order_id INTO sale_id;</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INSERT INTO reporting.order_item</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 (order_id,line_number,product_id,quantity,unit_price)</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VALUES(sale_id,1,p_product,p_quantity,p_price);</a:t>
            </a:r>
          </a:p>
        </p:txBody>
      </p:sp>
      <p:graphicFrame>
        <p:nvGraphicFramePr>
          <p:cNvPr id="5" name="Table 4">
            <a:extLst>
              <a:ext uri="{FF2B5EF4-FFF2-40B4-BE49-F238E27FC236}">
                <a16:creationId xmlns:a16="http://schemas.microsoft.com/office/drawing/2014/main" id="{7A5E0606-2C38-4DE0-A5D4-D9AA6AB0920D}"/>
              </a:ext>
            </a:extLst>
          </p:cNvPr>
          <p:cNvGraphicFramePr/>
          <p:nvPr/>
        </p:nvGraphicFramePr>
        <p:xfrm>
          <a:off x="609600" y="5191125"/>
          <a:ext cx="10972800" cy="838200"/>
        </p:xfrm>
        <a:graphic>
          <a:graphicData uri="http://schemas.openxmlformats.org/drawingml/2006/table">
            <a:tbl>
              <a:tblPr firstRow="1"/>
              <a:tblGrid>
                <a:gridCol w="4572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tblGrid>
              <a:tr h="419100">
                <a:tc>
                  <a:txBody>
                    <a:bodyPr/>
                    <a:lstStyle/>
                    <a:p>
                      <a:r>
                        <a:rPr sz="1800" b="1">
                          <a:solidFill>
                            <a:srgbClr val="70D6C4"/>
                          </a:solidFill>
                          <a:latin typeface="Arial"/>
                          <a:ea typeface="Arial"/>
                          <a:cs typeface="Arial"/>
                        </a:rPr>
                        <a:t>order_ref</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quantity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unit_price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line_total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419100">
                <a:tc>
                  <a:txBody>
                    <a:bodyPr/>
                    <a:lstStyle/>
                    <a:p>
                      <a:r>
                        <a:rPr sz="1800" b="0">
                          <a:solidFill>
                            <a:srgbClr val="F1F4F6"/>
                          </a:solidFill>
                          <a:latin typeface="Arial"/>
                          <a:ea typeface="Arial"/>
                          <a:cs typeface="Arial"/>
                        </a:rPr>
                        <a:t>STOCK-PPT-INV-SALE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225.00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
        <p:nvSpPr>
          <p:cNvPr id="6" name="Rectangle 5">
            <a:extLst>
              <a:ext uri="{FF2B5EF4-FFF2-40B4-BE49-F238E27FC236}">
                <a16:creationId xmlns:a16="http://schemas.microsoft.com/office/drawing/2014/main" id="{C0B4055C-21E9-4A60-A840-2164CC6B9B2F}"/>
              </a:ext>
            </a:extLst>
          </p:cNvPr>
          <p:cNvSpPr>
            <a:spLocks noGrp="1"/>
          </p:cNvSpPr>
          <p:nvPr/>
        </p:nvSpPr>
        <p:spPr>
          <a:xfrm>
            <a:off x="609600" y="6191250"/>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Sale branch inside post_stock. The row lock protects the check; order_id connects header and item.</a:t>
            </a:r>
          </a:p>
        </p:txBody>
      </p:sp>
    </p:spTree>
    <p:extLst>
      <p:ext uri="{BB962C8B-B14F-4D97-AF65-F5344CB8AC3E}">
        <p14:creationId xmlns:p14="http://schemas.microsoft.com/office/powerpoint/2010/main" val="14705945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C035C7-0C76-4C43-919C-929B39B2B0C9}"/>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Inventory Management: sale balance and ledger</a:t>
            </a:r>
          </a:p>
        </p:txBody>
      </p:sp>
      <p:sp>
        <p:nvSpPr>
          <p:cNvPr id="2" name="Rectangle 1">
            <a:extLst>
              <a:ext uri="{FF2B5EF4-FFF2-40B4-BE49-F238E27FC236}">
                <a16:creationId xmlns:a16="http://schemas.microsoft.com/office/drawing/2014/main" id="{806758EA-1DBC-4BC7-8935-71F5AE72C934}"/>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36</a:t>
            </a:r>
          </a:p>
        </p:txBody>
      </p:sp>
      <p:sp>
        <p:nvSpPr>
          <p:cNvPr id="3" name="Rectangle 2">
            <a:extLst>
              <a:ext uri="{FF2B5EF4-FFF2-40B4-BE49-F238E27FC236}">
                <a16:creationId xmlns:a16="http://schemas.microsoft.com/office/drawing/2014/main" id="{6147E6DA-43AA-4DA6-BDE5-33E26A1490E5}"/>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1A729646-852B-4DAF-A36D-3F77349AD869}"/>
              </a:ext>
            </a:extLst>
          </p:cNvPr>
          <p:cNvSpPr>
            <a:spLocks noGrp="1"/>
          </p:cNvSpPr>
          <p:nvPr/>
        </p:nvSpPr>
        <p:spPr>
          <a:xfrm>
            <a:off x="609600" y="1466850"/>
            <a:ext cx="10953750" cy="2809875"/>
          </a:xfrm>
          <a:prstGeom prst="rect">
            <a:avLst/>
          </a:prstGeom>
          <a:noFill/>
          <a:ln w="0">
            <a:noFill/>
          </a:ln>
        </p:spPr>
        <p:txBody>
          <a:bodyPr wrap="square" lIns="0" tIns="0" rIns="0" bIns="0" anchor="t">
            <a:noAutofit/>
          </a:bodyPr>
          <a:lstStyle>
            <a:defPPr>
              <a:defRPr sz="1725" b="0">
                <a:solidFill>
                  <a:srgbClr val="70D6C4"/>
                </a:solidFill>
                <a:latin typeface="Consolas"/>
                <a:ea typeface="Consolas"/>
                <a:cs typeface="Consolas"/>
              </a:defRPr>
            </a:defPPr>
            <a:lvl1pPr>
              <a:defRPr sz="1725" b="0">
                <a:solidFill>
                  <a:srgbClr val="70D6C4"/>
                </a:solidFill>
                <a:latin typeface="Consolas"/>
                <a:ea typeface="Consolas"/>
                <a:cs typeface="Consolas"/>
              </a:defRPr>
            </a:lvl1pPr>
            <a:lvl2pPr>
              <a:defRPr sz="1725" b="0">
                <a:solidFill>
                  <a:srgbClr val="70D6C4"/>
                </a:solidFill>
                <a:latin typeface="Consolas"/>
                <a:ea typeface="Consolas"/>
                <a:cs typeface="Consolas"/>
              </a:defRPr>
            </a:lvl2pPr>
            <a:lvl3pPr>
              <a:defRPr sz="1725" b="0">
                <a:solidFill>
                  <a:srgbClr val="70D6C4"/>
                </a:solidFill>
                <a:latin typeface="Consolas"/>
                <a:ea typeface="Consolas"/>
                <a:cs typeface="Consolas"/>
              </a:defRPr>
            </a:lvl3pPr>
            <a:lvl4pPr>
              <a:defRPr sz="1725" b="0">
                <a:solidFill>
                  <a:srgbClr val="70D6C4"/>
                </a:solidFill>
                <a:latin typeface="Consolas"/>
                <a:ea typeface="Consolas"/>
                <a:cs typeface="Consolas"/>
              </a:defRPr>
            </a:lvl4pPr>
            <a:lvl5pPr>
              <a:defRPr sz="1725" b="0">
                <a:solidFill>
                  <a:srgbClr val="70D6C4"/>
                </a:solidFill>
                <a:latin typeface="Consolas"/>
                <a:ea typeface="Consolas"/>
                <a:cs typeface="Consolas"/>
              </a:defRPr>
            </a:lvl5pPr>
            <a:lvl6pPr>
              <a:defRPr sz="1725" b="0">
                <a:solidFill>
                  <a:srgbClr val="70D6C4"/>
                </a:solidFill>
                <a:latin typeface="Consolas"/>
                <a:ea typeface="Consolas"/>
                <a:cs typeface="Consolas"/>
              </a:defRPr>
            </a:lvl6pPr>
            <a:lvl7pPr>
              <a:defRPr sz="1725" b="0">
                <a:solidFill>
                  <a:srgbClr val="70D6C4"/>
                </a:solidFill>
                <a:latin typeface="Consolas"/>
                <a:ea typeface="Consolas"/>
                <a:cs typeface="Consolas"/>
              </a:defRPr>
            </a:lvl7pPr>
            <a:lvl8pPr>
              <a:defRPr sz="1725" b="0">
                <a:solidFill>
                  <a:srgbClr val="70D6C4"/>
                </a:solidFill>
                <a:latin typeface="Consolas"/>
                <a:ea typeface="Consolas"/>
                <a:cs typeface="Consolas"/>
              </a:defRPr>
            </a:lvl8pPr>
            <a:lvl9pPr>
              <a:defRPr sz="1725" b="0">
                <a:solidFill>
                  <a:srgbClr val="70D6C4"/>
                </a:solidFill>
                <a:latin typeface="Consolas"/>
                <a:ea typeface="Consolas"/>
                <a:cs typeface="Consolas"/>
              </a:defRPr>
            </a:lvl9pPr>
          </a:lstStyle>
          <a:p>
            <a:pPr>
              <a:defRPr sz="1725" b="0">
                <a:solidFill>
                  <a:srgbClr val="70D6C4"/>
                </a:solidFill>
                <a:latin typeface="Consolas"/>
                <a:ea typeface="Consolas"/>
                <a:cs typeface="Consolas"/>
              </a:defRPr>
            </a:pPr>
            <a:r>
              <a:rPr sz="1725" b="0">
                <a:solidFill>
                  <a:srgbClr val="70D6C4"/>
                </a:solidFill>
                <a:latin typeface="Consolas"/>
                <a:ea typeface="Consolas"/>
                <a:cs typeface="Consolas"/>
              </a:rPr>
              <a:t>UPDATE reporting.inventory_balance</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SET quantity=quantity-p_quantity,updated_at=now()</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WHERE product_id=p_product;</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INSERT INTO reporting.stock_movement</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(product_id,kind,quantity_delta,reference,note,actor,</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customer_id,unit_price,order_id,posted_on)</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VALUES(p_product,'sale',-p_quantity,p_reference,</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COALESCE(p_note,''),p_actor,p_customer,p_price,sale_id,p_date)</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RETURNING movement_id INTO movement;</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RETURN movement;</a:t>
            </a:r>
          </a:p>
        </p:txBody>
      </p:sp>
      <p:graphicFrame>
        <p:nvGraphicFramePr>
          <p:cNvPr id="5" name="Table 4">
            <a:extLst>
              <a:ext uri="{FF2B5EF4-FFF2-40B4-BE49-F238E27FC236}">
                <a16:creationId xmlns:a16="http://schemas.microsoft.com/office/drawing/2014/main" id="{1C1FC034-BD32-463B-850A-549608E75630}"/>
              </a:ext>
            </a:extLst>
          </p:cNvPr>
          <p:cNvGraphicFramePr/>
          <p:nvPr/>
        </p:nvGraphicFramePr>
        <p:xfrm>
          <a:off x="609600" y="4695825"/>
          <a:ext cx="10972800" cy="1000126"/>
        </p:xfrm>
        <a:graphic>
          <a:graphicData uri="http://schemas.openxmlformats.org/drawingml/2006/table">
            <a:tbl>
              <a:tblPr firstRow="1"/>
              <a:tblGrid>
                <a:gridCol w="23812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gridCol w="2781300">
                  <a:extLst>
                    <a:ext uri="{9D8B030D-6E8A-4147-A177-3AD203B41FA5}">
                      <a16:colId xmlns:a16="http://schemas.microsoft.com/office/drawing/2014/main" val="20003"/>
                    </a:ext>
                  </a:extLst>
                </a:gridCol>
              </a:tblGrid>
              <a:tr h="500063">
                <a:tc>
                  <a:txBody>
                    <a:bodyPr/>
                    <a:lstStyle/>
                    <a:p>
                      <a:r>
                        <a:rPr sz="1875" b="1">
                          <a:solidFill>
                            <a:srgbClr val="70D6C4"/>
                          </a:solidFill>
                          <a:latin typeface="Arial"/>
                          <a:ea typeface="Arial"/>
                          <a:cs typeface="Arial"/>
                        </a:rPr>
                        <a:t>movement_id</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balance quantity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ledger_quantity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reconciled</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00063">
                <a:tc>
                  <a:txBody>
                    <a:bodyPr/>
                    <a:lstStyle/>
                    <a:p>
                      <a:r>
                        <a:rPr sz="1875" b="0">
                          <a:solidFill>
                            <a:srgbClr val="F1F4F6"/>
                          </a:solidFill>
                          <a:latin typeface="Arial"/>
                          <a:ea typeface="Arial"/>
                          <a:cs typeface="Arial"/>
                        </a:rPr>
                        <a:t>14</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7</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7</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true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
        <p:nvSpPr>
          <p:cNvPr id="6" name="Rectangle 5">
            <a:extLst>
              <a:ext uri="{FF2B5EF4-FFF2-40B4-BE49-F238E27FC236}">
                <a16:creationId xmlns:a16="http://schemas.microsoft.com/office/drawing/2014/main" id="{FCED469C-6F4D-4AEF-A088-F457105CFD3A}"/>
              </a:ext>
            </a:extLst>
          </p:cNvPr>
          <p:cNvSpPr>
            <a:spLocks noGrp="1"/>
          </p:cNvSpPr>
          <p:nvPr/>
        </p:nvSpPr>
        <p:spPr>
          <a:xfrm>
            <a:off x="609600" y="5981700"/>
            <a:ext cx="10858500" cy="333375"/>
          </a:xfrm>
          <a:prstGeom prst="rect">
            <a:avLst/>
          </a:prstGeom>
          <a:noFill/>
          <a:ln w="0">
            <a:noFill/>
          </a:ln>
        </p:spPr>
        <p:txBody>
          <a:bodyPr wrap="square" lIns="0" tIns="0" rIns="0" bIns="0" anchor="t">
            <a:noAutofit/>
          </a:bodyPr>
          <a:lstStyle>
            <a:defPPr>
              <a:defRPr sz="1875" b="0">
                <a:solidFill>
                  <a:srgbClr val="70D6C4"/>
                </a:solidFill>
                <a:latin typeface="Arial"/>
                <a:ea typeface="Arial"/>
                <a:cs typeface="Arial"/>
              </a:defRPr>
            </a:defPPr>
            <a:lvl1pPr>
              <a:defRPr sz="1875" b="0">
                <a:solidFill>
                  <a:srgbClr val="70D6C4"/>
                </a:solidFill>
                <a:latin typeface="Arial"/>
                <a:ea typeface="Arial"/>
                <a:cs typeface="Arial"/>
              </a:defRPr>
            </a:lvl1pPr>
            <a:lvl2pPr>
              <a:defRPr sz="1875" b="0">
                <a:solidFill>
                  <a:srgbClr val="70D6C4"/>
                </a:solidFill>
                <a:latin typeface="Arial"/>
                <a:ea typeface="Arial"/>
                <a:cs typeface="Arial"/>
              </a:defRPr>
            </a:lvl2pPr>
            <a:lvl3pPr>
              <a:defRPr sz="1875" b="0">
                <a:solidFill>
                  <a:srgbClr val="70D6C4"/>
                </a:solidFill>
                <a:latin typeface="Arial"/>
                <a:ea typeface="Arial"/>
                <a:cs typeface="Arial"/>
              </a:defRPr>
            </a:lvl3pPr>
            <a:lvl4pPr>
              <a:defRPr sz="1875" b="0">
                <a:solidFill>
                  <a:srgbClr val="70D6C4"/>
                </a:solidFill>
                <a:latin typeface="Arial"/>
                <a:ea typeface="Arial"/>
                <a:cs typeface="Arial"/>
              </a:defRPr>
            </a:lvl4pPr>
            <a:lvl5pPr>
              <a:defRPr sz="1875" b="0">
                <a:solidFill>
                  <a:srgbClr val="70D6C4"/>
                </a:solidFill>
                <a:latin typeface="Arial"/>
                <a:ea typeface="Arial"/>
                <a:cs typeface="Arial"/>
              </a:defRPr>
            </a:lvl5pPr>
            <a:lvl6pPr>
              <a:defRPr sz="1875" b="0">
                <a:solidFill>
                  <a:srgbClr val="70D6C4"/>
                </a:solidFill>
                <a:latin typeface="Arial"/>
                <a:ea typeface="Arial"/>
                <a:cs typeface="Arial"/>
              </a:defRPr>
            </a:lvl6pPr>
            <a:lvl7pPr>
              <a:defRPr sz="1875" b="0">
                <a:solidFill>
                  <a:srgbClr val="70D6C4"/>
                </a:solidFill>
                <a:latin typeface="Arial"/>
                <a:ea typeface="Arial"/>
                <a:cs typeface="Arial"/>
              </a:defRPr>
            </a:lvl7pPr>
            <a:lvl8pPr>
              <a:defRPr sz="1875" b="0">
                <a:solidFill>
                  <a:srgbClr val="70D6C4"/>
                </a:solidFill>
                <a:latin typeface="Arial"/>
                <a:ea typeface="Arial"/>
                <a:cs typeface="Arial"/>
              </a:defRPr>
            </a:lvl8pPr>
            <a:lvl9pPr>
              <a:defRPr sz="1875" b="0">
                <a:solidFill>
                  <a:srgbClr val="70D6C4"/>
                </a:solidFill>
                <a:latin typeface="Arial"/>
                <a:ea typeface="Arial"/>
                <a:cs typeface="Arial"/>
              </a:defRPr>
            </a:lvl9pPr>
          </a:lstStyle>
          <a:p>
            <a:pPr>
              <a:defRPr sz="1875" b="0">
                <a:solidFill>
                  <a:srgbClr val="70D6C4"/>
                </a:solidFill>
                <a:latin typeface="Arial"/>
                <a:ea typeface="Arial"/>
                <a:cs typeface="Arial"/>
              </a:defRPr>
            </a:pPr>
            <a:r>
              <a:rPr sz="1875" b="0">
                <a:solidFill>
                  <a:srgbClr val="70D6C4"/>
                </a:solidFill>
                <a:latin typeface="Arial"/>
                <a:ea typeface="Arial"/>
                <a:cs typeface="Arial"/>
              </a:rPr>
              <a:t>Commit together: order + item + balance + ledger movement.</a:t>
            </a:r>
          </a:p>
        </p:txBody>
      </p:sp>
    </p:spTree>
    <p:extLst>
      <p:ext uri="{BB962C8B-B14F-4D97-AF65-F5344CB8AC3E}">
        <p14:creationId xmlns:p14="http://schemas.microsoft.com/office/powerpoint/2010/main" val="905732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413FE1-5276-41B5-B9B6-FA2CECC13165}"/>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View: reuse the completed-sales relation</a:t>
            </a:r>
          </a:p>
        </p:txBody>
      </p:sp>
      <p:sp>
        <p:nvSpPr>
          <p:cNvPr id="2" name="Rectangle 1">
            <a:extLst>
              <a:ext uri="{FF2B5EF4-FFF2-40B4-BE49-F238E27FC236}">
                <a16:creationId xmlns:a16="http://schemas.microsoft.com/office/drawing/2014/main" id="{E9AA411C-8899-4CB6-B69F-964C9E352CAC}"/>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37</a:t>
            </a:r>
          </a:p>
        </p:txBody>
      </p:sp>
      <p:sp>
        <p:nvSpPr>
          <p:cNvPr id="3" name="Rectangle 2">
            <a:extLst>
              <a:ext uri="{FF2B5EF4-FFF2-40B4-BE49-F238E27FC236}">
                <a16:creationId xmlns:a16="http://schemas.microsoft.com/office/drawing/2014/main" id="{60EE01C8-D616-46C6-A869-657F3EC3696D}"/>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BD1721F8-5D94-4485-B8F9-B4B1079A4394}"/>
              </a:ext>
            </a:extLst>
          </p:cNvPr>
          <p:cNvSpPr>
            <a:spLocks noGrp="1"/>
          </p:cNvSpPr>
          <p:nvPr/>
        </p:nvSpPr>
        <p:spPr>
          <a:xfrm>
            <a:off x="609600" y="1447800"/>
            <a:ext cx="10858500" cy="619125"/>
          </a:xfrm>
          <a:prstGeom prst="rect">
            <a:avLst/>
          </a:prstGeom>
          <a:noFill/>
          <a:ln w="0">
            <a:noFill/>
          </a:ln>
        </p:spPr>
        <p:txBody>
          <a:bodyPr wrap="square" lIns="0" tIns="0" rIns="0" bIns="0" anchor="t">
            <a:noAutofit/>
          </a:bodyPr>
          <a:lstStyle>
            <a:defPPr>
              <a:defRPr sz="2025" b="0">
                <a:solidFill>
                  <a:srgbClr val="70D6C4"/>
                </a:solidFill>
                <a:latin typeface="Arial"/>
                <a:ea typeface="Arial"/>
                <a:cs typeface="Arial"/>
              </a:defRPr>
            </a:defPPr>
            <a:lvl1pPr>
              <a:defRPr sz="2025" b="0">
                <a:solidFill>
                  <a:srgbClr val="70D6C4"/>
                </a:solidFill>
                <a:latin typeface="Arial"/>
                <a:ea typeface="Arial"/>
                <a:cs typeface="Arial"/>
              </a:defRPr>
            </a:lvl1pPr>
            <a:lvl2pPr>
              <a:defRPr sz="2025" b="0">
                <a:solidFill>
                  <a:srgbClr val="70D6C4"/>
                </a:solidFill>
                <a:latin typeface="Arial"/>
                <a:ea typeface="Arial"/>
                <a:cs typeface="Arial"/>
              </a:defRPr>
            </a:lvl2pPr>
            <a:lvl3pPr>
              <a:defRPr sz="2025" b="0">
                <a:solidFill>
                  <a:srgbClr val="70D6C4"/>
                </a:solidFill>
                <a:latin typeface="Arial"/>
                <a:ea typeface="Arial"/>
                <a:cs typeface="Arial"/>
              </a:defRPr>
            </a:lvl3pPr>
            <a:lvl4pPr>
              <a:defRPr sz="2025" b="0">
                <a:solidFill>
                  <a:srgbClr val="70D6C4"/>
                </a:solidFill>
                <a:latin typeface="Arial"/>
                <a:ea typeface="Arial"/>
                <a:cs typeface="Arial"/>
              </a:defRPr>
            </a:lvl4pPr>
            <a:lvl5pPr>
              <a:defRPr sz="2025" b="0">
                <a:solidFill>
                  <a:srgbClr val="70D6C4"/>
                </a:solidFill>
                <a:latin typeface="Arial"/>
                <a:ea typeface="Arial"/>
                <a:cs typeface="Arial"/>
              </a:defRPr>
            </a:lvl5pPr>
            <a:lvl6pPr>
              <a:defRPr sz="2025" b="0">
                <a:solidFill>
                  <a:srgbClr val="70D6C4"/>
                </a:solidFill>
                <a:latin typeface="Arial"/>
                <a:ea typeface="Arial"/>
                <a:cs typeface="Arial"/>
              </a:defRPr>
            </a:lvl6pPr>
            <a:lvl7pPr>
              <a:defRPr sz="2025" b="0">
                <a:solidFill>
                  <a:srgbClr val="70D6C4"/>
                </a:solidFill>
                <a:latin typeface="Arial"/>
                <a:ea typeface="Arial"/>
                <a:cs typeface="Arial"/>
              </a:defRPr>
            </a:lvl7pPr>
            <a:lvl8pPr>
              <a:defRPr sz="2025" b="0">
                <a:solidFill>
                  <a:srgbClr val="70D6C4"/>
                </a:solidFill>
                <a:latin typeface="Arial"/>
                <a:ea typeface="Arial"/>
                <a:cs typeface="Arial"/>
              </a:defRPr>
            </a:lvl8pPr>
            <a:lvl9pPr>
              <a:defRPr sz="2025" b="0">
                <a:solidFill>
                  <a:srgbClr val="70D6C4"/>
                </a:solidFill>
                <a:latin typeface="Arial"/>
                <a:ea typeface="Arial"/>
                <a:cs typeface="Arial"/>
              </a:defRPr>
            </a:lvl9pPr>
          </a:lstStyle>
          <a:p>
            <a:pPr>
              <a:defRPr sz="2025" b="0">
                <a:solidFill>
                  <a:srgbClr val="70D6C4"/>
                </a:solidFill>
                <a:latin typeface="Arial"/>
                <a:ea typeface="Arial"/>
                <a:cs typeface="Arial"/>
              </a:defRPr>
            </a:pPr>
            <a:r>
              <a:rPr sz="2025" b="0">
                <a:solidFill>
                  <a:srgbClr val="70D6C4"/>
                </a:solidFill>
                <a:latin typeface="Arial"/>
                <a:ea typeface="Arial"/>
                <a:cs typeface="Arial"/>
              </a:rPr>
              <a:t>v_sales_lines centralizes the joins and calculates quantity × unit_price.</a:t>
            </a:r>
          </a:p>
        </p:txBody>
      </p:sp>
      <p:sp>
        <p:nvSpPr>
          <p:cNvPr id="5" name="Rectangle 4">
            <a:extLst>
              <a:ext uri="{FF2B5EF4-FFF2-40B4-BE49-F238E27FC236}">
                <a16:creationId xmlns:a16="http://schemas.microsoft.com/office/drawing/2014/main" id="{89D2C7FE-54CC-40B6-BC87-879E24E6B9A1}"/>
              </a:ext>
            </a:extLst>
          </p:cNvPr>
          <p:cNvSpPr>
            <a:spLocks noGrp="1"/>
          </p:cNvSpPr>
          <p:nvPr/>
        </p:nvSpPr>
        <p:spPr>
          <a:xfrm>
            <a:off x="609600" y="2286000"/>
            <a:ext cx="10953750" cy="1066800"/>
          </a:xfrm>
          <a:prstGeom prst="rect">
            <a:avLst/>
          </a:prstGeom>
          <a:noFill/>
          <a:ln w="0">
            <a:noFill/>
          </a:ln>
        </p:spPr>
        <p:txBody>
          <a:bodyPr wrap="square" lIns="0" tIns="0" rIns="0" bIns="0" anchor="t">
            <a:noAutofit/>
          </a:bodyPr>
          <a:lstStyle>
            <a:defPPr>
              <a:defRPr sz="1875" b="0">
                <a:solidFill>
                  <a:srgbClr val="70D6C4"/>
                </a:solidFill>
                <a:latin typeface="Consolas"/>
                <a:ea typeface="Consolas"/>
                <a:cs typeface="Consolas"/>
              </a:defRPr>
            </a:defPPr>
            <a:lvl1pPr>
              <a:defRPr sz="1875" b="0">
                <a:solidFill>
                  <a:srgbClr val="70D6C4"/>
                </a:solidFill>
                <a:latin typeface="Consolas"/>
                <a:ea typeface="Consolas"/>
                <a:cs typeface="Consolas"/>
              </a:defRPr>
            </a:lvl1pPr>
            <a:lvl2pPr>
              <a:defRPr sz="1875" b="0">
                <a:solidFill>
                  <a:srgbClr val="70D6C4"/>
                </a:solidFill>
                <a:latin typeface="Consolas"/>
                <a:ea typeface="Consolas"/>
                <a:cs typeface="Consolas"/>
              </a:defRPr>
            </a:lvl2pPr>
            <a:lvl3pPr>
              <a:defRPr sz="1875" b="0">
                <a:solidFill>
                  <a:srgbClr val="70D6C4"/>
                </a:solidFill>
                <a:latin typeface="Consolas"/>
                <a:ea typeface="Consolas"/>
                <a:cs typeface="Consolas"/>
              </a:defRPr>
            </a:lvl3pPr>
            <a:lvl4pPr>
              <a:defRPr sz="1875" b="0">
                <a:solidFill>
                  <a:srgbClr val="70D6C4"/>
                </a:solidFill>
                <a:latin typeface="Consolas"/>
                <a:ea typeface="Consolas"/>
                <a:cs typeface="Consolas"/>
              </a:defRPr>
            </a:lvl4pPr>
            <a:lvl5pPr>
              <a:defRPr sz="1875" b="0">
                <a:solidFill>
                  <a:srgbClr val="70D6C4"/>
                </a:solidFill>
                <a:latin typeface="Consolas"/>
                <a:ea typeface="Consolas"/>
                <a:cs typeface="Consolas"/>
              </a:defRPr>
            </a:lvl5pPr>
            <a:lvl6pPr>
              <a:defRPr sz="1875" b="0">
                <a:solidFill>
                  <a:srgbClr val="70D6C4"/>
                </a:solidFill>
                <a:latin typeface="Consolas"/>
                <a:ea typeface="Consolas"/>
                <a:cs typeface="Consolas"/>
              </a:defRPr>
            </a:lvl6pPr>
            <a:lvl7pPr>
              <a:defRPr sz="1875" b="0">
                <a:solidFill>
                  <a:srgbClr val="70D6C4"/>
                </a:solidFill>
                <a:latin typeface="Consolas"/>
                <a:ea typeface="Consolas"/>
                <a:cs typeface="Consolas"/>
              </a:defRPr>
            </a:lvl7pPr>
            <a:lvl8pPr>
              <a:defRPr sz="1875" b="0">
                <a:solidFill>
                  <a:srgbClr val="70D6C4"/>
                </a:solidFill>
                <a:latin typeface="Consolas"/>
                <a:ea typeface="Consolas"/>
                <a:cs typeface="Consolas"/>
              </a:defRPr>
            </a:lvl8pPr>
            <a:lvl9pPr>
              <a:defRPr sz="1875" b="0">
                <a:solidFill>
                  <a:srgbClr val="70D6C4"/>
                </a:solidFill>
                <a:latin typeface="Consolas"/>
                <a:ea typeface="Consolas"/>
                <a:cs typeface="Consolas"/>
              </a:defRPr>
            </a:lvl9pPr>
          </a:lstStyle>
          <a:p>
            <a:pPr>
              <a:defRPr sz="1875" b="0">
                <a:solidFill>
                  <a:srgbClr val="70D6C4"/>
                </a:solidFill>
                <a:latin typeface="Consolas"/>
                <a:ea typeface="Consolas"/>
                <a:cs typeface="Consolas"/>
              </a:defRPr>
            </a:pPr>
            <a:r>
              <a:rPr sz="1875" b="0">
                <a:solidFill>
                  <a:srgbClr val="70D6C4"/>
                </a:solidFill>
                <a:latin typeface="Consolas"/>
                <a:ea typeface="Consolas"/>
                <a:cs typeface="Consolas"/>
              </a:rPr>
              <a:t>SELECT order_ref, product_name, quantity, unit_price, line_total</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FROM reporting.v_sales_lines</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WHERE order_id=1 ORDER BY line_number;</a:t>
            </a:r>
          </a:p>
        </p:txBody>
      </p:sp>
      <p:graphicFrame>
        <p:nvGraphicFramePr>
          <p:cNvPr id="6" name="Table 5">
            <a:extLst>
              <a:ext uri="{FF2B5EF4-FFF2-40B4-BE49-F238E27FC236}">
                <a16:creationId xmlns:a16="http://schemas.microsoft.com/office/drawing/2014/main" id="{D999AA43-2698-4C53-A039-421E1B649D5A}"/>
              </a:ext>
            </a:extLst>
          </p:cNvPr>
          <p:cNvGraphicFramePr/>
          <p:nvPr/>
        </p:nvGraphicFramePr>
        <p:xfrm>
          <a:off x="609600" y="3838575"/>
          <a:ext cx="10972800" cy="1809752"/>
        </p:xfrm>
        <a:graphic>
          <a:graphicData uri="http://schemas.openxmlformats.org/drawingml/2006/table">
            <a:tbl>
              <a:tblPr firstRow="1"/>
              <a:tblGrid>
                <a:gridCol w="33337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2019300">
                  <a:extLst>
                    <a:ext uri="{9D8B030D-6E8A-4147-A177-3AD203B41FA5}">
                      <a16:colId xmlns:a16="http://schemas.microsoft.com/office/drawing/2014/main" val="20004"/>
                    </a:ext>
                  </a:extLst>
                </a:gridCol>
              </a:tblGrid>
              <a:tr h="452438">
                <a:tc>
                  <a:txBody>
                    <a:bodyPr/>
                    <a:lstStyle/>
                    <a:p>
                      <a:r>
                        <a:rPr sz="1875" b="1">
                          <a:solidFill>
                            <a:srgbClr val="70D6C4"/>
                          </a:solidFill>
                          <a:latin typeface="Arial"/>
                          <a:ea typeface="Arial"/>
                          <a:cs typeface="Arial"/>
                        </a:rPr>
                        <a:t>order_ref</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product_name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quantity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unit_price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line_total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452438">
                <a:tc>
                  <a:txBody>
                    <a:bodyPr/>
                    <a:lstStyle/>
                    <a:p>
                      <a:r>
                        <a:rPr sz="1875" b="0">
                          <a:solidFill>
                            <a:srgbClr val="F1F4F6"/>
                          </a:solidFill>
                          <a:latin typeface="Arial"/>
                          <a:ea typeface="Arial"/>
                          <a:cs typeface="Arial"/>
                        </a:rPr>
                        <a:t>DEMO-000001-1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Product 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225.00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452438">
                <a:tc>
                  <a:txBody>
                    <a:bodyPr/>
                    <a:lstStyle/>
                    <a:p>
                      <a:r>
                        <a:rPr sz="1875" b="0">
                          <a:solidFill>
                            <a:srgbClr val="F1F4F6"/>
                          </a:solidFill>
                          <a:latin typeface="Arial"/>
                          <a:ea typeface="Arial"/>
                          <a:cs typeface="Arial"/>
                        </a:rPr>
                        <a:t>DEMO-000001-1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Product 4</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4</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100.00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400.00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452438">
                <a:tc>
                  <a:txBody>
                    <a:bodyPr/>
                    <a:lstStyle/>
                    <a:p>
                      <a:r>
                        <a:rPr sz="1875" b="0">
                          <a:solidFill>
                            <a:srgbClr val="F1F4F6"/>
                          </a:solidFill>
                          <a:latin typeface="Arial"/>
                          <a:ea typeface="Arial"/>
                          <a:cs typeface="Arial"/>
                        </a:rPr>
                        <a:t>DEMO-000001-1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Product 5</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125.00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125.00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D246EC2D-0EE2-4DF0-BBFF-F7AD4AD66C64}"/>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Actual query output. Changing the base facts affects a later query of this ordinary view.</a:t>
            </a:r>
          </a:p>
        </p:txBody>
      </p:sp>
    </p:spTree>
    <p:extLst>
      <p:ext uri="{BB962C8B-B14F-4D97-AF65-F5344CB8AC3E}">
        <p14:creationId xmlns:p14="http://schemas.microsoft.com/office/powerpoint/2010/main" val="14238548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BF28D7-5580-48E0-8814-FA48951F57C0}"/>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View: stock balance and ledger reconciliation</a:t>
            </a:r>
          </a:p>
        </p:txBody>
      </p:sp>
      <p:sp>
        <p:nvSpPr>
          <p:cNvPr id="2" name="Rectangle 1">
            <a:extLst>
              <a:ext uri="{FF2B5EF4-FFF2-40B4-BE49-F238E27FC236}">
                <a16:creationId xmlns:a16="http://schemas.microsoft.com/office/drawing/2014/main" id="{48F5A368-A62D-4788-9B3D-021F2A0061D4}"/>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38</a:t>
            </a:r>
          </a:p>
        </p:txBody>
      </p:sp>
      <p:sp>
        <p:nvSpPr>
          <p:cNvPr id="3" name="Rectangle 2">
            <a:extLst>
              <a:ext uri="{FF2B5EF4-FFF2-40B4-BE49-F238E27FC236}">
                <a16:creationId xmlns:a16="http://schemas.microsoft.com/office/drawing/2014/main" id="{55D1079B-C4B2-4E0B-BB18-67AA43471DD8}"/>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B1E25A56-1612-4954-B343-4E27921F769D}"/>
              </a:ext>
            </a:extLst>
          </p:cNvPr>
          <p:cNvSpPr>
            <a:spLocks noGrp="1"/>
          </p:cNvSpPr>
          <p:nvPr/>
        </p:nvSpPr>
        <p:spPr>
          <a:xfrm>
            <a:off x="609600" y="1571625"/>
            <a:ext cx="10953750" cy="1143000"/>
          </a:xfrm>
          <a:prstGeom prst="rect">
            <a:avLst/>
          </a:prstGeom>
          <a:noFill/>
          <a:ln w="0">
            <a:noFill/>
          </a:ln>
        </p:spPr>
        <p:txBody>
          <a:bodyPr wrap="square" lIns="0" tIns="0" rIns="0" bIns="0" anchor="t">
            <a:noAutofit/>
          </a:bodyPr>
          <a:lstStyle>
            <a:defPPr>
              <a:defRPr sz="1875" b="0">
                <a:solidFill>
                  <a:srgbClr val="70D6C4"/>
                </a:solidFill>
                <a:latin typeface="Consolas"/>
                <a:ea typeface="Consolas"/>
                <a:cs typeface="Consolas"/>
              </a:defRPr>
            </a:defPPr>
            <a:lvl1pPr>
              <a:defRPr sz="1875" b="0">
                <a:solidFill>
                  <a:srgbClr val="70D6C4"/>
                </a:solidFill>
                <a:latin typeface="Consolas"/>
                <a:ea typeface="Consolas"/>
                <a:cs typeface="Consolas"/>
              </a:defRPr>
            </a:lvl1pPr>
            <a:lvl2pPr>
              <a:defRPr sz="1875" b="0">
                <a:solidFill>
                  <a:srgbClr val="70D6C4"/>
                </a:solidFill>
                <a:latin typeface="Consolas"/>
                <a:ea typeface="Consolas"/>
                <a:cs typeface="Consolas"/>
              </a:defRPr>
            </a:lvl2pPr>
            <a:lvl3pPr>
              <a:defRPr sz="1875" b="0">
                <a:solidFill>
                  <a:srgbClr val="70D6C4"/>
                </a:solidFill>
                <a:latin typeface="Consolas"/>
                <a:ea typeface="Consolas"/>
                <a:cs typeface="Consolas"/>
              </a:defRPr>
            </a:lvl3pPr>
            <a:lvl4pPr>
              <a:defRPr sz="1875" b="0">
                <a:solidFill>
                  <a:srgbClr val="70D6C4"/>
                </a:solidFill>
                <a:latin typeface="Consolas"/>
                <a:ea typeface="Consolas"/>
                <a:cs typeface="Consolas"/>
              </a:defRPr>
            </a:lvl4pPr>
            <a:lvl5pPr>
              <a:defRPr sz="1875" b="0">
                <a:solidFill>
                  <a:srgbClr val="70D6C4"/>
                </a:solidFill>
                <a:latin typeface="Consolas"/>
                <a:ea typeface="Consolas"/>
                <a:cs typeface="Consolas"/>
              </a:defRPr>
            </a:lvl5pPr>
            <a:lvl6pPr>
              <a:defRPr sz="1875" b="0">
                <a:solidFill>
                  <a:srgbClr val="70D6C4"/>
                </a:solidFill>
                <a:latin typeface="Consolas"/>
                <a:ea typeface="Consolas"/>
                <a:cs typeface="Consolas"/>
              </a:defRPr>
            </a:lvl6pPr>
            <a:lvl7pPr>
              <a:defRPr sz="1875" b="0">
                <a:solidFill>
                  <a:srgbClr val="70D6C4"/>
                </a:solidFill>
                <a:latin typeface="Consolas"/>
                <a:ea typeface="Consolas"/>
                <a:cs typeface="Consolas"/>
              </a:defRPr>
            </a:lvl7pPr>
            <a:lvl8pPr>
              <a:defRPr sz="1875" b="0">
                <a:solidFill>
                  <a:srgbClr val="70D6C4"/>
                </a:solidFill>
                <a:latin typeface="Consolas"/>
                <a:ea typeface="Consolas"/>
                <a:cs typeface="Consolas"/>
              </a:defRPr>
            </a:lvl8pPr>
            <a:lvl9pPr>
              <a:defRPr sz="1875" b="0">
                <a:solidFill>
                  <a:srgbClr val="70D6C4"/>
                </a:solidFill>
                <a:latin typeface="Consolas"/>
                <a:ea typeface="Consolas"/>
                <a:cs typeface="Consolas"/>
              </a:defRPr>
            </a:lvl9pPr>
          </a:lstStyle>
          <a:p>
            <a:pPr>
              <a:defRPr sz="1875" b="0">
                <a:solidFill>
                  <a:srgbClr val="70D6C4"/>
                </a:solidFill>
                <a:latin typeface="Consolas"/>
                <a:ea typeface="Consolas"/>
                <a:cs typeface="Consolas"/>
              </a:defRPr>
            </a:pPr>
            <a:r>
              <a:rPr sz="1875" b="0">
                <a:solidFill>
                  <a:srgbClr val="70D6C4"/>
                </a:solidFill>
                <a:latin typeface="Consolas"/>
                <a:ea typeface="Consolas"/>
                <a:cs typeface="Consolas"/>
              </a:rPr>
              <a:t>SELECT sku, quantity, ledger_quantity, reconciled, low_stock</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FROM reporting.v_inventory ORDER BY product_id LIMIT 3;</a:t>
            </a:r>
          </a:p>
        </p:txBody>
      </p:sp>
      <p:graphicFrame>
        <p:nvGraphicFramePr>
          <p:cNvPr id="5" name="Table 4">
            <a:extLst>
              <a:ext uri="{FF2B5EF4-FFF2-40B4-BE49-F238E27FC236}">
                <a16:creationId xmlns:a16="http://schemas.microsoft.com/office/drawing/2014/main" id="{E5574409-205A-41D5-A61D-823231F9ED70}"/>
              </a:ext>
            </a:extLst>
          </p:cNvPr>
          <p:cNvGraphicFramePr/>
          <p:nvPr/>
        </p:nvGraphicFramePr>
        <p:xfrm>
          <a:off x="609600" y="3162300"/>
          <a:ext cx="10972800" cy="2095500"/>
        </p:xfrm>
        <a:graphic>
          <a:graphicData uri="http://schemas.openxmlformats.org/drawingml/2006/table">
            <a:tbl>
              <a:tblPr firstRow="1"/>
              <a:tblGrid>
                <a:gridCol w="33337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2238375">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1781175">
                  <a:extLst>
                    <a:ext uri="{9D8B030D-6E8A-4147-A177-3AD203B41FA5}">
                      <a16:colId xmlns:a16="http://schemas.microsoft.com/office/drawing/2014/main" val="20004"/>
                    </a:ext>
                  </a:extLst>
                </a:gridCol>
              </a:tblGrid>
              <a:tr h="523875">
                <a:tc>
                  <a:txBody>
                    <a:bodyPr/>
                    <a:lstStyle/>
                    <a:p>
                      <a:r>
                        <a:rPr sz="1875" b="1">
                          <a:solidFill>
                            <a:srgbClr val="70D6C4"/>
                          </a:solidFill>
                          <a:latin typeface="Arial"/>
                          <a:ea typeface="Arial"/>
                          <a:cs typeface="Arial"/>
                        </a:rPr>
                        <a:t>sku</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quantity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ledger_quantity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reconciled</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low_stock</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23875">
                <a:tc>
                  <a:txBody>
                    <a:bodyPr/>
                    <a:lstStyle/>
                    <a:p>
                      <a:r>
                        <a:rPr sz="1875" b="0">
                          <a:solidFill>
                            <a:srgbClr val="F1F4F6"/>
                          </a:solidFill>
                          <a:latin typeface="Arial"/>
                          <a:ea typeface="Arial"/>
                          <a:cs typeface="Arial"/>
                        </a:rPr>
                        <a:t>SKU-1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4</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4</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true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true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23875">
                <a:tc>
                  <a:txBody>
                    <a:bodyPr/>
                    <a:lstStyle/>
                    <a:p>
                      <a:r>
                        <a:rPr sz="1875" b="0">
                          <a:solidFill>
                            <a:srgbClr val="F1F4F6"/>
                          </a:solidFill>
                          <a:latin typeface="Arial"/>
                          <a:ea typeface="Arial"/>
                          <a:cs typeface="Arial"/>
                        </a:rPr>
                        <a:t>DEMO-KEYBOARD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50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50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true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false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23875">
                <a:tc>
                  <a:txBody>
                    <a:bodyPr/>
                    <a:lstStyle/>
                    <a:p>
                      <a:r>
                        <a:rPr sz="1875" b="0">
                          <a:solidFill>
                            <a:srgbClr val="F1F4F6"/>
                          </a:solidFill>
                          <a:latin typeface="Arial"/>
                          <a:ea typeface="Arial"/>
                          <a:cs typeface="Arial"/>
                        </a:rPr>
                        <a:t>DEMO-MOUSE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8</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8</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true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true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FF3214CE-F058-410F-97FA-82EA140A47AB}"/>
              </a:ext>
            </a:extLst>
          </p:cNvPr>
          <p:cNvSpPr>
            <a:spLocks noGrp="1"/>
          </p:cNvSpPr>
          <p:nvPr/>
        </p:nvSpPr>
        <p:spPr>
          <a:xfrm>
            <a:off x="609600" y="5600700"/>
            <a:ext cx="10858500" cy="428625"/>
          </a:xfrm>
          <a:prstGeom prst="rect">
            <a:avLst/>
          </a:prstGeom>
          <a:noFill/>
          <a:ln w="0">
            <a:noFill/>
          </a:ln>
        </p:spPr>
        <p:txBody>
          <a:bodyPr wrap="square" lIns="0" tIns="0" rIns="0" bIns="0" anchor="t">
            <a:noAutofit/>
          </a:bodyPr>
          <a:lstStyle>
            <a:defPPr>
              <a:defRPr sz="1950" b="0">
                <a:solidFill>
                  <a:srgbClr val="70D6C4"/>
                </a:solidFill>
                <a:latin typeface="Arial"/>
                <a:ea typeface="Arial"/>
                <a:cs typeface="Arial"/>
              </a:defRPr>
            </a:defPPr>
            <a:lvl1pPr>
              <a:defRPr sz="1950" b="0">
                <a:solidFill>
                  <a:srgbClr val="70D6C4"/>
                </a:solidFill>
                <a:latin typeface="Arial"/>
                <a:ea typeface="Arial"/>
                <a:cs typeface="Arial"/>
              </a:defRPr>
            </a:lvl1pPr>
            <a:lvl2pPr>
              <a:defRPr sz="1950" b="0">
                <a:solidFill>
                  <a:srgbClr val="70D6C4"/>
                </a:solidFill>
                <a:latin typeface="Arial"/>
                <a:ea typeface="Arial"/>
                <a:cs typeface="Arial"/>
              </a:defRPr>
            </a:lvl2pPr>
            <a:lvl3pPr>
              <a:defRPr sz="1950" b="0">
                <a:solidFill>
                  <a:srgbClr val="70D6C4"/>
                </a:solidFill>
                <a:latin typeface="Arial"/>
                <a:ea typeface="Arial"/>
                <a:cs typeface="Arial"/>
              </a:defRPr>
            </a:lvl3pPr>
            <a:lvl4pPr>
              <a:defRPr sz="1950" b="0">
                <a:solidFill>
                  <a:srgbClr val="70D6C4"/>
                </a:solidFill>
                <a:latin typeface="Arial"/>
                <a:ea typeface="Arial"/>
                <a:cs typeface="Arial"/>
              </a:defRPr>
            </a:lvl4pPr>
            <a:lvl5pPr>
              <a:defRPr sz="1950" b="0">
                <a:solidFill>
                  <a:srgbClr val="70D6C4"/>
                </a:solidFill>
                <a:latin typeface="Arial"/>
                <a:ea typeface="Arial"/>
                <a:cs typeface="Arial"/>
              </a:defRPr>
            </a:lvl5pPr>
            <a:lvl6pPr>
              <a:defRPr sz="1950" b="0">
                <a:solidFill>
                  <a:srgbClr val="70D6C4"/>
                </a:solidFill>
                <a:latin typeface="Arial"/>
                <a:ea typeface="Arial"/>
                <a:cs typeface="Arial"/>
              </a:defRPr>
            </a:lvl6pPr>
            <a:lvl7pPr>
              <a:defRPr sz="1950" b="0">
                <a:solidFill>
                  <a:srgbClr val="70D6C4"/>
                </a:solidFill>
                <a:latin typeface="Arial"/>
                <a:ea typeface="Arial"/>
                <a:cs typeface="Arial"/>
              </a:defRPr>
            </a:lvl7pPr>
            <a:lvl8pPr>
              <a:defRPr sz="1950" b="0">
                <a:solidFill>
                  <a:srgbClr val="70D6C4"/>
                </a:solidFill>
                <a:latin typeface="Arial"/>
                <a:ea typeface="Arial"/>
                <a:cs typeface="Arial"/>
              </a:defRPr>
            </a:lvl8pPr>
            <a:lvl9pPr>
              <a:defRPr sz="1950" b="0">
                <a:solidFill>
                  <a:srgbClr val="70D6C4"/>
                </a:solidFill>
                <a:latin typeface="Arial"/>
                <a:ea typeface="Arial"/>
                <a:cs typeface="Arial"/>
              </a:defRPr>
            </a:lvl9pPr>
          </a:lstStyle>
          <a:p>
            <a:pPr>
              <a:defRPr sz="1950" b="0">
                <a:solidFill>
                  <a:srgbClr val="70D6C4"/>
                </a:solidFill>
                <a:latin typeface="Arial"/>
                <a:ea typeface="Arial"/>
                <a:cs typeface="Arial"/>
              </a:defRPr>
            </a:pPr>
            <a:r>
              <a:rPr sz="1950" b="0">
                <a:solidFill>
                  <a:srgbClr val="70D6C4"/>
                </a:solidFill>
                <a:latin typeface="Arial"/>
                <a:ea typeface="Arial"/>
                <a:cs typeface="Arial"/>
              </a:rPr>
              <a:t>reconciled = true means the balance agrees with the movement ledger.</a:t>
            </a:r>
          </a:p>
        </p:txBody>
      </p:sp>
      <p:sp>
        <p:nvSpPr>
          <p:cNvPr id="7" name="Rectangle 6">
            <a:extLst>
              <a:ext uri="{FF2B5EF4-FFF2-40B4-BE49-F238E27FC236}">
                <a16:creationId xmlns:a16="http://schemas.microsoft.com/office/drawing/2014/main" id="{9813FB82-99AB-423D-9390-0FA4A5B3777B}"/>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Actual stock rows, 20 October 2026. low_stock is the product’s configured threshold check.</a:t>
            </a:r>
          </a:p>
        </p:txBody>
      </p:sp>
    </p:spTree>
    <p:extLst>
      <p:ext uri="{BB962C8B-B14F-4D97-AF65-F5344CB8AC3E}">
        <p14:creationId xmlns:p14="http://schemas.microsoft.com/office/powerpoint/2010/main" val="12232262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2962A19-3247-469C-AE28-7A371EBF2274}"/>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Functions and view: report preparation</a:t>
            </a:r>
          </a:p>
        </p:txBody>
      </p:sp>
      <p:sp>
        <p:nvSpPr>
          <p:cNvPr id="2" name="Rectangle 1">
            <a:extLst>
              <a:ext uri="{FF2B5EF4-FFF2-40B4-BE49-F238E27FC236}">
                <a16:creationId xmlns:a16="http://schemas.microsoft.com/office/drawing/2014/main" id="{C494BC3B-2A42-4230-9EF0-81E9E0321623}"/>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39</a:t>
            </a:r>
          </a:p>
        </p:txBody>
      </p:sp>
      <p:sp>
        <p:nvSpPr>
          <p:cNvPr id="3" name="Rectangle 2">
            <a:extLst>
              <a:ext uri="{FF2B5EF4-FFF2-40B4-BE49-F238E27FC236}">
                <a16:creationId xmlns:a16="http://schemas.microsoft.com/office/drawing/2014/main" id="{851ADCF9-A89A-44F3-87F1-3EB36AC705C4}"/>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E57DC149-46D0-45BA-9952-F2E2EAF23133}"/>
              </a:ext>
            </a:extLst>
          </p:cNvPr>
          <p:cNvSpPr>
            <a:spLocks noGrp="1"/>
          </p:cNvSpPr>
          <p:nvPr/>
        </p:nvSpPr>
        <p:spPr>
          <a:xfrm>
            <a:off x="609600" y="1476375"/>
            <a:ext cx="10953750" cy="1352550"/>
          </a:xfrm>
          <a:prstGeom prst="rect">
            <a:avLst/>
          </a:prstGeom>
          <a:noFill/>
          <a:ln w="0">
            <a:noFill/>
          </a:ln>
        </p:spPr>
        <p:txBody>
          <a:bodyPr wrap="square" lIns="0" tIns="0" rIns="0" bIns="0" anchor="t">
            <a:noAutofit/>
          </a:bodyPr>
          <a:lstStyle>
            <a:defPPr>
              <a:defRPr sz="1650" b="0">
                <a:solidFill>
                  <a:srgbClr val="70D6C4"/>
                </a:solidFill>
                <a:latin typeface="Consolas"/>
                <a:ea typeface="Consolas"/>
                <a:cs typeface="Consolas"/>
              </a:defRPr>
            </a:defPPr>
            <a:lvl1pPr>
              <a:defRPr sz="1650" b="0">
                <a:solidFill>
                  <a:srgbClr val="70D6C4"/>
                </a:solidFill>
                <a:latin typeface="Consolas"/>
                <a:ea typeface="Consolas"/>
                <a:cs typeface="Consolas"/>
              </a:defRPr>
            </a:lvl1pPr>
            <a:lvl2pPr>
              <a:defRPr sz="1650" b="0">
                <a:solidFill>
                  <a:srgbClr val="70D6C4"/>
                </a:solidFill>
                <a:latin typeface="Consolas"/>
                <a:ea typeface="Consolas"/>
                <a:cs typeface="Consolas"/>
              </a:defRPr>
            </a:lvl2pPr>
            <a:lvl3pPr>
              <a:defRPr sz="1650" b="0">
                <a:solidFill>
                  <a:srgbClr val="70D6C4"/>
                </a:solidFill>
                <a:latin typeface="Consolas"/>
                <a:ea typeface="Consolas"/>
                <a:cs typeface="Consolas"/>
              </a:defRPr>
            </a:lvl3pPr>
            <a:lvl4pPr>
              <a:defRPr sz="1650" b="0">
                <a:solidFill>
                  <a:srgbClr val="70D6C4"/>
                </a:solidFill>
                <a:latin typeface="Consolas"/>
                <a:ea typeface="Consolas"/>
                <a:cs typeface="Consolas"/>
              </a:defRPr>
            </a:lvl4pPr>
            <a:lvl5pPr>
              <a:defRPr sz="1650" b="0">
                <a:solidFill>
                  <a:srgbClr val="70D6C4"/>
                </a:solidFill>
                <a:latin typeface="Consolas"/>
                <a:ea typeface="Consolas"/>
                <a:cs typeface="Consolas"/>
              </a:defRPr>
            </a:lvl5pPr>
            <a:lvl6pPr>
              <a:defRPr sz="1650" b="0">
                <a:solidFill>
                  <a:srgbClr val="70D6C4"/>
                </a:solidFill>
                <a:latin typeface="Consolas"/>
                <a:ea typeface="Consolas"/>
                <a:cs typeface="Consolas"/>
              </a:defRPr>
            </a:lvl6pPr>
            <a:lvl7pPr>
              <a:defRPr sz="1650" b="0">
                <a:solidFill>
                  <a:srgbClr val="70D6C4"/>
                </a:solidFill>
                <a:latin typeface="Consolas"/>
                <a:ea typeface="Consolas"/>
                <a:cs typeface="Consolas"/>
              </a:defRPr>
            </a:lvl7pPr>
            <a:lvl8pPr>
              <a:defRPr sz="1650" b="0">
                <a:solidFill>
                  <a:srgbClr val="70D6C4"/>
                </a:solidFill>
                <a:latin typeface="Consolas"/>
                <a:ea typeface="Consolas"/>
                <a:cs typeface="Consolas"/>
              </a:defRPr>
            </a:lvl8pPr>
            <a:lvl9pPr>
              <a:defRPr sz="1650" b="0">
                <a:solidFill>
                  <a:srgbClr val="70D6C4"/>
                </a:solidFill>
                <a:latin typeface="Consolas"/>
                <a:ea typeface="Consolas"/>
                <a:cs typeface="Consolas"/>
              </a:defRPr>
            </a:lvl9pPr>
          </a:lstStyle>
          <a:p>
            <a:pPr>
              <a:defRPr sz="1650" b="0">
                <a:solidFill>
                  <a:srgbClr val="70D6C4"/>
                </a:solidFill>
                <a:latin typeface="Consolas"/>
                <a:ea typeface="Consolas"/>
                <a:cs typeface="Consolas"/>
              </a:defRPr>
            </a:pPr>
            <a:r>
              <a:rPr sz="1650" b="0">
                <a:solidFill>
                  <a:srgbClr val="70D6C4"/>
                </a:solidFill>
                <a:latin typeface="Consolas"/>
                <a:ea typeface="Consolas"/>
                <a:cs typeface="Consolas"/>
              </a:rPr>
              <a:t>-- :run_id = the run returned by submit_run</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SELECT reporting.prepare_run(:run_id) AS prepared;</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SELECT reporting.enqueue_ready_requests(:run_id,100) AS enqueued;</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SELECT reporting.enqueue_ready_requests(:run_id,100) AS enqueued;</a:t>
            </a:r>
          </a:p>
        </p:txBody>
      </p:sp>
      <p:graphicFrame>
        <p:nvGraphicFramePr>
          <p:cNvPr id="5" name="Table 4">
            <a:extLst>
              <a:ext uri="{FF2B5EF4-FFF2-40B4-BE49-F238E27FC236}">
                <a16:creationId xmlns:a16="http://schemas.microsoft.com/office/drawing/2014/main" id="{16F0163B-D514-47DA-947E-2146E57EBDE2}"/>
              </a:ext>
            </a:extLst>
          </p:cNvPr>
          <p:cNvGraphicFramePr/>
          <p:nvPr/>
        </p:nvGraphicFramePr>
        <p:xfrm>
          <a:off x="609600" y="3105150"/>
          <a:ext cx="10972800" cy="1476376"/>
        </p:xfrm>
        <a:graphic>
          <a:graphicData uri="http://schemas.openxmlformats.org/drawingml/2006/table">
            <a:tbl>
              <a:tblPr firstRow="1"/>
              <a:tblGrid>
                <a:gridCol w="7858125">
                  <a:extLst>
                    <a:ext uri="{9D8B030D-6E8A-4147-A177-3AD203B41FA5}">
                      <a16:colId xmlns:a16="http://schemas.microsoft.com/office/drawing/2014/main" val="20000"/>
                    </a:ext>
                  </a:extLst>
                </a:gridCol>
                <a:gridCol w="3114675">
                  <a:extLst>
                    <a:ext uri="{9D8B030D-6E8A-4147-A177-3AD203B41FA5}">
                      <a16:colId xmlns:a16="http://schemas.microsoft.com/office/drawing/2014/main" val="20001"/>
                    </a:ext>
                  </a:extLst>
                </a:gridCol>
              </a:tblGrid>
              <a:tr h="369094">
                <a:tc>
                  <a:txBody>
                    <a:bodyPr/>
                    <a:lstStyle/>
                    <a:p>
                      <a:r>
                        <a:rPr sz="1800" b="1">
                          <a:solidFill>
                            <a:srgbClr val="70D6C4"/>
                          </a:solidFill>
                          <a:latin typeface="Arial"/>
                          <a:ea typeface="Arial"/>
                          <a:cs typeface="Arial"/>
                        </a:rPr>
                        <a:t>Call</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Returned value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369094">
                <a:tc>
                  <a:txBody>
                    <a:bodyPr/>
                    <a:lstStyle/>
                    <a:p>
                      <a:r>
                        <a:rPr sz="1800" b="0">
                          <a:solidFill>
                            <a:srgbClr val="F1F4F6"/>
                          </a:solidFill>
                          <a:latin typeface="Arial"/>
                          <a:ea typeface="Arial"/>
                          <a:cs typeface="Arial"/>
                        </a:rPr>
                        <a:t>prepare_run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369094">
                <a:tc>
                  <a:txBody>
                    <a:bodyPr/>
                    <a:lstStyle/>
                    <a:p>
                      <a:r>
                        <a:rPr sz="1800" b="0">
                          <a:solidFill>
                            <a:srgbClr val="F1F4F6"/>
                          </a:solidFill>
                          <a:latin typeface="Arial"/>
                          <a:ea typeface="Arial"/>
                          <a:cs typeface="Arial"/>
                        </a:rPr>
                        <a:t>enqueue_ready_requests, first call</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369094">
                <a:tc>
                  <a:txBody>
                    <a:bodyPr/>
                    <a:lstStyle/>
                    <a:p>
                      <a:r>
                        <a:rPr sz="1800" b="0">
                          <a:solidFill>
                            <a:srgbClr val="F1F4F6"/>
                          </a:solidFill>
                          <a:latin typeface="Arial"/>
                          <a:ea typeface="Arial"/>
                          <a:cs typeface="Arial"/>
                        </a:rPr>
                        <a:t>enqueue_ready_requests, repeated call</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43D4F8DA-E9D6-45D2-9E37-0785BA1E5EBA}"/>
              </a:ext>
            </a:extLst>
          </p:cNvPr>
          <p:cNvSpPr>
            <a:spLocks noGrp="1"/>
          </p:cNvSpPr>
          <p:nvPr/>
        </p:nvSpPr>
        <p:spPr>
          <a:xfrm>
            <a:off x="609600" y="4829175"/>
            <a:ext cx="10953750" cy="590550"/>
          </a:xfrm>
          <a:prstGeom prst="rect">
            <a:avLst/>
          </a:prstGeom>
          <a:noFill/>
          <a:ln w="0">
            <a:noFill/>
          </a:ln>
        </p:spPr>
        <p:txBody>
          <a:bodyPr wrap="square" lIns="0" tIns="0" rIns="0" bIns="0" anchor="t">
            <a:noAutofit/>
          </a:bodyPr>
          <a:lstStyle>
            <a:defPPr>
              <a:defRPr sz="1650" b="0">
                <a:solidFill>
                  <a:srgbClr val="70D6C4"/>
                </a:solidFill>
                <a:latin typeface="Consolas"/>
                <a:ea typeface="Consolas"/>
                <a:cs typeface="Consolas"/>
              </a:defRPr>
            </a:defPPr>
            <a:lvl1pPr>
              <a:defRPr sz="1650" b="0">
                <a:solidFill>
                  <a:srgbClr val="70D6C4"/>
                </a:solidFill>
                <a:latin typeface="Consolas"/>
                <a:ea typeface="Consolas"/>
                <a:cs typeface="Consolas"/>
              </a:defRPr>
            </a:lvl1pPr>
            <a:lvl2pPr>
              <a:defRPr sz="1650" b="0">
                <a:solidFill>
                  <a:srgbClr val="70D6C4"/>
                </a:solidFill>
                <a:latin typeface="Consolas"/>
                <a:ea typeface="Consolas"/>
                <a:cs typeface="Consolas"/>
              </a:defRPr>
            </a:lvl2pPr>
            <a:lvl3pPr>
              <a:defRPr sz="1650" b="0">
                <a:solidFill>
                  <a:srgbClr val="70D6C4"/>
                </a:solidFill>
                <a:latin typeface="Consolas"/>
                <a:ea typeface="Consolas"/>
                <a:cs typeface="Consolas"/>
              </a:defRPr>
            </a:lvl3pPr>
            <a:lvl4pPr>
              <a:defRPr sz="1650" b="0">
                <a:solidFill>
                  <a:srgbClr val="70D6C4"/>
                </a:solidFill>
                <a:latin typeface="Consolas"/>
                <a:ea typeface="Consolas"/>
                <a:cs typeface="Consolas"/>
              </a:defRPr>
            </a:lvl4pPr>
            <a:lvl5pPr>
              <a:defRPr sz="1650" b="0">
                <a:solidFill>
                  <a:srgbClr val="70D6C4"/>
                </a:solidFill>
                <a:latin typeface="Consolas"/>
                <a:ea typeface="Consolas"/>
                <a:cs typeface="Consolas"/>
              </a:defRPr>
            </a:lvl5pPr>
            <a:lvl6pPr>
              <a:defRPr sz="1650" b="0">
                <a:solidFill>
                  <a:srgbClr val="70D6C4"/>
                </a:solidFill>
                <a:latin typeface="Consolas"/>
                <a:ea typeface="Consolas"/>
                <a:cs typeface="Consolas"/>
              </a:defRPr>
            </a:lvl6pPr>
            <a:lvl7pPr>
              <a:defRPr sz="1650" b="0">
                <a:solidFill>
                  <a:srgbClr val="70D6C4"/>
                </a:solidFill>
                <a:latin typeface="Consolas"/>
                <a:ea typeface="Consolas"/>
                <a:cs typeface="Consolas"/>
              </a:defRPr>
            </a:lvl7pPr>
            <a:lvl8pPr>
              <a:defRPr sz="1650" b="0">
                <a:solidFill>
                  <a:srgbClr val="70D6C4"/>
                </a:solidFill>
                <a:latin typeface="Consolas"/>
                <a:ea typeface="Consolas"/>
                <a:cs typeface="Consolas"/>
              </a:defRPr>
            </a:lvl8pPr>
            <a:lvl9pPr>
              <a:defRPr sz="1650" b="0">
                <a:solidFill>
                  <a:srgbClr val="70D6C4"/>
                </a:solidFill>
                <a:latin typeface="Consolas"/>
                <a:ea typeface="Consolas"/>
                <a:cs typeface="Consolas"/>
              </a:defRPr>
            </a:lvl9pPr>
          </a:lstStyle>
          <a:p>
            <a:pPr>
              <a:defRPr sz="1650" b="0">
                <a:solidFill>
                  <a:srgbClr val="70D6C4"/>
                </a:solidFill>
                <a:latin typeface="Consolas"/>
                <a:ea typeface="Consolas"/>
                <a:cs typeface="Consolas"/>
              </a:defRPr>
            </a:pPr>
            <a:r>
              <a:rPr sz="1650" b="0">
                <a:solidFill>
                  <a:srgbClr val="70D6C4"/>
                </a:solidFill>
                <a:latin typeface="Consolas"/>
                <a:ea typeface="Consolas"/>
                <a:cs typeface="Consolas"/>
              </a:rPr>
              <a:t>SELECT preparation_status, expected, queued, processing, completed, failed</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FROM reporting.v_run_progress WHERE run_id=:run_id;</a:t>
            </a:r>
          </a:p>
        </p:txBody>
      </p:sp>
      <p:graphicFrame>
        <p:nvGraphicFramePr>
          <p:cNvPr id="7" name="Table 6">
            <a:extLst>
              <a:ext uri="{FF2B5EF4-FFF2-40B4-BE49-F238E27FC236}">
                <a16:creationId xmlns:a16="http://schemas.microsoft.com/office/drawing/2014/main" id="{DC74B774-C0DE-43F8-8E6A-E64C22B4A148}"/>
              </a:ext>
            </a:extLst>
          </p:cNvPr>
          <p:cNvGraphicFramePr/>
          <p:nvPr/>
        </p:nvGraphicFramePr>
        <p:xfrm>
          <a:off x="609600" y="5353050"/>
          <a:ext cx="10972800" cy="662940"/>
        </p:xfrm>
        <a:graphic>
          <a:graphicData uri="http://schemas.openxmlformats.org/drawingml/2006/table">
            <a:tbl>
              <a:tblPr firstRow="1"/>
              <a:tblGrid>
                <a:gridCol w="2714625">
                  <a:extLst>
                    <a:ext uri="{9D8B030D-6E8A-4147-A177-3AD203B41FA5}">
                      <a16:colId xmlns:a16="http://schemas.microsoft.com/office/drawing/2014/main" val="20000"/>
                    </a:ext>
                  </a:extLst>
                </a:gridCol>
                <a:gridCol w="1647825">
                  <a:extLst>
                    <a:ext uri="{9D8B030D-6E8A-4147-A177-3AD203B41FA5}">
                      <a16:colId xmlns:a16="http://schemas.microsoft.com/office/drawing/2014/main" val="20001"/>
                    </a:ext>
                  </a:extLst>
                </a:gridCol>
                <a:gridCol w="1647825">
                  <a:extLst>
                    <a:ext uri="{9D8B030D-6E8A-4147-A177-3AD203B41FA5}">
                      <a16:colId xmlns:a16="http://schemas.microsoft.com/office/drawing/2014/main" val="20002"/>
                    </a:ext>
                  </a:extLst>
                </a:gridCol>
                <a:gridCol w="1647825">
                  <a:extLst>
                    <a:ext uri="{9D8B030D-6E8A-4147-A177-3AD203B41FA5}">
                      <a16:colId xmlns:a16="http://schemas.microsoft.com/office/drawing/2014/main" val="20003"/>
                    </a:ext>
                  </a:extLst>
                </a:gridCol>
                <a:gridCol w="1657350">
                  <a:extLst>
                    <a:ext uri="{9D8B030D-6E8A-4147-A177-3AD203B41FA5}">
                      <a16:colId xmlns:a16="http://schemas.microsoft.com/office/drawing/2014/main" val="20004"/>
                    </a:ext>
                  </a:extLst>
                </a:gridCol>
                <a:gridCol w="1657350">
                  <a:extLst>
                    <a:ext uri="{9D8B030D-6E8A-4147-A177-3AD203B41FA5}">
                      <a16:colId xmlns:a16="http://schemas.microsoft.com/office/drawing/2014/main" val="20005"/>
                    </a:ext>
                  </a:extLst>
                </a:gridCol>
              </a:tblGrid>
              <a:tr h="285750">
                <a:tc>
                  <a:txBody>
                    <a:bodyPr/>
                    <a:lstStyle/>
                    <a:p>
                      <a:r>
                        <a:rPr sz="1575" b="1">
                          <a:solidFill>
                            <a:srgbClr val="70D6C4"/>
                          </a:solidFill>
                          <a:latin typeface="Arial"/>
                          <a:ea typeface="Arial"/>
                          <a:cs typeface="Arial"/>
                        </a:rPr>
                        <a:t>preparation_status</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expected</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queued</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processing</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completed</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failed</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285750">
                <a:tc>
                  <a:txBody>
                    <a:bodyPr/>
                    <a:lstStyle/>
                    <a:p>
                      <a:r>
                        <a:rPr sz="1575" b="0">
                          <a:solidFill>
                            <a:srgbClr val="F1F4F6"/>
                          </a:solidFill>
                          <a:latin typeface="Arial"/>
                          <a:ea typeface="Arial"/>
                          <a:cs typeface="Arial"/>
                        </a:rPr>
                        <a:t>ready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
        <p:nvSpPr>
          <p:cNvPr id="8" name="Rectangle 7">
            <a:extLst>
              <a:ext uri="{FF2B5EF4-FFF2-40B4-BE49-F238E27FC236}">
                <a16:creationId xmlns:a16="http://schemas.microsoft.com/office/drawing/2014/main" id="{F2714EDA-6A9A-4E5E-A80A-A018C71903DA}"/>
              </a:ext>
            </a:extLst>
          </p:cNvPr>
          <p:cNvSpPr>
            <a:spLocks noGrp="1"/>
          </p:cNvSpPr>
          <p:nvPr/>
        </p:nvSpPr>
        <p:spPr>
          <a:xfrm>
            <a:off x="609600" y="6191250"/>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Named parameters stand for captured IDs. “ready” means dataset preparation, not file completion.</a:t>
            </a:r>
          </a:p>
        </p:txBody>
      </p:sp>
    </p:spTree>
    <p:extLst>
      <p:ext uri="{BB962C8B-B14F-4D97-AF65-F5344CB8AC3E}">
        <p14:creationId xmlns:p14="http://schemas.microsoft.com/office/powerpoint/2010/main" val="572222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FC28720-94C4-46FC-B93C-6BE0DBDAF131}"/>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Triggers: record report state changes</a:t>
            </a:r>
          </a:p>
        </p:txBody>
      </p:sp>
      <p:sp>
        <p:nvSpPr>
          <p:cNvPr id="2" name="Rectangle 1">
            <a:extLst>
              <a:ext uri="{FF2B5EF4-FFF2-40B4-BE49-F238E27FC236}">
                <a16:creationId xmlns:a16="http://schemas.microsoft.com/office/drawing/2014/main" id="{F47A62B6-0CA3-4829-A552-0EE42FB08744}"/>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40</a:t>
            </a:r>
          </a:p>
        </p:txBody>
      </p:sp>
      <p:sp>
        <p:nvSpPr>
          <p:cNvPr id="3" name="Rectangle 2">
            <a:extLst>
              <a:ext uri="{FF2B5EF4-FFF2-40B4-BE49-F238E27FC236}">
                <a16:creationId xmlns:a16="http://schemas.microsoft.com/office/drawing/2014/main" id="{BC2ADD78-CD2C-4170-9C21-7C6CA8A036AC}"/>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8115B6F7-3132-4146-9F39-DD315A6B678A}"/>
              </a:ext>
            </a:extLst>
          </p:cNvPr>
          <p:cNvSpPr>
            <a:spLocks noGrp="1"/>
          </p:cNvSpPr>
          <p:nvPr/>
        </p:nvSpPr>
        <p:spPr>
          <a:xfrm>
            <a:off x="609600" y="1428750"/>
            <a:ext cx="10953750" cy="1266825"/>
          </a:xfrm>
          <a:prstGeom prst="rect">
            <a:avLst/>
          </a:prstGeom>
          <a:noFill/>
          <a:ln w="0">
            <a:noFill/>
          </a:ln>
        </p:spPr>
        <p:txBody>
          <a:bodyPr wrap="square" lIns="0" tIns="0" rIns="0" bIns="0" anchor="t">
            <a:noAutofit/>
          </a:bodyPr>
          <a:lstStyle>
            <a:defPPr>
              <a:defRPr sz="1725" b="0">
                <a:solidFill>
                  <a:srgbClr val="70D6C4"/>
                </a:solidFill>
                <a:latin typeface="Consolas"/>
                <a:ea typeface="Consolas"/>
                <a:cs typeface="Consolas"/>
              </a:defRPr>
            </a:defPPr>
            <a:lvl1pPr>
              <a:defRPr sz="1725" b="0">
                <a:solidFill>
                  <a:srgbClr val="70D6C4"/>
                </a:solidFill>
                <a:latin typeface="Consolas"/>
                <a:ea typeface="Consolas"/>
                <a:cs typeface="Consolas"/>
              </a:defRPr>
            </a:lvl1pPr>
            <a:lvl2pPr>
              <a:defRPr sz="1725" b="0">
                <a:solidFill>
                  <a:srgbClr val="70D6C4"/>
                </a:solidFill>
                <a:latin typeface="Consolas"/>
                <a:ea typeface="Consolas"/>
                <a:cs typeface="Consolas"/>
              </a:defRPr>
            </a:lvl2pPr>
            <a:lvl3pPr>
              <a:defRPr sz="1725" b="0">
                <a:solidFill>
                  <a:srgbClr val="70D6C4"/>
                </a:solidFill>
                <a:latin typeface="Consolas"/>
                <a:ea typeface="Consolas"/>
                <a:cs typeface="Consolas"/>
              </a:defRPr>
            </a:lvl3pPr>
            <a:lvl4pPr>
              <a:defRPr sz="1725" b="0">
                <a:solidFill>
                  <a:srgbClr val="70D6C4"/>
                </a:solidFill>
                <a:latin typeface="Consolas"/>
                <a:ea typeface="Consolas"/>
                <a:cs typeface="Consolas"/>
              </a:defRPr>
            </a:lvl4pPr>
            <a:lvl5pPr>
              <a:defRPr sz="1725" b="0">
                <a:solidFill>
                  <a:srgbClr val="70D6C4"/>
                </a:solidFill>
                <a:latin typeface="Consolas"/>
                <a:ea typeface="Consolas"/>
                <a:cs typeface="Consolas"/>
              </a:defRPr>
            </a:lvl5pPr>
            <a:lvl6pPr>
              <a:defRPr sz="1725" b="0">
                <a:solidFill>
                  <a:srgbClr val="70D6C4"/>
                </a:solidFill>
                <a:latin typeface="Consolas"/>
                <a:ea typeface="Consolas"/>
                <a:cs typeface="Consolas"/>
              </a:defRPr>
            </a:lvl6pPr>
            <a:lvl7pPr>
              <a:defRPr sz="1725" b="0">
                <a:solidFill>
                  <a:srgbClr val="70D6C4"/>
                </a:solidFill>
                <a:latin typeface="Consolas"/>
                <a:ea typeface="Consolas"/>
                <a:cs typeface="Consolas"/>
              </a:defRPr>
            </a:lvl7pPr>
            <a:lvl8pPr>
              <a:defRPr sz="1725" b="0">
                <a:solidFill>
                  <a:srgbClr val="70D6C4"/>
                </a:solidFill>
                <a:latin typeface="Consolas"/>
                <a:ea typeface="Consolas"/>
                <a:cs typeface="Consolas"/>
              </a:defRPr>
            </a:lvl8pPr>
            <a:lvl9pPr>
              <a:defRPr sz="1725" b="0">
                <a:solidFill>
                  <a:srgbClr val="70D6C4"/>
                </a:solidFill>
                <a:latin typeface="Consolas"/>
                <a:ea typeface="Consolas"/>
                <a:cs typeface="Consolas"/>
              </a:defRPr>
            </a:lvl9pPr>
          </a:lstStyle>
          <a:p>
            <a:pPr>
              <a:defRPr sz="1725" b="0">
                <a:solidFill>
                  <a:srgbClr val="70D6C4"/>
                </a:solidFill>
                <a:latin typeface="Consolas"/>
                <a:ea typeface="Consolas"/>
                <a:cs typeface="Consolas"/>
              </a:defRPr>
            </a:pPr>
            <a:r>
              <a:rPr sz="1725" b="0">
                <a:solidFill>
                  <a:srgbClr val="70D6C4"/>
                </a:solidFill>
                <a:latin typeface="Consolas"/>
                <a:ea typeface="Consolas"/>
                <a:cs typeface="Consolas"/>
              </a:rPr>
              <a:t>CREATE TRIGGER reporting_request_state</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AFTER UPDATE OF state ON reporting.report_request</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FOR EACH ROW WHEN (OLD.state IS DISTINCT FROM NEW.state)</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EXECUTE FUNCTION reporting.audit_state();</a:t>
            </a:r>
          </a:p>
        </p:txBody>
      </p:sp>
      <p:sp>
        <p:nvSpPr>
          <p:cNvPr id="5" name="Rectangle 4">
            <a:extLst>
              <a:ext uri="{FF2B5EF4-FFF2-40B4-BE49-F238E27FC236}">
                <a16:creationId xmlns:a16="http://schemas.microsoft.com/office/drawing/2014/main" id="{D0F7E4E7-F37F-496A-9942-FB5A53CABFAC}"/>
              </a:ext>
            </a:extLst>
          </p:cNvPr>
          <p:cNvSpPr>
            <a:spLocks noGrp="1"/>
          </p:cNvSpPr>
          <p:nvPr/>
        </p:nvSpPr>
        <p:spPr>
          <a:xfrm>
            <a:off x="609600" y="2952750"/>
            <a:ext cx="10953750" cy="619125"/>
          </a:xfrm>
          <a:prstGeom prst="rect">
            <a:avLst/>
          </a:prstGeom>
          <a:noFill/>
          <a:ln w="0">
            <a:noFill/>
          </a:ln>
        </p:spPr>
        <p:txBody>
          <a:bodyPr wrap="square" lIns="0" tIns="0" rIns="0" bIns="0" anchor="t">
            <a:noAutofit/>
          </a:bodyPr>
          <a:lstStyle>
            <a:defPPr>
              <a:defRPr sz="1725" b="0">
                <a:solidFill>
                  <a:srgbClr val="70D6C4"/>
                </a:solidFill>
                <a:latin typeface="Consolas"/>
                <a:ea typeface="Consolas"/>
                <a:cs typeface="Consolas"/>
              </a:defRPr>
            </a:defPPr>
            <a:lvl1pPr>
              <a:defRPr sz="1725" b="0">
                <a:solidFill>
                  <a:srgbClr val="70D6C4"/>
                </a:solidFill>
                <a:latin typeface="Consolas"/>
                <a:ea typeface="Consolas"/>
                <a:cs typeface="Consolas"/>
              </a:defRPr>
            </a:lvl1pPr>
            <a:lvl2pPr>
              <a:defRPr sz="1725" b="0">
                <a:solidFill>
                  <a:srgbClr val="70D6C4"/>
                </a:solidFill>
                <a:latin typeface="Consolas"/>
                <a:ea typeface="Consolas"/>
                <a:cs typeface="Consolas"/>
              </a:defRPr>
            </a:lvl2pPr>
            <a:lvl3pPr>
              <a:defRPr sz="1725" b="0">
                <a:solidFill>
                  <a:srgbClr val="70D6C4"/>
                </a:solidFill>
                <a:latin typeface="Consolas"/>
                <a:ea typeface="Consolas"/>
                <a:cs typeface="Consolas"/>
              </a:defRPr>
            </a:lvl3pPr>
            <a:lvl4pPr>
              <a:defRPr sz="1725" b="0">
                <a:solidFill>
                  <a:srgbClr val="70D6C4"/>
                </a:solidFill>
                <a:latin typeface="Consolas"/>
                <a:ea typeface="Consolas"/>
                <a:cs typeface="Consolas"/>
              </a:defRPr>
            </a:lvl4pPr>
            <a:lvl5pPr>
              <a:defRPr sz="1725" b="0">
                <a:solidFill>
                  <a:srgbClr val="70D6C4"/>
                </a:solidFill>
                <a:latin typeface="Consolas"/>
                <a:ea typeface="Consolas"/>
                <a:cs typeface="Consolas"/>
              </a:defRPr>
            </a:lvl5pPr>
            <a:lvl6pPr>
              <a:defRPr sz="1725" b="0">
                <a:solidFill>
                  <a:srgbClr val="70D6C4"/>
                </a:solidFill>
                <a:latin typeface="Consolas"/>
                <a:ea typeface="Consolas"/>
                <a:cs typeface="Consolas"/>
              </a:defRPr>
            </a:lvl6pPr>
            <a:lvl7pPr>
              <a:defRPr sz="1725" b="0">
                <a:solidFill>
                  <a:srgbClr val="70D6C4"/>
                </a:solidFill>
                <a:latin typeface="Consolas"/>
                <a:ea typeface="Consolas"/>
                <a:cs typeface="Consolas"/>
              </a:defRPr>
            </a:lvl7pPr>
            <a:lvl8pPr>
              <a:defRPr sz="1725" b="0">
                <a:solidFill>
                  <a:srgbClr val="70D6C4"/>
                </a:solidFill>
                <a:latin typeface="Consolas"/>
                <a:ea typeface="Consolas"/>
                <a:cs typeface="Consolas"/>
              </a:defRPr>
            </a:lvl8pPr>
            <a:lvl9pPr>
              <a:defRPr sz="1725" b="0">
                <a:solidFill>
                  <a:srgbClr val="70D6C4"/>
                </a:solidFill>
                <a:latin typeface="Consolas"/>
                <a:ea typeface="Consolas"/>
                <a:cs typeface="Consolas"/>
              </a:defRPr>
            </a:lvl9pPr>
          </a:lstStyle>
          <a:p>
            <a:pPr>
              <a:defRPr sz="1725" b="0">
                <a:solidFill>
                  <a:srgbClr val="70D6C4"/>
                </a:solidFill>
                <a:latin typeface="Consolas"/>
                <a:ea typeface="Consolas"/>
                <a:cs typeface="Consolas"/>
              </a:defRPr>
            </a:pPr>
            <a:r>
              <a:rPr sz="1725" b="0">
                <a:solidFill>
                  <a:srgbClr val="70D6C4"/>
                </a:solidFill>
                <a:latin typeface="Consolas"/>
                <a:ea typeface="Consolas"/>
                <a:cs typeface="Consolas"/>
              </a:rPr>
              <a:t>UPDATE reporting.report_request SET state='processing'</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WHERE request_id=:request_id RETURNING state;</a:t>
            </a:r>
          </a:p>
        </p:txBody>
      </p:sp>
      <p:sp>
        <p:nvSpPr>
          <p:cNvPr id="6" name="Rectangle 5">
            <a:extLst>
              <a:ext uri="{FF2B5EF4-FFF2-40B4-BE49-F238E27FC236}">
                <a16:creationId xmlns:a16="http://schemas.microsoft.com/office/drawing/2014/main" id="{1E466F54-BACB-44E4-ABDD-463BC0196E5B}"/>
              </a:ext>
            </a:extLst>
          </p:cNvPr>
          <p:cNvSpPr>
            <a:spLocks noGrp="1"/>
          </p:cNvSpPr>
          <p:nvPr/>
        </p:nvSpPr>
        <p:spPr>
          <a:xfrm>
            <a:off x="609600" y="3724275"/>
            <a:ext cx="10858500" cy="333375"/>
          </a:xfrm>
          <a:prstGeom prst="rect">
            <a:avLst/>
          </a:prstGeom>
          <a:noFill/>
          <a:ln w="0">
            <a:noFill/>
          </a:ln>
        </p:spPr>
        <p:txBody>
          <a:bodyPr wrap="square" lIns="0" tIns="0" rIns="0" bIns="0" anchor="t">
            <a:noAutofit/>
          </a:bodyPr>
          <a:lstStyle>
            <a:defPPr>
              <a:defRPr sz="1875" b="0">
                <a:solidFill>
                  <a:srgbClr val="70D6C4"/>
                </a:solidFill>
                <a:latin typeface="Arial"/>
                <a:ea typeface="Arial"/>
                <a:cs typeface="Arial"/>
              </a:defRPr>
            </a:defPPr>
            <a:lvl1pPr>
              <a:defRPr sz="1875" b="0">
                <a:solidFill>
                  <a:srgbClr val="70D6C4"/>
                </a:solidFill>
                <a:latin typeface="Arial"/>
                <a:ea typeface="Arial"/>
                <a:cs typeface="Arial"/>
              </a:defRPr>
            </a:lvl1pPr>
            <a:lvl2pPr>
              <a:defRPr sz="1875" b="0">
                <a:solidFill>
                  <a:srgbClr val="70D6C4"/>
                </a:solidFill>
                <a:latin typeface="Arial"/>
                <a:ea typeface="Arial"/>
                <a:cs typeface="Arial"/>
              </a:defRPr>
            </a:lvl2pPr>
            <a:lvl3pPr>
              <a:defRPr sz="1875" b="0">
                <a:solidFill>
                  <a:srgbClr val="70D6C4"/>
                </a:solidFill>
                <a:latin typeface="Arial"/>
                <a:ea typeface="Arial"/>
                <a:cs typeface="Arial"/>
              </a:defRPr>
            </a:lvl3pPr>
            <a:lvl4pPr>
              <a:defRPr sz="1875" b="0">
                <a:solidFill>
                  <a:srgbClr val="70D6C4"/>
                </a:solidFill>
                <a:latin typeface="Arial"/>
                <a:ea typeface="Arial"/>
                <a:cs typeface="Arial"/>
              </a:defRPr>
            </a:lvl4pPr>
            <a:lvl5pPr>
              <a:defRPr sz="1875" b="0">
                <a:solidFill>
                  <a:srgbClr val="70D6C4"/>
                </a:solidFill>
                <a:latin typeface="Arial"/>
                <a:ea typeface="Arial"/>
                <a:cs typeface="Arial"/>
              </a:defRPr>
            </a:lvl5pPr>
            <a:lvl6pPr>
              <a:defRPr sz="1875" b="0">
                <a:solidFill>
                  <a:srgbClr val="70D6C4"/>
                </a:solidFill>
                <a:latin typeface="Arial"/>
                <a:ea typeface="Arial"/>
                <a:cs typeface="Arial"/>
              </a:defRPr>
            </a:lvl6pPr>
            <a:lvl7pPr>
              <a:defRPr sz="1875" b="0">
                <a:solidFill>
                  <a:srgbClr val="70D6C4"/>
                </a:solidFill>
                <a:latin typeface="Arial"/>
                <a:ea typeface="Arial"/>
                <a:cs typeface="Arial"/>
              </a:defRPr>
            </a:lvl7pPr>
            <a:lvl8pPr>
              <a:defRPr sz="1875" b="0">
                <a:solidFill>
                  <a:srgbClr val="70D6C4"/>
                </a:solidFill>
                <a:latin typeface="Arial"/>
                <a:ea typeface="Arial"/>
                <a:cs typeface="Arial"/>
              </a:defRPr>
            </a:lvl8pPr>
            <a:lvl9pPr>
              <a:defRPr sz="1875" b="0">
                <a:solidFill>
                  <a:srgbClr val="70D6C4"/>
                </a:solidFill>
                <a:latin typeface="Arial"/>
                <a:ea typeface="Arial"/>
                <a:cs typeface="Arial"/>
              </a:defRPr>
            </a:lvl9pPr>
          </a:lstStyle>
          <a:p>
            <a:pPr>
              <a:defRPr sz="1875" b="0">
                <a:solidFill>
                  <a:srgbClr val="70D6C4"/>
                </a:solidFill>
                <a:latin typeface="Arial"/>
                <a:ea typeface="Arial"/>
                <a:cs typeface="Arial"/>
              </a:defRPr>
            </a:pPr>
            <a:r>
              <a:rPr sz="1875" b="0">
                <a:solidFill>
                  <a:srgbClr val="70D6C4"/>
                </a:solidFill>
                <a:latin typeface="Arial"/>
                <a:ea typeface="Arial"/>
                <a:cs typeface="Arial"/>
              </a:rPr>
              <a:t>UPDATE 1 → state = processing</a:t>
            </a:r>
          </a:p>
        </p:txBody>
      </p:sp>
      <p:sp>
        <p:nvSpPr>
          <p:cNvPr id="7" name="Rectangle 6">
            <a:extLst>
              <a:ext uri="{FF2B5EF4-FFF2-40B4-BE49-F238E27FC236}">
                <a16:creationId xmlns:a16="http://schemas.microsoft.com/office/drawing/2014/main" id="{1B77A7C2-250E-40AC-89C2-1372817E9A64}"/>
              </a:ext>
            </a:extLst>
          </p:cNvPr>
          <p:cNvSpPr>
            <a:spLocks noGrp="1"/>
          </p:cNvSpPr>
          <p:nvPr/>
        </p:nvSpPr>
        <p:spPr>
          <a:xfrm>
            <a:off x="609600" y="4229100"/>
            <a:ext cx="10953750" cy="619125"/>
          </a:xfrm>
          <a:prstGeom prst="rect">
            <a:avLst/>
          </a:prstGeom>
          <a:noFill/>
          <a:ln w="0">
            <a:noFill/>
          </a:ln>
        </p:spPr>
        <p:txBody>
          <a:bodyPr wrap="square" lIns="0" tIns="0" rIns="0" bIns="0" anchor="t">
            <a:noAutofit/>
          </a:bodyPr>
          <a:lstStyle>
            <a:defPPr>
              <a:defRPr sz="1725" b="0">
                <a:solidFill>
                  <a:srgbClr val="70D6C4"/>
                </a:solidFill>
                <a:latin typeface="Consolas"/>
                <a:ea typeface="Consolas"/>
                <a:cs typeface="Consolas"/>
              </a:defRPr>
            </a:defPPr>
            <a:lvl1pPr>
              <a:defRPr sz="1725" b="0">
                <a:solidFill>
                  <a:srgbClr val="70D6C4"/>
                </a:solidFill>
                <a:latin typeface="Consolas"/>
                <a:ea typeface="Consolas"/>
                <a:cs typeface="Consolas"/>
              </a:defRPr>
            </a:lvl1pPr>
            <a:lvl2pPr>
              <a:defRPr sz="1725" b="0">
                <a:solidFill>
                  <a:srgbClr val="70D6C4"/>
                </a:solidFill>
                <a:latin typeface="Consolas"/>
                <a:ea typeface="Consolas"/>
                <a:cs typeface="Consolas"/>
              </a:defRPr>
            </a:lvl2pPr>
            <a:lvl3pPr>
              <a:defRPr sz="1725" b="0">
                <a:solidFill>
                  <a:srgbClr val="70D6C4"/>
                </a:solidFill>
                <a:latin typeface="Consolas"/>
                <a:ea typeface="Consolas"/>
                <a:cs typeface="Consolas"/>
              </a:defRPr>
            </a:lvl3pPr>
            <a:lvl4pPr>
              <a:defRPr sz="1725" b="0">
                <a:solidFill>
                  <a:srgbClr val="70D6C4"/>
                </a:solidFill>
                <a:latin typeface="Consolas"/>
                <a:ea typeface="Consolas"/>
                <a:cs typeface="Consolas"/>
              </a:defRPr>
            </a:lvl4pPr>
            <a:lvl5pPr>
              <a:defRPr sz="1725" b="0">
                <a:solidFill>
                  <a:srgbClr val="70D6C4"/>
                </a:solidFill>
                <a:latin typeface="Consolas"/>
                <a:ea typeface="Consolas"/>
                <a:cs typeface="Consolas"/>
              </a:defRPr>
            </a:lvl5pPr>
            <a:lvl6pPr>
              <a:defRPr sz="1725" b="0">
                <a:solidFill>
                  <a:srgbClr val="70D6C4"/>
                </a:solidFill>
                <a:latin typeface="Consolas"/>
                <a:ea typeface="Consolas"/>
                <a:cs typeface="Consolas"/>
              </a:defRPr>
            </a:lvl6pPr>
            <a:lvl7pPr>
              <a:defRPr sz="1725" b="0">
                <a:solidFill>
                  <a:srgbClr val="70D6C4"/>
                </a:solidFill>
                <a:latin typeface="Consolas"/>
                <a:ea typeface="Consolas"/>
                <a:cs typeface="Consolas"/>
              </a:defRPr>
            </a:lvl7pPr>
            <a:lvl8pPr>
              <a:defRPr sz="1725" b="0">
                <a:solidFill>
                  <a:srgbClr val="70D6C4"/>
                </a:solidFill>
                <a:latin typeface="Consolas"/>
                <a:ea typeface="Consolas"/>
                <a:cs typeface="Consolas"/>
              </a:defRPr>
            </a:lvl8pPr>
            <a:lvl9pPr>
              <a:defRPr sz="1725" b="0">
                <a:solidFill>
                  <a:srgbClr val="70D6C4"/>
                </a:solidFill>
                <a:latin typeface="Consolas"/>
                <a:ea typeface="Consolas"/>
                <a:cs typeface="Consolas"/>
              </a:defRPr>
            </a:lvl9pPr>
          </a:lstStyle>
          <a:p>
            <a:pPr>
              <a:defRPr sz="1725" b="0">
                <a:solidFill>
                  <a:srgbClr val="70D6C4"/>
                </a:solidFill>
                <a:latin typeface="Consolas"/>
                <a:ea typeface="Consolas"/>
                <a:cs typeface="Consolas"/>
              </a:defRPr>
            </a:pPr>
            <a:r>
              <a:rPr sz="1725" b="0">
                <a:solidFill>
                  <a:srgbClr val="70D6C4"/>
                </a:solidFill>
                <a:latin typeface="Consolas"/>
                <a:ea typeface="Consolas"/>
                <a:cs typeface="Consolas"/>
              </a:rPr>
              <a:t>SELECT old_state,new_state FROM reporting.report_audit</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WHERE request_id=:request_id ORDER BY audit_id;</a:t>
            </a:r>
          </a:p>
        </p:txBody>
      </p:sp>
      <p:graphicFrame>
        <p:nvGraphicFramePr>
          <p:cNvPr id="8" name="Table 7">
            <a:extLst>
              <a:ext uri="{FF2B5EF4-FFF2-40B4-BE49-F238E27FC236}">
                <a16:creationId xmlns:a16="http://schemas.microsoft.com/office/drawing/2014/main" id="{DEE2DF7F-1343-4F11-B062-4219517F465E}"/>
              </a:ext>
            </a:extLst>
          </p:cNvPr>
          <p:cNvGraphicFramePr/>
          <p:nvPr/>
        </p:nvGraphicFramePr>
        <p:xfrm>
          <a:off x="609600" y="4857750"/>
          <a:ext cx="10972800" cy="1097280"/>
        </p:xfrm>
        <a:graphic>
          <a:graphicData uri="http://schemas.openxmlformats.org/drawingml/2006/table">
            <a:tbl>
              <a:tblPr firstRow="1"/>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285750">
                <a:tc>
                  <a:txBody>
                    <a:bodyPr/>
                    <a:lstStyle/>
                    <a:p>
                      <a:r>
                        <a:rPr sz="1800" b="1">
                          <a:solidFill>
                            <a:srgbClr val="70D6C4"/>
                          </a:solidFill>
                          <a:latin typeface="Arial"/>
                          <a:ea typeface="Arial"/>
                          <a:cs typeface="Arial"/>
                        </a:rPr>
                        <a:t>old_state</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new_state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285750">
                <a:tc>
                  <a:txBody>
                    <a:bodyPr/>
                    <a:lstStyle/>
                    <a:p>
                      <a:r>
                        <a:rPr sz="1800" b="0">
                          <a:solidFill>
                            <a:srgbClr val="F1F4F6"/>
                          </a:solidFill>
                          <a:latin typeface="Arial"/>
                          <a:ea typeface="Arial"/>
                          <a:cs typeface="Arial"/>
                        </a:rPr>
                        <a:t>NULL</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queued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285750">
                <a:tc>
                  <a:txBody>
                    <a:bodyPr/>
                    <a:lstStyle/>
                    <a:p>
                      <a:r>
                        <a:rPr sz="1800" b="0">
                          <a:solidFill>
                            <a:srgbClr val="F1F4F6"/>
                          </a:solidFill>
                          <a:latin typeface="Arial"/>
                          <a:ea typeface="Arial"/>
                          <a:cs typeface="Arial"/>
                        </a:rPr>
                        <a:t>queued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processing</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bl>
          </a:graphicData>
        </a:graphic>
      </p:graphicFrame>
      <p:sp>
        <p:nvSpPr>
          <p:cNvPr id="9" name="Rectangle 8">
            <a:extLst>
              <a:ext uri="{FF2B5EF4-FFF2-40B4-BE49-F238E27FC236}">
                <a16:creationId xmlns:a16="http://schemas.microsoft.com/office/drawing/2014/main" id="{2E66B467-C7C6-4AE8-A3BF-DED47A636730}"/>
              </a:ext>
            </a:extLst>
          </p:cNvPr>
          <p:cNvSpPr>
            <a:spLocks noGrp="1"/>
          </p:cNvSpPr>
          <p:nvPr/>
        </p:nvSpPr>
        <p:spPr>
          <a:xfrm>
            <a:off x="609600" y="6191250"/>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The application does not insert these audit rows manually. The triggers fire inside the same transaction.</a:t>
            </a:r>
          </a:p>
        </p:txBody>
      </p:sp>
    </p:spTree>
    <p:extLst>
      <p:ext uri="{BB962C8B-B14F-4D97-AF65-F5344CB8AC3E}">
        <p14:creationId xmlns:p14="http://schemas.microsoft.com/office/powerpoint/2010/main" val="13661747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537024C-31B3-427A-AD64-B4BAF563017E}"/>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Triggers: protect posted history</a:t>
            </a:r>
          </a:p>
        </p:txBody>
      </p:sp>
      <p:sp>
        <p:nvSpPr>
          <p:cNvPr id="2" name="Rectangle 1">
            <a:extLst>
              <a:ext uri="{FF2B5EF4-FFF2-40B4-BE49-F238E27FC236}">
                <a16:creationId xmlns:a16="http://schemas.microsoft.com/office/drawing/2014/main" id="{36B6B4AF-B046-4A8B-9378-65C85DB92654}"/>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41</a:t>
            </a:r>
          </a:p>
        </p:txBody>
      </p:sp>
      <p:sp>
        <p:nvSpPr>
          <p:cNvPr id="3" name="Rectangle 2">
            <a:extLst>
              <a:ext uri="{FF2B5EF4-FFF2-40B4-BE49-F238E27FC236}">
                <a16:creationId xmlns:a16="http://schemas.microsoft.com/office/drawing/2014/main" id="{8A073AFD-D265-4415-BA9F-6FBD51A16749}"/>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0F010308-DABD-4F21-B719-12FB8C0396E0}"/>
              </a:ext>
            </a:extLst>
          </p:cNvPr>
          <p:cNvSpPr>
            <a:spLocks noGrp="1"/>
          </p:cNvSpPr>
          <p:nvPr/>
        </p:nvSpPr>
        <p:spPr>
          <a:xfrm>
            <a:off x="609600" y="1457325"/>
            <a:ext cx="10953750" cy="1000125"/>
          </a:xfrm>
          <a:prstGeom prst="rect">
            <a:avLst/>
          </a:prstGeom>
          <a:noFill/>
          <a:ln w="0">
            <a:noFill/>
          </a:ln>
        </p:spPr>
        <p:txBody>
          <a:bodyPr wrap="square" lIns="0" tIns="0" rIns="0" bIns="0" anchor="t">
            <a:noAutofit/>
          </a:bodyPr>
          <a:lstStyle>
            <a:defPPr>
              <a:defRPr sz="1725" b="0">
                <a:solidFill>
                  <a:srgbClr val="70D6C4"/>
                </a:solidFill>
                <a:latin typeface="Consolas"/>
                <a:ea typeface="Consolas"/>
                <a:cs typeface="Consolas"/>
              </a:defRPr>
            </a:defPPr>
            <a:lvl1pPr>
              <a:defRPr sz="1725" b="0">
                <a:solidFill>
                  <a:srgbClr val="70D6C4"/>
                </a:solidFill>
                <a:latin typeface="Consolas"/>
                <a:ea typeface="Consolas"/>
                <a:cs typeface="Consolas"/>
              </a:defRPr>
            </a:lvl1pPr>
            <a:lvl2pPr>
              <a:defRPr sz="1725" b="0">
                <a:solidFill>
                  <a:srgbClr val="70D6C4"/>
                </a:solidFill>
                <a:latin typeface="Consolas"/>
                <a:ea typeface="Consolas"/>
                <a:cs typeface="Consolas"/>
              </a:defRPr>
            </a:lvl2pPr>
            <a:lvl3pPr>
              <a:defRPr sz="1725" b="0">
                <a:solidFill>
                  <a:srgbClr val="70D6C4"/>
                </a:solidFill>
                <a:latin typeface="Consolas"/>
                <a:ea typeface="Consolas"/>
                <a:cs typeface="Consolas"/>
              </a:defRPr>
            </a:lvl3pPr>
            <a:lvl4pPr>
              <a:defRPr sz="1725" b="0">
                <a:solidFill>
                  <a:srgbClr val="70D6C4"/>
                </a:solidFill>
                <a:latin typeface="Consolas"/>
                <a:ea typeface="Consolas"/>
                <a:cs typeface="Consolas"/>
              </a:defRPr>
            </a:lvl4pPr>
            <a:lvl5pPr>
              <a:defRPr sz="1725" b="0">
                <a:solidFill>
                  <a:srgbClr val="70D6C4"/>
                </a:solidFill>
                <a:latin typeface="Consolas"/>
                <a:ea typeface="Consolas"/>
                <a:cs typeface="Consolas"/>
              </a:defRPr>
            </a:lvl5pPr>
            <a:lvl6pPr>
              <a:defRPr sz="1725" b="0">
                <a:solidFill>
                  <a:srgbClr val="70D6C4"/>
                </a:solidFill>
                <a:latin typeface="Consolas"/>
                <a:ea typeface="Consolas"/>
                <a:cs typeface="Consolas"/>
              </a:defRPr>
            </a:lvl6pPr>
            <a:lvl7pPr>
              <a:defRPr sz="1725" b="0">
                <a:solidFill>
                  <a:srgbClr val="70D6C4"/>
                </a:solidFill>
                <a:latin typeface="Consolas"/>
                <a:ea typeface="Consolas"/>
                <a:cs typeface="Consolas"/>
              </a:defRPr>
            </a:lvl7pPr>
            <a:lvl8pPr>
              <a:defRPr sz="1725" b="0">
                <a:solidFill>
                  <a:srgbClr val="70D6C4"/>
                </a:solidFill>
                <a:latin typeface="Consolas"/>
                <a:ea typeface="Consolas"/>
                <a:cs typeface="Consolas"/>
              </a:defRPr>
            </a:lvl8pPr>
            <a:lvl9pPr>
              <a:defRPr sz="1725" b="0">
                <a:solidFill>
                  <a:srgbClr val="70D6C4"/>
                </a:solidFill>
                <a:latin typeface="Consolas"/>
                <a:ea typeface="Consolas"/>
                <a:cs typeface="Consolas"/>
              </a:defRPr>
            </a:lvl9pPr>
          </a:lstStyle>
          <a:p>
            <a:pPr>
              <a:defRPr sz="1725" b="0">
                <a:solidFill>
                  <a:srgbClr val="70D6C4"/>
                </a:solidFill>
                <a:latin typeface="Consolas"/>
                <a:ea typeface="Consolas"/>
                <a:cs typeface="Consolas"/>
              </a:defRPr>
            </a:pPr>
            <a:r>
              <a:rPr sz="1725" b="0">
                <a:solidFill>
                  <a:srgbClr val="70D6C4"/>
                </a:solidFill>
                <a:latin typeface="Consolas"/>
                <a:ea typeface="Consolas"/>
                <a:cs typeface="Consolas"/>
              </a:rPr>
              <a:t>CREATE TRIGGER stock_history_immutable</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BEFORE UPDATE OR DELETE ON reporting.stock_movement</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FOR EACH ROW EXECUTE FUNCTION reporting.protect_stock_history();</a:t>
            </a:r>
          </a:p>
        </p:txBody>
      </p:sp>
      <p:graphicFrame>
        <p:nvGraphicFramePr>
          <p:cNvPr id="5" name="Table 4">
            <a:extLst>
              <a:ext uri="{FF2B5EF4-FFF2-40B4-BE49-F238E27FC236}">
                <a16:creationId xmlns:a16="http://schemas.microsoft.com/office/drawing/2014/main" id="{32AF9ED6-981C-4931-AC3B-14D676BDAFD1}"/>
              </a:ext>
            </a:extLst>
          </p:cNvPr>
          <p:cNvGraphicFramePr/>
          <p:nvPr/>
        </p:nvGraphicFramePr>
        <p:xfrm>
          <a:off x="609600" y="2876550"/>
          <a:ext cx="10972800" cy="2619376"/>
        </p:xfrm>
        <a:graphic>
          <a:graphicData uri="http://schemas.openxmlformats.org/drawingml/2006/table">
            <a:tbl>
              <a:tblPr firstRow="1"/>
              <a:tblGrid>
                <a:gridCol w="57150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654844">
                <a:tc>
                  <a:txBody>
                    <a:bodyPr/>
                    <a:lstStyle/>
                    <a:p>
                      <a:r>
                        <a:rPr sz="1800" b="1">
                          <a:solidFill>
                            <a:srgbClr val="70D6C4"/>
                          </a:solidFill>
                          <a:latin typeface="Arial"/>
                          <a:ea typeface="Arial"/>
                          <a:cs typeface="Arial"/>
                        </a:rPr>
                        <a:t>Attempted SQL on controlled records</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Actual PostgreSQL error</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654844">
                <a:tc>
                  <a:txBody>
                    <a:bodyPr/>
                    <a:lstStyle/>
                    <a:p>
                      <a:r>
                        <a:rPr sz="1800" b="0">
                          <a:solidFill>
                            <a:srgbClr val="F1F4F6"/>
                          </a:solidFill>
                          <a:latin typeface="Arial"/>
                          <a:ea typeface="Arial"/>
                          <a:cs typeface="Arial"/>
                        </a:rPr>
                        <a:t>UPDATE stock_movement SET note='edited'</a:t>
                      </a:r>
                    </a:p>
                    <a:p>
                      <a:r>
                        <a:rPr sz="1800" b="0">
                          <a:solidFill>
                            <a:srgbClr val="F1F4F6"/>
                          </a:solidFill>
                          <a:latin typeface="Arial"/>
                          <a:ea typeface="Arial"/>
                          <a:cs typeface="Arial"/>
                        </a:rPr>
                        <a:t>WHERE reference='PPT-SALE-PROOF';</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Posted stock movements are append-only</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654844">
                <a:tc>
                  <a:txBody>
                    <a:bodyPr/>
                    <a:lstStyle/>
                    <a:p>
                      <a:r>
                        <a:rPr sz="1800" b="0">
                          <a:solidFill>
                            <a:srgbClr val="F1F4F6"/>
                          </a:solidFill>
                          <a:latin typeface="Arial"/>
                          <a:ea typeface="Arial"/>
                          <a:cs typeface="Arial"/>
                        </a:rPr>
                        <a:t>UPDATE template_version SET title=title</a:t>
                      </a:r>
                    </a:p>
                    <a:p>
                      <a:r>
                        <a:rPr sz="1800" b="0">
                          <a:solidFill>
                            <a:srgbClr val="F1F4F6"/>
                          </a:solidFill>
                          <a:latin typeface="Arial"/>
                          <a:ea typeface="Arial"/>
                          <a:cs typeface="Arial"/>
                        </a:rPr>
                        <a:t>WHERE template_id=1;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Historical template/dataset rows are immutable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654844">
                <a:tc>
                  <a:txBody>
                    <a:bodyPr/>
                    <a:lstStyle/>
                    <a:p>
                      <a:r>
                        <a:rPr sz="1800" b="0">
                          <a:solidFill>
                            <a:srgbClr val="F1F4F6"/>
                          </a:solidFill>
                          <a:latin typeface="Arial"/>
                          <a:ea typeface="Arial"/>
                          <a:cs typeface="Arial"/>
                        </a:rPr>
                        <a:t>UPDATE report_dataset SET rows=rows</a:t>
                      </a:r>
                    </a:p>
                    <a:p>
                      <a:r>
                        <a:rPr sz="1800" b="0">
                          <a:solidFill>
                            <a:srgbClr val="F1F4F6"/>
                          </a:solidFill>
                          <a:latin typeface="Arial"/>
                          <a:ea typeface="Arial"/>
                          <a:cs typeface="Arial"/>
                        </a:rPr>
                        <a:t>WHERE request_id=:request_id;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Historical template/dataset rows are immutable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AAB333ED-1DC0-4E43-AEEC-B3E12DC54EA4}"/>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All names above are in reporting. Each error has SQLSTATE 23514; no protected row was changed.</a:t>
            </a:r>
          </a:p>
        </p:txBody>
      </p:sp>
    </p:spTree>
    <p:extLst>
      <p:ext uri="{BB962C8B-B14F-4D97-AF65-F5344CB8AC3E}">
        <p14:creationId xmlns:p14="http://schemas.microsoft.com/office/powerpoint/2010/main" val="4960687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74541F5-1569-4030-BBF1-C574F634594A}"/>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Transaction control: COMMIT and ROLLBACK</a:t>
            </a:r>
          </a:p>
        </p:txBody>
      </p:sp>
      <p:sp>
        <p:nvSpPr>
          <p:cNvPr id="2" name="Rectangle 1">
            <a:extLst>
              <a:ext uri="{FF2B5EF4-FFF2-40B4-BE49-F238E27FC236}">
                <a16:creationId xmlns:a16="http://schemas.microsoft.com/office/drawing/2014/main" id="{AD64D5DF-39D7-44AB-BFDB-F81661786AB6}"/>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42</a:t>
            </a:r>
          </a:p>
        </p:txBody>
      </p:sp>
      <p:sp>
        <p:nvSpPr>
          <p:cNvPr id="3" name="Rectangle 2">
            <a:extLst>
              <a:ext uri="{FF2B5EF4-FFF2-40B4-BE49-F238E27FC236}">
                <a16:creationId xmlns:a16="http://schemas.microsoft.com/office/drawing/2014/main" id="{907DC794-9C42-417B-B34A-77E2934D15C1}"/>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9D2F996A-9714-4FFC-84EA-BA95F18F3313}"/>
              </a:ext>
            </a:extLst>
          </p:cNvPr>
          <p:cNvSpPr>
            <a:spLocks noGrp="1"/>
          </p:cNvSpPr>
          <p:nvPr/>
        </p:nvSpPr>
        <p:spPr>
          <a:xfrm>
            <a:off x="609600" y="1428750"/>
            <a:ext cx="10953750" cy="1657350"/>
          </a:xfrm>
          <a:prstGeom prst="rect">
            <a:avLst/>
          </a:prstGeom>
          <a:noFill/>
          <a:ln w="0">
            <a:noFill/>
          </a:ln>
        </p:spPr>
        <p:txBody>
          <a:bodyPr wrap="square" lIns="0" tIns="0" rIns="0" bIns="0" anchor="t">
            <a:noAutofit/>
          </a:bodyPr>
          <a:lstStyle>
            <a:defPPr>
              <a:defRPr sz="1725" b="0">
                <a:solidFill>
                  <a:srgbClr val="70D6C4"/>
                </a:solidFill>
                <a:latin typeface="Consolas"/>
                <a:ea typeface="Consolas"/>
                <a:cs typeface="Consolas"/>
              </a:defRPr>
            </a:defPPr>
            <a:lvl1pPr>
              <a:defRPr sz="1725" b="0">
                <a:solidFill>
                  <a:srgbClr val="70D6C4"/>
                </a:solidFill>
                <a:latin typeface="Consolas"/>
                <a:ea typeface="Consolas"/>
                <a:cs typeface="Consolas"/>
              </a:defRPr>
            </a:lvl1pPr>
            <a:lvl2pPr>
              <a:defRPr sz="1725" b="0">
                <a:solidFill>
                  <a:srgbClr val="70D6C4"/>
                </a:solidFill>
                <a:latin typeface="Consolas"/>
                <a:ea typeface="Consolas"/>
                <a:cs typeface="Consolas"/>
              </a:defRPr>
            </a:lvl2pPr>
            <a:lvl3pPr>
              <a:defRPr sz="1725" b="0">
                <a:solidFill>
                  <a:srgbClr val="70D6C4"/>
                </a:solidFill>
                <a:latin typeface="Consolas"/>
                <a:ea typeface="Consolas"/>
                <a:cs typeface="Consolas"/>
              </a:defRPr>
            </a:lvl3pPr>
            <a:lvl4pPr>
              <a:defRPr sz="1725" b="0">
                <a:solidFill>
                  <a:srgbClr val="70D6C4"/>
                </a:solidFill>
                <a:latin typeface="Consolas"/>
                <a:ea typeface="Consolas"/>
                <a:cs typeface="Consolas"/>
              </a:defRPr>
            </a:lvl4pPr>
            <a:lvl5pPr>
              <a:defRPr sz="1725" b="0">
                <a:solidFill>
                  <a:srgbClr val="70D6C4"/>
                </a:solidFill>
                <a:latin typeface="Consolas"/>
                <a:ea typeface="Consolas"/>
                <a:cs typeface="Consolas"/>
              </a:defRPr>
            </a:lvl5pPr>
            <a:lvl6pPr>
              <a:defRPr sz="1725" b="0">
                <a:solidFill>
                  <a:srgbClr val="70D6C4"/>
                </a:solidFill>
                <a:latin typeface="Consolas"/>
                <a:ea typeface="Consolas"/>
                <a:cs typeface="Consolas"/>
              </a:defRPr>
            </a:lvl6pPr>
            <a:lvl7pPr>
              <a:defRPr sz="1725" b="0">
                <a:solidFill>
                  <a:srgbClr val="70D6C4"/>
                </a:solidFill>
                <a:latin typeface="Consolas"/>
                <a:ea typeface="Consolas"/>
                <a:cs typeface="Consolas"/>
              </a:defRPr>
            </a:lvl7pPr>
            <a:lvl8pPr>
              <a:defRPr sz="1725" b="0">
                <a:solidFill>
                  <a:srgbClr val="70D6C4"/>
                </a:solidFill>
                <a:latin typeface="Consolas"/>
                <a:ea typeface="Consolas"/>
                <a:cs typeface="Consolas"/>
              </a:defRPr>
            </a:lvl8pPr>
            <a:lvl9pPr>
              <a:defRPr sz="1725" b="0">
                <a:solidFill>
                  <a:srgbClr val="70D6C4"/>
                </a:solidFill>
                <a:latin typeface="Consolas"/>
                <a:ea typeface="Consolas"/>
                <a:cs typeface="Consolas"/>
              </a:defRPr>
            </a:lvl9pPr>
          </a:lstStyle>
          <a:p>
            <a:pPr>
              <a:defRPr sz="1725" b="0">
                <a:solidFill>
                  <a:srgbClr val="70D6C4"/>
                </a:solidFill>
                <a:latin typeface="Consolas"/>
                <a:ea typeface="Consolas"/>
                <a:cs typeface="Consolas"/>
              </a:defRPr>
            </a:pPr>
            <a:r>
              <a:rPr sz="1725" b="0">
                <a:solidFill>
                  <a:srgbClr val="70D6C4"/>
                </a:solidFill>
                <a:latin typeface="Consolas"/>
                <a:ea typeface="Consolas"/>
                <a:cs typeface="Consolas"/>
              </a:rPr>
              <a:t>BEGIN;</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Dedicated product PPT-ACID-PROOF inserted at 75.00</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COMMIT;</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In a new connection:</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SELECT sku,catalogue_price FROM reporting.product</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WHERE sku='PPT-ACID-PROOF';</a:t>
            </a:r>
          </a:p>
        </p:txBody>
      </p:sp>
      <p:graphicFrame>
        <p:nvGraphicFramePr>
          <p:cNvPr id="5" name="Table 4">
            <a:extLst>
              <a:ext uri="{FF2B5EF4-FFF2-40B4-BE49-F238E27FC236}">
                <a16:creationId xmlns:a16="http://schemas.microsoft.com/office/drawing/2014/main" id="{F15E23AB-CB14-4E2F-86AC-195726803E3C}"/>
              </a:ext>
            </a:extLst>
          </p:cNvPr>
          <p:cNvGraphicFramePr/>
          <p:nvPr/>
        </p:nvGraphicFramePr>
        <p:xfrm>
          <a:off x="609600" y="3295650"/>
          <a:ext cx="10972800" cy="857250"/>
        </p:xfrm>
        <a:graphic>
          <a:graphicData uri="http://schemas.openxmlformats.org/drawingml/2006/table">
            <a:tbl>
              <a:tblPr firstRow="1"/>
              <a:tblGrid>
                <a:gridCol w="6858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28625">
                <a:tc>
                  <a:txBody>
                    <a:bodyPr/>
                    <a:lstStyle/>
                    <a:p>
                      <a:r>
                        <a:rPr sz="1875" b="1">
                          <a:solidFill>
                            <a:srgbClr val="70D6C4"/>
                          </a:solidFill>
                          <a:latin typeface="Arial"/>
                          <a:ea typeface="Arial"/>
                          <a:cs typeface="Arial"/>
                        </a:rPr>
                        <a:t>sku</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catalogue_price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428625">
                <a:tc>
                  <a:txBody>
                    <a:bodyPr/>
                    <a:lstStyle/>
                    <a:p>
                      <a:r>
                        <a:rPr sz="1875" b="0">
                          <a:solidFill>
                            <a:srgbClr val="F1F4F6"/>
                          </a:solidFill>
                          <a:latin typeface="Arial"/>
                          <a:ea typeface="Arial"/>
                          <a:cs typeface="Arial"/>
                        </a:rPr>
                        <a:t>PPT-ACID-PROOF</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
        <p:nvSpPr>
          <p:cNvPr id="6" name="Rectangle 5">
            <a:extLst>
              <a:ext uri="{FF2B5EF4-FFF2-40B4-BE49-F238E27FC236}">
                <a16:creationId xmlns:a16="http://schemas.microsoft.com/office/drawing/2014/main" id="{FE32D032-499C-4D78-B7F2-E2BA9F60BAB5}"/>
              </a:ext>
            </a:extLst>
          </p:cNvPr>
          <p:cNvSpPr>
            <a:spLocks noGrp="1"/>
          </p:cNvSpPr>
          <p:nvPr/>
        </p:nvSpPr>
        <p:spPr>
          <a:xfrm>
            <a:off x="609600" y="4400550"/>
            <a:ext cx="10953750" cy="1047750"/>
          </a:xfrm>
          <a:prstGeom prst="rect">
            <a:avLst/>
          </a:prstGeom>
          <a:noFill/>
          <a:ln w="0">
            <a:noFill/>
          </a:ln>
        </p:spPr>
        <p:txBody>
          <a:bodyPr wrap="square" lIns="0" tIns="0" rIns="0" bIns="0" anchor="t">
            <a:noAutofit/>
          </a:bodyPr>
          <a:lstStyle>
            <a:defPPr>
              <a:defRPr sz="1725" b="0">
                <a:solidFill>
                  <a:srgbClr val="70D6C4"/>
                </a:solidFill>
                <a:latin typeface="Consolas"/>
                <a:ea typeface="Consolas"/>
                <a:cs typeface="Consolas"/>
              </a:defRPr>
            </a:defPPr>
            <a:lvl1pPr>
              <a:defRPr sz="1725" b="0">
                <a:solidFill>
                  <a:srgbClr val="70D6C4"/>
                </a:solidFill>
                <a:latin typeface="Consolas"/>
                <a:ea typeface="Consolas"/>
                <a:cs typeface="Consolas"/>
              </a:defRPr>
            </a:lvl1pPr>
            <a:lvl2pPr>
              <a:defRPr sz="1725" b="0">
                <a:solidFill>
                  <a:srgbClr val="70D6C4"/>
                </a:solidFill>
                <a:latin typeface="Consolas"/>
                <a:ea typeface="Consolas"/>
                <a:cs typeface="Consolas"/>
              </a:defRPr>
            </a:lvl2pPr>
            <a:lvl3pPr>
              <a:defRPr sz="1725" b="0">
                <a:solidFill>
                  <a:srgbClr val="70D6C4"/>
                </a:solidFill>
                <a:latin typeface="Consolas"/>
                <a:ea typeface="Consolas"/>
                <a:cs typeface="Consolas"/>
              </a:defRPr>
            </a:lvl3pPr>
            <a:lvl4pPr>
              <a:defRPr sz="1725" b="0">
                <a:solidFill>
                  <a:srgbClr val="70D6C4"/>
                </a:solidFill>
                <a:latin typeface="Consolas"/>
                <a:ea typeface="Consolas"/>
                <a:cs typeface="Consolas"/>
              </a:defRPr>
            </a:lvl4pPr>
            <a:lvl5pPr>
              <a:defRPr sz="1725" b="0">
                <a:solidFill>
                  <a:srgbClr val="70D6C4"/>
                </a:solidFill>
                <a:latin typeface="Consolas"/>
                <a:ea typeface="Consolas"/>
                <a:cs typeface="Consolas"/>
              </a:defRPr>
            </a:lvl5pPr>
            <a:lvl6pPr>
              <a:defRPr sz="1725" b="0">
                <a:solidFill>
                  <a:srgbClr val="70D6C4"/>
                </a:solidFill>
                <a:latin typeface="Consolas"/>
                <a:ea typeface="Consolas"/>
                <a:cs typeface="Consolas"/>
              </a:defRPr>
            </a:lvl6pPr>
            <a:lvl7pPr>
              <a:defRPr sz="1725" b="0">
                <a:solidFill>
                  <a:srgbClr val="70D6C4"/>
                </a:solidFill>
                <a:latin typeface="Consolas"/>
                <a:ea typeface="Consolas"/>
                <a:cs typeface="Consolas"/>
              </a:defRPr>
            </a:lvl7pPr>
            <a:lvl8pPr>
              <a:defRPr sz="1725" b="0">
                <a:solidFill>
                  <a:srgbClr val="70D6C4"/>
                </a:solidFill>
                <a:latin typeface="Consolas"/>
                <a:ea typeface="Consolas"/>
                <a:cs typeface="Consolas"/>
              </a:defRPr>
            </a:lvl8pPr>
            <a:lvl9pPr>
              <a:defRPr sz="1725" b="0">
                <a:solidFill>
                  <a:srgbClr val="70D6C4"/>
                </a:solidFill>
                <a:latin typeface="Consolas"/>
                <a:ea typeface="Consolas"/>
                <a:cs typeface="Consolas"/>
              </a:defRPr>
            </a:lvl9pPr>
          </a:lstStyle>
          <a:p>
            <a:pPr>
              <a:defRPr sz="1725" b="0">
                <a:solidFill>
                  <a:srgbClr val="70D6C4"/>
                </a:solidFill>
                <a:latin typeface="Consolas"/>
                <a:ea typeface="Consolas"/>
                <a:cs typeface="Consolas"/>
              </a:defRPr>
            </a:pPr>
            <a:r>
              <a:rPr sz="1725" b="0">
                <a:solidFill>
                  <a:srgbClr val="70D6C4"/>
                </a:solidFill>
                <a:latin typeface="Consolas"/>
                <a:ea typeface="Consolas"/>
                <a:cs typeface="Consolas"/>
              </a:rPr>
              <a:t>BEGIN;</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UPDATE reporting.product SET catalogue_price=80.00</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WHERE sku='PPT-ACID-PROOF' RETURNING catalogue_price;</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ROLLBACK;</a:t>
            </a:r>
          </a:p>
        </p:txBody>
      </p:sp>
      <p:graphicFrame>
        <p:nvGraphicFramePr>
          <p:cNvPr id="7" name="Table 6">
            <a:extLst>
              <a:ext uri="{FF2B5EF4-FFF2-40B4-BE49-F238E27FC236}">
                <a16:creationId xmlns:a16="http://schemas.microsoft.com/office/drawing/2014/main" id="{4817F0F2-1C9B-4C63-878E-0B6AD0339A59}"/>
              </a:ext>
            </a:extLst>
          </p:cNvPr>
          <p:cNvGraphicFramePr/>
          <p:nvPr/>
        </p:nvGraphicFramePr>
        <p:xfrm>
          <a:off x="609600" y="5505450"/>
          <a:ext cx="10972800" cy="708660"/>
        </p:xfrm>
        <a:graphic>
          <a:graphicData uri="http://schemas.openxmlformats.org/drawingml/2006/table">
            <a:tbl>
              <a:tblPr firstRow="1"/>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285750">
                <a:tc>
                  <a:txBody>
                    <a:bodyPr/>
                    <a:lstStyle/>
                    <a:p>
                      <a:r>
                        <a:rPr sz="1725" b="1">
                          <a:solidFill>
                            <a:srgbClr val="70D6C4"/>
                          </a:solidFill>
                          <a:latin typeface="Arial"/>
                          <a:ea typeface="Arial"/>
                          <a:cs typeface="Arial"/>
                        </a:rPr>
                        <a:t>UPDATE returned</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725" b="1">
                          <a:solidFill>
                            <a:srgbClr val="70D6C4"/>
                          </a:solidFill>
                          <a:latin typeface="Arial"/>
                          <a:ea typeface="Arial"/>
                          <a:cs typeface="Arial"/>
                        </a:rPr>
                        <a:t>SELECT after ROLLBACK</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285750">
                <a:tc>
                  <a:txBody>
                    <a:bodyPr/>
                    <a:lstStyle/>
                    <a:p>
                      <a:r>
                        <a:rPr sz="1725" b="0">
                          <a:solidFill>
                            <a:srgbClr val="F1F4F6"/>
                          </a:solidFill>
                          <a:latin typeface="Arial"/>
                          <a:ea typeface="Arial"/>
                          <a:cs typeface="Arial"/>
                        </a:rPr>
                        <a:t>80.00</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712234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BDE871-4DF9-44B6-8FB2-35D43D34A0B8}"/>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ACID: atomicity and consistency</a:t>
            </a:r>
          </a:p>
        </p:txBody>
      </p:sp>
      <p:sp>
        <p:nvSpPr>
          <p:cNvPr id="2" name="Rectangle 1">
            <a:extLst>
              <a:ext uri="{FF2B5EF4-FFF2-40B4-BE49-F238E27FC236}">
                <a16:creationId xmlns:a16="http://schemas.microsoft.com/office/drawing/2014/main" id="{662A35D6-5E43-4759-B422-80B1D173CEDD}"/>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43</a:t>
            </a:r>
          </a:p>
        </p:txBody>
      </p:sp>
      <p:sp>
        <p:nvSpPr>
          <p:cNvPr id="3" name="Rectangle 2">
            <a:extLst>
              <a:ext uri="{FF2B5EF4-FFF2-40B4-BE49-F238E27FC236}">
                <a16:creationId xmlns:a16="http://schemas.microsoft.com/office/drawing/2014/main" id="{98FA0F22-0899-4E88-9131-03B94FE6ABC7}"/>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72FC78E6-5D38-4A49-9EC1-1FC5C45C158E}"/>
              </a:ext>
            </a:extLst>
          </p:cNvPr>
          <p:cNvGraphicFramePr/>
          <p:nvPr/>
        </p:nvGraphicFramePr>
        <p:xfrm>
          <a:off x="609600" y="1581150"/>
          <a:ext cx="10972800" cy="2333625"/>
        </p:xfrm>
        <a:graphic>
          <a:graphicData uri="http://schemas.openxmlformats.org/drawingml/2006/table">
            <a:tbl>
              <a:tblPr firstRow="1"/>
              <a:tblGrid>
                <a:gridCol w="2333625">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4257675">
                  <a:extLst>
                    <a:ext uri="{9D8B030D-6E8A-4147-A177-3AD203B41FA5}">
                      <a16:colId xmlns:a16="http://schemas.microsoft.com/office/drawing/2014/main" val="20002"/>
                    </a:ext>
                  </a:extLst>
                </a:gridCol>
              </a:tblGrid>
              <a:tr h="777875">
                <a:tc>
                  <a:txBody>
                    <a:bodyPr/>
                    <a:lstStyle/>
                    <a:p>
                      <a:r>
                        <a:rPr sz="1725" b="1">
                          <a:solidFill>
                            <a:srgbClr val="70D6C4"/>
                          </a:solidFill>
                          <a:latin typeface="Arial"/>
                          <a:ea typeface="Arial"/>
                          <a:cs typeface="Arial"/>
                        </a:rPr>
                        <a:t>Property</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725" b="1">
                          <a:solidFill>
                            <a:srgbClr val="70D6C4"/>
                          </a:solidFill>
                          <a:latin typeface="Arial"/>
                          <a:ea typeface="Arial"/>
                          <a:cs typeface="Arial"/>
                        </a:rPr>
                        <a:t>How Conduit uses it</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725" b="1">
                          <a:solidFill>
                            <a:srgbClr val="70D6C4"/>
                          </a:solidFill>
                          <a:latin typeface="Arial"/>
                          <a:ea typeface="Arial"/>
                          <a:cs typeface="Arial"/>
                        </a:rPr>
                        <a:t>Observed evidence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777875">
                <a:tc>
                  <a:txBody>
                    <a:bodyPr/>
                    <a:lstStyle/>
                    <a:p>
                      <a:r>
                        <a:rPr sz="1725" b="0">
                          <a:solidFill>
                            <a:srgbClr val="F1F4F6"/>
                          </a:solidFill>
                          <a:latin typeface="Arial"/>
                          <a:ea typeface="Arial"/>
                          <a:cs typeface="Arial"/>
                        </a:rPr>
                        <a:t>Atomicity</a:t>
                      </a:r>
                    </a:p>
                    <a:p>
                      <a:r>
                        <a:rPr sz="1725" b="0">
                          <a:solidFill>
                            <a:srgbClr val="F1F4F6"/>
                          </a:solidFill>
                          <a:latin typeface="Arial"/>
                          <a:ea typeface="Arial"/>
                          <a:cs typeface="Arial"/>
                        </a:rPr>
                        <a:t>All or nothing</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Balance, ledger, order and item</a:t>
                      </a:r>
                    </a:p>
                    <a:p>
                      <a:r>
                        <a:rPr sz="1725" b="0">
                          <a:solidFill>
                            <a:srgbClr val="F1F4F6"/>
                          </a:solidFill>
                          <a:latin typeface="Arial"/>
                          <a:ea typeface="Arial"/>
                          <a:cs typeface="Arial"/>
                        </a:rPr>
                        <a:t>change in one transaction.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Sale: 3 units, total 225.00.</a:t>
                      </a:r>
                    </a:p>
                    <a:p>
                      <a:r>
                        <a:rPr sz="1725" b="0">
                          <a:solidFill>
                            <a:srgbClr val="F1F4F6"/>
                          </a:solidFill>
                          <a:latin typeface="Arial"/>
                          <a:ea typeface="Arial"/>
                          <a:cs typeface="Arial"/>
                        </a:rPr>
                        <a:t>ROLLBACK removes test changes.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777875">
                <a:tc>
                  <a:txBody>
                    <a:bodyPr/>
                    <a:lstStyle/>
                    <a:p>
                      <a:r>
                        <a:rPr sz="1725" b="0">
                          <a:solidFill>
                            <a:srgbClr val="F1F4F6"/>
                          </a:solidFill>
                          <a:latin typeface="Arial"/>
                          <a:ea typeface="Arial"/>
                          <a:cs typeface="Arial"/>
                        </a:rPr>
                        <a:t>Consistency</a:t>
                      </a:r>
                    </a:p>
                    <a:p>
                      <a:r>
                        <a:rPr sz="1725" b="0">
                          <a:solidFill>
                            <a:srgbClr val="F1F4F6"/>
                          </a:solidFill>
                          <a:latin typeface="Arial"/>
                          <a:ea typeface="Arial"/>
                          <a:cs typeface="Arial"/>
                        </a:rPr>
                        <a:t>Rules stay true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Keys, constraints and function checks</a:t>
                      </a:r>
                    </a:p>
                    <a:p>
                      <a:r>
                        <a:rPr sz="1725" b="0">
                          <a:solidFill>
                            <a:srgbClr val="F1F4F6"/>
                          </a:solidFill>
                          <a:latin typeface="Arial"/>
                          <a:ea typeface="Arial"/>
                          <a:cs typeface="Arial"/>
                        </a:rPr>
                        <a:t>reject invalid facts and stock sales.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7 available; selling 8 is rejected.</a:t>
                      </a:r>
                    </a:p>
                    <a:p>
                      <a:r>
                        <a:rPr sz="1725" b="0">
                          <a:solidFill>
                            <a:srgbClr val="F1F4F6"/>
                          </a:solidFill>
                          <a:latin typeface="Arial"/>
                          <a:ea typeface="Arial"/>
                          <a:cs typeface="Arial"/>
                        </a:rPr>
                        <a:t>Balance remains 7.</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0D612CD8-D62D-48EE-B926-E91F5A7CED46}"/>
              </a:ext>
            </a:extLst>
          </p:cNvPr>
          <p:cNvSpPr>
            <a:spLocks noGrp="1"/>
          </p:cNvSpPr>
          <p:nvPr/>
        </p:nvSpPr>
        <p:spPr>
          <a:xfrm>
            <a:off x="609600" y="4400550"/>
            <a:ext cx="10953750" cy="952500"/>
          </a:xfrm>
          <a:prstGeom prst="rect">
            <a:avLst/>
          </a:prstGeom>
          <a:noFill/>
          <a:ln w="0">
            <a:noFill/>
          </a:ln>
        </p:spPr>
        <p:txBody>
          <a:bodyPr wrap="square" lIns="0" tIns="0" rIns="0" bIns="0" anchor="t">
            <a:noAutofit/>
          </a:bodyPr>
          <a:lstStyle>
            <a:defPPr>
              <a:defRPr sz="1650" b="0">
                <a:solidFill>
                  <a:srgbClr val="70D6C4"/>
                </a:solidFill>
                <a:latin typeface="Consolas"/>
                <a:ea typeface="Consolas"/>
                <a:cs typeface="Consolas"/>
              </a:defRPr>
            </a:defPPr>
            <a:lvl1pPr>
              <a:defRPr sz="1650" b="0">
                <a:solidFill>
                  <a:srgbClr val="70D6C4"/>
                </a:solidFill>
                <a:latin typeface="Consolas"/>
                <a:ea typeface="Consolas"/>
                <a:cs typeface="Consolas"/>
              </a:defRPr>
            </a:lvl1pPr>
            <a:lvl2pPr>
              <a:defRPr sz="1650" b="0">
                <a:solidFill>
                  <a:srgbClr val="70D6C4"/>
                </a:solidFill>
                <a:latin typeface="Consolas"/>
                <a:ea typeface="Consolas"/>
                <a:cs typeface="Consolas"/>
              </a:defRPr>
            </a:lvl2pPr>
            <a:lvl3pPr>
              <a:defRPr sz="1650" b="0">
                <a:solidFill>
                  <a:srgbClr val="70D6C4"/>
                </a:solidFill>
                <a:latin typeface="Consolas"/>
                <a:ea typeface="Consolas"/>
                <a:cs typeface="Consolas"/>
              </a:defRPr>
            </a:lvl3pPr>
            <a:lvl4pPr>
              <a:defRPr sz="1650" b="0">
                <a:solidFill>
                  <a:srgbClr val="70D6C4"/>
                </a:solidFill>
                <a:latin typeface="Consolas"/>
                <a:ea typeface="Consolas"/>
                <a:cs typeface="Consolas"/>
              </a:defRPr>
            </a:lvl4pPr>
            <a:lvl5pPr>
              <a:defRPr sz="1650" b="0">
                <a:solidFill>
                  <a:srgbClr val="70D6C4"/>
                </a:solidFill>
                <a:latin typeface="Consolas"/>
                <a:ea typeface="Consolas"/>
                <a:cs typeface="Consolas"/>
              </a:defRPr>
            </a:lvl5pPr>
            <a:lvl6pPr>
              <a:defRPr sz="1650" b="0">
                <a:solidFill>
                  <a:srgbClr val="70D6C4"/>
                </a:solidFill>
                <a:latin typeface="Consolas"/>
                <a:ea typeface="Consolas"/>
                <a:cs typeface="Consolas"/>
              </a:defRPr>
            </a:lvl6pPr>
            <a:lvl7pPr>
              <a:defRPr sz="1650" b="0">
                <a:solidFill>
                  <a:srgbClr val="70D6C4"/>
                </a:solidFill>
                <a:latin typeface="Consolas"/>
                <a:ea typeface="Consolas"/>
                <a:cs typeface="Consolas"/>
              </a:defRPr>
            </a:lvl7pPr>
            <a:lvl8pPr>
              <a:defRPr sz="1650" b="0">
                <a:solidFill>
                  <a:srgbClr val="70D6C4"/>
                </a:solidFill>
                <a:latin typeface="Consolas"/>
                <a:ea typeface="Consolas"/>
                <a:cs typeface="Consolas"/>
              </a:defRPr>
            </a:lvl8pPr>
            <a:lvl9pPr>
              <a:defRPr sz="1650" b="0">
                <a:solidFill>
                  <a:srgbClr val="70D6C4"/>
                </a:solidFill>
                <a:latin typeface="Consolas"/>
                <a:ea typeface="Consolas"/>
                <a:cs typeface="Consolas"/>
              </a:defRPr>
            </a:lvl9pPr>
          </a:lstStyle>
          <a:p>
            <a:pPr>
              <a:defRPr sz="1650" b="0">
                <a:solidFill>
                  <a:srgbClr val="70D6C4"/>
                </a:solidFill>
                <a:latin typeface="Consolas"/>
                <a:ea typeface="Consolas"/>
                <a:cs typeface="Consolas"/>
              </a:defRPr>
            </a:pPr>
            <a:r>
              <a:rPr sz="1650" b="0">
                <a:solidFill>
                  <a:srgbClr val="70D6C4"/>
                </a:solidFill>
                <a:latin typeface="Consolas"/>
                <a:ea typeface="Consolas"/>
                <a:cs typeface="Consolas"/>
              </a:rPr>
              <a:t>SELECT reporting.post_stock(900003, 'sale', 8,</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  'PPT-OVERSALE-PROOF', '', 'ppt-review',</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  1, 75.00, DATE '2026-10-20');</a:t>
            </a:r>
          </a:p>
        </p:txBody>
      </p:sp>
      <p:sp>
        <p:nvSpPr>
          <p:cNvPr id="6" name="Rectangle 5">
            <a:extLst>
              <a:ext uri="{FF2B5EF4-FFF2-40B4-BE49-F238E27FC236}">
                <a16:creationId xmlns:a16="http://schemas.microsoft.com/office/drawing/2014/main" id="{F1BA41C1-935B-4462-83FE-C3A64CFCFF74}"/>
              </a:ext>
            </a:extLst>
          </p:cNvPr>
          <p:cNvSpPr>
            <a:spLocks noGrp="1"/>
          </p:cNvSpPr>
          <p:nvPr/>
        </p:nvSpPr>
        <p:spPr>
          <a:xfrm>
            <a:off x="609600" y="5562600"/>
            <a:ext cx="10858500" cy="381000"/>
          </a:xfrm>
          <a:prstGeom prst="rect">
            <a:avLst/>
          </a:prstGeom>
          <a:noFill/>
          <a:ln w="0">
            <a:noFill/>
          </a:ln>
        </p:spPr>
        <p:txBody>
          <a:bodyPr wrap="square" lIns="0" tIns="0" rIns="0" bIns="0" anchor="t">
            <a:noAutofit/>
          </a:bodyPr>
          <a:lstStyle>
            <a:defPPr>
              <a:defRPr sz="1875" b="0">
                <a:solidFill>
                  <a:srgbClr val="70D6C4"/>
                </a:solidFill>
                <a:latin typeface="Arial"/>
                <a:ea typeface="Arial"/>
                <a:cs typeface="Arial"/>
              </a:defRPr>
            </a:defPPr>
            <a:lvl1pPr>
              <a:defRPr sz="1875" b="0">
                <a:solidFill>
                  <a:srgbClr val="70D6C4"/>
                </a:solidFill>
                <a:latin typeface="Arial"/>
                <a:ea typeface="Arial"/>
                <a:cs typeface="Arial"/>
              </a:defRPr>
            </a:lvl1pPr>
            <a:lvl2pPr>
              <a:defRPr sz="1875" b="0">
                <a:solidFill>
                  <a:srgbClr val="70D6C4"/>
                </a:solidFill>
                <a:latin typeface="Arial"/>
                <a:ea typeface="Arial"/>
                <a:cs typeface="Arial"/>
              </a:defRPr>
            </a:lvl2pPr>
            <a:lvl3pPr>
              <a:defRPr sz="1875" b="0">
                <a:solidFill>
                  <a:srgbClr val="70D6C4"/>
                </a:solidFill>
                <a:latin typeface="Arial"/>
                <a:ea typeface="Arial"/>
                <a:cs typeface="Arial"/>
              </a:defRPr>
            </a:lvl3pPr>
            <a:lvl4pPr>
              <a:defRPr sz="1875" b="0">
                <a:solidFill>
                  <a:srgbClr val="70D6C4"/>
                </a:solidFill>
                <a:latin typeface="Arial"/>
                <a:ea typeface="Arial"/>
                <a:cs typeface="Arial"/>
              </a:defRPr>
            </a:lvl4pPr>
            <a:lvl5pPr>
              <a:defRPr sz="1875" b="0">
                <a:solidFill>
                  <a:srgbClr val="70D6C4"/>
                </a:solidFill>
                <a:latin typeface="Arial"/>
                <a:ea typeface="Arial"/>
                <a:cs typeface="Arial"/>
              </a:defRPr>
            </a:lvl5pPr>
            <a:lvl6pPr>
              <a:defRPr sz="1875" b="0">
                <a:solidFill>
                  <a:srgbClr val="70D6C4"/>
                </a:solidFill>
                <a:latin typeface="Arial"/>
                <a:ea typeface="Arial"/>
                <a:cs typeface="Arial"/>
              </a:defRPr>
            </a:lvl6pPr>
            <a:lvl7pPr>
              <a:defRPr sz="1875" b="0">
                <a:solidFill>
                  <a:srgbClr val="70D6C4"/>
                </a:solidFill>
                <a:latin typeface="Arial"/>
                <a:ea typeface="Arial"/>
                <a:cs typeface="Arial"/>
              </a:defRPr>
            </a:lvl7pPr>
            <a:lvl8pPr>
              <a:defRPr sz="1875" b="0">
                <a:solidFill>
                  <a:srgbClr val="70D6C4"/>
                </a:solidFill>
                <a:latin typeface="Arial"/>
                <a:ea typeface="Arial"/>
                <a:cs typeface="Arial"/>
              </a:defRPr>
            </a:lvl8pPr>
            <a:lvl9pPr>
              <a:defRPr sz="1875" b="0">
                <a:solidFill>
                  <a:srgbClr val="70D6C4"/>
                </a:solidFill>
                <a:latin typeface="Arial"/>
                <a:ea typeface="Arial"/>
                <a:cs typeface="Arial"/>
              </a:defRPr>
            </a:lvl9pPr>
          </a:lstStyle>
          <a:p>
            <a:pPr>
              <a:defRPr sz="1875" b="0">
                <a:solidFill>
                  <a:srgbClr val="70D6C4"/>
                </a:solidFill>
                <a:latin typeface="Arial"/>
                <a:ea typeface="Arial"/>
                <a:cs typeface="Arial"/>
              </a:defRPr>
            </a:pPr>
            <a:r>
              <a:rPr sz="1875" b="0">
                <a:solidFill>
                  <a:srgbClr val="70D6C4"/>
                </a:solidFill>
                <a:latin typeface="Arial"/>
                <a:ea typeface="Arial"/>
                <a:cs typeface="Arial"/>
              </a:rPr>
              <a:t>ERROR: Insufficient stock: 7 available, 8 requested  [23514]</a:t>
            </a:r>
          </a:p>
        </p:txBody>
      </p:sp>
      <p:sp>
        <p:nvSpPr>
          <p:cNvPr id="7" name="Rectangle 6">
            <a:extLst>
              <a:ext uri="{FF2B5EF4-FFF2-40B4-BE49-F238E27FC236}">
                <a16:creationId xmlns:a16="http://schemas.microsoft.com/office/drawing/2014/main" id="{18E248C3-6AFE-42FD-8C52-6D8B51F2EE33}"/>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Test cleanup verified: no temporary stock-proof product remains after ROLLBACK.</a:t>
            </a:r>
          </a:p>
        </p:txBody>
      </p:sp>
    </p:spTree>
    <p:extLst>
      <p:ext uri="{BB962C8B-B14F-4D97-AF65-F5344CB8AC3E}">
        <p14:creationId xmlns:p14="http://schemas.microsoft.com/office/powerpoint/2010/main" val="620677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E6B7836-BAAB-441D-9298-67043265026A}"/>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ACID: isolation and durability</a:t>
            </a:r>
          </a:p>
        </p:txBody>
      </p:sp>
      <p:sp>
        <p:nvSpPr>
          <p:cNvPr id="2" name="Rectangle 1">
            <a:extLst>
              <a:ext uri="{FF2B5EF4-FFF2-40B4-BE49-F238E27FC236}">
                <a16:creationId xmlns:a16="http://schemas.microsoft.com/office/drawing/2014/main" id="{CD56C253-2114-4F84-A5EF-65291B65DE9A}"/>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44</a:t>
            </a:r>
          </a:p>
        </p:txBody>
      </p:sp>
      <p:sp>
        <p:nvSpPr>
          <p:cNvPr id="3" name="Rectangle 2">
            <a:extLst>
              <a:ext uri="{FF2B5EF4-FFF2-40B4-BE49-F238E27FC236}">
                <a16:creationId xmlns:a16="http://schemas.microsoft.com/office/drawing/2014/main" id="{65027B8C-C80A-4D23-98D1-F4CB85597F95}"/>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ED93D6FB-6FF8-4536-9BBE-A613A0BA9EB1}"/>
              </a:ext>
            </a:extLst>
          </p:cNvPr>
          <p:cNvGraphicFramePr/>
          <p:nvPr/>
        </p:nvGraphicFramePr>
        <p:xfrm>
          <a:off x="609600" y="1571625"/>
          <a:ext cx="10972800" cy="2470150"/>
        </p:xfrm>
        <a:graphic>
          <a:graphicData uri="http://schemas.openxmlformats.org/drawingml/2006/table">
            <a:tbl>
              <a:tblPr firstRow="1"/>
              <a:tblGrid>
                <a:gridCol w="2143125">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gridCol w="4067175">
                  <a:extLst>
                    <a:ext uri="{9D8B030D-6E8A-4147-A177-3AD203B41FA5}">
                      <a16:colId xmlns:a16="http://schemas.microsoft.com/office/drawing/2014/main" val="20002"/>
                    </a:ext>
                  </a:extLst>
                </a:gridCol>
              </a:tblGrid>
              <a:tr h="777875">
                <a:tc>
                  <a:txBody>
                    <a:bodyPr/>
                    <a:lstStyle/>
                    <a:p>
                      <a:r>
                        <a:rPr sz="1800" b="1">
                          <a:solidFill>
                            <a:srgbClr val="70D6C4"/>
                          </a:solidFill>
                          <a:latin typeface="Arial"/>
                          <a:ea typeface="Arial"/>
                          <a:cs typeface="Arial"/>
                        </a:rPr>
                        <a:t>Property</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Project implementation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00" b="1">
                          <a:solidFill>
                            <a:srgbClr val="70D6C4"/>
                          </a:solidFill>
                          <a:latin typeface="Arial"/>
                          <a:ea typeface="Arial"/>
                          <a:cs typeface="Arial"/>
                        </a:rPr>
                        <a:t>Evidence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777875">
                <a:tc>
                  <a:txBody>
                    <a:bodyPr/>
                    <a:lstStyle/>
                    <a:p>
                      <a:r>
                        <a:rPr sz="1800" b="0">
                          <a:solidFill>
                            <a:srgbClr val="F1F4F6"/>
                          </a:solidFill>
                          <a:latin typeface="Arial"/>
                          <a:ea typeface="Arial"/>
                          <a:cs typeface="Arial"/>
                        </a:rPr>
                        <a:t>Isolation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FOR UPDATE protects each stock row.</a:t>
                      </a:r>
                    </a:p>
                    <a:p>
                      <a:r>
                        <a:rPr sz="1800" b="0">
                          <a:solidFill>
                            <a:srgbClr val="F1F4F6"/>
                          </a:solidFill>
                          <a:latin typeface="Arial"/>
                          <a:ea typeface="Arial"/>
                          <a:cs typeface="Arial"/>
                        </a:rPr>
                        <a:t>REPEATABLE READ stabilizes report reads.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Two-session lock test: 55P03 conflict;</a:t>
                      </a:r>
                    </a:p>
                    <a:p>
                      <a:r>
                        <a:rPr sz="1800" b="0">
                          <a:solidFill>
                            <a:srgbClr val="F1F4F6"/>
                          </a:solidFill>
                          <a:latin typeface="Arial"/>
                          <a:ea typeface="Arial"/>
                          <a:cs typeface="Arial"/>
                        </a:rPr>
                        <a:t>B succeeds after A releases the lock.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777875">
                <a:tc>
                  <a:txBody>
                    <a:bodyPr/>
                    <a:lstStyle/>
                    <a:p>
                      <a:r>
                        <a:rPr sz="1800" b="0">
                          <a:solidFill>
                            <a:srgbClr val="F1F4F6"/>
                          </a:solidFill>
                          <a:latin typeface="Arial"/>
                          <a:ea typeface="Arial"/>
                          <a:cs typeface="Arial"/>
                        </a:rPr>
                        <a:t>Durability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COMMIT persists database changes</a:t>
                      </a:r>
                    </a:p>
                    <a:p>
                      <a:r>
                        <a:rPr sz="1800" b="0">
                          <a:solidFill>
                            <a:srgbClr val="F1F4F6"/>
                          </a:solidFill>
                          <a:latin typeface="Arial"/>
                          <a:ea typeface="Arial"/>
                          <a:cs typeface="Arial"/>
                        </a:rPr>
                        <a:t>through PostgreSQL write-ahead logging.</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00" b="0">
                          <a:solidFill>
                            <a:srgbClr val="F1F4F6"/>
                          </a:solidFill>
                          <a:latin typeface="Arial"/>
                          <a:ea typeface="Arial"/>
                          <a:cs typeface="Arial"/>
                        </a:rPr>
                        <a:t>Fresh connection reads committed 75.00;</a:t>
                      </a:r>
                    </a:p>
                    <a:p>
                      <a:r>
                        <a:rPr sz="1800" b="0">
                          <a:solidFill>
                            <a:srgbClr val="F1F4F6"/>
                          </a:solidFill>
                          <a:latin typeface="Arial"/>
                          <a:ea typeface="Arial"/>
                          <a:cs typeface="Arial"/>
                        </a:rPr>
                        <a:t>fsync=on, synchronous_commit=on.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D39E7BEA-0D1C-4FA2-BF4A-5C5F3D466E92}"/>
              </a:ext>
            </a:extLst>
          </p:cNvPr>
          <p:cNvSpPr>
            <a:spLocks noGrp="1"/>
          </p:cNvSpPr>
          <p:nvPr/>
        </p:nvSpPr>
        <p:spPr>
          <a:xfrm>
            <a:off x="609600" y="4248150"/>
            <a:ext cx="10953750" cy="1000125"/>
          </a:xfrm>
          <a:prstGeom prst="rect">
            <a:avLst/>
          </a:prstGeom>
          <a:noFill/>
          <a:ln w="0">
            <a:noFill/>
          </a:ln>
        </p:spPr>
        <p:txBody>
          <a:bodyPr wrap="square" lIns="0" tIns="0" rIns="0" bIns="0" anchor="t">
            <a:noAutofit/>
          </a:bodyPr>
          <a:lstStyle>
            <a:defPPr>
              <a:defRPr sz="1725" b="0">
                <a:solidFill>
                  <a:srgbClr val="70D6C4"/>
                </a:solidFill>
                <a:latin typeface="Consolas"/>
                <a:ea typeface="Consolas"/>
                <a:cs typeface="Consolas"/>
              </a:defRPr>
            </a:defPPr>
            <a:lvl1pPr>
              <a:defRPr sz="1725" b="0">
                <a:solidFill>
                  <a:srgbClr val="70D6C4"/>
                </a:solidFill>
                <a:latin typeface="Consolas"/>
                <a:ea typeface="Consolas"/>
                <a:cs typeface="Consolas"/>
              </a:defRPr>
            </a:lvl1pPr>
            <a:lvl2pPr>
              <a:defRPr sz="1725" b="0">
                <a:solidFill>
                  <a:srgbClr val="70D6C4"/>
                </a:solidFill>
                <a:latin typeface="Consolas"/>
                <a:ea typeface="Consolas"/>
                <a:cs typeface="Consolas"/>
              </a:defRPr>
            </a:lvl2pPr>
            <a:lvl3pPr>
              <a:defRPr sz="1725" b="0">
                <a:solidFill>
                  <a:srgbClr val="70D6C4"/>
                </a:solidFill>
                <a:latin typeface="Consolas"/>
                <a:ea typeface="Consolas"/>
                <a:cs typeface="Consolas"/>
              </a:defRPr>
            </a:lvl3pPr>
            <a:lvl4pPr>
              <a:defRPr sz="1725" b="0">
                <a:solidFill>
                  <a:srgbClr val="70D6C4"/>
                </a:solidFill>
                <a:latin typeface="Consolas"/>
                <a:ea typeface="Consolas"/>
                <a:cs typeface="Consolas"/>
              </a:defRPr>
            </a:lvl4pPr>
            <a:lvl5pPr>
              <a:defRPr sz="1725" b="0">
                <a:solidFill>
                  <a:srgbClr val="70D6C4"/>
                </a:solidFill>
                <a:latin typeface="Consolas"/>
                <a:ea typeface="Consolas"/>
                <a:cs typeface="Consolas"/>
              </a:defRPr>
            </a:lvl5pPr>
            <a:lvl6pPr>
              <a:defRPr sz="1725" b="0">
                <a:solidFill>
                  <a:srgbClr val="70D6C4"/>
                </a:solidFill>
                <a:latin typeface="Consolas"/>
                <a:ea typeface="Consolas"/>
                <a:cs typeface="Consolas"/>
              </a:defRPr>
            </a:lvl6pPr>
            <a:lvl7pPr>
              <a:defRPr sz="1725" b="0">
                <a:solidFill>
                  <a:srgbClr val="70D6C4"/>
                </a:solidFill>
                <a:latin typeface="Consolas"/>
                <a:ea typeface="Consolas"/>
                <a:cs typeface="Consolas"/>
              </a:defRPr>
            </a:lvl7pPr>
            <a:lvl8pPr>
              <a:defRPr sz="1725" b="0">
                <a:solidFill>
                  <a:srgbClr val="70D6C4"/>
                </a:solidFill>
                <a:latin typeface="Consolas"/>
                <a:ea typeface="Consolas"/>
                <a:cs typeface="Consolas"/>
              </a:defRPr>
            </a:lvl8pPr>
            <a:lvl9pPr>
              <a:defRPr sz="1725" b="0">
                <a:solidFill>
                  <a:srgbClr val="70D6C4"/>
                </a:solidFill>
                <a:latin typeface="Consolas"/>
                <a:ea typeface="Consolas"/>
                <a:cs typeface="Consolas"/>
              </a:defRPr>
            </a:lvl9pPr>
          </a:lstStyle>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A holds the row; B tries immediately</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SELECT quantity FROM reporting.inventory_balance</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WHERE product_id=1 FOR UPDATE NOWAIT;</a:t>
            </a:r>
          </a:p>
        </p:txBody>
      </p:sp>
      <p:sp>
        <p:nvSpPr>
          <p:cNvPr id="6" name="Rectangle 5">
            <a:extLst>
              <a:ext uri="{FF2B5EF4-FFF2-40B4-BE49-F238E27FC236}">
                <a16:creationId xmlns:a16="http://schemas.microsoft.com/office/drawing/2014/main" id="{E5711F83-8474-4E55-9C71-066339CB3C52}"/>
              </a:ext>
            </a:extLst>
          </p:cNvPr>
          <p:cNvSpPr>
            <a:spLocks noGrp="1"/>
          </p:cNvSpPr>
          <p:nvPr/>
        </p:nvSpPr>
        <p:spPr>
          <a:xfrm>
            <a:off x="609600" y="5448300"/>
            <a:ext cx="10858500" cy="523875"/>
          </a:xfrm>
          <a:prstGeom prst="rect">
            <a:avLst/>
          </a:prstGeom>
          <a:noFill/>
          <a:ln w="0">
            <a:noFill/>
          </a:ln>
        </p:spPr>
        <p:txBody>
          <a:bodyPr wrap="square" lIns="0" tIns="0" rIns="0" bIns="0" anchor="t">
            <a:noAutofit/>
          </a:bodyPr>
          <a:lstStyle>
            <a:defPPr>
              <a:defRPr sz="1800" b="0">
                <a:solidFill>
                  <a:srgbClr val="70D6C4"/>
                </a:solidFill>
                <a:latin typeface="Arial"/>
                <a:ea typeface="Arial"/>
                <a:cs typeface="Arial"/>
              </a:defRPr>
            </a:defPPr>
            <a:lvl1pPr>
              <a:defRPr sz="1800" b="0">
                <a:solidFill>
                  <a:srgbClr val="70D6C4"/>
                </a:solidFill>
                <a:latin typeface="Arial"/>
                <a:ea typeface="Arial"/>
                <a:cs typeface="Arial"/>
              </a:defRPr>
            </a:lvl1pPr>
            <a:lvl2pPr>
              <a:defRPr sz="1800" b="0">
                <a:solidFill>
                  <a:srgbClr val="70D6C4"/>
                </a:solidFill>
                <a:latin typeface="Arial"/>
                <a:ea typeface="Arial"/>
                <a:cs typeface="Arial"/>
              </a:defRPr>
            </a:lvl2pPr>
            <a:lvl3pPr>
              <a:defRPr sz="1800" b="0">
                <a:solidFill>
                  <a:srgbClr val="70D6C4"/>
                </a:solidFill>
                <a:latin typeface="Arial"/>
                <a:ea typeface="Arial"/>
                <a:cs typeface="Arial"/>
              </a:defRPr>
            </a:lvl3pPr>
            <a:lvl4pPr>
              <a:defRPr sz="1800" b="0">
                <a:solidFill>
                  <a:srgbClr val="70D6C4"/>
                </a:solidFill>
                <a:latin typeface="Arial"/>
                <a:ea typeface="Arial"/>
                <a:cs typeface="Arial"/>
              </a:defRPr>
            </a:lvl4pPr>
            <a:lvl5pPr>
              <a:defRPr sz="1800" b="0">
                <a:solidFill>
                  <a:srgbClr val="70D6C4"/>
                </a:solidFill>
                <a:latin typeface="Arial"/>
                <a:ea typeface="Arial"/>
                <a:cs typeface="Arial"/>
              </a:defRPr>
            </a:lvl5pPr>
            <a:lvl6pPr>
              <a:defRPr sz="1800" b="0">
                <a:solidFill>
                  <a:srgbClr val="70D6C4"/>
                </a:solidFill>
                <a:latin typeface="Arial"/>
                <a:ea typeface="Arial"/>
                <a:cs typeface="Arial"/>
              </a:defRPr>
            </a:lvl6pPr>
            <a:lvl7pPr>
              <a:defRPr sz="1800" b="0">
                <a:solidFill>
                  <a:srgbClr val="70D6C4"/>
                </a:solidFill>
                <a:latin typeface="Arial"/>
                <a:ea typeface="Arial"/>
                <a:cs typeface="Arial"/>
              </a:defRPr>
            </a:lvl7pPr>
            <a:lvl8pPr>
              <a:defRPr sz="1800" b="0">
                <a:solidFill>
                  <a:srgbClr val="70D6C4"/>
                </a:solidFill>
                <a:latin typeface="Arial"/>
                <a:ea typeface="Arial"/>
                <a:cs typeface="Arial"/>
              </a:defRPr>
            </a:lvl8pPr>
            <a:lvl9pPr>
              <a:defRPr sz="1800" b="0">
                <a:solidFill>
                  <a:srgbClr val="70D6C4"/>
                </a:solidFill>
                <a:latin typeface="Arial"/>
                <a:ea typeface="Arial"/>
                <a:cs typeface="Arial"/>
              </a:defRPr>
            </a:lvl9pPr>
          </a:lstStyle>
          <a:p>
            <a:pPr>
              <a:defRPr sz="1800" b="0">
                <a:solidFill>
                  <a:srgbClr val="70D6C4"/>
                </a:solidFill>
                <a:latin typeface="Arial"/>
                <a:ea typeface="Arial"/>
                <a:cs typeface="Arial"/>
              </a:defRPr>
            </a:pPr>
            <a:r>
              <a:rPr sz="1800" b="0">
                <a:solidFill>
                  <a:srgbClr val="70D6C4"/>
                </a:solidFill>
                <a:latin typeface="Arial"/>
                <a:ea typeface="Arial"/>
                <a:cs typeface="Arial"/>
              </a:rPr>
              <a:t>ERROR [55P03]: could not obtain lock on row in relation "inventory_balance"</a:t>
            </a:r>
          </a:p>
        </p:txBody>
      </p:sp>
      <p:sp>
        <p:nvSpPr>
          <p:cNvPr id="7" name="Rectangle 6">
            <a:extLst>
              <a:ext uri="{FF2B5EF4-FFF2-40B4-BE49-F238E27FC236}">
                <a16:creationId xmlns:a16="http://schemas.microsoft.com/office/drawing/2014/main" id="{E8CD79DA-E860-4C48-8524-730DFE06350F}"/>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Durability relies on PostgreSQL/WAL and storage. Reconnection was tested; crash recovery was not tested.</a:t>
            </a:r>
          </a:p>
        </p:txBody>
      </p:sp>
    </p:spTree>
    <p:extLst>
      <p:ext uri="{BB962C8B-B14F-4D97-AF65-F5344CB8AC3E}">
        <p14:creationId xmlns:p14="http://schemas.microsoft.com/office/powerpoint/2010/main" val="15654969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7E34CB-9B30-41FF-8597-ECE93C0FA078}"/>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Asynchronous report generation</a:t>
            </a:r>
          </a:p>
        </p:txBody>
      </p:sp>
      <p:sp>
        <p:nvSpPr>
          <p:cNvPr id="2" name="Rectangle 1">
            <a:extLst>
              <a:ext uri="{FF2B5EF4-FFF2-40B4-BE49-F238E27FC236}">
                <a16:creationId xmlns:a16="http://schemas.microsoft.com/office/drawing/2014/main" id="{AC98EC4E-0451-4DB0-8067-CB22BB31AB7B}"/>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45</a:t>
            </a:r>
          </a:p>
        </p:txBody>
      </p:sp>
      <p:sp>
        <p:nvSpPr>
          <p:cNvPr id="3" name="Rectangle 2">
            <a:extLst>
              <a:ext uri="{FF2B5EF4-FFF2-40B4-BE49-F238E27FC236}">
                <a16:creationId xmlns:a16="http://schemas.microsoft.com/office/drawing/2014/main" id="{1394AC26-B618-4BFB-A64E-5CD57DCE53EB}"/>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6B80BA0A-BFEE-4581-991A-CCF5425647D5}"/>
              </a:ext>
            </a:extLst>
          </p:cNvPr>
          <p:cNvGraphicFramePr/>
          <p:nvPr/>
        </p:nvGraphicFramePr>
        <p:xfrm>
          <a:off x="609600" y="1619250"/>
          <a:ext cx="10972800" cy="3286128"/>
        </p:xfrm>
        <a:graphic>
          <a:graphicData uri="http://schemas.openxmlformats.org/drawingml/2006/table">
            <a:tbl>
              <a:tblPr firstRow="1"/>
              <a:tblGrid>
                <a:gridCol w="228600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547688">
                <a:tc>
                  <a:txBody>
                    <a:bodyPr/>
                    <a:lstStyle/>
                    <a:p>
                      <a:r>
                        <a:rPr sz="1950" b="1">
                          <a:solidFill>
                            <a:srgbClr val="70D6C4"/>
                          </a:solidFill>
                          <a:latin typeface="Arial"/>
                          <a:ea typeface="Arial"/>
                          <a:cs typeface="Arial"/>
                        </a:rPr>
                        <a:t>Stage</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950" b="1">
                          <a:solidFill>
                            <a:srgbClr val="70D6C4"/>
                          </a:solidFill>
                          <a:latin typeface="Arial"/>
                          <a:ea typeface="Arial"/>
                          <a:cs typeface="Arial"/>
                        </a:rPr>
                        <a:t>Stored evidence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7688">
                <a:tc>
                  <a:txBody>
                    <a:bodyPr/>
                    <a:lstStyle/>
                    <a:p>
                      <a:r>
                        <a:rPr sz="1950" b="0">
                          <a:solidFill>
                            <a:srgbClr val="F1F4F6"/>
                          </a:solidFill>
                          <a:latin typeface="Arial"/>
                          <a:ea typeface="Arial"/>
                          <a:cs typeface="Arial"/>
                        </a:rPr>
                        <a:t>Submit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Run parameters and a durable preparation job</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7688">
                <a:tc>
                  <a:txBody>
                    <a:bodyPr/>
                    <a:lstStyle/>
                    <a:p>
                      <a:r>
                        <a:rPr sz="1950" b="0">
                          <a:solidFill>
                            <a:srgbClr val="F1F4F6"/>
                          </a:solidFill>
                          <a:latin typeface="Arial"/>
                          <a:ea typeface="Arial"/>
                          <a:cs typeface="Arial"/>
                        </a:rPr>
                        <a:t>Prepare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Consistent SQL result saved as report_dataset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7688">
                <a:tc>
                  <a:txBody>
                    <a:bodyPr/>
                    <a:lstStyle/>
                    <a:p>
                      <a:r>
                        <a:rPr sz="1950" b="0">
                          <a:solidFill>
                            <a:srgbClr val="F1F4F6"/>
                          </a:solidFill>
                          <a:latin typeface="Arial"/>
                          <a:ea typeface="Arial"/>
                          <a:cs typeface="Arial"/>
                        </a:rPr>
                        <a:t>Render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Worker builds CSV and HTML from saved rows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7688">
                <a:tc>
                  <a:txBody>
                    <a:bodyPr/>
                    <a:lstStyle/>
                    <a:p>
                      <a:r>
                        <a:rPr sz="1950" b="0">
                          <a:solidFill>
                            <a:srgbClr val="F1F4F6"/>
                          </a:solidFill>
                          <a:latin typeface="Arial"/>
                          <a:ea typeface="Arial"/>
                          <a:cs typeface="Arial"/>
                        </a:rPr>
                        <a:t>Complete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Result paths, hashes, timing and request status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7688">
                <a:tc>
                  <a:txBody>
                    <a:bodyPr/>
                    <a:lstStyle/>
                    <a:p>
                      <a:r>
                        <a:rPr sz="1950" b="0">
                          <a:solidFill>
                            <a:srgbClr val="F1F4F6"/>
                          </a:solidFill>
                          <a:latin typeface="Arial"/>
                          <a:ea typeface="Arial"/>
                          <a:cs typeface="Arial"/>
                        </a:rPr>
                        <a:t>Inspect / replay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Original dataset and template remain available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82A9D0A8-C982-4964-A7D8-B52539B2F673}"/>
              </a:ext>
            </a:extLst>
          </p:cNvPr>
          <p:cNvSpPr>
            <a:spLocks noGrp="1"/>
          </p:cNvSpPr>
          <p:nvPr/>
        </p:nvSpPr>
        <p:spPr>
          <a:xfrm>
            <a:off x="609600" y="5238750"/>
            <a:ext cx="10477500" cy="809625"/>
          </a:xfrm>
          <a:prstGeom prst="rect">
            <a:avLst/>
          </a:prstGeom>
          <a:noFill/>
          <a:ln w="0">
            <a:noFill/>
          </a:ln>
        </p:spPr>
        <p:txBody>
          <a:bodyPr wrap="square" lIns="0" tIns="0" rIns="0" bIns="0" anchor="t">
            <a:noAutofit/>
          </a:bodyPr>
          <a:lstStyle>
            <a:defPPr>
              <a:defRPr sz="2325" b="1">
                <a:solidFill>
                  <a:srgbClr val="70D6C4"/>
                </a:solidFill>
                <a:latin typeface="Arial"/>
                <a:ea typeface="Arial"/>
                <a:cs typeface="Arial"/>
              </a:defRPr>
            </a:defPPr>
            <a:lvl1pPr>
              <a:defRPr sz="2325" b="1">
                <a:solidFill>
                  <a:srgbClr val="70D6C4"/>
                </a:solidFill>
                <a:latin typeface="Arial"/>
                <a:ea typeface="Arial"/>
                <a:cs typeface="Arial"/>
              </a:defRPr>
            </a:lvl1pPr>
            <a:lvl2pPr>
              <a:defRPr sz="2325" b="1">
                <a:solidFill>
                  <a:srgbClr val="70D6C4"/>
                </a:solidFill>
                <a:latin typeface="Arial"/>
                <a:ea typeface="Arial"/>
                <a:cs typeface="Arial"/>
              </a:defRPr>
            </a:lvl2pPr>
            <a:lvl3pPr>
              <a:defRPr sz="2325" b="1">
                <a:solidFill>
                  <a:srgbClr val="70D6C4"/>
                </a:solidFill>
                <a:latin typeface="Arial"/>
                <a:ea typeface="Arial"/>
                <a:cs typeface="Arial"/>
              </a:defRPr>
            </a:lvl3pPr>
            <a:lvl4pPr>
              <a:defRPr sz="2325" b="1">
                <a:solidFill>
                  <a:srgbClr val="70D6C4"/>
                </a:solidFill>
                <a:latin typeface="Arial"/>
                <a:ea typeface="Arial"/>
                <a:cs typeface="Arial"/>
              </a:defRPr>
            </a:lvl4pPr>
            <a:lvl5pPr>
              <a:defRPr sz="2325" b="1">
                <a:solidFill>
                  <a:srgbClr val="70D6C4"/>
                </a:solidFill>
                <a:latin typeface="Arial"/>
                <a:ea typeface="Arial"/>
                <a:cs typeface="Arial"/>
              </a:defRPr>
            </a:lvl5pPr>
            <a:lvl6pPr>
              <a:defRPr sz="2325" b="1">
                <a:solidFill>
                  <a:srgbClr val="70D6C4"/>
                </a:solidFill>
                <a:latin typeface="Arial"/>
                <a:ea typeface="Arial"/>
                <a:cs typeface="Arial"/>
              </a:defRPr>
            </a:lvl6pPr>
            <a:lvl7pPr>
              <a:defRPr sz="2325" b="1">
                <a:solidFill>
                  <a:srgbClr val="70D6C4"/>
                </a:solidFill>
                <a:latin typeface="Arial"/>
                <a:ea typeface="Arial"/>
                <a:cs typeface="Arial"/>
              </a:defRPr>
            </a:lvl7pPr>
            <a:lvl8pPr>
              <a:defRPr sz="2325" b="1">
                <a:solidFill>
                  <a:srgbClr val="70D6C4"/>
                </a:solidFill>
                <a:latin typeface="Arial"/>
                <a:ea typeface="Arial"/>
                <a:cs typeface="Arial"/>
              </a:defRPr>
            </a:lvl8pPr>
            <a:lvl9pPr>
              <a:defRPr sz="2325" b="1">
                <a:solidFill>
                  <a:srgbClr val="70D6C4"/>
                </a:solidFill>
                <a:latin typeface="Arial"/>
                <a:ea typeface="Arial"/>
                <a:cs typeface="Arial"/>
              </a:defRPr>
            </a:lvl9pPr>
          </a:lstStyle>
          <a:p>
            <a:pPr>
              <a:defRPr sz="2325" b="1">
                <a:solidFill>
                  <a:srgbClr val="70D6C4"/>
                </a:solidFill>
                <a:latin typeface="Arial"/>
                <a:ea typeface="Arial"/>
                <a:cs typeface="Arial"/>
              </a:defRPr>
            </a:pPr>
            <a:r>
              <a:rPr sz="2325" b="1">
                <a:solidFill>
                  <a:srgbClr val="70D6C4"/>
                </a:solidFill>
                <a:latin typeface="Arial"/>
                <a:ea typeface="Arial"/>
                <a:cs typeface="Arial"/>
              </a:rPr>
              <a:t>The browser can close after submission.</a:t>
            </a:r>
          </a:p>
          <a:p>
            <a:pPr>
              <a:defRPr sz="2325" b="1">
                <a:solidFill>
                  <a:srgbClr val="70D6C4"/>
                </a:solidFill>
                <a:latin typeface="Arial"/>
                <a:ea typeface="Arial"/>
                <a:cs typeface="Arial"/>
              </a:defRPr>
            </a:pPr>
            <a:r>
              <a:rPr sz="2325" b="1">
                <a:solidFill>
                  <a:srgbClr val="70D6C4"/>
                </a:solidFill>
                <a:latin typeface="Arial"/>
                <a:ea typeface="Arial"/>
                <a:cs typeface="Arial"/>
              </a:rPr>
              <a:t>The worker continues processing committed work.</a:t>
            </a:r>
          </a:p>
        </p:txBody>
      </p:sp>
    </p:spTree>
    <p:extLst>
      <p:ext uri="{BB962C8B-B14F-4D97-AF65-F5344CB8AC3E}">
        <p14:creationId xmlns:p14="http://schemas.microsoft.com/office/powerpoint/2010/main" val="10651116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0DFB82-6F89-4E4D-AF5E-1FCBAFA35102}"/>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Report history after a source correction</a:t>
            </a:r>
          </a:p>
        </p:txBody>
      </p:sp>
      <p:sp>
        <p:nvSpPr>
          <p:cNvPr id="2" name="Rectangle 1">
            <a:extLst>
              <a:ext uri="{FF2B5EF4-FFF2-40B4-BE49-F238E27FC236}">
                <a16:creationId xmlns:a16="http://schemas.microsoft.com/office/drawing/2014/main" id="{8B9A9D9D-EBE2-447B-929A-2E091DEAE4AD}"/>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46</a:t>
            </a:r>
          </a:p>
        </p:txBody>
      </p:sp>
      <p:sp>
        <p:nvSpPr>
          <p:cNvPr id="3" name="Rectangle 2">
            <a:extLst>
              <a:ext uri="{FF2B5EF4-FFF2-40B4-BE49-F238E27FC236}">
                <a16:creationId xmlns:a16="http://schemas.microsoft.com/office/drawing/2014/main" id="{55FFE2EE-7706-48E9-BB14-CC765331B42C}"/>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11132809-3091-482E-ACCD-64FC6B1FA91E}"/>
              </a:ext>
            </a:extLst>
          </p:cNvPr>
          <p:cNvGraphicFramePr/>
          <p:nvPr/>
        </p:nvGraphicFramePr>
        <p:xfrm>
          <a:off x="609600" y="1619250"/>
          <a:ext cx="10972800" cy="2952750"/>
        </p:xfrm>
        <a:graphic>
          <a:graphicData uri="http://schemas.openxmlformats.org/drawingml/2006/table">
            <a:tbl>
              <a:tblPr firstRow="1"/>
              <a:tblGrid>
                <a:gridCol w="5619750">
                  <a:extLst>
                    <a:ext uri="{9D8B030D-6E8A-4147-A177-3AD203B41FA5}">
                      <a16:colId xmlns:a16="http://schemas.microsoft.com/office/drawing/2014/main" val="20000"/>
                    </a:ext>
                  </a:extLst>
                </a:gridCol>
                <a:gridCol w="5353050">
                  <a:extLst>
                    <a:ext uri="{9D8B030D-6E8A-4147-A177-3AD203B41FA5}">
                      <a16:colId xmlns:a16="http://schemas.microsoft.com/office/drawing/2014/main" val="20001"/>
                    </a:ext>
                  </a:extLst>
                </a:gridCol>
              </a:tblGrid>
              <a:tr h="590550">
                <a:tc>
                  <a:txBody>
                    <a:bodyPr/>
                    <a:lstStyle/>
                    <a:p>
                      <a:r>
                        <a:rPr sz="1950" b="1">
                          <a:solidFill>
                            <a:srgbClr val="70D6C4"/>
                          </a:solidFill>
                          <a:latin typeface="Arial"/>
                          <a:ea typeface="Arial"/>
                          <a:cs typeface="Arial"/>
                        </a:rPr>
                        <a:t>Action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950" b="1">
                          <a:solidFill>
                            <a:srgbClr val="70D6C4"/>
                          </a:solidFill>
                          <a:latin typeface="Arial"/>
                          <a:ea typeface="Arial"/>
                          <a:cs typeface="Arial"/>
                        </a:rPr>
                        <a:t>Report behavior</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90550">
                <a:tc>
                  <a:txBody>
                    <a:bodyPr/>
                    <a:lstStyle/>
                    <a:p>
                      <a:r>
                        <a:rPr sz="1950" b="0">
                          <a:solidFill>
                            <a:srgbClr val="F1F4F6"/>
                          </a:solidFill>
                          <a:latin typeface="Arial"/>
                          <a:ea typeface="Arial"/>
                          <a:cs typeface="Arial"/>
                        </a:rPr>
                        <a:t>Generate report A when a sale totals 47.50</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Store A’s rows and template version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90550">
                <a:tc>
                  <a:txBody>
                    <a:bodyPr/>
                    <a:lstStyle/>
                    <a:p>
                      <a:r>
                        <a:rPr sz="1950" b="0">
                          <a:solidFill>
                            <a:srgbClr val="F1F4F6"/>
                          </a:solidFill>
                          <a:latin typeface="Arial"/>
                          <a:ea typeface="Arial"/>
                          <a:cs typeface="Arial"/>
                        </a:rPr>
                        <a:t>Correct source data so the sale totals 49.50</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Current sales queries now return 49.50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90550">
                <a:tc>
                  <a:txBody>
                    <a:bodyPr/>
                    <a:lstStyle/>
                    <a:p>
                      <a:r>
                        <a:rPr sz="1950" b="0">
                          <a:solidFill>
                            <a:srgbClr val="F1F4F6"/>
                          </a:solidFill>
                          <a:latin typeface="Arial"/>
                          <a:ea typeface="Arial"/>
                          <a:cs typeface="Arial"/>
                        </a:rPr>
                        <a:t>Replay report A</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Use saved rows, still show 47.50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90550">
                <a:tc>
                  <a:txBody>
                    <a:bodyPr/>
                    <a:lstStyle/>
                    <a:p>
                      <a:r>
                        <a:rPr sz="1950" b="0">
                          <a:solidFill>
                            <a:srgbClr val="F1F4F6"/>
                          </a:solidFill>
                          <a:latin typeface="Arial"/>
                          <a:ea typeface="Arial"/>
                          <a:cs typeface="Arial"/>
                        </a:rPr>
                        <a:t>Request new report B</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950" b="0">
                          <a:solidFill>
                            <a:srgbClr val="F1F4F6"/>
                          </a:solidFill>
                          <a:latin typeface="Arial"/>
                          <a:ea typeface="Arial"/>
                          <a:cs typeface="Arial"/>
                        </a:rPr>
                        <a:t>Capture current rows, show 49.50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83D3762F-6930-496C-8955-260916C4A10E}"/>
              </a:ext>
            </a:extLst>
          </p:cNvPr>
          <p:cNvSpPr>
            <a:spLocks noGrp="1"/>
          </p:cNvSpPr>
          <p:nvPr/>
        </p:nvSpPr>
        <p:spPr>
          <a:xfrm>
            <a:off x="609600" y="5143500"/>
            <a:ext cx="10763250" cy="857250"/>
          </a:xfrm>
          <a:prstGeom prst="rect">
            <a:avLst/>
          </a:prstGeom>
          <a:noFill/>
          <a:ln w="0">
            <a:noFill/>
          </a:ln>
        </p:spPr>
        <p:txBody>
          <a:bodyPr wrap="square" lIns="0" tIns="0" rIns="0" bIns="0" anchor="t">
            <a:noAutofit/>
          </a:bodyPr>
          <a:lstStyle>
            <a:defPPr>
              <a:defRPr sz="2250" b="0">
                <a:solidFill>
                  <a:srgbClr val="70D6C4"/>
                </a:solidFill>
                <a:latin typeface="Arial"/>
                <a:ea typeface="Arial"/>
                <a:cs typeface="Arial"/>
              </a:defRPr>
            </a:defPPr>
            <a:lvl1pPr>
              <a:defRPr sz="2250" b="0">
                <a:solidFill>
                  <a:srgbClr val="70D6C4"/>
                </a:solidFill>
                <a:latin typeface="Arial"/>
                <a:ea typeface="Arial"/>
                <a:cs typeface="Arial"/>
              </a:defRPr>
            </a:lvl1pPr>
            <a:lvl2pPr>
              <a:defRPr sz="2250" b="0">
                <a:solidFill>
                  <a:srgbClr val="70D6C4"/>
                </a:solidFill>
                <a:latin typeface="Arial"/>
                <a:ea typeface="Arial"/>
                <a:cs typeface="Arial"/>
              </a:defRPr>
            </a:lvl2pPr>
            <a:lvl3pPr>
              <a:defRPr sz="2250" b="0">
                <a:solidFill>
                  <a:srgbClr val="70D6C4"/>
                </a:solidFill>
                <a:latin typeface="Arial"/>
                <a:ea typeface="Arial"/>
                <a:cs typeface="Arial"/>
              </a:defRPr>
            </a:lvl3pPr>
            <a:lvl4pPr>
              <a:defRPr sz="2250" b="0">
                <a:solidFill>
                  <a:srgbClr val="70D6C4"/>
                </a:solidFill>
                <a:latin typeface="Arial"/>
                <a:ea typeface="Arial"/>
                <a:cs typeface="Arial"/>
              </a:defRPr>
            </a:lvl4pPr>
            <a:lvl5pPr>
              <a:defRPr sz="2250" b="0">
                <a:solidFill>
                  <a:srgbClr val="70D6C4"/>
                </a:solidFill>
                <a:latin typeface="Arial"/>
                <a:ea typeface="Arial"/>
                <a:cs typeface="Arial"/>
              </a:defRPr>
            </a:lvl5pPr>
            <a:lvl6pPr>
              <a:defRPr sz="2250" b="0">
                <a:solidFill>
                  <a:srgbClr val="70D6C4"/>
                </a:solidFill>
                <a:latin typeface="Arial"/>
                <a:ea typeface="Arial"/>
                <a:cs typeface="Arial"/>
              </a:defRPr>
            </a:lvl6pPr>
            <a:lvl7pPr>
              <a:defRPr sz="2250" b="0">
                <a:solidFill>
                  <a:srgbClr val="70D6C4"/>
                </a:solidFill>
                <a:latin typeface="Arial"/>
                <a:ea typeface="Arial"/>
                <a:cs typeface="Arial"/>
              </a:defRPr>
            </a:lvl7pPr>
            <a:lvl8pPr>
              <a:defRPr sz="2250" b="0">
                <a:solidFill>
                  <a:srgbClr val="70D6C4"/>
                </a:solidFill>
                <a:latin typeface="Arial"/>
                <a:ea typeface="Arial"/>
                <a:cs typeface="Arial"/>
              </a:defRPr>
            </a:lvl8pPr>
            <a:lvl9pPr>
              <a:defRPr sz="2250" b="0">
                <a:solidFill>
                  <a:srgbClr val="70D6C4"/>
                </a:solidFill>
                <a:latin typeface="Arial"/>
                <a:ea typeface="Arial"/>
                <a:cs typeface="Arial"/>
              </a:defRPr>
            </a:lvl9pPr>
          </a:lstStyle>
          <a:p>
            <a:pPr>
              <a:defRPr sz="2250" b="0">
                <a:solidFill>
                  <a:srgbClr val="70D6C4"/>
                </a:solidFill>
                <a:latin typeface="Arial"/>
                <a:ea typeface="Arial"/>
                <a:cs typeface="Arial"/>
              </a:defRPr>
            </a:pPr>
            <a:r>
              <a:rPr sz="2250" b="0">
                <a:solidFill>
                  <a:srgbClr val="70D6C4"/>
                </a:solidFill>
                <a:latin typeface="Arial"/>
                <a:ea typeface="Arial"/>
                <a:cs typeface="Arial"/>
              </a:rPr>
              <a:t>Saved dataset = the original report values</a:t>
            </a:r>
          </a:p>
          <a:p>
            <a:pPr>
              <a:defRPr sz="2250" b="0">
                <a:solidFill>
                  <a:srgbClr val="70D6C4"/>
                </a:solidFill>
                <a:latin typeface="Arial"/>
                <a:ea typeface="Arial"/>
                <a:cs typeface="Arial"/>
              </a:defRPr>
            </a:pPr>
            <a:r>
              <a:rPr sz="2250" b="0">
                <a:solidFill>
                  <a:srgbClr val="70D6C4"/>
                </a:solidFill>
                <a:latin typeface="Arial"/>
                <a:ea typeface="Arial"/>
                <a:cs typeface="Arial"/>
              </a:rPr>
              <a:t>Audit trail = the request’s processing transitions</a:t>
            </a:r>
          </a:p>
        </p:txBody>
      </p:sp>
      <p:sp>
        <p:nvSpPr>
          <p:cNvPr id="6" name="Rectangle 5">
            <a:extLst>
              <a:ext uri="{FF2B5EF4-FFF2-40B4-BE49-F238E27FC236}">
                <a16:creationId xmlns:a16="http://schemas.microsoft.com/office/drawing/2014/main" id="{30CF9383-F4DA-4913-94AB-7419A1F8234A}"/>
              </a:ext>
            </a:extLst>
          </p:cNvPr>
          <p:cNvSpPr>
            <a:spLocks noGrp="1"/>
          </p:cNvSpPr>
          <p:nvPr/>
        </p:nvSpPr>
        <p:spPr>
          <a:xfrm>
            <a:off x="609600" y="595312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No automatic regeneration of every old report. A new request creates a new report.</a:t>
            </a:r>
          </a:p>
        </p:txBody>
      </p:sp>
    </p:spTree>
    <p:extLst>
      <p:ext uri="{BB962C8B-B14F-4D97-AF65-F5344CB8AC3E}">
        <p14:creationId xmlns:p14="http://schemas.microsoft.com/office/powerpoint/2010/main" val="19509635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FAE57F1-6AF8-4ED9-9479-9191305208A2}"/>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AI assistance and database control</a:t>
            </a:r>
          </a:p>
        </p:txBody>
      </p:sp>
      <p:sp>
        <p:nvSpPr>
          <p:cNvPr id="2" name="Rectangle 1">
            <a:extLst>
              <a:ext uri="{FF2B5EF4-FFF2-40B4-BE49-F238E27FC236}">
                <a16:creationId xmlns:a16="http://schemas.microsoft.com/office/drawing/2014/main" id="{44FCF9F8-8418-4EE9-BC2F-3F81ADC1412E}"/>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47</a:t>
            </a:r>
          </a:p>
        </p:txBody>
      </p:sp>
      <p:sp>
        <p:nvSpPr>
          <p:cNvPr id="3" name="Rectangle 2">
            <a:extLst>
              <a:ext uri="{FF2B5EF4-FFF2-40B4-BE49-F238E27FC236}">
                <a16:creationId xmlns:a16="http://schemas.microsoft.com/office/drawing/2014/main" id="{0286F975-564E-4B90-9CB5-E13E260A17D8}"/>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AF6EB492-59BB-43F3-8522-D951BBD80DC4}"/>
              </a:ext>
            </a:extLst>
          </p:cNvPr>
          <p:cNvGraphicFramePr/>
          <p:nvPr/>
        </p:nvGraphicFramePr>
        <p:xfrm>
          <a:off x="609600" y="1619250"/>
          <a:ext cx="10972800" cy="2524124"/>
        </p:xfrm>
        <a:graphic>
          <a:graphicData uri="http://schemas.openxmlformats.org/drawingml/2006/table">
            <a:tbl>
              <a:tblPr firstRow="1"/>
              <a:tblGrid>
                <a:gridCol w="3810000">
                  <a:extLst>
                    <a:ext uri="{9D8B030D-6E8A-4147-A177-3AD203B41FA5}">
                      <a16:colId xmlns:a16="http://schemas.microsoft.com/office/drawing/2014/main" val="20000"/>
                    </a:ext>
                  </a:extLst>
                </a:gridCol>
                <a:gridCol w="7162800">
                  <a:extLst>
                    <a:ext uri="{9D8B030D-6E8A-4147-A177-3AD203B41FA5}">
                      <a16:colId xmlns:a16="http://schemas.microsoft.com/office/drawing/2014/main" val="20001"/>
                    </a:ext>
                  </a:extLst>
                </a:gridCol>
              </a:tblGrid>
              <a:tr h="631031">
                <a:tc>
                  <a:txBody>
                    <a:bodyPr/>
                    <a:lstStyle/>
                    <a:p>
                      <a:r>
                        <a:rPr sz="2025" b="1">
                          <a:solidFill>
                            <a:srgbClr val="70D6C4"/>
                          </a:solidFill>
                          <a:latin typeface="Arial"/>
                          <a:ea typeface="Arial"/>
                          <a:cs typeface="Arial"/>
                        </a:rPr>
                        <a:t>Assistance</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2025" b="1">
                          <a:solidFill>
                            <a:srgbClr val="70D6C4"/>
                          </a:solidFill>
                          <a:latin typeface="Arial"/>
                          <a:ea typeface="Arial"/>
                          <a:cs typeface="Arial"/>
                        </a:rPr>
                        <a:t>Database-controlled boundary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631031">
                <a:tc>
                  <a:txBody>
                    <a:bodyPr/>
                    <a:lstStyle/>
                    <a:p>
                      <a:r>
                        <a:rPr sz="2025" b="0">
                          <a:solidFill>
                            <a:srgbClr val="F1F4F6"/>
                          </a:solidFill>
                          <a:latin typeface="Arial"/>
                          <a:ea typeface="Arial"/>
                          <a:cs typeface="Arial"/>
                        </a:rPr>
                        <a:t>CSV header mapping</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2025" b="0">
                          <a:solidFill>
                            <a:srgbClr val="F1F4F6"/>
                          </a:solidFill>
                          <a:latin typeface="Arial"/>
                          <a:ea typeface="Arial"/>
                          <a:cs typeface="Arial"/>
                        </a:rPr>
                        <a:t>User confirms mapping, validation rejects bad orders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631031">
                <a:tc>
                  <a:txBody>
                    <a:bodyPr/>
                    <a:lstStyle/>
                    <a:p>
                      <a:r>
                        <a:rPr sz="2025" b="0">
                          <a:solidFill>
                            <a:srgbClr val="F1F4F6"/>
                          </a:solidFill>
                          <a:latin typeface="Arial"/>
                          <a:ea typeface="Arial"/>
                          <a:cs typeface="Arial"/>
                        </a:rPr>
                        <a:t>Question interpretation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2025" b="0">
                          <a:solidFill>
                            <a:srgbClr val="F1F4F6"/>
                          </a:solidFill>
                          <a:latin typeface="Arial"/>
                          <a:ea typeface="Arial"/>
                          <a:cs typeface="Arial"/>
                        </a:rPr>
                        <a:t>Allowlisted intent, bound parameters, visible SQL</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631031">
                <a:tc>
                  <a:txBody>
                    <a:bodyPr/>
                    <a:lstStyle/>
                    <a:p>
                      <a:r>
                        <a:rPr sz="2025" b="0">
                          <a:solidFill>
                            <a:srgbClr val="F1F4F6"/>
                          </a:solidFill>
                          <a:latin typeface="Arial"/>
                          <a:ea typeface="Arial"/>
                          <a:cs typeface="Arial"/>
                        </a:rPr>
                        <a:t>Business explanation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2025" b="0">
                          <a:solidFill>
                            <a:srgbClr val="F1F4F6"/>
                          </a:solidFill>
                          <a:latin typeface="Arial"/>
                          <a:ea typeface="Arial"/>
                          <a:cs typeface="Arial"/>
                        </a:rPr>
                        <a:t>SQL calculates facts, stored narrative cites those facts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18A35CC3-4E95-4116-8018-3FAF98B58F5B}"/>
              </a:ext>
            </a:extLst>
          </p:cNvPr>
          <p:cNvSpPr>
            <a:spLocks noGrp="1"/>
          </p:cNvSpPr>
          <p:nvPr/>
        </p:nvSpPr>
        <p:spPr>
          <a:xfrm>
            <a:off x="609600" y="4762500"/>
            <a:ext cx="10763250" cy="952500"/>
          </a:xfrm>
          <a:prstGeom prst="rect">
            <a:avLst/>
          </a:prstGeom>
          <a:noFill/>
          <a:ln w="0">
            <a:noFill/>
          </a:ln>
        </p:spPr>
        <p:txBody>
          <a:bodyPr wrap="square" lIns="0" tIns="0" rIns="0" bIns="0" anchor="t">
            <a:noAutofit/>
          </a:bodyPr>
          <a:lstStyle>
            <a:defPPr>
              <a:defRPr sz="2400" b="1">
                <a:solidFill>
                  <a:srgbClr val="70D6C4"/>
                </a:solidFill>
                <a:latin typeface="Arial"/>
                <a:ea typeface="Arial"/>
                <a:cs typeface="Arial"/>
              </a:defRPr>
            </a:defPPr>
            <a:lvl1pPr>
              <a:defRPr sz="2400" b="1">
                <a:solidFill>
                  <a:srgbClr val="70D6C4"/>
                </a:solidFill>
                <a:latin typeface="Arial"/>
                <a:ea typeface="Arial"/>
                <a:cs typeface="Arial"/>
              </a:defRPr>
            </a:lvl1pPr>
            <a:lvl2pPr>
              <a:defRPr sz="2400" b="1">
                <a:solidFill>
                  <a:srgbClr val="70D6C4"/>
                </a:solidFill>
                <a:latin typeface="Arial"/>
                <a:ea typeface="Arial"/>
                <a:cs typeface="Arial"/>
              </a:defRPr>
            </a:lvl2pPr>
            <a:lvl3pPr>
              <a:defRPr sz="2400" b="1">
                <a:solidFill>
                  <a:srgbClr val="70D6C4"/>
                </a:solidFill>
                <a:latin typeface="Arial"/>
                <a:ea typeface="Arial"/>
                <a:cs typeface="Arial"/>
              </a:defRPr>
            </a:lvl3pPr>
            <a:lvl4pPr>
              <a:defRPr sz="2400" b="1">
                <a:solidFill>
                  <a:srgbClr val="70D6C4"/>
                </a:solidFill>
                <a:latin typeface="Arial"/>
                <a:ea typeface="Arial"/>
                <a:cs typeface="Arial"/>
              </a:defRPr>
            </a:lvl4pPr>
            <a:lvl5pPr>
              <a:defRPr sz="2400" b="1">
                <a:solidFill>
                  <a:srgbClr val="70D6C4"/>
                </a:solidFill>
                <a:latin typeface="Arial"/>
                <a:ea typeface="Arial"/>
                <a:cs typeface="Arial"/>
              </a:defRPr>
            </a:lvl5pPr>
            <a:lvl6pPr>
              <a:defRPr sz="2400" b="1">
                <a:solidFill>
                  <a:srgbClr val="70D6C4"/>
                </a:solidFill>
                <a:latin typeface="Arial"/>
                <a:ea typeface="Arial"/>
                <a:cs typeface="Arial"/>
              </a:defRPr>
            </a:lvl6pPr>
            <a:lvl7pPr>
              <a:defRPr sz="2400" b="1">
                <a:solidFill>
                  <a:srgbClr val="70D6C4"/>
                </a:solidFill>
                <a:latin typeface="Arial"/>
                <a:ea typeface="Arial"/>
                <a:cs typeface="Arial"/>
              </a:defRPr>
            </a:lvl7pPr>
            <a:lvl8pPr>
              <a:defRPr sz="2400" b="1">
                <a:solidFill>
                  <a:srgbClr val="70D6C4"/>
                </a:solidFill>
                <a:latin typeface="Arial"/>
                <a:ea typeface="Arial"/>
                <a:cs typeface="Arial"/>
              </a:defRPr>
            </a:lvl8pPr>
            <a:lvl9pPr>
              <a:defRPr sz="2400" b="1">
                <a:solidFill>
                  <a:srgbClr val="70D6C4"/>
                </a:solidFill>
                <a:latin typeface="Arial"/>
                <a:ea typeface="Arial"/>
                <a:cs typeface="Arial"/>
              </a:defRPr>
            </a:lvl9pPr>
          </a:lstStyle>
          <a:p>
            <a:pPr>
              <a:defRPr sz="2400" b="1">
                <a:solidFill>
                  <a:srgbClr val="70D6C4"/>
                </a:solidFill>
                <a:latin typeface="Arial"/>
                <a:ea typeface="Arial"/>
                <a:cs typeface="Arial"/>
              </a:defRPr>
            </a:pPr>
            <a:r>
              <a:rPr sz="2400" b="1">
                <a:solidFill>
                  <a:srgbClr val="70D6C4"/>
                </a:solidFill>
                <a:latin typeface="Arial"/>
                <a:ea typeface="Arial"/>
                <a:cs typeface="Arial"/>
              </a:rPr>
              <a:t>Additional feature: an inspectable path from imported data</a:t>
            </a:r>
          </a:p>
          <a:p>
            <a:pPr>
              <a:defRPr sz="2400" b="1">
                <a:solidFill>
                  <a:srgbClr val="70D6C4"/>
                </a:solidFill>
                <a:latin typeface="Arial"/>
                <a:ea typeface="Arial"/>
                <a:cs typeface="Arial"/>
              </a:defRPr>
            </a:pPr>
            <a:r>
              <a:rPr sz="2400" b="1">
                <a:solidFill>
                  <a:srgbClr val="70D6C4"/>
                </a:solidFill>
                <a:latin typeface="Arial"/>
                <a:ea typeface="Arial"/>
                <a:cs typeface="Arial"/>
              </a:rPr>
              <a:t>to validated facts, SQL answers and retained reports.</a:t>
            </a:r>
          </a:p>
        </p:txBody>
      </p:sp>
      <p:sp>
        <p:nvSpPr>
          <p:cNvPr id="6" name="Rectangle 5">
            <a:extLst>
              <a:ext uri="{FF2B5EF4-FFF2-40B4-BE49-F238E27FC236}">
                <a16:creationId xmlns:a16="http://schemas.microsoft.com/office/drawing/2014/main" id="{64461DAC-866E-4553-903D-87F997062F64}"/>
              </a:ext>
            </a:extLst>
          </p:cNvPr>
          <p:cNvSpPr>
            <a:spLocks noGrp="1"/>
          </p:cNvSpPr>
          <p:nvPr/>
        </p:nvSpPr>
        <p:spPr>
          <a:xfrm>
            <a:off x="609600" y="595312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Gemini is optional. Screenshots use the working local parser and deterministic analysis.</a:t>
            </a:r>
          </a:p>
        </p:txBody>
      </p:sp>
    </p:spTree>
    <p:extLst>
      <p:ext uri="{BB962C8B-B14F-4D97-AF65-F5344CB8AC3E}">
        <p14:creationId xmlns:p14="http://schemas.microsoft.com/office/powerpoint/2010/main" val="7651337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5DF8C38-1166-4605-81E8-5F4CB0DF4410}"/>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Reports workspace</a:t>
            </a:r>
          </a:p>
        </p:txBody>
      </p:sp>
      <p:sp>
        <p:nvSpPr>
          <p:cNvPr id="2" name="Rectangle 1">
            <a:extLst>
              <a:ext uri="{FF2B5EF4-FFF2-40B4-BE49-F238E27FC236}">
                <a16:creationId xmlns:a16="http://schemas.microsoft.com/office/drawing/2014/main" id="{A294D9E1-A4C5-42CE-80F4-9EFFF987F152}"/>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48</a:t>
            </a:r>
          </a:p>
        </p:txBody>
      </p:sp>
      <p:sp>
        <p:nvSpPr>
          <p:cNvPr id="3" name="Rectangle 2">
            <a:extLst>
              <a:ext uri="{FF2B5EF4-FFF2-40B4-BE49-F238E27FC236}">
                <a16:creationId xmlns:a16="http://schemas.microsoft.com/office/drawing/2014/main" id="{08A32B41-D891-44B5-80EF-7B83BCE591A0}"/>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pic>
        <p:nvPicPr>
          <p:cNvPr id="4" name="Picture 3">
            <a:extLst>
              <a:ext uri="{FF2B5EF4-FFF2-40B4-BE49-F238E27FC236}">
                <a16:creationId xmlns:a16="http://schemas.microsoft.com/office/drawing/2014/main" id="{137D8BFA-B5D9-4937-A93E-93C264B6E479}"/>
              </a:ext>
            </a:extLst>
          </p:cNvPr>
          <p:cNvPicPr>
            <a:picLocks noChangeAspect="1"/>
          </p:cNvPicPr>
          <p:nvPr/>
        </p:nvPicPr>
        <p:blipFill>
          <a:blip r:embed="rId3"/>
          <a:stretch/>
        </p:blipFill>
        <p:spPr>
          <a:xfrm>
            <a:off x="1300268" y="1381125"/>
            <a:ext cx="9591464" cy="4552950"/>
          </a:xfrm>
          <a:prstGeom prst="rect">
            <a:avLst/>
          </a:prstGeom>
        </p:spPr>
      </p:pic>
      <p:sp>
        <p:nvSpPr>
          <p:cNvPr id="5" name="Rectangle 4">
            <a:extLst>
              <a:ext uri="{FF2B5EF4-FFF2-40B4-BE49-F238E27FC236}">
                <a16:creationId xmlns:a16="http://schemas.microsoft.com/office/drawing/2014/main" id="{56BC368D-D37C-40BD-B256-6CA60AF5D29F}"/>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Actual application: templates, report status and run history.</a:t>
            </a:r>
          </a:p>
        </p:txBody>
      </p:sp>
    </p:spTree>
    <p:extLst>
      <p:ext uri="{BB962C8B-B14F-4D97-AF65-F5344CB8AC3E}">
        <p14:creationId xmlns:p14="http://schemas.microsoft.com/office/powerpoint/2010/main" val="13254502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FA3D769-EC27-447C-8662-EC8D9C81A903}"/>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Data insertion and validation</a:t>
            </a:r>
          </a:p>
        </p:txBody>
      </p:sp>
      <p:sp>
        <p:nvSpPr>
          <p:cNvPr id="2" name="Rectangle 1">
            <a:extLst>
              <a:ext uri="{FF2B5EF4-FFF2-40B4-BE49-F238E27FC236}">
                <a16:creationId xmlns:a16="http://schemas.microsoft.com/office/drawing/2014/main" id="{08D2E3CD-E1F3-4DBC-B032-6E9D4D8D6EC5}"/>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49</a:t>
            </a:r>
          </a:p>
        </p:txBody>
      </p:sp>
      <p:sp>
        <p:nvSpPr>
          <p:cNvPr id="3" name="Rectangle 2">
            <a:extLst>
              <a:ext uri="{FF2B5EF4-FFF2-40B4-BE49-F238E27FC236}">
                <a16:creationId xmlns:a16="http://schemas.microsoft.com/office/drawing/2014/main" id="{3593F335-BAD9-43B5-B0D5-520A00026CFB}"/>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pic>
        <p:nvPicPr>
          <p:cNvPr id="4" name="Picture 3">
            <a:extLst>
              <a:ext uri="{FF2B5EF4-FFF2-40B4-BE49-F238E27FC236}">
                <a16:creationId xmlns:a16="http://schemas.microsoft.com/office/drawing/2014/main" id="{4291E08D-6FFD-4030-89EB-F9F88866F98E}"/>
              </a:ext>
            </a:extLst>
          </p:cNvPr>
          <p:cNvPicPr>
            <a:picLocks noChangeAspect="1"/>
          </p:cNvPicPr>
          <p:nvPr/>
        </p:nvPicPr>
        <p:blipFill>
          <a:blip r:embed="rId3"/>
          <a:stretch/>
        </p:blipFill>
        <p:spPr>
          <a:xfrm>
            <a:off x="904818" y="1381125"/>
            <a:ext cx="10382364" cy="4552950"/>
          </a:xfrm>
          <a:prstGeom prst="rect">
            <a:avLst/>
          </a:prstGeom>
        </p:spPr>
      </p:pic>
      <p:sp>
        <p:nvSpPr>
          <p:cNvPr id="5" name="Rectangle 4">
            <a:extLst>
              <a:ext uri="{FF2B5EF4-FFF2-40B4-BE49-F238E27FC236}">
                <a16:creationId xmlns:a16="http://schemas.microsoft.com/office/drawing/2014/main" id="{AF52FA06-3756-4F5A-B6FF-A87D39B0034F}"/>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Actual preview: two valid lines and an order rejected for a negative price.</a:t>
            </a:r>
          </a:p>
        </p:txBody>
      </p:sp>
    </p:spTree>
    <p:extLst>
      <p:ext uri="{BB962C8B-B14F-4D97-AF65-F5344CB8AC3E}">
        <p14:creationId xmlns:p14="http://schemas.microsoft.com/office/powerpoint/2010/main" val="753922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3C6DFCD-B08E-4AD8-B9E6-EA65E5163507}"/>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Inventory with ledger reconciliation</a:t>
            </a:r>
          </a:p>
        </p:txBody>
      </p:sp>
      <p:sp>
        <p:nvSpPr>
          <p:cNvPr id="2" name="Rectangle 1">
            <a:extLst>
              <a:ext uri="{FF2B5EF4-FFF2-40B4-BE49-F238E27FC236}">
                <a16:creationId xmlns:a16="http://schemas.microsoft.com/office/drawing/2014/main" id="{95BBE266-D512-40AD-A3A4-CD9D969C6DB4}"/>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50</a:t>
            </a:r>
          </a:p>
        </p:txBody>
      </p:sp>
      <p:sp>
        <p:nvSpPr>
          <p:cNvPr id="3" name="Rectangle 2">
            <a:extLst>
              <a:ext uri="{FF2B5EF4-FFF2-40B4-BE49-F238E27FC236}">
                <a16:creationId xmlns:a16="http://schemas.microsoft.com/office/drawing/2014/main" id="{6C890E13-A12A-4717-AD12-CAF440DDB359}"/>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pic>
        <p:nvPicPr>
          <p:cNvPr id="4" name="Picture 3">
            <a:extLst>
              <a:ext uri="{FF2B5EF4-FFF2-40B4-BE49-F238E27FC236}">
                <a16:creationId xmlns:a16="http://schemas.microsoft.com/office/drawing/2014/main" id="{76819C11-AF67-4FD4-9696-E5510F9DF686}"/>
              </a:ext>
            </a:extLst>
          </p:cNvPr>
          <p:cNvPicPr>
            <a:picLocks noChangeAspect="1"/>
          </p:cNvPicPr>
          <p:nvPr/>
        </p:nvPicPr>
        <p:blipFill>
          <a:blip r:embed="rId3"/>
          <a:stretch/>
        </p:blipFill>
        <p:spPr>
          <a:xfrm>
            <a:off x="904818" y="1381125"/>
            <a:ext cx="10382364" cy="4552950"/>
          </a:xfrm>
          <a:prstGeom prst="rect">
            <a:avLst/>
          </a:prstGeom>
        </p:spPr>
      </p:pic>
      <p:sp>
        <p:nvSpPr>
          <p:cNvPr id="5" name="Rectangle 4">
            <a:extLst>
              <a:ext uri="{FF2B5EF4-FFF2-40B4-BE49-F238E27FC236}">
                <a16:creationId xmlns:a16="http://schemas.microsoft.com/office/drawing/2014/main" id="{DCB6B545-32F0-44A2-B164-5D0FBB81F21F}"/>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Actual stock balances, reorder thresholds and movement-ledger checks.</a:t>
            </a:r>
          </a:p>
        </p:txBody>
      </p:sp>
    </p:spTree>
    <p:extLst>
      <p:ext uri="{BB962C8B-B14F-4D97-AF65-F5344CB8AC3E}">
        <p14:creationId xmlns:p14="http://schemas.microsoft.com/office/powerpoint/2010/main" val="4233355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153BF5-C0E7-46DD-9AC7-F1554354EC7B}"/>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Natural-language questions with SQL preview</a:t>
            </a:r>
          </a:p>
        </p:txBody>
      </p:sp>
      <p:sp>
        <p:nvSpPr>
          <p:cNvPr id="2" name="Rectangle 1">
            <a:extLst>
              <a:ext uri="{FF2B5EF4-FFF2-40B4-BE49-F238E27FC236}">
                <a16:creationId xmlns:a16="http://schemas.microsoft.com/office/drawing/2014/main" id="{B6787B94-CB9F-4856-A32A-1A3D77C97387}"/>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51</a:t>
            </a:r>
          </a:p>
        </p:txBody>
      </p:sp>
      <p:sp>
        <p:nvSpPr>
          <p:cNvPr id="3" name="Rectangle 2">
            <a:extLst>
              <a:ext uri="{FF2B5EF4-FFF2-40B4-BE49-F238E27FC236}">
                <a16:creationId xmlns:a16="http://schemas.microsoft.com/office/drawing/2014/main" id="{05A66BFD-550E-47E4-9DB7-ABD072D03623}"/>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pic>
        <p:nvPicPr>
          <p:cNvPr id="4" name="Picture 3">
            <a:extLst>
              <a:ext uri="{FF2B5EF4-FFF2-40B4-BE49-F238E27FC236}">
                <a16:creationId xmlns:a16="http://schemas.microsoft.com/office/drawing/2014/main" id="{68E010B6-EFAC-4296-AC8E-5290AB029D07}"/>
              </a:ext>
            </a:extLst>
          </p:cNvPr>
          <p:cNvPicPr>
            <a:picLocks noChangeAspect="1"/>
          </p:cNvPicPr>
          <p:nvPr/>
        </p:nvPicPr>
        <p:blipFill>
          <a:blip r:embed="rId3"/>
          <a:stretch/>
        </p:blipFill>
        <p:spPr>
          <a:xfrm>
            <a:off x="904818" y="1381125"/>
            <a:ext cx="10382364" cy="4552950"/>
          </a:xfrm>
          <a:prstGeom prst="rect">
            <a:avLst/>
          </a:prstGeom>
        </p:spPr>
      </p:pic>
      <p:sp>
        <p:nvSpPr>
          <p:cNvPr id="5" name="Rectangle 4">
            <a:extLst>
              <a:ext uri="{FF2B5EF4-FFF2-40B4-BE49-F238E27FC236}">
                <a16:creationId xmlns:a16="http://schemas.microsoft.com/office/drawing/2014/main" id="{8776B9FD-F57C-4DEB-B840-FAFE2F98EEAE}"/>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Actual local parser: the question resolves to approved SQL with bound parameters.</a:t>
            </a:r>
          </a:p>
        </p:txBody>
      </p:sp>
    </p:spTree>
    <p:extLst>
      <p:ext uri="{BB962C8B-B14F-4D97-AF65-F5344CB8AC3E}">
        <p14:creationId xmlns:p14="http://schemas.microsoft.com/office/powerpoint/2010/main" val="7270027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1F52380-7F1B-4A80-ACF5-AAA08107E69A}"/>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SQL-backed business analysis</a:t>
            </a:r>
          </a:p>
        </p:txBody>
      </p:sp>
      <p:sp>
        <p:nvSpPr>
          <p:cNvPr id="2" name="Rectangle 1">
            <a:extLst>
              <a:ext uri="{FF2B5EF4-FFF2-40B4-BE49-F238E27FC236}">
                <a16:creationId xmlns:a16="http://schemas.microsoft.com/office/drawing/2014/main" id="{2D972C14-B376-4658-A9C3-A668009196A1}"/>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52</a:t>
            </a:r>
          </a:p>
        </p:txBody>
      </p:sp>
      <p:sp>
        <p:nvSpPr>
          <p:cNvPr id="3" name="Rectangle 2">
            <a:extLst>
              <a:ext uri="{FF2B5EF4-FFF2-40B4-BE49-F238E27FC236}">
                <a16:creationId xmlns:a16="http://schemas.microsoft.com/office/drawing/2014/main" id="{5E74D9C7-706D-4802-8A7A-D233645E66B1}"/>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pic>
        <p:nvPicPr>
          <p:cNvPr id="4" name="Picture 3">
            <a:extLst>
              <a:ext uri="{FF2B5EF4-FFF2-40B4-BE49-F238E27FC236}">
                <a16:creationId xmlns:a16="http://schemas.microsoft.com/office/drawing/2014/main" id="{DC6937E9-A7D5-4DEF-9E8F-9C8B0A98A835}"/>
              </a:ext>
            </a:extLst>
          </p:cNvPr>
          <p:cNvPicPr>
            <a:picLocks noChangeAspect="1"/>
          </p:cNvPicPr>
          <p:nvPr/>
        </p:nvPicPr>
        <p:blipFill>
          <a:blip r:embed="rId3"/>
          <a:stretch/>
        </p:blipFill>
        <p:spPr>
          <a:xfrm>
            <a:off x="904818" y="1381125"/>
            <a:ext cx="10382364" cy="4552950"/>
          </a:xfrm>
          <a:prstGeom prst="rect">
            <a:avLst/>
          </a:prstGeom>
        </p:spPr>
      </p:pic>
      <p:sp>
        <p:nvSpPr>
          <p:cNvPr id="5" name="Rectangle 4">
            <a:extLst>
              <a:ext uri="{FF2B5EF4-FFF2-40B4-BE49-F238E27FC236}">
                <a16:creationId xmlns:a16="http://schemas.microsoft.com/office/drawing/2014/main" id="{0EBC9E38-1E9A-461C-AE2D-79A1ABE700D0}"/>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Actual analysis: aggregate facts and an explanation retained with the analysis record.</a:t>
            </a:r>
          </a:p>
        </p:txBody>
      </p:sp>
    </p:spTree>
    <p:extLst>
      <p:ext uri="{BB962C8B-B14F-4D97-AF65-F5344CB8AC3E}">
        <p14:creationId xmlns:p14="http://schemas.microsoft.com/office/powerpoint/2010/main" val="12867370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798BDFE-C317-4529-B35C-F4BD9B67D4E0}"/>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Historical report inspection</a:t>
            </a:r>
          </a:p>
        </p:txBody>
      </p:sp>
      <p:sp>
        <p:nvSpPr>
          <p:cNvPr id="2" name="Rectangle 1">
            <a:extLst>
              <a:ext uri="{FF2B5EF4-FFF2-40B4-BE49-F238E27FC236}">
                <a16:creationId xmlns:a16="http://schemas.microsoft.com/office/drawing/2014/main" id="{683CB08B-33D8-40C5-B3F1-EB6C60584210}"/>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53</a:t>
            </a:r>
          </a:p>
        </p:txBody>
      </p:sp>
      <p:sp>
        <p:nvSpPr>
          <p:cNvPr id="3" name="Rectangle 2">
            <a:extLst>
              <a:ext uri="{FF2B5EF4-FFF2-40B4-BE49-F238E27FC236}">
                <a16:creationId xmlns:a16="http://schemas.microsoft.com/office/drawing/2014/main" id="{F88A1B0A-0913-469A-B5E8-7CB2A6B950A9}"/>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pic>
        <p:nvPicPr>
          <p:cNvPr id="4" name="Picture 3">
            <a:extLst>
              <a:ext uri="{FF2B5EF4-FFF2-40B4-BE49-F238E27FC236}">
                <a16:creationId xmlns:a16="http://schemas.microsoft.com/office/drawing/2014/main" id="{6F5EE7E6-287F-4C6D-BCFE-B1931633E4F8}"/>
              </a:ext>
            </a:extLst>
          </p:cNvPr>
          <p:cNvPicPr>
            <a:picLocks noChangeAspect="1"/>
          </p:cNvPicPr>
          <p:nvPr/>
        </p:nvPicPr>
        <p:blipFill>
          <a:blip r:embed="rId3"/>
          <a:stretch/>
        </p:blipFill>
        <p:spPr>
          <a:xfrm>
            <a:off x="904818" y="1381125"/>
            <a:ext cx="10382364" cy="4552950"/>
          </a:xfrm>
          <a:prstGeom prst="rect">
            <a:avLst/>
          </a:prstGeom>
        </p:spPr>
      </p:pic>
      <p:sp>
        <p:nvSpPr>
          <p:cNvPr id="5" name="Rectangle 4">
            <a:extLst>
              <a:ext uri="{FF2B5EF4-FFF2-40B4-BE49-F238E27FC236}">
                <a16:creationId xmlns:a16="http://schemas.microsoft.com/office/drawing/2014/main" id="{F403C46B-9D6A-47E1-AD1D-6640C9E668D3}"/>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Actual saved report: template version, dataset timestamp, values and downloads.</a:t>
            </a:r>
          </a:p>
        </p:txBody>
      </p:sp>
    </p:spTree>
    <p:extLst>
      <p:ext uri="{BB962C8B-B14F-4D97-AF65-F5344CB8AC3E}">
        <p14:creationId xmlns:p14="http://schemas.microsoft.com/office/powerpoint/2010/main" val="19475235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D2A852-5AD1-4981-91B4-1A6AC203A160}"/>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Testing and correctness</a:t>
            </a:r>
          </a:p>
        </p:txBody>
      </p:sp>
      <p:sp>
        <p:nvSpPr>
          <p:cNvPr id="2" name="Rectangle 1">
            <a:extLst>
              <a:ext uri="{FF2B5EF4-FFF2-40B4-BE49-F238E27FC236}">
                <a16:creationId xmlns:a16="http://schemas.microsoft.com/office/drawing/2014/main" id="{48398F04-2FAB-4FD1-9F81-538F79A080C5}"/>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54</a:t>
            </a:r>
          </a:p>
        </p:txBody>
      </p:sp>
      <p:sp>
        <p:nvSpPr>
          <p:cNvPr id="3" name="Rectangle 2">
            <a:extLst>
              <a:ext uri="{FF2B5EF4-FFF2-40B4-BE49-F238E27FC236}">
                <a16:creationId xmlns:a16="http://schemas.microsoft.com/office/drawing/2014/main" id="{17B0E054-4572-4888-943F-43BE19CADAD1}"/>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4E84BEC1-7DB2-4554-BD6D-DDD1940AF325}"/>
              </a:ext>
            </a:extLst>
          </p:cNvPr>
          <p:cNvSpPr>
            <a:spLocks noGrp="1"/>
          </p:cNvSpPr>
          <p:nvPr/>
        </p:nvSpPr>
        <p:spPr>
          <a:xfrm>
            <a:off x="609600" y="1524000"/>
            <a:ext cx="10763250" cy="952500"/>
          </a:xfrm>
          <a:prstGeom prst="rect">
            <a:avLst/>
          </a:prstGeom>
          <a:noFill/>
          <a:ln w="0">
            <a:noFill/>
          </a:ln>
        </p:spPr>
        <p:txBody>
          <a:bodyPr wrap="square" lIns="0" tIns="0" rIns="0" bIns="0" anchor="t">
            <a:noAutofit/>
          </a:bodyPr>
          <a:lstStyle>
            <a:defPPr>
              <a:defRPr sz="4950" b="1">
                <a:solidFill>
                  <a:srgbClr val="70D6C4"/>
                </a:solidFill>
                <a:latin typeface="Arial"/>
                <a:ea typeface="Arial"/>
                <a:cs typeface="Arial"/>
              </a:defRPr>
            </a:defPPr>
            <a:lvl1pPr>
              <a:defRPr sz="4950" b="1">
                <a:solidFill>
                  <a:srgbClr val="70D6C4"/>
                </a:solidFill>
                <a:latin typeface="Arial"/>
                <a:ea typeface="Arial"/>
                <a:cs typeface="Arial"/>
              </a:defRPr>
            </a:lvl1pPr>
            <a:lvl2pPr>
              <a:defRPr sz="4950" b="1">
                <a:solidFill>
                  <a:srgbClr val="70D6C4"/>
                </a:solidFill>
                <a:latin typeface="Arial"/>
                <a:ea typeface="Arial"/>
                <a:cs typeface="Arial"/>
              </a:defRPr>
            </a:lvl2pPr>
            <a:lvl3pPr>
              <a:defRPr sz="4950" b="1">
                <a:solidFill>
                  <a:srgbClr val="70D6C4"/>
                </a:solidFill>
                <a:latin typeface="Arial"/>
                <a:ea typeface="Arial"/>
                <a:cs typeface="Arial"/>
              </a:defRPr>
            </a:lvl3pPr>
            <a:lvl4pPr>
              <a:defRPr sz="4950" b="1">
                <a:solidFill>
                  <a:srgbClr val="70D6C4"/>
                </a:solidFill>
                <a:latin typeface="Arial"/>
                <a:ea typeface="Arial"/>
                <a:cs typeface="Arial"/>
              </a:defRPr>
            </a:lvl4pPr>
            <a:lvl5pPr>
              <a:defRPr sz="4950" b="1">
                <a:solidFill>
                  <a:srgbClr val="70D6C4"/>
                </a:solidFill>
                <a:latin typeface="Arial"/>
                <a:ea typeface="Arial"/>
                <a:cs typeface="Arial"/>
              </a:defRPr>
            </a:lvl5pPr>
            <a:lvl6pPr>
              <a:defRPr sz="4950" b="1">
                <a:solidFill>
                  <a:srgbClr val="70D6C4"/>
                </a:solidFill>
                <a:latin typeface="Arial"/>
                <a:ea typeface="Arial"/>
                <a:cs typeface="Arial"/>
              </a:defRPr>
            </a:lvl6pPr>
            <a:lvl7pPr>
              <a:defRPr sz="4950" b="1">
                <a:solidFill>
                  <a:srgbClr val="70D6C4"/>
                </a:solidFill>
                <a:latin typeface="Arial"/>
                <a:ea typeface="Arial"/>
                <a:cs typeface="Arial"/>
              </a:defRPr>
            </a:lvl7pPr>
            <a:lvl8pPr>
              <a:defRPr sz="4950" b="1">
                <a:solidFill>
                  <a:srgbClr val="70D6C4"/>
                </a:solidFill>
                <a:latin typeface="Arial"/>
                <a:ea typeface="Arial"/>
                <a:cs typeface="Arial"/>
              </a:defRPr>
            </a:lvl8pPr>
            <a:lvl9pPr>
              <a:defRPr sz="4950" b="1">
                <a:solidFill>
                  <a:srgbClr val="70D6C4"/>
                </a:solidFill>
                <a:latin typeface="Arial"/>
                <a:ea typeface="Arial"/>
                <a:cs typeface="Arial"/>
              </a:defRPr>
            </a:lvl9pPr>
          </a:lstStyle>
          <a:p>
            <a:pPr>
              <a:defRPr sz="4950" b="1">
                <a:solidFill>
                  <a:srgbClr val="70D6C4"/>
                </a:solidFill>
                <a:latin typeface="Arial"/>
                <a:ea typeface="Arial"/>
                <a:cs typeface="Arial"/>
              </a:defRPr>
            </a:pPr>
            <a:r>
              <a:rPr sz="4950" b="1">
                <a:solidFill>
                  <a:srgbClr val="70D6C4"/>
                </a:solidFill>
                <a:latin typeface="Arial"/>
                <a:ea typeface="Arial"/>
                <a:cs typeface="Arial"/>
              </a:rPr>
              <a:t>57 tests passed</a:t>
            </a:r>
          </a:p>
        </p:txBody>
      </p:sp>
      <p:graphicFrame>
        <p:nvGraphicFramePr>
          <p:cNvPr id="5" name="Table 4">
            <a:extLst>
              <a:ext uri="{FF2B5EF4-FFF2-40B4-BE49-F238E27FC236}">
                <a16:creationId xmlns:a16="http://schemas.microsoft.com/office/drawing/2014/main" id="{AD7485EA-7840-407B-8F05-77BFC3153764}"/>
              </a:ext>
            </a:extLst>
          </p:cNvPr>
          <p:cNvGraphicFramePr/>
          <p:nvPr/>
        </p:nvGraphicFramePr>
        <p:xfrm>
          <a:off x="609600" y="2828925"/>
          <a:ext cx="10972800" cy="3048000"/>
        </p:xfrm>
        <a:graphic>
          <a:graphicData uri="http://schemas.openxmlformats.org/drawingml/2006/table">
            <a:tbl>
              <a:tblPr firstRow="1"/>
              <a:tblGrid>
                <a:gridCol w="5143500">
                  <a:extLst>
                    <a:ext uri="{9D8B030D-6E8A-4147-A177-3AD203B41FA5}">
                      <a16:colId xmlns:a16="http://schemas.microsoft.com/office/drawing/2014/main" val="20000"/>
                    </a:ext>
                  </a:extLst>
                </a:gridCol>
                <a:gridCol w="5829300">
                  <a:extLst>
                    <a:ext uri="{9D8B030D-6E8A-4147-A177-3AD203B41FA5}">
                      <a16:colId xmlns:a16="http://schemas.microsoft.com/office/drawing/2014/main" val="20001"/>
                    </a:ext>
                  </a:extLst>
                </a:gridCol>
              </a:tblGrid>
              <a:tr h="508000">
                <a:tc>
                  <a:txBody>
                    <a:bodyPr/>
                    <a:lstStyle/>
                    <a:p>
                      <a:r>
                        <a:rPr sz="1725" b="1">
                          <a:solidFill>
                            <a:srgbClr val="70D6C4"/>
                          </a:solidFill>
                          <a:latin typeface="Arial"/>
                          <a:ea typeface="Arial"/>
                          <a:cs typeface="Arial"/>
                        </a:rPr>
                        <a:t>Database behavior</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725" b="1">
                          <a:solidFill>
                            <a:srgbClr val="70D6C4"/>
                          </a:solidFill>
                          <a:latin typeface="Arial"/>
                          <a:ea typeface="Arial"/>
                          <a:cs typeface="Arial"/>
                        </a:rPr>
                        <a:t>Verified evidence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08000">
                <a:tc>
                  <a:txBody>
                    <a:bodyPr/>
                    <a:lstStyle/>
                    <a:p>
                      <a:r>
                        <a:rPr sz="1725" b="0">
                          <a:solidFill>
                            <a:srgbClr val="F1F4F6"/>
                          </a:solidFill>
                          <a:latin typeface="Arial"/>
                          <a:ea typeface="Arial"/>
                          <a:cs typeface="Arial"/>
                        </a:rPr>
                        <a:t>PK, FK, NOT NULL, CHECK, UNIQUE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Invalid inserts reject with expected SQLSTATEs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08000">
                <a:tc>
                  <a:txBody>
                    <a:bodyPr/>
                    <a:lstStyle/>
                    <a:p>
                      <a:r>
                        <a:rPr sz="1725" b="0">
                          <a:solidFill>
                            <a:srgbClr val="F1F4F6"/>
                          </a:solidFill>
                          <a:latin typeface="Arial"/>
                          <a:ea typeface="Arial"/>
                          <a:cs typeface="Arial"/>
                        </a:rPr>
                        <a:t>Transaction rollback and stock locking</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No partial order or negative balance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08000">
                <a:tc>
                  <a:txBody>
                    <a:bodyPr/>
                    <a:lstStyle/>
                    <a:p>
                      <a:r>
                        <a:rPr sz="1725" b="0">
                          <a:solidFill>
                            <a:srgbClr val="F1F4F6"/>
                          </a:solidFill>
                          <a:latin typeface="Arial"/>
                          <a:ea typeface="Arial"/>
                          <a:cs typeface="Arial"/>
                        </a:rPr>
                        <a:t>Immutable report data and replay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Original report survives source corrections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08000">
                <a:tc>
                  <a:txBody>
                    <a:bodyPr/>
                    <a:lstStyle/>
                    <a:p>
                      <a:r>
                        <a:rPr sz="1725" b="0">
                          <a:solidFill>
                            <a:srgbClr val="F1F4F6"/>
                          </a:solidFill>
                          <a:latin typeface="Arial"/>
                          <a:ea typeface="Arial"/>
                          <a:cs typeface="Arial"/>
                        </a:rPr>
                        <a:t>Import and question workflows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Invalid orders quarantine and duplicates skip</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08000">
                <a:tc>
                  <a:txBody>
                    <a:bodyPr/>
                    <a:lstStyle/>
                    <a:p>
                      <a:r>
                        <a:rPr sz="1725" b="0">
                          <a:solidFill>
                            <a:srgbClr val="F1F4F6"/>
                          </a:solidFill>
                          <a:latin typeface="Arial"/>
                          <a:ea typeface="Arial"/>
                          <a:cs typeface="Arial"/>
                        </a:rPr>
                        <a:t>Monthly comparison rules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1,000 to 600 gives a 40% decline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517204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7D688E8-4C8C-4701-9CC0-CC5D1C4B499D}"/>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Measured batch: 10,000 customer statements</a:t>
            </a:r>
          </a:p>
        </p:txBody>
      </p:sp>
      <p:sp>
        <p:nvSpPr>
          <p:cNvPr id="2" name="Rectangle 1">
            <a:extLst>
              <a:ext uri="{FF2B5EF4-FFF2-40B4-BE49-F238E27FC236}">
                <a16:creationId xmlns:a16="http://schemas.microsoft.com/office/drawing/2014/main" id="{5933093B-5490-4E83-8DE0-539436D20159}"/>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55</a:t>
            </a:r>
          </a:p>
        </p:txBody>
      </p:sp>
      <p:sp>
        <p:nvSpPr>
          <p:cNvPr id="3" name="Rectangle 2">
            <a:extLst>
              <a:ext uri="{FF2B5EF4-FFF2-40B4-BE49-F238E27FC236}">
                <a16:creationId xmlns:a16="http://schemas.microsoft.com/office/drawing/2014/main" id="{A0FC3447-77F6-4ED4-8617-C2C2CE58B8F8}"/>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E2CFDF63-8ECC-4887-B587-BB446712FEE5}"/>
              </a:ext>
            </a:extLst>
          </p:cNvPr>
          <p:cNvSpPr>
            <a:spLocks noGrp="1"/>
          </p:cNvSpPr>
          <p:nvPr/>
        </p:nvSpPr>
        <p:spPr>
          <a:xfrm>
            <a:off x="609600" y="1571625"/>
            <a:ext cx="5715000" cy="1095375"/>
          </a:xfrm>
          <a:prstGeom prst="rect">
            <a:avLst/>
          </a:prstGeom>
          <a:noFill/>
          <a:ln w="0">
            <a:noFill/>
          </a:ln>
        </p:spPr>
        <p:txBody>
          <a:bodyPr wrap="square" lIns="0" tIns="0" rIns="0" bIns="0" anchor="t">
            <a:noAutofit/>
          </a:bodyPr>
          <a:lstStyle>
            <a:defPPr>
              <a:defRPr sz="6450" b="1">
                <a:solidFill>
                  <a:srgbClr val="70D6C4"/>
                </a:solidFill>
                <a:latin typeface="Arial"/>
                <a:ea typeface="Arial"/>
                <a:cs typeface="Arial"/>
              </a:defRPr>
            </a:defPPr>
            <a:lvl1pPr>
              <a:defRPr sz="6450" b="1">
                <a:solidFill>
                  <a:srgbClr val="70D6C4"/>
                </a:solidFill>
                <a:latin typeface="Arial"/>
                <a:ea typeface="Arial"/>
                <a:cs typeface="Arial"/>
              </a:defRPr>
            </a:lvl1pPr>
            <a:lvl2pPr>
              <a:defRPr sz="6450" b="1">
                <a:solidFill>
                  <a:srgbClr val="70D6C4"/>
                </a:solidFill>
                <a:latin typeface="Arial"/>
                <a:ea typeface="Arial"/>
                <a:cs typeface="Arial"/>
              </a:defRPr>
            </a:lvl2pPr>
            <a:lvl3pPr>
              <a:defRPr sz="6450" b="1">
                <a:solidFill>
                  <a:srgbClr val="70D6C4"/>
                </a:solidFill>
                <a:latin typeface="Arial"/>
                <a:ea typeface="Arial"/>
                <a:cs typeface="Arial"/>
              </a:defRPr>
            </a:lvl3pPr>
            <a:lvl4pPr>
              <a:defRPr sz="6450" b="1">
                <a:solidFill>
                  <a:srgbClr val="70D6C4"/>
                </a:solidFill>
                <a:latin typeface="Arial"/>
                <a:ea typeface="Arial"/>
                <a:cs typeface="Arial"/>
              </a:defRPr>
            </a:lvl4pPr>
            <a:lvl5pPr>
              <a:defRPr sz="6450" b="1">
                <a:solidFill>
                  <a:srgbClr val="70D6C4"/>
                </a:solidFill>
                <a:latin typeface="Arial"/>
                <a:ea typeface="Arial"/>
                <a:cs typeface="Arial"/>
              </a:defRPr>
            </a:lvl5pPr>
            <a:lvl6pPr>
              <a:defRPr sz="6450" b="1">
                <a:solidFill>
                  <a:srgbClr val="70D6C4"/>
                </a:solidFill>
                <a:latin typeface="Arial"/>
                <a:ea typeface="Arial"/>
                <a:cs typeface="Arial"/>
              </a:defRPr>
            </a:lvl6pPr>
            <a:lvl7pPr>
              <a:defRPr sz="6450" b="1">
                <a:solidFill>
                  <a:srgbClr val="70D6C4"/>
                </a:solidFill>
                <a:latin typeface="Arial"/>
                <a:ea typeface="Arial"/>
                <a:cs typeface="Arial"/>
              </a:defRPr>
            </a:lvl7pPr>
            <a:lvl8pPr>
              <a:defRPr sz="6450" b="1">
                <a:solidFill>
                  <a:srgbClr val="70D6C4"/>
                </a:solidFill>
                <a:latin typeface="Arial"/>
                <a:ea typeface="Arial"/>
                <a:cs typeface="Arial"/>
              </a:defRPr>
            </a:lvl8pPr>
            <a:lvl9pPr>
              <a:defRPr sz="6450" b="1">
                <a:solidFill>
                  <a:srgbClr val="70D6C4"/>
                </a:solidFill>
                <a:latin typeface="Arial"/>
                <a:ea typeface="Arial"/>
                <a:cs typeface="Arial"/>
              </a:defRPr>
            </a:lvl9pPr>
          </a:lstStyle>
          <a:p>
            <a:pPr>
              <a:defRPr sz="6450" b="1">
                <a:solidFill>
                  <a:srgbClr val="70D6C4"/>
                </a:solidFill>
                <a:latin typeface="Arial"/>
                <a:ea typeface="Arial"/>
                <a:cs typeface="Arial"/>
              </a:defRPr>
            </a:pPr>
            <a:r>
              <a:rPr sz="6450" b="1">
                <a:solidFill>
                  <a:srgbClr val="70D6C4"/>
                </a:solidFill>
                <a:latin typeface="Arial"/>
                <a:ea typeface="Arial"/>
                <a:cs typeface="Arial"/>
              </a:rPr>
              <a:t>10,000</a:t>
            </a:r>
          </a:p>
        </p:txBody>
      </p:sp>
      <p:sp>
        <p:nvSpPr>
          <p:cNvPr id="5" name="Rectangle 4">
            <a:extLst>
              <a:ext uri="{FF2B5EF4-FFF2-40B4-BE49-F238E27FC236}">
                <a16:creationId xmlns:a16="http://schemas.microsoft.com/office/drawing/2014/main" id="{74489A83-0580-486C-99A7-F0694FDD7D96}"/>
              </a:ext>
            </a:extLst>
          </p:cNvPr>
          <p:cNvSpPr>
            <a:spLocks noGrp="1"/>
          </p:cNvSpPr>
          <p:nvPr/>
        </p:nvSpPr>
        <p:spPr>
          <a:xfrm>
            <a:off x="6953250" y="1666875"/>
            <a:ext cx="4476750" cy="952500"/>
          </a:xfrm>
          <a:prstGeom prst="rect">
            <a:avLst/>
          </a:prstGeom>
          <a:noFill/>
          <a:ln w="0">
            <a:noFill/>
          </a:ln>
        </p:spPr>
        <p:txBody>
          <a:bodyPr wrap="square" lIns="0" tIns="0" rIns="0" bIns="0" anchor="t">
            <a:noAutofit/>
          </a:bodyPr>
          <a:lstStyle>
            <a:defPPr>
              <a:defRPr sz="2700" b="0">
                <a:solidFill>
                  <a:srgbClr val="F1F4F6"/>
                </a:solidFill>
                <a:latin typeface="Arial"/>
                <a:ea typeface="Arial"/>
                <a:cs typeface="Arial"/>
              </a:defRPr>
            </a:defPPr>
            <a:lvl1pPr>
              <a:defRPr sz="2700" b="0">
                <a:solidFill>
                  <a:srgbClr val="F1F4F6"/>
                </a:solidFill>
                <a:latin typeface="Arial"/>
                <a:ea typeface="Arial"/>
                <a:cs typeface="Arial"/>
              </a:defRPr>
            </a:lvl1pPr>
            <a:lvl2pPr>
              <a:defRPr sz="2700" b="0">
                <a:solidFill>
                  <a:srgbClr val="F1F4F6"/>
                </a:solidFill>
                <a:latin typeface="Arial"/>
                <a:ea typeface="Arial"/>
                <a:cs typeface="Arial"/>
              </a:defRPr>
            </a:lvl2pPr>
            <a:lvl3pPr>
              <a:defRPr sz="2700" b="0">
                <a:solidFill>
                  <a:srgbClr val="F1F4F6"/>
                </a:solidFill>
                <a:latin typeface="Arial"/>
                <a:ea typeface="Arial"/>
                <a:cs typeface="Arial"/>
              </a:defRPr>
            </a:lvl3pPr>
            <a:lvl4pPr>
              <a:defRPr sz="2700" b="0">
                <a:solidFill>
                  <a:srgbClr val="F1F4F6"/>
                </a:solidFill>
                <a:latin typeface="Arial"/>
                <a:ea typeface="Arial"/>
                <a:cs typeface="Arial"/>
              </a:defRPr>
            </a:lvl4pPr>
            <a:lvl5pPr>
              <a:defRPr sz="2700" b="0">
                <a:solidFill>
                  <a:srgbClr val="F1F4F6"/>
                </a:solidFill>
                <a:latin typeface="Arial"/>
                <a:ea typeface="Arial"/>
                <a:cs typeface="Arial"/>
              </a:defRPr>
            </a:lvl5pPr>
            <a:lvl6pPr>
              <a:defRPr sz="2700" b="0">
                <a:solidFill>
                  <a:srgbClr val="F1F4F6"/>
                </a:solidFill>
                <a:latin typeface="Arial"/>
                <a:ea typeface="Arial"/>
                <a:cs typeface="Arial"/>
              </a:defRPr>
            </a:lvl6pPr>
            <a:lvl7pPr>
              <a:defRPr sz="2700" b="0">
                <a:solidFill>
                  <a:srgbClr val="F1F4F6"/>
                </a:solidFill>
                <a:latin typeface="Arial"/>
                <a:ea typeface="Arial"/>
                <a:cs typeface="Arial"/>
              </a:defRPr>
            </a:lvl7pPr>
            <a:lvl8pPr>
              <a:defRPr sz="2700" b="0">
                <a:solidFill>
                  <a:srgbClr val="F1F4F6"/>
                </a:solidFill>
                <a:latin typeface="Arial"/>
                <a:ea typeface="Arial"/>
                <a:cs typeface="Arial"/>
              </a:defRPr>
            </a:lvl8pPr>
            <a:lvl9pPr>
              <a:defRPr sz="2700" b="0">
                <a:solidFill>
                  <a:srgbClr val="F1F4F6"/>
                </a:solidFill>
                <a:latin typeface="Arial"/>
                <a:ea typeface="Arial"/>
                <a:cs typeface="Arial"/>
              </a:defRPr>
            </a:lvl9pPr>
          </a:lstStyle>
          <a:p>
            <a:pPr>
              <a:defRPr sz="2700" b="0">
                <a:solidFill>
                  <a:srgbClr val="F1F4F6"/>
                </a:solidFill>
                <a:latin typeface="Arial"/>
                <a:ea typeface="Arial"/>
                <a:cs typeface="Arial"/>
              </a:defRPr>
            </a:pPr>
            <a:r>
              <a:rPr sz="2700" b="0">
                <a:solidFill>
                  <a:srgbClr val="F1F4F6"/>
                </a:solidFill>
                <a:latin typeface="Arial"/>
                <a:ea typeface="Arial"/>
                <a:cs typeface="Arial"/>
              </a:rPr>
              <a:t>reports completed</a:t>
            </a:r>
          </a:p>
          <a:p>
            <a:pPr>
              <a:defRPr sz="2700" b="0">
                <a:solidFill>
                  <a:srgbClr val="F1F4F6"/>
                </a:solidFill>
                <a:latin typeface="Arial"/>
                <a:ea typeface="Arial"/>
                <a:cs typeface="Arial"/>
              </a:defRPr>
            </a:pPr>
            <a:r>
              <a:rPr sz="2700" b="0">
                <a:solidFill>
                  <a:srgbClr val="F1F4F6"/>
                </a:solidFill>
                <a:latin typeface="Arial"/>
                <a:ea typeface="Arial"/>
                <a:cs typeface="Arial"/>
              </a:rPr>
              <a:t>0 failed</a:t>
            </a:r>
          </a:p>
        </p:txBody>
      </p:sp>
      <p:graphicFrame>
        <p:nvGraphicFramePr>
          <p:cNvPr id="6" name="Table 5">
            <a:extLst>
              <a:ext uri="{FF2B5EF4-FFF2-40B4-BE49-F238E27FC236}">
                <a16:creationId xmlns:a16="http://schemas.microsoft.com/office/drawing/2014/main" id="{CD2EB6A9-D9B5-4226-A8BE-384B3FF55C71}"/>
              </a:ext>
            </a:extLst>
          </p:cNvPr>
          <p:cNvGraphicFramePr/>
          <p:nvPr/>
        </p:nvGraphicFramePr>
        <p:xfrm>
          <a:off x="609600" y="3048000"/>
          <a:ext cx="10972800" cy="2667000"/>
        </p:xfrm>
        <a:graphic>
          <a:graphicData uri="http://schemas.openxmlformats.org/drawingml/2006/table">
            <a:tbl>
              <a:tblPr firstRow="1"/>
              <a:tblGrid>
                <a:gridCol w="45720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444500">
                <a:tc>
                  <a:txBody>
                    <a:bodyPr/>
                    <a:lstStyle/>
                    <a:p>
                      <a:r>
                        <a:rPr sz="1875" b="1">
                          <a:solidFill>
                            <a:srgbClr val="70D6C4"/>
                          </a:solidFill>
                          <a:latin typeface="Arial"/>
                          <a:ea typeface="Arial"/>
                          <a:cs typeface="Arial"/>
                        </a:rPr>
                        <a:t>Measurement</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Recorded result</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444500">
                <a:tc>
                  <a:txBody>
                    <a:bodyPr/>
                    <a:lstStyle/>
                    <a:p>
                      <a:r>
                        <a:rPr sz="1875" b="0">
                          <a:solidFill>
                            <a:srgbClr val="F1F4F6"/>
                          </a:solidFill>
                          <a:latin typeface="Arial"/>
                          <a:ea typeface="Arial"/>
                          <a:cs typeface="Arial"/>
                        </a:rPr>
                        <a:t>Source fixture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100,000 orders and 300,000 order lines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444500">
                <a:tc>
                  <a:txBody>
                    <a:bodyPr/>
                    <a:lstStyle/>
                    <a:p>
                      <a:r>
                        <a:rPr sz="1875" b="0">
                          <a:solidFill>
                            <a:srgbClr val="F1F4F6"/>
                          </a:solidFill>
                          <a:latin typeface="Arial"/>
                          <a:ea typeface="Arial"/>
                          <a:cs typeface="Arial"/>
                        </a:rPr>
                        <a:t>Submission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0.088 seconds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444500">
                <a:tc>
                  <a:txBody>
                    <a:bodyPr/>
                    <a:lstStyle/>
                    <a:p>
                      <a:r>
                        <a:rPr sz="1875" b="0">
                          <a:solidFill>
                            <a:srgbClr val="F1F4F6"/>
                          </a:solidFill>
                          <a:latin typeface="Arial"/>
                          <a:ea typeface="Arial"/>
                          <a:cs typeface="Arial"/>
                        </a:rPr>
                        <a:t>Dataset preparation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6.030 seconds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444500">
                <a:tc>
                  <a:txBody>
                    <a:bodyPr/>
                    <a:lstStyle/>
                    <a:p>
                      <a:r>
                        <a:rPr sz="1875" b="0">
                          <a:solidFill>
                            <a:srgbClr val="F1F4F6"/>
                          </a:solidFill>
                          <a:latin typeface="Arial"/>
                          <a:ea typeface="Arial"/>
                          <a:cs typeface="Arial"/>
                        </a:rPr>
                        <a:t>Observed batch completion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101.249 seconds with 4 workers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444500">
                <a:tc>
                  <a:txBody>
                    <a:bodyPr/>
                    <a:lstStyle/>
                    <a:p>
                      <a:r>
                        <a:rPr sz="1875" b="0">
                          <a:solidFill>
                            <a:srgbClr val="F1F4F6"/>
                          </a:solidFill>
                          <a:latin typeface="Arial"/>
                          <a:ea typeface="Arial"/>
                          <a:cs typeface="Arial"/>
                        </a:rPr>
                        <a:t>Output verification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20,000 files: one CSV and one HTML per report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
        <p:nvSpPr>
          <p:cNvPr id="7" name="Rectangle 6">
            <a:extLst>
              <a:ext uri="{FF2B5EF4-FFF2-40B4-BE49-F238E27FC236}">
                <a16:creationId xmlns:a16="http://schemas.microsoft.com/office/drawing/2014/main" id="{F3E4C916-AD8F-49F7-A9DE-CADB06928FF8}"/>
              </a:ext>
            </a:extLst>
          </p:cNvPr>
          <p:cNvSpPr>
            <a:spLocks noGrp="1"/>
          </p:cNvSpPr>
          <p:nvPr/>
        </p:nvSpPr>
        <p:spPr>
          <a:xfrm>
            <a:off x="609600" y="595312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Single local run, 17 October 2026. Includes application and rendering work.</a:t>
            </a:r>
          </a:p>
        </p:txBody>
      </p:sp>
    </p:spTree>
    <p:extLst>
      <p:ext uri="{BB962C8B-B14F-4D97-AF65-F5344CB8AC3E}">
        <p14:creationId xmlns:p14="http://schemas.microsoft.com/office/powerpoint/2010/main" val="12321992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54A7BAE-597F-4D11-B50D-A2A0D35C4392}"/>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Database feature evidence for the review</a:t>
            </a:r>
          </a:p>
        </p:txBody>
      </p:sp>
      <p:sp>
        <p:nvSpPr>
          <p:cNvPr id="2" name="Rectangle 1">
            <a:extLst>
              <a:ext uri="{FF2B5EF4-FFF2-40B4-BE49-F238E27FC236}">
                <a16:creationId xmlns:a16="http://schemas.microsoft.com/office/drawing/2014/main" id="{BD0A268C-E060-4609-AF9A-44DF00ED832A}"/>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56</a:t>
            </a:r>
          </a:p>
        </p:txBody>
      </p:sp>
      <p:sp>
        <p:nvSpPr>
          <p:cNvPr id="3" name="Rectangle 2">
            <a:extLst>
              <a:ext uri="{FF2B5EF4-FFF2-40B4-BE49-F238E27FC236}">
                <a16:creationId xmlns:a16="http://schemas.microsoft.com/office/drawing/2014/main" id="{8A134E15-0403-47A6-88CA-39012227951D}"/>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17B71BA1-2E88-4F15-B84F-B2376FDC598D}"/>
              </a:ext>
            </a:extLst>
          </p:cNvPr>
          <p:cNvGraphicFramePr/>
          <p:nvPr/>
        </p:nvGraphicFramePr>
        <p:xfrm>
          <a:off x="609600" y="1619250"/>
          <a:ext cx="10972800" cy="4164876"/>
        </p:xfrm>
        <a:graphic>
          <a:graphicData uri="http://schemas.openxmlformats.org/drawingml/2006/table">
            <a:tbl>
              <a:tblPr firstRow="1"/>
              <a:tblGrid>
                <a:gridCol w="4667250">
                  <a:extLst>
                    <a:ext uri="{9D8B030D-6E8A-4147-A177-3AD203B41FA5}">
                      <a16:colId xmlns:a16="http://schemas.microsoft.com/office/drawing/2014/main" val="20000"/>
                    </a:ext>
                  </a:extLst>
                </a:gridCol>
                <a:gridCol w="6305550">
                  <a:extLst>
                    <a:ext uri="{9D8B030D-6E8A-4147-A177-3AD203B41FA5}">
                      <a16:colId xmlns:a16="http://schemas.microsoft.com/office/drawing/2014/main" val="20001"/>
                    </a:ext>
                  </a:extLst>
                </a:gridCol>
              </a:tblGrid>
              <a:tr h="578304">
                <a:tc>
                  <a:txBody>
                    <a:bodyPr/>
                    <a:lstStyle/>
                    <a:p>
                      <a:r>
                        <a:rPr sz="1725" b="1">
                          <a:solidFill>
                            <a:srgbClr val="70D6C4"/>
                          </a:solidFill>
                          <a:latin typeface="Arial"/>
                          <a:ea typeface="Arial"/>
                          <a:cs typeface="Arial"/>
                        </a:rPr>
                        <a:t>Review requirement</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725" b="1">
                          <a:solidFill>
                            <a:srgbClr val="70D6C4"/>
                          </a:solidFill>
                          <a:latin typeface="Arial"/>
                          <a:ea typeface="Arial"/>
                          <a:cs typeface="Arial"/>
                        </a:rPr>
                        <a:t>Where the presentation demonstrates it</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78304">
                <a:tc>
                  <a:txBody>
                    <a:bodyPr/>
                    <a:lstStyle/>
                    <a:p>
                      <a:r>
                        <a:rPr sz="1725" b="0">
                          <a:solidFill>
                            <a:srgbClr val="F1F4F6"/>
                          </a:solidFill>
                          <a:latin typeface="Arial"/>
                          <a:ea typeface="Arial"/>
                          <a:cs typeface="Arial"/>
                        </a:rPr>
                        <a:t>Tables, relationships and normalization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Sales / stock ER model, 1NF–3NF worked example, schema appendix</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78304">
                <a:tc>
                  <a:txBody>
                    <a:bodyPr/>
                    <a:lstStyle/>
                    <a:p>
                      <a:r>
                        <a:rPr sz="1725" b="0">
                          <a:solidFill>
                            <a:srgbClr val="F1F4F6"/>
                          </a:solidFill>
                          <a:latin typeface="Arial"/>
                          <a:ea typeface="Arial"/>
                          <a:cs typeface="Arial"/>
                        </a:rPr>
                        <a:t>Constraints and insertion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order_item DDL, staged CSV import, constraint rejection tests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78304">
                <a:tc>
                  <a:txBody>
                    <a:bodyPr/>
                    <a:lstStyle/>
                    <a:p>
                      <a:r>
                        <a:rPr sz="1725" b="0">
                          <a:solidFill>
                            <a:srgbClr val="F1F4F6"/>
                          </a:solidFill>
                          <a:latin typeface="Arial"/>
                          <a:ea typeface="Arial"/>
                          <a:cs typeface="Arial"/>
                        </a:rPr>
                        <a:t>Queries, filtering, aggregation and joins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Four-table JOIN, HAVING, SUM OVER and analysis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78304">
                <a:tc>
                  <a:txBody>
                    <a:bodyPr/>
                    <a:lstStyle/>
                    <a:p>
                      <a:r>
                        <a:rPr sz="1725" b="0">
                          <a:solidFill>
                            <a:srgbClr val="F1F4F6"/>
                          </a:solidFill>
                          <a:latin typeface="Arial"/>
                          <a:ea typeface="Arial"/>
                          <a:cs typeface="Arial"/>
                        </a:rPr>
                        <a:t>Advanced features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Views, submit_run, post_stock, triggers, index and transactions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78304">
                <a:tc>
                  <a:txBody>
                    <a:bodyPr/>
                    <a:lstStyle/>
                    <a:p>
                      <a:r>
                        <a:rPr sz="1725" b="0">
                          <a:solidFill>
                            <a:srgbClr val="F1F4F6"/>
                          </a:solidFill>
                          <a:latin typeface="Arial"/>
                          <a:ea typeface="Arial"/>
                          <a:cs typeface="Arial"/>
                        </a:rPr>
                        <a:t>Execution, testing and results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Live application screens, stock rollback, 57 tests, 10k batch</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r h="578304">
                <a:tc>
                  <a:txBody>
                    <a:bodyPr/>
                    <a:lstStyle/>
                    <a:p>
                      <a:r>
                        <a:rPr sz="1725" b="0">
                          <a:solidFill>
                            <a:srgbClr val="F1F4F6"/>
                          </a:solidFill>
                          <a:latin typeface="Arial"/>
                          <a:ea typeface="Arial"/>
                          <a:cs typeface="Arial"/>
                        </a:rPr>
                        <a:t>Novelty / additional feature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Correct-and-retry import, inspectable questions and SQL analysis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277273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6037BB8-0F14-4E26-9CFC-860E81730E72}"/>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Conclusion and further work</a:t>
            </a:r>
          </a:p>
        </p:txBody>
      </p:sp>
      <p:sp>
        <p:nvSpPr>
          <p:cNvPr id="2" name="Rectangle 1">
            <a:extLst>
              <a:ext uri="{FF2B5EF4-FFF2-40B4-BE49-F238E27FC236}">
                <a16:creationId xmlns:a16="http://schemas.microsoft.com/office/drawing/2014/main" id="{7E409CD1-ABF0-4FC2-8D7E-5D8289E408D0}"/>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57</a:t>
            </a:r>
          </a:p>
        </p:txBody>
      </p:sp>
      <p:sp>
        <p:nvSpPr>
          <p:cNvPr id="3" name="Rectangle 2">
            <a:extLst>
              <a:ext uri="{FF2B5EF4-FFF2-40B4-BE49-F238E27FC236}">
                <a16:creationId xmlns:a16="http://schemas.microsoft.com/office/drawing/2014/main" id="{BEBFF2F8-B953-4D0F-AD67-46C5C66E276B}"/>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BB0E0A61-DE41-4360-A1F1-0ACD66AAD6F8}"/>
              </a:ext>
            </a:extLst>
          </p:cNvPr>
          <p:cNvSpPr>
            <a:spLocks noGrp="1"/>
          </p:cNvSpPr>
          <p:nvPr/>
        </p:nvSpPr>
        <p:spPr>
          <a:xfrm>
            <a:off x="609600" y="1571625"/>
            <a:ext cx="10668000" cy="1095375"/>
          </a:xfrm>
          <a:prstGeom prst="rect">
            <a:avLst/>
          </a:prstGeom>
          <a:noFill/>
          <a:ln w="0">
            <a:noFill/>
          </a:ln>
        </p:spPr>
        <p:txBody>
          <a:bodyPr wrap="square" lIns="0" tIns="0" rIns="0" bIns="0" anchor="t">
            <a:noAutofit/>
          </a:bodyPr>
          <a:lstStyle>
            <a:defPPr>
              <a:defRPr sz="3150" b="1">
                <a:solidFill>
                  <a:srgbClr val="70D6C4"/>
                </a:solidFill>
                <a:latin typeface="Arial"/>
                <a:ea typeface="Arial"/>
                <a:cs typeface="Arial"/>
              </a:defRPr>
            </a:defPPr>
            <a:lvl1pPr>
              <a:defRPr sz="3150" b="1">
                <a:solidFill>
                  <a:srgbClr val="70D6C4"/>
                </a:solidFill>
                <a:latin typeface="Arial"/>
                <a:ea typeface="Arial"/>
                <a:cs typeface="Arial"/>
              </a:defRPr>
            </a:lvl1pPr>
            <a:lvl2pPr>
              <a:defRPr sz="3150" b="1">
                <a:solidFill>
                  <a:srgbClr val="70D6C4"/>
                </a:solidFill>
                <a:latin typeface="Arial"/>
                <a:ea typeface="Arial"/>
                <a:cs typeface="Arial"/>
              </a:defRPr>
            </a:lvl2pPr>
            <a:lvl3pPr>
              <a:defRPr sz="3150" b="1">
                <a:solidFill>
                  <a:srgbClr val="70D6C4"/>
                </a:solidFill>
                <a:latin typeface="Arial"/>
                <a:ea typeface="Arial"/>
                <a:cs typeface="Arial"/>
              </a:defRPr>
            </a:lvl3pPr>
            <a:lvl4pPr>
              <a:defRPr sz="3150" b="1">
                <a:solidFill>
                  <a:srgbClr val="70D6C4"/>
                </a:solidFill>
                <a:latin typeface="Arial"/>
                <a:ea typeface="Arial"/>
                <a:cs typeface="Arial"/>
              </a:defRPr>
            </a:lvl4pPr>
            <a:lvl5pPr>
              <a:defRPr sz="3150" b="1">
                <a:solidFill>
                  <a:srgbClr val="70D6C4"/>
                </a:solidFill>
                <a:latin typeface="Arial"/>
                <a:ea typeface="Arial"/>
                <a:cs typeface="Arial"/>
              </a:defRPr>
            </a:lvl5pPr>
            <a:lvl6pPr>
              <a:defRPr sz="3150" b="1">
                <a:solidFill>
                  <a:srgbClr val="70D6C4"/>
                </a:solidFill>
                <a:latin typeface="Arial"/>
                <a:ea typeface="Arial"/>
                <a:cs typeface="Arial"/>
              </a:defRPr>
            </a:lvl6pPr>
            <a:lvl7pPr>
              <a:defRPr sz="3150" b="1">
                <a:solidFill>
                  <a:srgbClr val="70D6C4"/>
                </a:solidFill>
                <a:latin typeface="Arial"/>
                <a:ea typeface="Arial"/>
                <a:cs typeface="Arial"/>
              </a:defRPr>
            </a:lvl7pPr>
            <a:lvl8pPr>
              <a:defRPr sz="3150" b="1">
                <a:solidFill>
                  <a:srgbClr val="70D6C4"/>
                </a:solidFill>
                <a:latin typeface="Arial"/>
                <a:ea typeface="Arial"/>
                <a:cs typeface="Arial"/>
              </a:defRPr>
            </a:lvl8pPr>
            <a:lvl9pPr>
              <a:defRPr sz="3150" b="1">
                <a:solidFill>
                  <a:srgbClr val="70D6C4"/>
                </a:solidFill>
                <a:latin typeface="Arial"/>
                <a:ea typeface="Arial"/>
                <a:cs typeface="Arial"/>
              </a:defRPr>
            </a:lvl9pPr>
          </a:lstStyle>
          <a:p>
            <a:pPr>
              <a:defRPr sz="3150" b="1">
                <a:solidFill>
                  <a:srgbClr val="70D6C4"/>
                </a:solidFill>
                <a:latin typeface="Arial"/>
                <a:ea typeface="Arial"/>
                <a:cs typeface="Arial"/>
              </a:defRPr>
            </a:pPr>
            <a:r>
              <a:rPr sz="3150" b="1">
                <a:solidFill>
                  <a:srgbClr val="70D6C4"/>
                </a:solidFill>
                <a:latin typeface="Arial"/>
                <a:ea typeface="Arial"/>
                <a:cs typeface="Arial"/>
              </a:rPr>
              <a:t>Conduit connects retail operations</a:t>
            </a:r>
          </a:p>
          <a:p>
            <a:pPr>
              <a:defRPr sz="3150" b="1">
                <a:solidFill>
                  <a:srgbClr val="70D6C4"/>
                </a:solidFill>
                <a:latin typeface="Arial"/>
                <a:ea typeface="Arial"/>
                <a:cs typeface="Arial"/>
              </a:defRPr>
            </a:pPr>
            <a:r>
              <a:rPr sz="3150" b="1">
                <a:solidFill>
                  <a:srgbClr val="70D6C4"/>
                </a:solidFill>
                <a:latin typeface="Arial"/>
                <a:ea typeface="Arial"/>
                <a:cs typeface="Arial"/>
              </a:rPr>
              <a:t>to reports that can be inspected.</a:t>
            </a:r>
          </a:p>
        </p:txBody>
      </p:sp>
      <p:sp>
        <p:nvSpPr>
          <p:cNvPr id="5" name="Rectangle 4">
            <a:extLst>
              <a:ext uri="{FF2B5EF4-FFF2-40B4-BE49-F238E27FC236}">
                <a16:creationId xmlns:a16="http://schemas.microsoft.com/office/drawing/2014/main" id="{83096E03-4034-463D-8729-744FDA31656E}"/>
              </a:ext>
            </a:extLst>
          </p:cNvPr>
          <p:cNvSpPr>
            <a:spLocks noGrp="1"/>
          </p:cNvSpPr>
          <p:nvPr/>
        </p:nvSpPr>
        <p:spPr>
          <a:xfrm>
            <a:off x="609600" y="3190875"/>
            <a:ext cx="10668000" cy="2905125"/>
          </a:xfrm>
          <a:prstGeom prst="rect">
            <a:avLst/>
          </a:prstGeom>
          <a:noFill/>
          <a:ln w="0">
            <a:noFill/>
          </a:ln>
        </p:spPr>
        <p:txBody>
          <a:bodyPr wrap="square" lIns="0" tIns="0" rIns="0" bIns="0" anchor="t">
            <a:noAutofit/>
          </a:bodyPr>
          <a:lstStyle>
            <a:defPPr>
              <a:defRPr sz="2100" b="0">
                <a:solidFill>
                  <a:srgbClr val="F1F4F6"/>
                </a:solidFill>
                <a:latin typeface="Arial"/>
                <a:ea typeface="Arial"/>
                <a:cs typeface="Arial"/>
              </a:defRPr>
            </a:defPPr>
            <a:lvl1pPr>
              <a:defRPr sz="2100" b="0">
                <a:solidFill>
                  <a:srgbClr val="F1F4F6"/>
                </a:solidFill>
                <a:latin typeface="Arial"/>
                <a:ea typeface="Arial"/>
                <a:cs typeface="Arial"/>
              </a:defRPr>
            </a:lvl1pPr>
            <a:lvl2pPr>
              <a:defRPr sz="2100" b="0">
                <a:solidFill>
                  <a:srgbClr val="F1F4F6"/>
                </a:solidFill>
                <a:latin typeface="Arial"/>
                <a:ea typeface="Arial"/>
                <a:cs typeface="Arial"/>
              </a:defRPr>
            </a:lvl2pPr>
            <a:lvl3pPr>
              <a:defRPr sz="2100" b="0">
                <a:solidFill>
                  <a:srgbClr val="F1F4F6"/>
                </a:solidFill>
                <a:latin typeface="Arial"/>
                <a:ea typeface="Arial"/>
                <a:cs typeface="Arial"/>
              </a:defRPr>
            </a:lvl3pPr>
            <a:lvl4pPr>
              <a:defRPr sz="2100" b="0">
                <a:solidFill>
                  <a:srgbClr val="F1F4F6"/>
                </a:solidFill>
                <a:latin typeface="Arial"/>
                <a:ea typeface="Arial"/>
                <a:cs typeface="Arial"/>
              </a:defRPr>
            </a:lvl4pPr>
            <a:lvl5pPr>
              <a:defRPr sz="2100" b="0">
                <a:solidFill>
                  <a:srgbClr val="F1F4F6"/>
                </a:solidFill>
                <a:latin typeface="Arial"/>
                <a:ea typeface="Arial"/>
                <a:cs typeface="Arial"/>
              </a:defRPr>
            </a:lvl5pPr>
            <a:lvl6pPr>
              <a:defRPr sz="2100" b="0">
                <a:solidFill>
                  <a:srgbClr val="F1F4F6"/>
                </a:solidFill>
                <a:latin typeface="Arial"/>
                <a:ea typeface="Arial"/>
                <a:cs typeface="Arial"/>
              </a:defRPr>
            </a:lvl6pPr>
            <a:lvl7pPr>
              <a:defRPr sz="2100" b="0">
                <a:solidFill>
                  <a:srgbClr val="F1F4F6"/>
                </a:solidFill>
                <a:latin typeface="Arial"/>
                <a:ea typeface="Arial"/>
                <a:cs typeface="Arial"/>
              </a:defRPr>
            </a:lvl7pPr>
            <a:lvl8pPr>
              <a:defRPr sz="2100" b="0">
                <a:solidFill>
                  <a:srgbClr val="F1F4F6"/>
                </a:solidFill>
                <a:latin typeface="Arial"/>
                <a:ea typeface="Arial"/>
                <a:cs typeface="Arial"/>
              </a:defRPr>
            </a:lvl8pPr>
            <a:lvl9pPr>
              <a:defRPr sz="2100" b="0">
                <a:solidFill>
                  <a:srgbClr val="F1F4F6"/>
                </a:solidFill>
                <a:latin typeface="Arial"/>
                <a:ea typeface="Arial"/>
                <a:cs typeface="Arial"/>
              </a:defRPr>
            </a:lvl9pPr>
          </a:lstStyle>
          <a:p>
            <a:pPr>
              <a:defRPr sz="2100" b="0">
                <a:solidFill>
                  <a:srgbClr val="F1F4F6"/>
                </a:solidFill>
                <a:latin typeface="Arial"/>
                <a:ea typeface="Arial"/>
                <a:cs typeface="Arial"/>
              </a:defRPr>
            </a:pPr>
            <a:r>
              <a:rPr sz="2100" b="0" dirty="0">
                <a:solidFill>
                  <a:srgbClr val="F1F4F6"/>
                </a:solidFill>
                <a:latin typeface="Arial"/>
                <a:ea typeface="Arial"/>
                <a:cs typeface="Arial"/>
              </a:rPr>
              <a:t>Implemented: relational sales data, validated imports, stock posting,</a:t>
            </a:r>
          </a:p>
          <a:p>
            <a:pPr>
              <a:defRPr sz="2100" b="0">
                <a:solidFill>
                  <a:srgbClr val="F1F4F6"/>
                </a:solidFill>
                <a:latin typeface="Arial"/>
                <a:ea typeface="Arial"/>
                <a:cs typeface="Arial"/>
              </a:defRPr>
            </a:pPr>
            <a:r>
              <a:rPr sz="2100" b="0" dirty="0">
                <a:solidFill>
                  <a:srgbClr val="F1F4F6"/>
                </a:solidFill>
                <a:latin typeface="Arial"/>
                <a:ea typeface="Arial"/>
                <a:cs typeface="Arial"/>
              </a:rPr>
              <a:t>SQL analysis and background report generation.</a:t>
            </a:r>
          </a:p>
          <a:p>
            <a:endParaRPr sz="2100" b="0" dirty="0">
              <a:solidFill>
                <a:srgbClr val="F1F4F6"/>
              </a:solidFill>
              <a:latin typeface="Arial"/>
              <a:ea typeface="Arial"/>
              <a:cs typeface="Arial"/>
            </a:endParaRPr>
          </a:p>
          <a:p>
            <a:pPr>
              <a:defRPr sz="2100" b="0">
                <a:solidFill>
                  <a:srgbClr val="F1F4F6"/>
                </a:solidFill>
                <a:latin typeface="Arial"/>
                <a:ea typeface="Arial"/>
                <a:cs typeface="Arial"/>
              </a:defRPr>
            </a:pPr>
            <a:r>
              <a:rPr sz="2100" b="0" dirty="0">
                <a:solidFill>
                  <a:srgbClr val="F1F4F6"/>
                </a:solidFill>
                <a:latin typeface="Arial"/>
                <a:ea typeface="Arial"/>
                <a:cs typeface="Arial"/>
              </a:rPr>
              <a:t>Further work: supplier purchasing and returns, richer report formats,</a:t>
            </a:r>
          </a:p>
          <a:p>
            <a:pPr>
              <a:defRPr sz="2100" b="0">
                <a:solidFill>
                  <a:srgbClr val="F1F4F6"/>
                </a:solidFill>
                <a:latin typeface="Arial"/>
                <a:ea typeface="Arial"/>
                <a:cs typeface="Arial"/>
              </a:defRPr>
            </a:pPr>
            <a:r>
              <a:rPr sz="2100" b="0" dirty="0">
                <a:solidFill>
                  <a:srgbClr val="F1F4F6"/>
                </a:solidFill>
                <a:latin typeface="Arial"/>
                <a:ea typeface="Arial"/>
                <a:cs typeface="Arial"/>
              </a:rPr>
              <a:t>and broader approved question coverage.</a:t>
            </a:r>
          </a:p>
          <a:p>
            <a:endParaRPr sz="2100" b="0" dirty="0">
              <a:solidFill>
                <a:srgbClr val="F1F4F6"/>
              </a:solidFill>
              <a:latin typeface="Arial"/>
              <a:ea typeface="Arial"/>
              <a:cs typeface="Arial"/>
            </a:endParaRPr>
          </a:p>
        </p:txBody>
      </p:sp>
    </p:spTree>
    <p:extLst>
      <p:ext uri="{BB962C8B-B14F-4D97-AF65-F5344CB8AC3E}">
        <p14:creationId xmlns:p14="http://schemas.microsoft.com/office/powerpoint/2010/main" val="4222466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E54066-708C-4B50-9B30-C88E4F5A111F}"/>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References</a:t>
            </a:r>
          </a:p>
        </p:txBody>
      </p:sp>
      <p:sp>
        <p:nvSpPr>
          <p:cNvPr id="2" name="Rectangle 1">
            <a:extLst>
              <a:ext uri="{FF2B5EF4-FFF2-40B4-BE49-F238E27FC236}">
                <a16:creationId xmlns:a16="http://schemas.microsoft.com/office/drawing/2014/main" id="{58B0DBEC-5354-4D48-938F-CD9B33CD3FE7}"/>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58</a:t>
            </a:r>
          </a:p>
        </p:txBody>
      </p:sp>
      <p:sp>
        <p:nvSpPr>
          <p:cNvPr id="3" name="Rectangle 2">
            <a:extLst>
              <a:ext uri="{FF2B5EF4-FFF2-40B4-BE49-F238E27FC236}">
                <a16:creationId xmlns:a16="http://schemas.microsoft.com/office/drawing/2014/main" id="{7261816F-7DB9-481E-A7CF-B9FB93090AE5}"/>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275D490C-9311-4817-AD11-1BAF5FE381DC}"/>
              </a:ext>
            </a:extLst>
          </p:cNvPr>
          <p:cNvSpPr>
            <a:spLocks noGrp="1"/>
          </p:cNvSpPr>
          <p:nvPr/>
        </p:nvSpPr>
        <p:spPr>
          <a:xfrm>
            <a:off x="609600" y="1571625"/>
            <a:ext cx="10668000" cy="4286250"/>
          </a:xfrm>
          <a:prstGeom prst="rect">
            <a:avLst/>
          </a:prstGeom>
          <a:noFill/>
          <a:ln w="0">
            <a:noFill/>
          </a:ln>
        </p:spPr>
        <p:txBody>
          <a:bodyPr wrap="square" lIns="0" tIns="0" rIns="0" bIns="0" anchor="t">
            <a:noAutofit/>
          </a:bodyPr>
          <a:lstStyle>
            <a:defPPr>
              <a:defRPr sz="1950" b="0">
                <a:solidFill>
                  <a:srgbClr val="F1F4F6"/>
                </a:solidFill>
                <a:latin typeface="Arial"/>
                <a:ea typeface="Arial"/>
                <a:cs typeface="Arial"/>
              </a:defRPr>
            </a:defPPr>
            <a:lvl1pPr>
              <a:defRPr sz="1950" b="0">
                <a:solidFill>
                  <a:srgbClr val="F1F4F6"/>
                </a:solidFill>
                <a:latin typeface="Arial"/>
                <a:ea typeface="Arial"/>
                <a:cs typeface="Arial"/>
              </a:defRPr>
            </a:lvl1pPr>
            <a:lvl2pPr>
              <a:defRPr sz="1950" b="0">
                <a:solidFill>
                  <a:srgbClr val="F1F4F6"/>
                </a:solidFill>
                <a:latin typeface="Arial"/>
                <a:ea typeface="Arial"/>
                <a:cs typeface="Arial"/>
              </a:defRPr>
            </a:lvl2pPr>
            <a:lvl3pPr>
              <a:defRPr sz="1950" b="0">
                <a:solidFill>
                  <a:srgbClr val="F1F4F6"/>
                </a:solidFill>
                <a:latin typeface="Arial"/>
                <a:ea typeface="Arial"/>
                <a:cs typeface="Arial"/>
              </a:defRPr>
            </a:lvl3pPr>
            <a:lvl4pPr>
              <a:defRPr sz="1950" b="0">
                <a:solidFill>
                  <a:srgbClr val="F1F4F6"/>
                </a:solidFill>
                <a:latin typeface="Arial"/>
                <a:ea typeface="Arial"/>
                <a:cs typeface="Arial"/>
              </a:defRPr>
            </a:lvl4pPr>
            <a:lvl5pPr>
              <a:defRPr sz="1950" b="0">
                <a:solidFill>
                  <a:srgbClr val="F1F4F6"/>
                </a:solidFill>
                <a:latin typeface="Arial"/>
                <a:ea typeface="Arial"/>
                <a:cs typeface="Arial"/>
              </a:defRPr>
            </a:lvl5pPr>
            <a:lvl6pPr>
              <a:defRPr sz="1950" b="0">
                <a:solidFill>
                  <a:srgbClr val="F1F4F6"/>
                </a:solidFill>
                <a:latin typeface="Arial"/>
                <a:ea typeface="Arial"/>
                <a:cs typeface="Arial"/>
              </a:defRPr>
            </a:lvl6pPr>
            <a:lvl7pPr>
              <a:defRPr sz="1950" b="0">
                <a:solidFill>
                  <a:srgbClr val="F1F4F6"/>
                </a:solidFill>
                <a:latin typeface="Arial"/>
                <a:ea typeface="Arial"/>
                <a:cs typeface="Arial"/>
              </a:defRPr>
            </a:lvl7pPr>
            <a:lvl8pPr>
              <a:defRPr sz="1950" b="0">
                <a:solidFill>
                  <a:srgbClr val="F1F4F6"/>
                </a:solidFill>
                <a:latin typeface="Arial"/>
                <a:ea typeface="Arial"/>
                <a:cs typeface="Arial"/>
              </a:defRPr>
            </a:lvl8pPr>
            <a:lvl9pPr>
              <a:defRPr sz="1950" b="0">
                <a:solidFill>
                  <a:srgbClr val="F1F4F6"/>
                </a:solidFill>
                <a:latin typeface="Arial"/>
                <a:ea typeface="Arial"/>
                <a:cs typeface="Arial"/>
              </a:defRPr>
            </a:lvl9pPr>
          </a:lstStyle>
          <a:p>
            <a:pPr>
              <a:defRPr sz="1950" b="0">
                <a:solidFill>
                  <a:srgbClr val="F1F4F6"/>
                </a:solidFill>
                <a:latin typeface="Arial"/>
                <a:ea typeface="Arial"/>
                <a:cs typeface="Arial"/>
              </a:defRPr>
            </a:pPr>
            <a:r>
              <a:rPr sz="1950" b="0">
                <a:solidFill>
                  <a:srgbClr val="F1F4F6"/>
                </a:solidFill>
                <a:latin typeface="Arial"/>
                <a:ea typeface="Arial"/>
                <a:cs typeface="Arial"/>
              </a:rPr>
              <a:t>Course guidelines and project assessment documents</a:t>
            </a:r>
          </a:p>
          <a:p>
            <a:endParaRPr sz="1950" b="0">
              <a:solidFill>
                <a:srgbClr val="F1F4F6"/>
              </a:solidFill>
              <a:latin typeface="Arial"/>
              <a:ea typeface="Arial"/>
              <a:cs typeface="Arial"/>
            </a:endParaRPr>
          </a:p>
          <a:p>
            <a:pPr>
              <a:defRPr sz="1950" b="0">
                <a:solidFill>
                  <a:srgbClr val="F1F4F6"/>
                </a:solidFill>
                <a:latin typeface="Arial"/>
                <a:ea typeface="Arial"/>
                <a:cs typeface="Arial"/>
              </a:defRPr>
            </a:pPr>
            <a:r>
              <a:rPr sz="1950" b="0">
                <a:solidFill>
                  <a:srgbClr val="F1F4F6"/>
                </a:solidFill>
                <a:latin typeface="Arial"/>
                <a:ea typeface="Arial"/>
                <a:cs typeface="Arial"/>
              </a:rPr>
              <a:t>Project schema, executable SQL and recorded evidence</a:t>
            </a:r>
          </a:p>
          <a:p>
            <a:pPr>
              <a:defRPr sz="1950" b="0">
                <a:solidFill>
                  <a:srgbClr val="F1F4F6"/>
                </a:solidFill>
                <a:latin typeface="Arial"/>
                <a:ea typeface="Arial"/>
                <a:cs typeface="Arial"/>
              </a:defRPr>
            </a:pPr>
            <a:r>
              <a:rPr sz="1950" b="0">
                <a:solidFill>
                  <a:srgbClr val="F1F4F6"/>
                </a:solidFill>
                <a:latin typeface="Arial"/>
                <a:ea typeface="Arial"/>
                <a:cs typeface="Arial"/>
              </a:rPr>
              <a:t>github.com/Tanay-M/conduit-message-broker</a:t>
            </a:r>
          </a:p>
          <a:p>
            <a:endParaRPr sz="1950" b="0">
              <a:solidFill>
                <a:srgbClr val="F1F4F6"/>
              </a:solidFill>
              <a:latin typeface="Arial"/>
              <a:ea typeface="Arial"/>
              <a:cs typeface="Arial"/>
            </a:endParaRPr>
          </a:p>
          <a:p>
            <a:pPr>
              <a:defRPr sz="1950" b="0">
                <a:solidFill>
                  <a:srgbClr val="F1F4F6"/>
                </a:solidFill>
                <a:latin typeface="Arial"/>
                <a:ea typeface="Arial"/>
                <a:cs typeface="Arial"/>
              </a:defRPr>
            </a:pPr>
            <a:r>
              <a:rPr sz="1950" b="0">
                <a:solidFill>
                  <a:srgbClr val="F1F4F6"/>
                </a:solidFill>
                <a:latin typeface="Arial"/>
                <a:ea typeface="Arial"/>
                <a:cs typeface="Arial"/>
              </a:rPr>
              <a:t>PostgreSQL documentation</a:t>
            </a:r>
          </a:p>
          <a:p>
            <a:pPr>
              <a:defRPr sz="1950" b="0">
                <a:solidFill>
                  <a:srgbClr val="F1F4F6"/>
                </a:solidFill>
                <a:latin typeface="Arial"/>
                <a:ea typeface="Arial"/>
                <a:cs typeface="Arial"/>
              </a:defRPr>
            </a:pPr>
            <a:r>
              <a:rPr sz="1950" b="0">
                <a:solidFill>
                  <a:srgbClr val="F1F4F6"/>
                </a:solidFill>
                <a:latin typeface="Arial"/>
                <a:ea typeface="Arial"/>
                <a:cs typeface="Arial"/>
              </a:rPr>
              <a:t>postgresql.org/docs/16/ddl-constraints.html</a:t>
            </a:r>
          </a:p>
          <a:p>
            <a:pPr>
              <a:defRPr sz="1950" b="0">
                <a:solidFill>
                  <a:srgbClr val="F1F4F6"/>
                </a:solidFill>
                <a:latin typeface="Arial"/>
                <a:ea typeface="Arial"/>
                <a:cs typeface="Arial"/>
              </a:defRPr>
            </a:pPr>
            <a:r>
              <a:rPr sz="1950" b="0">
                <a:solidFill>
                  <a:srgbClr val="F1F4F6"/>
                </a:solidFill>
                <a:latin typeface="Arial"/>
                <a:ea typeface="Arial"/>
                <a:cs typeface="Arial"/>
              </a:rPr>
              <a:t>postgresql.org/docs/16/tutorial-window.html</a:t>
            </a:r>
          </a:p>
          <a:p>
            <a:pPr>
              <a:defRPr sz="1950" b="0">
                <a:solidFill>
                  <a:srgbClr val="F1F4F6"/>
                </a:solidFill>
                <a:latin typeface="Arial"/>
                <a:ea typeface="Arial"/>
                <a:cs typeface="Arial"/>
              </a:defRPr>
            </a:pPr>
            <a:r>
              <a:rPr sz="1950" b="0">
                <a:solidFill>
                  <a:srgbClr val="F1F4F6"/>
                </a:solidFill>
                <a:latin typeface="Arial"/>
                <a:ea typeface="Arial"/>
                <a:cs typeface="Arial"/>
              </a:rPr>
              <a:t>postgresql.org/docs/16/transaction-iso.html</a:t>
            </a:r>
          </a:p>
          <a:p>
            <a:endParaRPr sz="1950" b="0">
              <a:solidFill>
                <a:srgbClr val="F1F4F6"/>
              </a:solidFill>
              <a:latin typeface="Arial"/>
              <a:ea typeface="Arial"/>
              <a:cs typeface="Arial"/>
            </a:endParaRPr>
          </a:p>
          <a:p>
            <a:pPr>
              <a:defRPr sz="1950" b="0">
                <a:solidFill>
                  <a:srgbClr val="F1F4F6"/>
                </a:solidFill>
                <a:latin typeface="Arial"/>
                <a:ea typeface="Arial"/>
                <a:cs typeface="Arial"/>
              </a:defRPr>
            </a:pPr>
            <a:r>
              <a:rPr sz="1950" b="0">
                <a:solidFill>
                  <a:srgbClr val="F1F4F6"/>
                </a:solidFill>
                <a:latin typeface="Arial"/>
                <a:ea typeface="Arial"/>
                <a:cs typeface="Arial"/>
              </a:rPr>
              <a:t>Gemini API documentation</a:t>
            </a:r>
          </a:p>
          <a:p>
            <a:pPr>
              <a:defRPr sz="1950" b="0">
                <a:solidFill>
                  <a:srgbClr val="F1F4F6"/>
                </a:solidFill>
                <a:latin typeface="Arial"/>
                <a:ea typeface="Arial"/>
                <a:cs typeface="Arial"/>
              </a:defRPr>
            </a:pPr>
            <a:r>
              <a:rPr sz="1950" b="0">
                <a:solidFill>
                  <a:srgbClr val="F1F4F6"/>
                </a:solidFill>
                <a:latin typeface="Arial"/>
                <a:ea typeface="Arial"/>
                <a:cs typeface="Arial"/>
              </a:rPr>
              <a:t>ai.google.dev/gemini-api/docs</a:t>
            </a:r>
          </a:p>
        </p:txBody>
      </p:sp>
    </p:spTree>
    <p:extLst>
      <p:ext uri="{BB962C8B-B14F-4D97-AF65-F5344CB8AC3E}">
        <p14:creationId xmlns:p14="http://schemas.microsoft.com/office/powerpoint/2010/main" val="19451396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AB6B8E3-768C-494C-8F86-1409A6625911}"/>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Routine reference: calculation and replay</a:t>
            </a:r>
          </a:p>
        </p:txBody>
      </p:sp>
      <p:sp>
        <p:nvSpPr>
          <p:cNvPr id="2" name="Rectangle 1">
            <a:extLst>
              <a:ext uri="{FF2B5EF4-FFF2-40B4-BE49-F238E27FC236}">
                <a16:creationId xmlns:a16="http://schemas.microsoft.com/office/drawing/2014/main" id="{F61647E3-FB62-4FB6-B419-EA7A1045EAA8}"/>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59</a:t>
            </a:r>
          </a:p>
        </p:txBody>
      </p:sp>
      <p:sp>
        <p:nvSpPr>
          <p:cNvPr id="3" name="Rectangle 2">
            <a:extLst>
              <a:ext uri="{FF2B5EF4-FFF2-40B4-BE49-F238E27FC236}">
                <a16:creationId xmlns:a16="http://schemas.microsoft.com/office/drawing/2014/main" id="{DA67E7A0-EF6F-4F86-A80B-FF313312024C}"/>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1E1D305A-19BA-40FA-A0FA-B52B46202931}"/>
              </a:ext>
            </a:extLst>
          </p:cNvPr>
          <p:cNvSpPr>
            <a:spLocks noGrp="1"/>
          </p:cNvSpPr>
          <p:nvPr/>
        </p:nvSpPr>
        <p:spPr>
          <a:xfrm>
            <a:off x="609600" y="1466850"/>
            <a:ext cx="10953750" cy="1047750"/>
          </a:xfrm>
          <a:prstGeom prst="rect">
            <a:avLst/>
          </a:prstGeom>
          <a:noFill/>
          <a:ln w="0">
            <a:noFill/>
          </a:ln>
        </p:spPr>
        <p:txBody>
          <a:bodyPr wrap="square" lIns="0" tIns="0" rIns="0" bIns="0" anchor="t">
            <a:noAutofit/>
          </a:bodyPr>
          <a:lstStyle>
            <a:defPPr>
              <a:defRPr sz="1800" b="0">
                <a:solidFill>
                  <a:srgbClr val="70D6C4"/>
                </a:solidFill>
                <a:latin typeface="Consolas"/>
                <a:ea typeface="Consolas"/>
                <a:cs typeface="Consolas"/>
              </a:defRPr>
            </a:defPPr>
            <a:lvl1pPr>
              <a:defRPr sz="1800" b="0">
                <a:solidFill>
                  <a:srgbClr val="70D6C4"/>
                </a:solidFill>
                <a:latin typeface="Consolas"/>
                <a:ea typeface="Consolas"/>
                <a:cs typeface="Consolas"/>
              </a:defRPr>
            </a:lvl1pPr>
            <a:lvl2pPr>
              <a:defRPr sz="1800" b="0">
                <a:solidFill>
                  <a:srgbClr val="70D6C4"/>
                </a:solidFill>
                <a:latin typeface="Consolas"/>
                <a:ea typeface="Consolas"/>
                <a:cs typeface="Consolas"/>
              </a:defRPr>
            </a:lvl2pPr>
            <a:lvl3pPr>
              <a:defRPr sz="1800" b="0">
                <a:solidFill>
                  <a:srgbClr val="70D6C4"/>
                </a:solidFill>
                <a:latin typeface="Consolas"/>
                <a:ea typeface="Consolas"/>
                <a:cs typeface="Consolas"/>
              </a:defRPr>
            </a:lvl3pPr>
            <a:lvl4pPr>
              <a:defRPr sz="1800" b="0">
                <a:solidFill>
                  <a:srgbClr val="70D6C4"/>
                </a:solidFill>
                <a:latin typeface="Consolas"/>
                <a:ea typeface="Consolas"/>
                <a:cs typeface="Consolas"/>
              </a:defRPr>
            </a:lvl4pPr>
            <a:lvl5pPr>
              <a:defRPr sz="1800" b="0">
                <a:solidFill>
                  <a:srgbClr val="70D6C4"/>
                </a:solidFill>
                <a:latin typeface="Consolas"/>
                <a:ea typeface="Consolas"/>
                <a:cs typeface="Consolas"/>
              </a:defRPr>
            </a:lvl5pPr>
            <a:lvl6pPr>
              <a:defRPr sz="1800" b="0">
                <a:solidFill>
                  <a:srgbClr val="70D6C4"/>
                </a:solidFill>
                <a:latin typeface="Consolas"/>
                <a:ea typeface="Consolas"/>
                <a:cs typeface="Consolas"/>
              </a:defRPr>
            </a:lvl6pPr>
            <a:lvl7pPr>
              <a:defRPr sz="1800" b="0">
                <a:solidFill>
                  <a:srgbClr val="70D6C4"/>
                </a:solidFill>
                <a:latin typeface="Consolas"/>
                <a:ea typeface="Consolas"/>
                <a:cs typeface="Consolas"/>
              </a:defRPr>
            </a:lvl7pPr>
            <a:lvl8pPr>
              <a:defRPr sz="1800" b="0">
                <a:solidFill>
                  <a:srgbClr val="70D6C4"/>
                </a:solidFill>
                <a:latin typeface="Consolas"/>
                <a:ea typeface="Consolas"/>
                <a:cs typeface="Consolas"/>
              </a:defRPr>
            </a:lvl8pPr>
            <a:lvl9pPr>
              <a:defRPr sz="1800" b="0">
                <a:solidFill>
                  <a:srgbClr val="70D6C4"/>
                </a:solidFill>
                <a:latin typeface="Consolas"/>
                <a:ea typeface="Consolas"/>
                <a:cs typeface="Consolas"/>
              </a:defRPr>
            </a:lvl9pPr>
          </a:lstStyle>
          <a:p>
            <a:pPr>
              <a:defRPr sz="1800" b="0">
                <a:solidFill>
                  <a:srgbClr val="70D6C4"/>
                </a:solidFill>
                <a:latin typeface="Consolas"/>
                <a:ea typeface="Consolas"/>
                <a:cs typeface="Consolas"/>
              </a:defRPr>
            </a:pPr>
            <a:r>
              <a:rPr sz="1800" b="0">
                <a:solidFill>
                  <a:srgbClr val="70D6C4"/>
                </a:solidFill>
                <a:latin typeface="Consolas"/>
                <a:ea typeface="Consolas"/>
                <a:cs typeface="Consolas"/>
              </a:rPr>
              <a:t>SELECT jsonb_array_length(reporting.calculate(</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1, 1, DATE '2026-01-01', DATE '2027-01-01', 10</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AS calculated_rows;</a:t>
            </a:r>
          </a:p>
        </p:txBody>
      </p:sp>
      <p:graphicFrame>
        <p:nvGraphicFramePr>
          <p:cNvPr id="5" name="Table 4">
            <a:extLst>
              <a:ext uri="{FF2B5EF4-FFF2-40B4-BE49-F238E27FC236}">
                <a16:creationId xmlns:a16="http://schemas.microsoft.com/office/drawing/2014/main" id="{773F1E4B-79AE-4568-B7CE-8BB4DF1DD44C}"/>
              </a:ext>
            </a:extLst>
          </p:cNvPr>
          <p:cNvGraphicFramePr/>
          <p:nvPr/>
        </p:nvGraphicFramePr>
        <p:xfrm>
          <a:off x="609600" y="2714625"/>
          <a:ext cx="10972800" cy="790575"/>
        </p:xfrm>
        <a:graphic>
          <a:graphicData uri="http://schemas.openxmlformats.org/drawingml/2006/table">
            <a:tbl>
              <a:tblPr firstRow="1"/>
              <a:tblGrid>
                <a:gridCol w="10972800">
                  <a:extLst>
                    <a:ext uri="{9D8B030D-6E8A-4147-A177-3AD203B41FA5}">
                      <a16:colId xmlns:a16="http://schemas.microsoft.com/office/drawing/2014/main" val="20000"/>
                    </a:ext>
                  </a:extLst>
                </a:gridCol>
              </a:tblGrid>
              <a:tr h="395288">
                <a:tc>
                  <a:txBody>
                    <a:bodyPr/>
                    <a:lstStyle/>
                    <a:p>
                      <a:r>
                        <a:rPr sz="1950" b="1">
                          <a:solidFill>
                            <a:srgbClr val="70D6C4"/>
                          </a:solidFill>
                          <a:latin typeface="Arial"/>
                          <a:ea typeface="Arial"/>
                          <a:cs typeface="Arial"/>
                        </a:rPr>
                        <a:t>calculated_rows</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395288">
                <a:tc>
                  <a:txBody>
                    <a:bodyPr/>
                    <a:lstStyle/>
                    <a:p>
                      <a:r>
                        <a:rPr sz="1950" b="0">
                          <a:solidFill>
                            <a:srgbClr val="F1F4F6"/>
                          </a:solidFill>
                          <a:latin typeface="Arial"/>
                          <a:ea typeface="Arial"/>
                          <a:cs typeface="Arial"/>
                        </a:rPr>
                        <a:t>32</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
        <p:nvSpPr>
          <p:cNvPr id="6" name="Rectangle 5">
            <a:extLst>
              <a:ext uri="{FF2B5EF4-FFF2-40B4-BE49-F238E27FC236}">
                <a16:creationId xmlns:a16="http://schemas.microsoft.com/office/drawing/2014/main" id="{E04F4AEA-2D40-45DA-9D7C-5D08995497C6}"/>
              </a:ext>
            </a:extLst>
          </p:cNvPr>
          <p:cNvSpPr>
            <a:spLocks noGrp="1"/>
          </p:cNvSpPr>
          <p:nvPr/>
        </p:nvSpPr>
        <p:spPr>
          <a:xfrm>
            <a:off x="609600" y="3914775"/>
            <a:ext cx="10953750" cy="857250"/>
          </a:xfrm>
          <a:prstGeom prst="rect">
            <a:avLst/>
          </a:prstGeom>
          <a:noFill/>
          <a:ln w="0">
            <a:noFill/>
          </a:ln>
        </p:spPr>
        <p:txBody>
          <a:bodyPr wrap="square" lIns="0" tIns="0" rIns="0" bIns="0" anchor="t">
            <a:noAutofit/>
          </a:bodyPr>
          <a:lstStyle>
            <a:defPPr>
              <a:defRPr sz="1725" b="0">
                <a:solidFill>
                  <a:srgbClr val="70D6C4"/>
                </a:solidFill>
                <a:latin typeface="Consolas"/>
                <a:ea typeface="Consolas"/>
                <a:cs typeface="Consolas"/>
              </a:defRPr>
            </a:defPPr>
            <a:lvl1pPr>
              <a:defRPr sz="1725" b="0">
                <a:solidFill>
                  <a:srgbClr val="70D6C4"/>
                </a:solidFill>
                <a:latin typeface="Consolas"/>
                <a:ea typeface="Consolas"/>
                <a:cs typeface="Consolas"/>
              </a:defRPr>
            </a:lvl1pPr>
            <a:lvl2pPr>
              <a:defRPr sz="1725" b="0">
                <a:solidFill>
                  <a:srgbClr val="70D6C4"/>
                </a:solidFill>
                <a:latin typeface="Consolas"/>
                <a:ea typeface="Consolas"/>
                <a:cs typeface="Consolas"/>
              </a:defRPr>
            </a:lvl2pPr>
            <a:lvl3pPr>
              <a:defRPr sz="1725" b="0">
                <a:solidFill>
                  <a:srgbClr val="70D6C4"/>
                </a:solidFill>
                <a:latin typeface="Consolas"/>
                <a:ea typeface="Consolas"/>
                <a:cs typeface="Consolas"/>
              </a:defRPr>
            </a:lvl3pPr>
            <a:lvl4pPr>
              <a:defRPr sz="1725" b="0">
                <a:solidFill>
                  <a:srgbClr val="70D6C4"/>
                </a:solidFill>
                <a:latin typeface="Consolas"/>
                <a:ea typeface="Consolas"/>
                <a:cs typeface="Consolas"/>
              </a:defRPr>
            </a:lvl4pPr>
            <a:lvl5pPr>
              <a:defRPr sz="1725" b="0">
                <a:solidFill>
                  <a:srgbClr val="70D6C4"/>
                </a:solidFill>
                <a:latin typeface="Consolas"/>
                <a:ea typeface="Consolas"/>
                <a:cs typeface="Consolas"/>
              </a:defRPr>
            </a:lvl5pPr>
            <a:lvl6pPr>
              <a:defRPr sz="1725" b="0">
                <a:solidFill>
                  <a:srgbClr val="70D6C4"/>
                </a:solidFill>
                <a:latin typeface="Consolas"/>
                <a:ea typeface="Consolas"/>
                <a:cs typeface="Consolas"/>
              </a:defRPr>
            </a:lvl6pPr>
            <a:lvl7pPr>
              <a:defRPr sz="1725" b="0">
                <a:solidFill>
                  <a:srgbClr val="70D6C4"/>
                </a:solidFill>
                <a:latin typeface="Consolas"/>
                <a:ea typeface="Consolas"/>
                <a:cs typeface="Consolas"/>
              </a:defRPr>
            </a:lvl7pPr>
            <a:lvl8pPr>
              <a:defRPr sz="1725" b="0">
                <a:solidFill>
                  <a:srgbClr val="70D6C4"/>
                </a:solidFill>
                <a:latin typeface="Consolas"/>
                <a:ea typeface="Consolas"/>
                <a:cs typeface="Consolas"/>
              </a:defRPr>
            </a:lvl8pPr>
            <a:lvl9pPr>
              <a:defRPr sz="1725" b="0">
                <a:solidFill>
                  <a:srgbClr val="70D6C4"/>
                </a:solidFill>
                <a:latin typeface="Consolas"/>
                <a:ea typeface="Consolas"/>
                <a:cs typeface="Consolas"/>
              </a:defRPr>
            </a:lvl9pPr>
          </a:lstStyle>
          <a:p>
            <a:pPr>
              <a:defRPr sz="1725" b="0">
                <a:solidFill>
                  <a:srgbClr val="70D6C4"/>
                </a:solidFill>
                <a:latin typeface="Consolas"/>
                <a:ea typeface="Consolas"/>
                <a:cs typeface="Consolas"/>
              </a:defRPr>
            </a:pPr>
            <a:r>
              <a:rPr sz="1725" b="0">
                <a:solidFill>
                  <a:srgbClr val="70D6C4"/>
                </a:solidFill>
                <a:latin typeface="Consolas"/>
                <a:ea typeface="Consolas"/>
                <a:cs typeface="Consolas"/>
              </a:rPr>
              <a:t>SELECT reporting.replay_request(:request_id)-&gt;&gt;'template' AS template,</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jsonb_array_length(reporting.replay_request(:request_id)-&gt;'rows') AS saved_rows;</a:t>
            </a:r>
          </a:p>
        </p:txBody>
      </p:sp>
      <p:graphicFrame>
        <p:nvGraphicFramePr>
          <p:cNvPr id="7" name="Table 6">
            <a:extLst>
              <a:ext uri="{FF2B5EF4-FFF2-40B4-BE49-F238E27FC236}">
                <a16:creationId xmlns:a16="http://schemas.microsoft.com/office/drawing/2014/main" id="{44558D63-7C94-44C7-9066-8BA46DF86A3D}"/>
              </a:ext>
            </a:extLst>
          </p:cNvPr>
          <p:cNvGraphicFramePr/>
          <p:nvPr/>
        </p:nvGraphicFramePr>
        <p:xfrm>
          <a:off x="609600" y="5057775"/>
          <a:ext cx="10972800" cy="857250"/>
        </p:xfrm>
        <a:graphic>
          <a:graphicData uri="http://schemas.openxmlformats.org/drawingml/2006/table">
            <a:tbl>
              <a:tblPr firstRow="1"/>
              <a:tblGrid>
                <a:gridCol w="72390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428625">
                <a:tc>
                  <a:txBody>
                    <a:bodyPr/>
                    <a:lstStyle/>
                    <a:p>
                      <a:r>
                        <a:rPr sz="1875" b="1">
                          <a:solidFill>
                            <a:srgbClr val="70D6C4"/>
                          </a:solidFill>
                          <a:latin typeface="Arial"/>
                          <a:ea typeface="Arial"/>
                          <a:cs typeface="Arial"/>
                        </a:rPr>
                        <a:t>template</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875" b="1">
                          <a:solidFill>
                            <a:srgbClr val="70D6C4"/>
                          </a:solidFill>
                          <a:latin typeface="Arial"/>
                          <a:ea typeface="Arial"/>
                          <a:cs typeface="Arial"/>
                        </a:rPr>
                        <a:t>saved_rows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428625">
                <a:tc>
                  <a:txBody>
                    <a:bodyPr/>
                    <a:lstStyle/>
                    <a:p>
                      <a:r>
                        <a:rPr sz="1875" b="0">
                          <a:solidFill>
                            <a:srgbClr val="F1F4F6"/>
                          </a:solidFill>
                          <a:latin typeface="Arial"/>
                          <a:ea typeface="Arial"/>
                          <a:cs typeface="Arial"/>
                        </a:rPr>
                        <a:t>customer_statement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875" b="0">
                          <a:solidFill>
                            <a:srgbClr val="F1F4F6"/>
                          </a:solidFill>
                          <a:latin typeface="Arial"/>
                          <a:ea typeface="Arial"/>
                          <a:cs typeface="Arial"/>
                        </a:rPr>
                        <a:t>32</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
        <p:nvSpPr>
          <p:cNvPr id="8" name="Rectangle 7">
            <a:extLst>
              <a:ext uri="{FF2B5EF4-FFF2-40B4-BE49-F238E27FC236}">
                <a16:creationId xmlns:a16="http://schemas.microsoft.com/office/drawing/2014/main" id="{31EEF224-E680-4822-A87D-186157024290}"/>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calculate reads source facts; replay_request returns retained report evidence. Full bodies are in speaker notes.</a:t>
            </a:r>
          </a:p>
        </p:txBody>
      </p:sp>
    </p:spTree>
    <p:extLst>
      <p:ext uri="{BB962C8B-B14F-4D97-AF65-F5344CB8AC3E}">
        <p14:creationId xmlns:p14="http://schemas.microsoft.com/office/powerpoint/2010/main" val="14087096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541787-1DBD-418B-B1CD-1C1747C1A82F}"/>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Routine reference: failed-job reconciliation</a:t>
            </a:r>
          </a:p>
        </p:txBody>
      </p:sp>
      <p:sp>
        <p:nvSpPr>
          <p:cNvPr id="2" name="Rectangle 1">
            <a:extLst>
              <a:ext uri="{FF2B5EF4-FFF2-40B4-BE49-F238E27FC236}">
                <a16:creationId xmlns:a16="http://schemas.microsoft.com/office/drawing/2014/main" id="{EA95BCFD-14DD-4F23-9330-0E8AC18E5F24}"/>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60</a:t>
            </a:r>
          </a:p>
        </p:txBody>
      </p:sp>
      <p:sp>
        <p:nvSpPr>
          <p:cNvPr id="3" name="Rectangle 2">
            <a:extLst>
              <a:ext uri="{FF2B5EF4-FFF2-40B4-BE49-F238E27FC236}">
                <a16:creationId xmlns:a16="http://schemas.microsoft.com/office/drawing/2014/main" id="{1F1C8976-57E4-453A-8A51-F9500671B894}"/>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CABFBD8D-B6EB-4A89-9971-C48D0C1C4A9E}"/>
              </a:ext>
            </a:extLst>
          </p:cNvPr>
          <p:cNvSpPr>
            <a:spLocks noGrp="1"/>
          </p:cNvSpPr>
          <p:nvPr/>
        </p:nvSpPr>
        <p:spPr>
          <a:xfrm>
            <a:off x="609600" y="1476375"/>
            <a:ext cx="10953750" cy="1476375"/>
          </a:xfrm>
          <a:prstGeom prst="rect">
            <a:avLst/>
          </a:prstGeom>
          <a:noFill/>
          <a:ln w="0">
            <a:noFill/>
          </a:ln>
        </p:spPr>
        <p:txBody>
          <a:bodyPr wrap="square" lIns="0" tIns="0" rIns="0" bIns="0" anchor="t">
            <a:noAutofit/>
          </a:bodyPr>
          <a:lstStyle>
            <a:defPPr>
              <a:defRPr sz="1800" b="0">
                <a:solidFill>
                  <a:srgbClr val="70D6C4"/>
                </a:solidFill>
                <a:latin typeface="Consolas"/>
                <a:ea typeface="Consolas"/>
                <a:cs typeface="Consolas"/>
              </a:defRPr>
            </a:defPPr>
            <a:lvl1pPr>
              <a:defRPr sz="1800" b="0">
                <a:solidFill>
                  <a:srgbClr val="70D6C4"/>
                </a:solidFill>
                <a:latin typeface="Consolas"/>
                <a:ea typeface="Consolas"/>
                <a:cs typeface="Consolas"/>
              </a:defRPr>
            </a:lvl1pPr>
            <a:lvl2pPr>
              <a:defRPr sz="1800" b="0">
                <a:solidFill>
                  <a:srgbClr val="70D6C4"/>
                </a:solidFill>
                <a:latin typeface="Consolas"/>
                <a:ea typeface="Consolas"/>
                <a:cs typeface="Consolas"/>
              </a:defRPr>
            </a:lvl2pPr>
            <a:lvl3pPr>
              <a:defRPr sz="1800" b="0">
                <a:solidFill>
                  <a:srgbClr val="70D6C4"/>
                </a:solidFill>
                <a:latin typeface="Consolas"/>
                <a:ea typeface="Consolas"/>
                <a:cs typeface="Consolas"/>
              </a:defRPr>
            </a:lvl3pPr>
            <a:lvl4pPr>
              <a:defRPr sz="1800" b="0">
                <a:solidFill>
                  <a:srgbClr val="70D6C4"/>
                </a:solidFill>
                <a:latin typeface="Consolas"/>
                <a:ea typeface="Consolas"/>
                <a:cs typeface="Consolas"/>
              </a:defRPr>
            </a:lvl4pPr>
            <a:lvl5pPr>
              <a:defRPr sz="1800" b="0">
                <a:solidFill>
                  <a:srgbClr val="70D6C4"/>
                </a:solidFill>
                <a:latin typeface="Consolas"/>
                <a:ea typeface="Consolas"/>
                <a:cs typeface="Consolas"/>
              </a:defRPr>
            </a:lvl5pPr>
            <a:lvl6pPr>
              <a:defRPr sz="1800" b="0">
                <a:solidFill>
                  <a:srgbClr val="70D6C4"/>
                </a:solidFill>
                <a:latin typeface="Consolas"/>
                <a:ea typeface="Consolas"/>
                <a:cs typeface="Consolas"/>
              </a:defRPr>
            </a:lvl6pPr>
            <a:lvl7pPr>
              <a:defRPr sz="1800" b="0">
                <a:solidFill>
                  <a:srgbClr val="70D6C4"/>
                </a:solidFill>
                <a:latin typeface="Consolas"/>
                <a:ea typeface="Consolas"/>
                <a:cs typeface="Consolas"/>
              </a:defRPr>
            </a:lvl7pPr>
            <a:lvl8pPr>
              <a:defRPr sz="1800" b="0">
                <a:solidFill>
                  <a:srgbClr val="70D6C4"/>
                </a:solidFill>
                <a:latin typeface="Consolas"/>
                <a:ea typeface="Consolas"/>
                <a:cs typeface="Consolas"/>
              </a:defRPr>
            </a:lvl8pPr>
            <a:lvl9pPr>
              <a:defRPr sz="1800" b="0">
                <a:solidFill>
                  <a:srgbClr val="70D6C4"/>
                </a:solidFill>
                <a:latin typeface="Consolas"/>
                <a:ea typeface="Consolas"/>
                <a:cs typeface="Consolas"/>
              </a:defRPr>
            </a:lvl9pPr>
          </a:lstStyle>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Return-value excerpt from the function</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After updating eligible expired requests:</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GET DIAGNOSTICS total=ROW_COUNT;</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RETURN total;</a:t>
            </a:r>
          </a:p>
        </p:txBody>
      </p:sp>
      <p:sp>
        <p:nvSpPr>
          <p:cNvPr id="5" name="Rectangle 4">
            <a:extLst>
              <a:ext uri="{FF2B5EF4-FFF2-40B4-BE49-F238E27FC236}">
                <a16:creationId xmlns:a16="http://schemas.microsoft.com/office/drawing/2014/main" id="{D55D3F14-948E-4CEF-90AA-B38AE35F3D3C}"/>
              </a:ext>
            </a:extLst>
          </p:cNvPr>
          <p:cNvSpPr>
            <a:spLocks noGrp="1"/>
          </p:cNvSpPr>
          <p:nvPr/>
        </p:nvSpPr>
        <p:spPr>
          <a:xfrm>
            <a:off x="609600" y="3829050"/>
            <a:ext cx="10953750" cy="714375"/>
          </a:xfrm>
          <a:prstGeom prst="rect">
            <a:avLst/>
          </a:prstGeom>
          <a:noFill/>
          <a:ln w="0">
            <a:noFill/>
          </a:ln>
        </p:spPr>
        <p:txBody>
          <a:bodyPr wrap="square" lIns="0" tIns="0" rIns="0" bIns="0" anchor="t">
            <a:noAutofit/>
          </a:bodyPr>
          <a:lstStyle>
            <a:defPPr>
              <a:defRPr sz="1875" b="0">
                <a:solidFill>
                  <a:srgbClr val="70D6C4"/>
                </a:solidFill>
                <a:latin typeface="Consolas"/>
                <a:ea typeface="Consolas"/>
                <a:cs typeface="Consolas"/>
              </a:defRPr>
            </a:defPPr>
            <a:lvl1pPr>
              <a:defRPr sz="1875" b="0">
                <a:solidFill>
                  <a:srgbClr val="70D6C4"/>
                </a:solidFill>
                <a:latin typeface="Consolas"/>
                <a:ea typeface="Consolas"/>
                <a:cs typeface="Consolas"/>
              </a:defRPr>
            </a:lvl1pPr>
            <a:lvl2pPr>
              <a:defRPr sz="1875" b="0">
                <a:solidFill>
                  <a:srgbClr val="70D6C4"/>
                </a:solidFill>
                <a:latin typeface="Consolas"/>
                <a:ea typeface="Consolas"/>
                <a:cs typeface="Consolas"/>
              </a:defRPr>
            </a:lvl2pPr>
            <a:lvl3pPr>
              <a:defRPr sz="1875" b="0">
                <a:solidFill>
                  <a:srgbClr val="70D6C4"/>
                </a:solidFill>
                <a:latin typeface="Consolas"/>
                <a:ea typeface="Consolas"/>
                <a:cs typeface="Consolas"/>
              </a:defRPr>
            </a:lvl3pPr>
            <a:lvl4pPr>
              <a:defRPr sz="1875" b="0">
                <a:solidFill>
                  <a:srgbClr val="70D6C4"/>
                </a:solidFill>
                <a:latin typeface="Consolas"/>
                <a:ea typeface="Consolas"/>
                <a:cs typeface="Consolas"/>
              </a:defRPr>
            </a:lvl4pPr>
            <a:lvl5pPr>
              <a:defRPr sz="1875" b="0">
                <a:solidFill>
                  <a:srgbClr val="70D6C4"/>
                </a:solidFill>
                <a:latin typeface="Consolas"/>
                <a:ea typeface="Consolas"/>
                <a:cs typeface="Consolas"/>
              </a:defRPr>
            </a:lvl5pPr>
            <a:lvl6pPr>
              <a:defRPr sz="1875" b="0">
                <a:solidFill>
                  <a:srgbClr val="70D6C4"/>
                </a:solidFill>
                <a:latin typeface="Consolas"/>
                <a:ea typeface="Consolas"/>
                <a:cs typeface="Consolas"/>
              </a:defRPr>
            </a:lvl6pPr>
            <a:lvl7pPr>
              <a:defRPr sz="1875" b="0">
                <a:solidFill>
                  <a:srgbClr val="70D6C4"/>
                </a:solidFill>
                <a:latin typeface="Consolas"/>
                <a:ea typeface="Consolas"/>
                <a:cs typeface="Consolas"/>
              </a:defRPr>
            </a:lvl7pPr>
            <a:lvl8pPr>
              <a:defRPr sz="1875" b="0">
                <a:solidFill>
                  <a:srgbClr val="70D6C4"/>
                </a:solidFill>
                <a:latin typeface="Consolas"/>
                <a:ea typeface="Consolas"/>
                <a:cs typeface="Consolas"/>
              </a:defRPr>
            </a:lvl8pPr>
            <a:lvl9pPr>
              <a:defRPr sz="1875" b="0">
                <a:solidFill>
                  <a:srgbClr val="70D6C4"/>
                </a:solidFill>
                <a:latin typeface="Consolas"/>
                <a:ea typeface="Consolas"/>
                <a:cs typeface="Consolas"/>
              </a:defRPr>
            </a:lvl9pPr>
          </a:lstStyle>
          <a:p>
            <a:pPr>
              <a:defRPr sz="1875" b="0">
                <a:solidFill>
                  <a:srgbClr val="70D6C4"/>
                </a:solidFill>
                <a:latin typeface="Consolas"/>
                <a:ea typeface="Consolas"/>
                <a:cs typeface="Consolas"/>
              </a:defRPr>
            </a:pPr>
            <a:r>
              <a:rPr sz="1875" b="0">
                <a:solidFill>
                  <a:srgbClr val="70D6C4"/>
                </a:solidFill>
                <a:latin typeface="Consolas"/>
                <a:ea typeface="Consolas"/>
                <a:cs typeface="Consolas"/>
              </a:rPr>
              <a:t>SELECT reporting.reconcile_failed_requests() AS reconciled_failures;</a:t>
            </a:r>
          </a:p>
        </p:txBody>
      </p:sp>
      <p:graphicFrame>
        <p:nvGraphicFramePr>
          <p:cNvPr id="6" name="Table 5">
            <a:extLst>
              <a:ext uri="{FF2B5EF4-FFF2-40B4-BE49-F238E27FC236}">
                <a16:creationId xmlns:a16="http://schemas.microsoft.com/office/drawing/2014/main" id="{F07F59BC-2221-424F-8710-72FD926FB89D}"/>
              </a:ext>
            </a:extLst>
          </p:cNvPr>
          <p:cNvGraphicFramePr/>
          <p:nvPr/>
        </p:nvGraphicFramePr>
        <p:xfrm>
          <a:off x="609600" y="4886325"/>
          <a:ext cx="10972800" cy="904875"/>
        </p:xfrm>
        <a:graphic>
          <a:graphicData uri="http://schemas.openxmlformats.org/drawingml/2006/table">
            <a:tbl>
              <a:tblPr firstRow="1"/>
              <a:tblGrid>
                <a:gridCol w="10972800">
                  <a:extLst>
                    <a:ext uri="{9D8B030D-6E8A-4147-A177-3AD203B41FA5}">
                      <a16:colId xmlns:a16="http://schemas.microsoft.com/office/drawing/2014/main" val="20000"/>
                    </a:ext>
                  </a:extLst>
                </a:gridCol>
              </a:tblGrid>
              <a:tr h="452438">
                <a:tc>
                  <a:txBody>
                    <a:bodyPr/>
                    <a:lstStyle/>
                    <a:p>
                      <a:r>
                        <a:rPr sz="2025" b="1">
                          <a:solidFill>
                            <a:srgbClr val="70D6C4"/>
                          </a:solidFill>
                          <a:latin typeface="Arial"/>
                          <a:ea typeface="Arial"/>
                          <a:cs typeface="Arial"/>
                        </a:rPr>
                        <a:t>reconciled_failures</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452438">
                <a:tc>
                  <a:txBody>
                    <a:bodyPr/>
                    <a:lstStyle/>
                    <a:p>
                      <a:r>
                        <a:rPr sz="2025" b="0">
                          <a:solidFill>
                            <a:srgbClr val="F1F4F6"/>
                          </a:solidFill>
                          <a:latin typeface="Arial"/>
                          <a:ea typeface="Arial"/>
                          <a:cs typeface="Arial"/>
                        </a:rPr>
                        <a:t>0</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371EBB37-ACF2-4A75-9C30-4DEA099A3D42}"/>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Returned 0 means no eligible requests in this capture. Full executable definition is in speaker notes.</a:t>
            </a:r>
          </a:p>
        </p:txBody>
      </p:sp>
    </p:spTree>
    <p:extLst>
      <p:ext uri="{BB962C8B-B14F-4D97-AF65-F5344CB8AC3E}">
        <p14:creationId xmlns:p14="http://schemas.microsoft.com/office/powerpoint/2010/main" val="12309172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DED851A-9380-40A3-8937-326A62E742E4}"/>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Materialized view: monthly sales snapshot</a:t>
            </a:r>
          </a:p>
        </p:txBody>
      </p:sp>
      <p:sp>
        <p:nvSpPr>
          <p:cNvPr id="2" name="Rectangle 1">
            <a:extLst>
              <a:ext uri="{FF2B5EF4-FFF2-40B4-BE49-F238E27FC236}">
                <a16:creationId xmlns:a16="http://schemas.microsoft.com/office/drawing/2014/main" id="{63649077-EDBB-44DB-A577-D16D78A8AFD7}"/>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61</a:t>
            </a:r>
          </a:p>
        </p:txBody>
      </p:sp>
      <p:sp>
        <p:nvSpPr>
          <p:cNvPr id="3" name="Rectangle 2">
            <a:extLst>
              <a:ext uri="{FF2B5EF4-FFF2-40B4-BE49-F238E27FC236}">
                <a16:creationId xmlns:a16="http://schemas.microsoft.com/office/drawing/2014/main" id="{1AE73274-4B0F-4A38-A8FE-125F24CAEF79}"/>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3298C5F3-3628-4D54-9176-E96D3B8BFD3E}"/>
              </a:ext>
            </a:extLst>
          </p:cNvPr>
          <p:cNvSpPr>
            <a:spLocks noGrp="1"/>
          </p:cNvSpPr>
          <p:nvPr/>
        </p:nvSpPr>
        <p:spPr>
          <a:xfrm>
            <a:off x="609600" y="1428750"/>
            <a:ext cx="10953750" cy="1285875"/>
          </a:xfrm>
          <a:prstGeom prst="rect">
            <a:avLst/>
          </a:prstGeom>
          <a:noFill/>
          <a:ln w="0">
            <a:noFill/>
          </a:ln>
        </p:spPr>
        <p:txBody>
          <a:bodyPr wrap="square" lIns="0" tIns="0" rIns="0" bIns="0" anchor="t">
            <a:noAutofit/>
          </a:bodyPr>
          <a:lstStyle>
            <a:defPPr>
              <a:defRPr sz="1725" b="0">
                <a:solidFill>
                  <a:srgbClr val="70D6C4"/>
                </a:solidFill>
                <a:latin typeface="Consolas"/>
                <a:ea typeface="Consolas"/>
                <a:cs typeface="Consolas"/>
              </a:defRPr>
            </a:defPPr>
            <a:lvl1pPr>
              <a:defRPr sz="1725" b="0">
                <a:solidFill>
                  <a:srgbClr val="70D6C4"/>
                </a:solidFill>
                <a:latin typeface="Consolas"/>
                <a:ea typeface="Consolas"/>
                <a:cs typeface="Consolas"/>
              </a:defRPr>
            </a:lvl1pPr>
            <a:lvl2pPr>
              <a:defRPr sz="1725" b="0">
                <a:solidFill>
                  <a:srgbClr val="70D6C4"/>
                </a:solidFill>
                <a:latin typeface="Consolas"/>
                <a:ea typeface="Consolas"/>
                <a:cs typeface="Consolas"/>
              </a:defRPr>
            </a:lvl2pPr>
            <a:lvl3pPr>
              <a:defRPr sz="1725" b="0">
                <a:solidFill>
                  <a:srgbClr val="70D6C4"/>
                </a:solidFill>
                <a:latin typeface="Consolas"/>
                <a:ea typeface="Consolas"/>
                <a:cs typeface="Consolas"/>
              </a:defRPr>
            </a:lvl3pPr>
            <a:lvl4pPr>
              <a:defRPr sz="1725" b="0">
                <a:solidFill>
                  <a:srgbClr val="70D6C4"/>
                </a:solidFill>
                <a:latin typeface="Consolas"/>
                <a:ea typeface="Consolas"/>
                <a:cs typeface="Consolas"/>
              </a:defRPr>
            </a:lvl4pPr>
            <a:lvl5pPr>
              <a:defRPr sz="1725" b="0">
                <a:solidFill>
                  <a:srgbClr val="70D6C4"/>
                </a:solidFill>
                <a:latin typeface="Consolas"/>
                <a:ea typeface="Consolas"/>
                <a:cs typeface="Consolas"/>
              </a:defRPr>
            </a:lvl5pPr>
            <a:lvl6pPr>
              <a:defRPr sz="1725" b="0">
                <a:solidFill>
                  <a:srgbClr val="70D6C4"/>
                </a:solidFill>
                <a:latin typeface="Consolas"/>
                <a:ea typeface="Consolas"/>
                <a:cs typeface="Consolas"/>
              </a:defRPr>
            </a:lvl6pPr>
            <a:lvl7pPr>
              <a:defRPr sz="1725" b="0">
                <a:solidFill>
                  <a:srgbClr val="70D6C4"/>
                </a:solidFill>
                <a:latin typeface="Consolas"/>
                <a:ea typeface="Consolas"/>
                <a:cs typeface="Consolas"/>
              </a:defRPr>
            </a:lvl7pPr>
            <a:lvl8pPr>
              <a:defRPr sz="1725" b="0">
                <a:solidFill>
                  <a:srgbClr val="70D6C4"/>
                </a:solidFill>
                <a:latin typeface="Consolas"/>
                <a:ea typeface="Consolas"/>
                <a:cs typeface="Consolas"/>
              </a:defRPr>
            </a:lvl8pPr>
            <a:lvl9pPr>
              <a:defRPr sz="1725" b="0">
                <a:solidFill>
                  <a:srgbClr val="70D6C4"/>
                </a:solidFill>
                <a:latin typeface="Consolas"/>
                <a:ea typeface="Consolas"/>
                <a:cs typeface="Consolas"/>
              </a:defRPr>
            </a:lvl9pPr>
          </a:lstStyle>
          <a:p>
            <a:pPr>
              <a:defRPr sz="1725" b="0">
                <a:solidFill>
                  <a:srgbClr val="70D6C4"/>
                </a:solidFill>
                <a:latin typeface="Consolas"/>
                <a:ea typeface="Consolas"/>
                <a:cs typeface="Consolas"/>
              </a:defRPr>
            </a:pPr>
            <a:r>
              <a:rPr sz="1725" b="0">
                <a:solidFill>
                  <a:srgbClr val="70D6C4"/>
                </a:solidFill>
                <a:latin typeface="Consolas"/>
                <a:ea typeface="Consolas"/>
                <a:cs typeface="Consolas"/>
              </a:rPr>
              <a:t>CREATE MATERIALIZED VIEW reporting.mv_monthly_sales AS</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SELECT date_trunc('month',ordered_at)::date AS month,category,</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       sum(quantity) AS units,sum(line_total) AS sales</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FROM reporting.v_sales_lines GROUP BY 1,2;</a:t>
            </a:r>
          </a:p>
        </p:txBody>
      </p:sp>
      <p:sp>
        <p:nvSpPr>
          <p:cNvPr id="5" name="Rectangle 4">
            <a:extLst>
              <a:ext uri="{FF2B5EF4-FFF2-40B4-BE49-F238E27FC236}">
                <a16:creationId xmlns:a16="http://schemas.microsoft.com/office/drawing/2014/main" id="{FECE34F7-399B-4F7E-9FB6-678CDC750250}"/>
              </a:ext>
            </a:extLst>
          </p:cNvPr>
          <p:cNvSpPr>
            <a:spLocks noGrp="1"/>
          </p:cNvSpPr>
          <p:nvPr/>
        </p:nvSpPr>
        <p:spPr>
          <a:xfrm>
            <a:off x="609600" y="3048000"/>
            <a:ext cx="10953750" cy="428625"/>
          </a:xfrm>
          <a:prstGeom prst="rect">
            <a:avLst/>
          </a:prstGeom>
          <a:noFill/>
          <a:ln w="0">
            <a:noFill/>
          </a:ln>
        </p:spPr>
        <p:txBody>
          <a:bodyPr wrap="square" lIns="0" tIns="0" rIns="0" bIns="0" anchor="t">
            <a:noAutofit/>
          </a:bodyPr>
          <a:lstStyle>
            <a:defPPr>
              <a:defRPr sz="1800" b="0">
                <a:solidFill>
                  <a:srgbClr val="70D6C4"/>
                </a:solidFill>
                <a:latin typeface="Consolas"/>
                <a:ea typeface="Consolas"/>
                <a:cs typeface="Consolas"/>
              </a:defRPr>
            </a:defPPr>
            <a:lvl1pPr>
              <a:defRPr sz="1800" b="0">
                <a:solidFill>
                  <a:srgbClr val="70D6C4"/>
                </a:solidFill>
                <a:latin typeface="Consolas"/>
                <a:ea typeface="Consolas"/>
                <a:cs typeface="Consolas"/>
              </a:defRPr>
            </a:lvl1pPr>
            <a:lvl2pPr>
              <a:defRPr sz="1800" b="0">
                <a:solidFill>
                  <a:srgbClr val="70D6C4"/>
                </a:solidFill>
                <a:latin typeface="Consolas"/>
                <a:ea typeface="Consolas"/>
                <a:cs typeface="Consolas"/>
              </a:defRPr>
            </a:lvl2pPr>
            <a:lvl3pPr>
              <a:defRPr sz="1800" b="0">
                <a:solidFill>
                  <a:srgbClr val="70D6C4"/>
                </a:solidFill>
                <a:latin typeface="Consolas"/>
                <a:ea typeface="Consolas"/>
                <a:cs typeface="Consolas"/>
              </a:defRPr>
            </a:lvl3pPr>
            <a:lvl4pPr>
              <a:defRPr sz="1800" b="0">
                <a:solidFill>
                  <a:srgbClr val="70D6C4"/>
                </a:solidFill>
                <a:latin typeface="Consolas"/>
                <a:ea typeface="Consolas"/>
                <a:cs typeface="Consolas"/>
              </a:defRPr>
            </a:lvl4pPr>
            <a:lvl5pPr>
              <a:defRPr sz="1800" b="0">
                <a:solidFill>
                  <a:srgbClr val="70D6C4"/>
                </a:solidFill>
                <a:latin typeface="Consolas"/>
                <a:ea typeface="Consolas"/>
                <a:cs typeface="Consolas"/>
              </a:defRPr>
            </a:lvl5pPr>
            <a:lvl6pPr>
              <a:defRPr sz="1800" b="0">
                <a:solidFill>
                  <a:srgbClr val="70D6C4"/>
                </a:solidFill>
                <a:latin typeface="Consolas"/>
                <a:ea typeface="Consolas"/>
                <a:cs typeface="Consolas"/>
              </a:defRPr>
            </a:lvl6pPr>
            <a:lvl7pPr>
              <a:defRPr sz="1800" b="0">
                <a:solidFill>
                  <a:srgbClr val="70D6C4"/>
                </a:solidFill>
                <a:latin typeface="Consolas"/>
                <a:ea typeface="Consolas"/>
                <a:cs typeface="Consolas"/>
              </a:defRPr>
            </a:lvl7pPr>
            <a:lvl8pPr>
              <a:defRPr sz="1800" b="0">
                <a:solidFill>
                  <a:srgbClr val="70D6C4"/>
                </a:solidFill>
                <a:latin typeface="Consolas"/>
                <a:ea typeface="Consolas"/>
                <a:cs typeface="Consolas"/>
              </a:defRPr>
            </a:lvl8pPr>
            <a:lvl9pPr>
              <a:defRPr sz="1800" b="0">
                <a:solidFill>
                  <a:srgbClr val="70D6C4"/>
                </a:solidFill>
                <a:latin typeface="Consolas"/>
                <a:ea typeface="Consolas"/>
                <a:cs typeface="Consolas"/>
              </a:defRPr>
            </a:lvl9pPr>
          </a:lstStyle>
          <a:p>
            <a:pPr>
              <a:defRPr sz="1800" b="0">
                <a:solidFill>
                  <a:srgbClr val="70D6C4"/>
                </a:solidFill>
                <a:latin typeface="Consolas"/>
                <a:ea typeface="Consolas"/>
                <a:cs typeface="Consolas"/>
              </a:defRPr>
            </a:pPr>
            <a:r>
              <a:rPr sz="1800" b="0">
                <a:solidFill>
                  <a:srgbClr val="70D6C4"/>
                </a:solidFill>
                <a:latin typeface="Consolas"/>
                <a:ea typeface="Consolas"/>
                <a:cs typeface="Consolas"/>
              </a:rPr>
              <a:t>REFRESH MATERIALIZED VIEW reporting.mv_monthly_sales;</a:t>
            </a:r>
          </a:p>
        </p:txBody>
      </p:sp>
      <p:sp>
        <p:nvSpPr>
          <p:cNvPr id="6" name="Rectangle 5">
            <a:extLst>
              <a:ext uri="{FF2B5EF4-FFF2-40B4-BE49-F238E27FC236}">
                <a16:creationId xmlns:a16="http://schemas.microsoft.com/office/drawing/2014/main" id="{CFAD8378-0F55-46AC-A4BA-D3FAA044B0BF}"/>
              </a:ext>
            </a:extLst>
          </p:cNvPr>
          <p:cNvSpPr>
            <a:spLocks noGrp="1"/>
          </p:cNvSpPr>
          <p:nvPr/>
        </p:nvSpPr>
        <p:spPr>
          <a:xfrm>
            <a:off x="609600" y="3581400"/>
            <a:ext cx="10763250" cy="333375"/>
          </a:xfrm>
          <a:prstGeom prst="rect">
            <a:avLst/>
          </a:prstGeom>
          <a:noFill/>
          <a:ln w="0">
            <a:noFill/>
          </a:ln>
        </p:spPr>
        <p:txBody>
          <a:bodyPr wrap="square" lIns="0" tIns="0" rIns="0" bIns="0" anchor="t">
            <a:noAutofit/>
          </a:bodyPr>
          <a:lstStyle>
            <a:defPPr>
              <a:defRPr sz="1800" b="0">
                <a:solidFill>
                  <a:srgbClr val="70D6C4"/>
                </a:solidFill>
                <a:latin typeface="Arial"/>
                <a:ea typeface="Arial"/>
                <a:cs typeface="Arial"/>
              </a:defRPr>
            </a:defPPr>
            <a:lvl1pPr>
              <a:defRPr sz="1800" b="0">
                <a:solidFill>
                  <a:srgbClr val="70D6C4"/>
                </a:solidFill>
                <a:latin typeface="Arial"/>
                <a:ea typeface="Arial"/>
                <a:cs typeface="Arial"/>
              </a:defRPr>
            </a:lvl1pPr>
            <a:lvl2pPr>
              <a:defRPr sz="1800" b="0">
                <a:solidFill>
                  <a:srgbClr val="70D6C4"/>
                </a:solidFill>
                <a:latin typeface="Arial"/>
                <a:ea typeface="Arial"/>
                <a:cs typeface="Arial"/>
              </a:defRPr>
            </a:lvl2pPr>
            <a:lvl3pPr>
              <a:defRPr sz="1800" b="0">
                <a:solidFill>
                  <a:srgbClr val="70D6C4"/>
                </a:solidFill>
                <a:latin typeface="Arial"/>
                <a:ea typeface="Arial"/>
                <a:cs typeface="Arial"/>
              </a:defRPr>
            </a:lvl3pPr>
            <a:lvl4pPr>
              <a:defRPr sz="1800" b="0">
                <a:solidFill>
                  <a:srgbClr val="70D6C4"/>
                </a:solidFill>
                <a:latin typeface="Arial"/>
                <a:ea typeface="Arial"/>
                <a:cs typeface="Arial"/>
              </a:defRPr>
            </a:lvl4pPr>
            <a:lvl5pPr>
              <a:defRPr sz="1800" b="0">
                <a:solidFill>
                  <a:srgbClr val="70D6C4"/>
                </a:solidFill>
                <a:latin typeface="Arial"/>
                <a:ea typeface="Arial"/>
                <a:cs typeface="Arial"/>
              </a:defRPr>
            </a:lvl5pPr>
            <a:lvl6pPr>
              <a:defRPr sz="1800" b="0">
                <a:solidFill>
                  <a:srgbClr val="70D6C4"/>
                </a:solidFill>
                <a:latin typeface="Arial"/>
                <a:ea typeface="Arial"/>
                <a:cs typeface="Arial"/>
              </a:defRPr>
            </a:lvl6pPr>
            <a:lvl7pPr>
              <a:defRPr sz="1800" b="0">
                <a:solidFill>
                  <a:srgbClr val="70D6C4"/>
                </a:solidFill>
                <a:latin typeface="Arial"/>
                <a:ea typeface="Arial"/>
                <a:cs typeface="Arial"/>
              </a:defRPr>
            </a:lvl7pPr>
            <a:lvl8pPr>
              <a:defRPr sz="1800" b="0">
                <a:solidFill>
                  <a:srgbClr val="70D6C4"/>
                </a:solidFill>
                <a:latin typeface="Arial"/>
                <a:ea typeface="Arial"/>
                <a:cs typeface="Arial"/>
              </a:defRPr>
            </a:lvl8pPr>
            <a:lvl9pPr>
              <a:defRPr sz="1800" b="0">
                <a:solidFill>
                  <a:srgbClr val="70D6C4"/>
                </a:solidFill>
                <a:latin typeface="Arial"/>
                <a:ea typeface="Arial"/>
                <a:cs typeface="Arial"/>
              </a:defRPr>
            </a:lvl9pPr>
          </a:lstStyle>
          <a:p>
            <a:pPr>
              <a:defRPr sz="1800" b="0">
                <a:solidFill>
                  <a:srgbClr val="70D6C4"/>
                </a:solidFill>
                <a:latin typeface="Arial"/>
                <a:ea typeface="Arial"/>
                <a:cs typeface="Arial"/>
              </a:defRPr>
            </a:pPr>
            <a:r>
              <a:rPr sz="1800" b="0">
                <a:solidFill>
                  <a:srgbClr val="70D6C4"/>
                </a:solidFill>
                <a:latin typeface="Arial"/>
                <a:ea typeface="Arial"/>
                <a:cs typeface="Arial"/>
              </a:rPr>
              <a:t>Command output: REFRESH MATERIALIZED VIEW</a:t>
            </a:r>
          </a:p>
        </p:txBody>
      </p:sp>
      <p:sp>
        <p:nvSpPr>
          <p:cNvPr id="7" name="Rectangle 6">
            <a:extLst>
              <a:ext uri="{FF2B5EF4-FFF2-40B4-BE49-F238E27FC236}">
                <a16:creationId xmlns:a16="http://schemas.microsoft.com/office/drawing/2014/main" id="{EA712D82-1CD2-4C22-BB99-6A8AD9F6C458}"/>
              </a:ext>
            </a:extLst>
          </p:cNvPr>
          <p:cNvSpPr>
            <a:spLocks noGrp="1"/>
          </p:cNvSpPr>
          <p:nvPr/>
        </p:nvSpPr>
        <p:spPr>
          <a:xfrm>
            <a:off x="609600" y="4067175"/>
            <a:ext cx="10953750" cy="571500"/>
          </a:xfrm>
          <a:prstGeom prst="rect">
            <a:avLst/>
          </a:prstGeom>
          <a:noFill/>
          <a:ln w="0">
            <a:noFill/>
          </a:ln>
        </p:spPr>
        <p:txBody>
          <a:bodyPr wrap="square" lIns="0" tIns="0" rIns="0" bIns="0" anchor="t">
            <a:noAutofit/>
          </a:bodyPr>
          <a:lstStyle>
            <a:defPPr>
              <a:defRPr sz="1725" b="0">
                <a:solidFill>
                  <a:srgbClr val="70D6C4"/>
                </a:solidFill>
                <a:latin typeface="Consolas"/>
                <a:ea typeface="Consolas"/>
                <a:cs typeface="Consolas"/>
              </a:defRPr>
            </a:defPPr>
            <a:lvl1pPr>
              <a:defRPr sz="1725" b="0">
                <a:solidFill>
                  <a:srgbClr val="70D6C4"/>
                </a:solidFill>
                <a:latin typeface="Consolas"/>
                <a:ea typeface="Consolas"/>
                <a:cs typeface="Consolas"/>
              </a:defRPr>
            </a:lvl1pPr>
            <a:lvl2pPr>
              <a:defRPr sz="1725" b="0">
                <a:solidFill>
                  <a:srgbClr val="70D6C4"/>
                </a:solidFill>
                <a:latin typeface="Consolas"/>
                <a:ea typeface="Consolas"/>
                <a:cs typeface="Consolas"/>
              </a:defRPr>
            </a:lvl2pPr>
            <a:lvl3pPr>
              <a:defRPr sz="1725" b="0">
                <a:solidFill>
                  <a:srgbClr val="70D6C4"/>
                </a:solidFill>
                <a:latin typeface="Consolas"/>
                <a:ea typeface="Consolas"/>
                <a:cs typeface="Consolas"/>
              </a:defRPr>
            </a:lvl3pPr>
            <a:lvl4pPr>
              <a:defRPr sz="1725" b="0">
                <a:solidFill>
                  <a:srgbClr val="70D6C4"/>
                </a:solidFill>
                <a:latin typeface="Consolas"/>
                <a:ea typeface="Consolas"/>
                <a:cs typeface="Consolas"/>
              </a:defRPr>
            </a:lvl4pPr>
            <a:lvl5pPr>
              <a:defRPr sz="1725" b="0">
                <a:solidFill>
                  <a:srgbClr val="70D6C4"/>
                </a:solidFill>
                <a:latin typeface="Consolas"/>
                <a:ea typeface="Consolas"/>
                <a:cs typeface="Consolas"/>
              </a:defRPr>
            </a:lvl5pPr>
            <a:lvl6pPr>
              <a:defRPr sz="1725" b="0">
                <a:solidFill>
                  <a:srgbClr val="70D6C4"/>
                </a:solidFill>
                <a:latin typeface="Consolas"/>
                <a:ea typeface="Consolas"/>
                <a:cs typeface="Consolas"/>
              </a:defRPr>
            </a:lvl6pPr>
            <a:lvl7pPr>
              <a:defRPr sz="1725" b="0">
                <a:solidFill>
                  <a:srgbClr val="70D6C4"/>
                </a:solidFill>
                <a:latin typeface="Consolas"/>
                <a:ea typeface="Consolas"/>
                <a:cs typeface="Consolas"/>
              </a:defRPr>
            </a:lvl7pPr>
            <a:lvl8pPr>
              <a:defRPr sz="1725" b="0">
                <a:solidFill>
                  <a:srgbClr val="70D6C4"/>
                </a:solidFill>
                <a:latin typeface="Consolas"/>
                <a:ea typeface="Consolas"/>
                <a:cs typeface="Consolas"/>
              </a:defRPr>
            </a:lvl8pPr>
            <a:lvl9pPr>
              <a:defRPr sz="1725" b="0">
                <a:solidFill>
                  <a:srgbClr val="70D6C4"/>
                </a:solidFill>
                <a:latin typeface="Consolas"/>
                <a:ea typeface="Consolas"/>
                <a:cs typeface="Consolas"/>
              </a:defRPr>
            </a:lvl9pPr>
          </a:lstStyle>
          <a:p>
            <a:pPr>
              <a:defRPr sz="1725" b="0">
                <a:solidFill>
                  <a:srgbClr val="70D6C4"/>
                </a:solidFill>
                <a:latin typeface="Consolas"/>
                <a:ea typeface="Consolas"/>
                <a:cs typeface="Consolas"/>
              </a:defRPr>
            </a:pPr>
            <a:r>
              <a:rPr sz="1725" b="0">
                <a:solidFill>
                  <a:srgbClr val="70D6C4"/>
                </a:solidFill>
                <a:latin typeface="Consolas"/>
                <a:ea typeface="Consolas"/>
                <a:cs typeface="Consolas"/>
              </a:rPr>
              <a:t>SELECT month, category, units, sales</a:t>
            </a:r>
          </a:p>
          <a:p>
            <a:pPr>
              <a:defRPr sz="1725" b="0">
                <a:solidFill>
                  <a:srgbClr val="70D6C4"/>
                </a:solidFill>
                <a:latin typeface="Consolas"/>
                <a:ea typeface="Consolas"/>
                <a:cs typeface="Consolas"/>
              </a:defRPr>
            </a:pPr>
            <a:r>
              <a:rPr sz="1725" b="0">
                <a:solidFill>
                  <a:srgbClr val="70D6C4"/>
                </a:solidFill>
                <a:latin typeface="Consolas"/>
                <a:ea typeface="Consolas"/>
                <a:cs typeface="Consolas"/>
              </a:rPr>
              <a:t>FROM reporting.mv_monthly_sales ORDER BY month, category LIMIT 3;</a:t>
            </a:r>
          </a:p>
        </p:txBody>
      </p:sp>
      <p:graphicFrame>
        <p:nvGraphicFramePr>
          <p:cNvPr id="8" name="Table 7">
            <a:extLst>
              <a:ext uri="{FF2B5EF4-FFF2-40B4-BE49-F238E27FC236}">
                <a16:creationId xmlns:a16="http://schemas.microsoft.com/office/drawing/2014/main" id="{2DE4666D-DBB7-48A2-9975-5AEA6CDE913E}"/>
              </a:ext>
            </a:extLst>
          </p:cNvPr>
          <p:cNvGraphicFramePr/>
          <p:nvPr/>
        </p:nvGraphicFramePr>
        <p:xfrm>
          <a:off x="609600" y="4714875"/>
          <a:ext cx="10972800" cy="1000125"/>
        </p:xfrm>
        <a:graphic>
          <a:graphicData uri="http://schemas.openxmlformats.org/drawingml/2006/table">
            <a:tbl>
              <a:tblPr firstRow="1"/>
              <a:tblGrid>
                <a:gridCol w="2857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gridCol w="2876550">
                  <a:extLst>
                    <a:ext uri="{9D8B030D-6E8A-4147-A177-3AD203B41FA5}">
                      <a16:colId xmlns:a16="http://schemas.microsoft.com/office/drawing/2014/main" val="20003"/>
                    </a:ext>
                  </a:extLst>
                </a:gridCol>
              </a:tblGrid>
              <a:tr h="250031">
                <a:tc>
                  <a:txBody>
                    <a:bodyPr/>
                    <a:lstStyle/>
                    <a:p>
                      <a:r>
                        <a:rPr sz="1650" b="1">
                          <a:solidFill>
                            <a:srgbClr val="70D6C4"/>
                          </a:solidFill>
                          <a:latin typeface="Arial"/>
                          <a:ea typeface="Arial"/>
                          <a:cs typeface="Arial"/>
                        </a:rPr>
                        <a:t>month</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650" b="1">
                          <a:solidFill>
                            <a:srgbClr val="70D6C4"/>
                          </a:solidFill>
                          <a:latin typeface="Arial"/>
                          <a:ea typeface="Arial"/>
                          <a:cs typeface="Arial"/>
                        </a:rPr>
                        <a:t>category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650" b="1">
                          <a:solidFill>
                            <a:srgbClr val="70D6C4"/>
                          </a:solidFill>
                          <a:latin typeface="Arial"/>
                          <a:ea typeface="Arial"/>
                          <a:cs typeface="Arial"/>
                        </a:rPr>
                        <a:t>units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650" b="1">
                          <a:solidFill>
                            <a:srgbClr val="70D6C4"/>
                          </a:solidFill>
                          <a:latin typeface="Arial"/>
                          <a:ea typeface="Arial"/>
                          <a:cs typeface="Arial"/>
                        </a:rPr>
                        <a:t>sales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250031">
                <a:tc>
                  <a:txBody>
                    <a:bodyPr/>
                    <a:lstStyle/>
                    <a:p>
                      <a:r>
                        <a:rPr sz="1650" b="0">
                          <a:solidFill>
                            <a:srgbClr val="F1F4F6"/>
                          </a:solidFill>
                          <a:latin typeface="Arial"/>
                          <a:ea typeface="Arial"/>
                          <a:cs typeface="Arial"/>
                        </a:rPr>
                        <a:t>2026-01-01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650" b="0">
                          <a:solidFill>
                            <a:srgbClr val="F1F4F6"/>
                          </a:solidFill>
                          <a:latin typeface="Arial"/>
                          <a:ea typeface="Arial"/>
                          <a:cs typeface="Arial"/>
                        </a:rPr>
                        <a:t>Electronics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650" b="0">
                          <a:solidFill>
                            <a:srgbClr val="F1F4F6"/>
                          </a:solidFill>
                          <a:latin typeface="Arial"/>
                          <a:ea typeface="Arial"/>
                          <a:cs typeface="Arial"/>
                        </a:rPr>
                        <a:t>29006</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650" b="0">
                          <a:solidFill>
                            <a:srgbClr val="F1F4F6"/>
                          </a:solidFill>
                          <a:latin typeface="Arial"/>
                          <a:ea typeface="Arial"/>
                          <a:cs typeface="Arial"/>
                        </a:rPr>
                        <a:t>11005150.00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250031">
                <a:tc>
                  <a:txBody>
                    <a:bodyPr/>
                    <a:lstStyle/>
                    <a:p>
                      <a:r>
                        <a:rPr sz="1650" b="0">
                          <a:solidFill>
                            <a:srgbClr val="F1F4F6"/>
                          </a:solidFill>
                          <a:latin typeface="Arial"/>
                          <a:ea typeface="Arial"/>
                          <a:cs typeface="Arial"/>
                        </a:rPr>
                        <a:t>2026-01-01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650" b="0">
                          <a:solidFill>
                            <a:srgbClr val="F1F4F6"/>
                          </a:solidFill>
                          <a:latin typeface="Arial"/>
                          <a:ea typeface="Arial"/>
                          <a:cs typeface="Arial"/>
                        </a:rPr>
                        <a:t>Home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650" b="0">
                          <a:solidFill>
                            <a:srgbClr val="F1F4F6"/>
                          </a:solidFill>
                          <a:latin typeface="Arial"/>
                          <a:ea typeface="Arial"/>
                          <a:cs typeface="Arial"/>
                        </a:rPr>
                        <a:t>29008</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650" b="0">
                          <a:solidFill>
                            <a:srgbClr val="F1F4F6"/>
                          </a:solidFill>
                          <a:latin typeface="Arial"/>
                          <a:ea typeface="Arial"/>
                          <a:cs typeface="Arial"/>
                        </a:rPr>
                        <a:t>10718350.00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250031">
                <a:tc>
                  <a:txBody>
                    <a:bodyPr/>
                    <a:lstStyle/>
                    <a:p>
                      <a:r>
                        <a:rPr sz="1650" b="0">
                          <a:solidFill>
                            <a:srgbClr val="F1F4F6"/>
                          </a:solidFill>
                          <a:latin typeface="Arial"/>
                          <a:ea typeface="Arial"/>
                          <a:cs typeface="Arial"/>
                        </a:rPr>
                        <a:t>2026-01-01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650" b="0">
                          <a:solidFill>
                            <a:srgbClr val="F1F4F6"/>
                          </a:solidFill>
                          <a:latin typeface="Arial"/>
                          <a:ea typeface="Arial"/>
                          <a:cs typeface="Arial"/>
                        </a:rPr>
                        <a:t>Office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650" b="0">
                          <a:solidFill>
                            <a:srgbClr val="F1F4F6"/>
                          </a:solidFill>
                          <a:latin typeface="Arial"/>
                          <a:ea typeface="Arial"/>
                          <a:cs typeface="Arial"/>
                        </a:rPr>
                        <a:t>29009</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650" b="0">
                          <a:solidFill>
                            <a:srgbClr val="F1F4F6"/>
                          </a:solidFill>
                          <a:latin typeface="Arial"/>
                          <a:ea typeface="Arial"/>
                          <a:cs typeface="Arial"/>
                        </a:rPr>
                        <a:t>12170475.00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728479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8774ED3-D025-4364-A377-ED657C8ADE31}"/>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Index: customer and date filtering</a:t>
            </a:r>
          </a:p>
        </p:txBody>
      </p:sp>
      <p:sp>
        <p:nvSpPr>
          <p:cNvPr id="2" name="Rectangle 1">
            <a:extLst>
              <a:ext uri="{FF2B5EF4-FFF2-40B4-BE49-F238E27FC236}">
                <a16:creationId xmlns:a16="http://schemas.microsoft.com/office/drawing/2014/main" id="{2992379A-7B7A-45FF-9B32-6633FED63A60}"/>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62</a:t>
            </a:r>
          </a:p>
        </p:txBody>
      </p:sp>
      <p:sp>
        <p:nvSpPr>
          <p:cNvPr id="3" name="Rectangle 2">
            <a:extLst>
              <a:ext uri="{FF2B5EF4-FFF2-40B4-BE49-F238E27FC236}">
                <a16:creationId xmlns:a16="http://schemas.microsoft.com/office/drawing/2014/main" id="{01FFC865-2A27-4BDB-96DC-D34DC40A4E92}"/>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sp>
        <p:nvSpPr>
          <p:cNvPr id="4" name="Rectangle 3">
            <a:extLst>
              <a:ext uri="{FF2B5EF4-FFF2-40B4-BE49-F238E27FC236}">
                <a16:creationId xmlns:a16="http://schemas.microsoft.com/office/drawing/2014/main" id="{683754DD-1379-4B36-9CEB-699749637920}"/>
              </a:ext>
            </a:extLst>
          </p:cNvPr>
          <p:cNvSpPr>
            <a:spLocks noGrp="1"/>
          </p:cNvSpPr>
          <p:nvPr/>
        </p:nvSpPr>
        <p:spPr>
          <a:xfrm>
            <a:off x="609600" y="1504950"/>
            <a:ext cx="10953750" cy="742950"/>
          </a:xfrm>
          <a:prstGeom prst="rect">
            <a:avLst/>
          </a:prstGeom>
          <a:noFill/>
          <a:ln w="0">
            <a:noFill/>
          </a:ln>
        </p:spPr>
        <p:txBody>
          <a:bodyPr wrap="square" lIns="0" tIns="0" rIns="0" bIns="0" anchor="t">
            <a:noAutofit/>
          </a:bodyPr>
          <a:lstStyle>
            <a:defPPr>
              <a:defRPr sz="1875" b="0">
                <a:solidFill>
                  <a:srgbClr val="70D6C4"/>
                </a:solidFill>
                <a:latin typeface="Consolas"/>
                <a:ea typeface="Consolas"/>
                <a:cs typeface="Consolas"/>
              </a:defRPr>
            </a:defPPr>
            <a:lvl1pPr>
              <a:defRPr sz="1875" b="0">
                <a:solidFill>
                  <a:srgbClr val="70D6C4"/>
                </a:solidFill>
                <a:latin typeface="Consolas"/>
                <a:ea typeface="Consolas"/>
                <a:cs typeface="Consolas"/>
              </a:defRPr>
            </a:lvl1pPr>
            <a:lvl2pPr>
              <a:defRPr sz="1875" b="0">
                <a:solidFill>
                  <a:srgbClr val="70D6C4"/>
                </a:solidFill>
                <a:latin typeface="Consolas"/>
                <a:ea typeface="Consolas"/>
                <a:cs typeface="Consolas"/>
              </a:defRPr>
            </a:lvl2pPr>
            <a:lvl3pPr>
              <a:defRPr sz="1875" b="0">
                <a:solidFill>
                  <a:srgbClr val="70D6C4"/>
                </a:solidFill>
                <a:latin typeface="Consolas"/>
                <a:ea typeface="Consolas"/>
                <a:cs typeface="Consolas"/>
              </a:defRPr>
            </a:lvl3pPr>
            <a:lvl4pPr>
              <a:defRPr sz="1875" b="0">
                <a:solidFill>
                  <a:srgbClr val="70D6C4"/>
                </a:solidFill>
                <a:latin typeface="Consolas"/>
                <a:ea typeface="Consolas"/>
                <a:cs typeface="Consolas"/>
              </a:defRPr>
            </a:lvl4pPr>
            <a:lvl5pPr>
              <a:defRPr sz="1875" b="0">
                <a:solidFill>
                  <a:srgbClr val="70D6C4"/>
                </a:solidFill>
                <a:latin typeface="Consolas"/>
                <a:ea typeface="Consolas"/>
                <a:cs typeface="Consolas"/>
              </a:defRPr>
            </a:lvl5pPr>
            <a:lvl6pPr>
              <a:defRPr sz="1875" b="0">
                <a:solidFill>
                  <a:srgbClr val="70D6C4"/>
                </a:solidFill>
                <a:latin typeface="Consolas"/>
                <a:ea typeface="Consolas"/>
                <a:cs typeface="Consolas"/>
              </a:defRPr>
            </a:lvl6pPr>
            <a:lvl7pPr>
              <a:defRPr sz="1875" b="0">
                <a:solidFill>
                  <a:srgbClr val="70D6C4"/>
                </a:solidFill>
                <a:latin typeface="Consolas"/>
                <a:ea typeface="Consolas"/>
                <a:cs typeface="Consolas"/>
              </a:defRPr>
            </a:lvl7pPr>
            <a:lvl8pPr>
              <a:defRPr sz="1875" b="0">
                <a:solidFill>
                  <a:srgbClr val="70D6C4"/>
                </a:solidFill>
                <a:latin typeface="Consolas"/>
                <a:ea typeface="Consolas"/>
                <a:cs typeface="Consolas"/>
              </a:defRPr>
            </a:lvl8pPr>
            <a:lvl9pPr>
              <a:defRPr sz="1875" b="0">
                <a:solidFill>
                  <a:srgbClr val="70D6C4"/>
                </a:solidFill>
                <a:latin typeface="Consolas"/>
                <a:ea typeface="Consolas"/>
                <a:cs typeface="Consolas"/>
              </a:defRPr>
            </a:lvl9pPr>
          </a:lstStyle>
          <a:p>
            <a:pPr>
              <a:defRPr sz="1875" b="0">
                <a:solidFill>
                  <a:srgbClr val="70D6C4"/>
                </a:solidFill>
                <a:latin typeface="Consolas"/>
                <a:ea typeface="Consolas"/>
                <a:cs typeface="Consolas"/>
              </a:defRPr>
            </a:pPr>
            <a:r>
              <a:rPr sz="1875" b="0">
                <a:solidFill>
                  <a:srgbClr val="70D6C4"/>
                </a:solidFill>
                <a:latin typeface="Consolas"/>
                <a:ea typeface="Consolas"/>
                <a:cs typeface="Consolas"/>
              </a:rPr>
              <a:t>CREATE INDEX sales_order_customer_date</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ON reporting.sales_order(customer_id, ordered_at);</a:t>
            </a:r>
          </a:p>
        </p:txBody>
      </p:sp>
      <p:sp>
        <p:nvSpPr>
          <p:cNvPr id="5" name="Rectangle 4">
            <a:extLst>
              <a:ext uri="{FF2B5EF4-FFF2-40B4-BE49-F238E27FC236}">
                <a16:creationId xmlns:a16="http://schemas.microsoft.com/office/drawing/2014/main" id="{8811ECD4-D671-43B5-A5FC-A5A23A31C698}"/>
              </a:ext>
            </a:extLst>
          </p:cNvPr>
          <p:cNvSpPr>
            <a:spLocks noGrp="1"/>
          </p:cNvSpPr>
          <p:nvPr/>
        </p:nvSpPr>
        <p:spPr>
          <a:xfrm>
            <a:off x="609600" y="2667000"/>
            <a:ext cx="10953750" cy="1095375"/>
          </a:xfrm>
          <a:prstGeom prst="rect">
            <a:avLst/>
          </a:prstGeom>
          <a:noFill/>
          <a:ln w="0">
            <a:noFill/>
          </a:ln>
        </p:spPr>
        <p:txBody>
          <a:bodyPr wrap="square" lIns="0" tIns="0" rIns="0" bIns="0" anchor="t">
            <a:noAutofit/>
          </a:bodyPr>
          <a:lstStyle>
            <a:defPPr>
              <a:defRPr sz="1800" b="0">
                <a:solidFill>
                  <a:srgbClr val="70D6C4"/>
                </a:solidFill>
                <a:latin typeface="Consolas"/>
                <a:ea typeface="Consolas"/>
                <a:cs typeface="Consolas"/>
              </a:defRPr>
            </a:defPPr>
            <a:lvl1pPr>
              <a:defRPr sz="1800" b="0">
                <a:solidFill>
                  <a:srgbClr val="70D6C4"/>
                </a:solidFill>
                <a:latin typeface="Consolas"/>
                <a:ea typeface="Consolas"/>
                <a:cs typeface="Consolas"/>
              </a:defRPr>
            </a:lvl1pPr>
            <a:lvl2pPr>
              <a:defRPr sz="1800" b="0">
                <a:solidFill>
                  <a:srgbClr val="70D6C4"/>
                </a:solidFill>
                <a:latin typeface="Consolas"/>
                <a:ea typeface="Consolas"/>
                <a:cs typeface="Consolas"/>
              </a:defRPr>
            </a:lvl2pPr>
            <a:lvl3pPr>
              <a:defRPr sz="1800" b="0">
                <a:solidFill>
                  <a:srgbClr val="70D6C4"/>
                </a:solidFill>
                <a:latin typeface="Consolas"/>
                <a:ea typeface="Consolas"/>
                <a:cs typeface="Consolas"/>
              </a:defRPr>
            </a:lvl3pPr>
            <a:lvl4pPr>
              <a:defRPr sz="1800" b="0">
                <a:solidFill>
                  <a:srgbClr val="70D6C4"/>
                </a:solidFill>
                <a:latin typeface="Consolas"/>
                <a:ea typeface="Consolas"/>
                <a:cs typeface="Consolas"/>
              </a:defRPr>
            </a:lvl4pPr>
            <a:lvl5pPr>
              <a:defRPr sz="1800" b="0">
                <a:solidFill>
                  <a:srgbClr val="70D6C4"/>
                </a:solidFill>
                <a:latin typeface="Consolas"/>
                <a:ea typeface="Consolas"/>
                <a:cs typeface="Consolas"/>
              </a:defRPr>
            </a:lvl5pPr>
            <a:lvl6pPr>
              <a:defRPr sz="1800" b="0">
                <a:solidFill>
                  <a:srgbClr val="70D6C4"/>
                </a:solidFill>
                <a:latin typeface="Consolas"/>
                <a:ea typeface="Consolas"/>
                <a:cs typeface="Consolas"/>
              </a:defRPr>
            </a:lvl6pPr>
            <a:lvl7pPr>
              <a:defRPr sz="1800" b="0">
                <a:solidFill>
                  <a:srgbClr val="70D6C4"/>
                </a:solidFill>
                <a:latin typeface="Consolas"/>
                <a:ea typeface="Consolas"/>
                <a:cs typeface="Consolas"/>
              </a:defRPr>
            </a:lvl7pPr>
            <a:lvl8pPr>
              <a:defRPr sz="1800" b="0">
                <a:solidFill>
                  <a:srgbClr val="70D6C4"/>
                </a:solidFill>
                <a:latin typeface="Consolas"/>
                <a:ea typeface="Consolas"/>
                <a:cs typeface="Consolas"/>
              </a:defRPr>
            </a:lvl8pPr>
            <a:lvl9pPr>
              <a:defRPr sz="1800" b="0">
                <a:solidFill>
                  <a:srgbClr val="70D6C4"/>
                </a:solidFill>
                <a:latin typeface="Consolas"/>
                <a:ea typeface="Consolas"/>
                <a:cs typeface="Consolas"/>
              </a:defRPr>
            </a:lvl9pPr>
          </a:lstStyle>
          <a:p>
            <a:pPr>
              <a:defRPr sz="1800" b="0">
                <a:solidFill>
                  <a:srgbClr val="70D6C4"/>
                </a:solidFill>
                <a:latin typeface="Consolas"/>
                <a:ea typeface="Consolas"/>
                <a:cs typeface="Consolas"/>
              </a:defRPr>
            </a:pPr>
            <a:r>
              <a:rPr sz="1800" b="0">
                <a:solidFill>
                  <a:srgbClr val="70D6C4"/>
                </a:solidFill>
                <a:latin typeface="Consolas"/>
                <a:ea typeface="Consolas"/>
                <a:cs typeface="Consolas"/>
              </a:rPr>
              <a:t>EXPLAIN SELECT order_id FROM reporting.sales_order</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WHERE customer_id=1 AND ordered_at&gt;=DATE '2026-01-01'</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AND ordered_at&lt;DATE '2027-01-01';</a:t>
            </a:r>
          </a:p>
        </p:txBody>
      </p:sp>
      <p:sp>
        <p:nvSpPr>
          <p:cNvPr id="6" name="Rectangle 5">
            <a:extLst>
              <a:ext uri="{FF2B5EF4-FFF2-40B4-BE49-F238E27FC236}">
                <a16:creationId xmlns:a16="http://schemas.microsoft.com/office/drawing/2014/main" id="{1F0CA206-5BE8-4804-9B68-7CE195D3C685}"/>
              </a:ext>
            </a:extLst>
          </p:cNvPr>
          <p:cNvSpPr>
            <a:spLocks noGrp="1"/>
          </p:cNvSpPr>
          <p:nvPr/>
        </p:nvSpPr>
        <p:spPr>
          <a:xfrm>
            <a:off x="609600" y="4076700"/>
            <a:ext cx="10858500" cy="333375"/>
          </a:xfrm>
          <a:prstGeom prst="rect">
            <a:avLst/>
          </a:prstGeom>
          <a:noFill/>
          <a:ln w="0">
            <a:noFill/>
          </a:ln>
        </p:spPr>
        <p:txBody>
          <a:bodyPr wrap="square" lIns="0" tIns="0" rIns="0" bIns="0" anchor="t">
            <a:noAutofit/>
          </a:bodyPr>
          <a:lstStyle>
            <a:defPPr>
              <a:defRPr sz="1950" b="1">
                <a:solidFill>
                  <a:srgbClr val="F1F4F6"/>
                </a:solidFill>
                <a:latin typeface="Arial"/>
                <a:ea typeface="Arial"/>
                <a:cs typeface="Arial"/>
              </a:defRPr>
            </a:defPPr>
            <a:lvl1pPr>
              <a:defRPr sz="1950" b="1">
                <a:solidFill>
                  <a:srgbClr val="F1F4F6"/>
                </a:solidFill>
                <a:latin typeface="Arial"/>
                <a:ea typeface="Arial"/>
                <a:cs typeface="Arial"/>
              </a:defRPr>
            </a:lvl1pPr>
            <a:lvl2pPr>
              <a:defRPr sz="1950" b="1">
                <a:solidFill>
                  <a:srgbClr val="F1F4F6"/>
                </a:solidFill>
                <a:latin typeface="Arial"/>
                <a:ea typeface="Arial"/>
                <a:cs typeface="Arial"/>
              </a:defRPr>
            </a:lvl2pPr>
            <a:lvl3pPr>
              <a:defRPr sz="1950" b="1">
                <a:solidFill>
                  <a:srgbClr val="F1F4F6"/>
                </a:solidFill>
                <a:latin typeface="Arial"/>
                <a:ea typeface="Arial"/>
                <a:cs typeface="Arial"/>
              </a:defRPr>
            </a:lvl3pPr>
            <a:lvl4pPr>
              <a:defRPr sz="1950" b="1">
                <a:solidFill>
                  <a:srgbClr val="F1F4F6"/>
                </a:solidFill>
                <a:latin typeface="Arial"/>
                <a:ea typeface="Arial"/>
                <a:cs typeface="Arial"/>
              </a:defRPr>
            </a:lvl4pPr>
            <a:lvl5pPr>
              <a:defRPr sz="1950" b="1">
                <a:solidFill>
                  <a:srgbClr val="F1F4F6"/>
                </a:solidFill>
                <a:latin typeface="Arial"/>
                <a:ea typeface="Arial"/>
                <a:cs typeface="Arial"/>
              </a:defRPr>
            </a:lvl5pPr>
            <a:lvl6pPr>
              <a:defRPr sz="1950" b="1">
                <a:solidFill>
                  <a:srgbClr val="F1F4F6"/>
                </a:solidFill>
                <a:latin typeface="Arial"/>
                <a:ea typeface="Arial"/>
                <a:cs typeface="Arial"/>
              </a:defRPr>
            </a:lvl6pPr>
            <a:lvl7pPr>
              <a:defRPr sz="1950" b="1">
                <a:solidFill>
                  <a:srgbClr val="F1F4F6"/>
                </a:solidFill>
                <a:latin typeface="Arial"/>
                <a:ea typeface="Arial"/>
                <a:cs typeface="Arial"/>
              </a:defRPr>
            </a:lvl7pPr>
            <a:lvl8pPr>
              <a:defRPr sz="1950" b="1">
                <a:solidFill>
                  <a:srgbClr val="F1F4F6"/>
                </a:solidFill>
                <a:latin typeface="Arial"/>
                <a:ea typeface="Arial"/>
                <a:cs typeface="Arial"/>
              </a:defRPr>
            </a:lvl8pPr>
            <a:lvl9pPr>
              <a:defRPr sz="1950" b="1">
                <a:solidFill>
                  <a:srgbClr val="F1F4F6"/>
                </a:solidFill>
                <a:latin typeface="Arial"/>
                <a:ea typeface="Arial"/>
                <a:cs typeface="Arial"/>
              </a:defRPr>
            </a:lvl9pPr>
          </a:lstStyle>
          <a:p>
            <a:pPr>
              <a:defRPr sz="1950" b="1">
                <a:solidFill>
                  <a:srgbClr val="F1F4F6"/>
                </a:solidFill>
                <a:latin typeface="Arial"/>
                <a:ea typeface="Arial"/>
                <a:cs typeface="Arial"/>
              </a:defRPr>
            </a:pPr>
            <a:r>
              <a:rPr sz="1950" b="1">
                <a:solidFill>
                  <a:srgbClr val="F1F4F6"/>
                </a:solidFill>
                <a:latin typeface="Arial"/>
                <a:ea typeface="Arial"/>
                <a:cs typeface="Arial"/>
              </a:rPr>
              <a:t>Actual plan excerpt</a:t>
            </a:r>
          </a:p>
        </p:txBody>
      </p:sp>
      <p:sp>
        <p:nvSpPr>
          <p:cNvPr id="7" name="Rectangle 6">
            <a:extLst>
              <a:ext uri="{FF2B5EF4-FFF2-40B4-BE49-F238E27FC236}">
                <a16:creationId xmlns:a16="http://schemas.microsoft.com/office/drawing/2014/main" id="{BBA5C0E8-5119-4E1B-8D41-23BDDBD0C897}"/>
              </a:ext>
            </a:extLst>
          </p:cNvPr>
          <p:cNvSpPr>
            <a:spLocks noGrp="1"/>
          </p:cNvSpPr>
          <p:nvPr/>
        </p:nvSpPr>
        <p:spPr>
          <a:xfrm>
            <a:off x="609600" y="4638675"/>
            <a:ext cx="10953750" cy="952500"/>
          </a:xfrm>
          <a:prstGeom prst="rect">
            <a:avLst/>
          </a:prstGeom>
          <a:noFill/>
          <a:ln w="0">
            <a:noFill/>
          </a:ln>
        </p:spPr>
        <p:txBody>
          <a:bodyPr wrap="square" lIns="0" tIns="0" rIns="0" bIns="0" anchor="t">
            <a:noAutofit/>
          </a:bodyPr>
          <a:lstStyle>
            <a:defPPr>
              <a:defRPr sz="1650" b="0">
                <a:solidFill>
                  <a:srgbClr val="70D6C4"/>
                </a:solidFill>
                <a:latin typeface="Consolas"/>
                <a:ea typeface="Consolas"/>
                <a:cs typeface="Consolas"/>
              </a:defRPr>
            </a:defPPr>
            <a:lvl1pPr>
              <a:defRPr sz="1650" b="0">
                <a:solidFill>
                  <a:srgbClr val="70D6C4"/>
                </a:solidFill>
                <a:latin typeface="Consolas"/>
                <a:ea typeface="Consolas"/>
                <a:cs typeface="Consolas"/>
              </a:defRPr>
            </a:lvl1pPr>
            <a:lvl2pPr>
              <a:defRPr sz="1650" b="0">
                <a:solidFill>
                  <a:srgbClr val="70D6C4"/>
                </a:solidFill>
                <a:latin typeface="Consolas"/>
                <a:ea typeface="Consolas"/>
                <a:cs typeface="Consolas"/>
              </a:defRPr>
            </a:lvl2pPr>
            <a:lvl3pPr>
              <a:defRPr sz="1650" b="0">
                <a:solidFill>
                  <a:srgbClr val="70D6C4"/>
                </a:solidFill>
                <a:latin typeface="Consolas"/>
                <a:ea typeface="Consolas"/>
                <a:cs typeface="Consolas"/>
              </a:defRPr>
            </a:lvl3pPr>
            <a:lvl4pPr>
              <a:defRPr sz="1650" b="0">
                <a:solidFill>
                  <a:srgbClr val="70D6C4"/>
                </a:solidFill>
                <a:latin typeface="Consolas"/>
                <a:ea typeface="Consolas"/>
                <a:cs typeface="Consolas"/>
              </a:defRPr>
            </a:lvl4pPr>
            <a:lvl5pPr>
              <a:defRPr sz="1650" b="0">
                <a:solidFill>
                  <a:srgbClr val="70D6C4"/>
                </a:solidFill>
                <a:latin typeface="Consolas"/>
                <a:ea typeface="Consolas"/>
                <a:cs typeface="Consolas"/>
              </a:defRPr>
            </a:lvl5pPr>
            <a:lvl6pPr>
              <a:defRPr sz="1650" b="0">
                <a:solidFill>
                  <a:srgbClr val="70D6C4"/>
                </a:solidFill>
                <a:latin typeface="Consolas"/>
                <a:ea typeface="Consolas"/>
                <a:cs typeface="Consolas"/>
              </a:defRPr>
            </a:lvl6pPr>
            <a:lvl7pPr>
              <a:defRPr sz="1650" b="0">
                <a:solidFill>
                  <a:srgbClr val="70D6C4"/>
                </a:solidFill>
                <a:latin typeface="Consolas"/>
                <a:ea typeface="Consolas"/>
                <a:cs typeface="Consolas"/>
              </a:defRPr>
            </a:lvl7pPr>
            <a:lvl8pPr>
              <a:defRPr sz="1650" b="0">
                <a:solidFill>
                  <a:srgbClr val="70D6C4"/>
                </a:solidFill>
                <a:latin typeface="Consolas"/>
                <a:ea typeface="Consolas"/>
                <a:cs typeface="Consolas"/>
              </a:defRPr>
            </a:lvl8pPr>
            <a:lvl9pPr>
              <a:defRPr sz="1650" b="0">
                <a:solidFill>
                  <a:srgbClr val="70D6C4"/>
                </a:solidFill>
                <a:latin typeface="Consolas"/>
                <a:ea typeface="Consolas"/>
                <a:cs typeface="Consolas"/>
              </a:defRPr>
            </a:lvl9pPr>
          </a:lstStyle>
          <a:p>
            <a:pPr>
              <a:defRPr sz="1650" b="0">
                <a:solidFill>
                  <a:srgbClr val="70D6C4"/>
                </a:solidFill>
                <a:latin typeface="Consolas"/>
                <a:ea typeface="Consolas"/>
                <a:cs typeface="Consolas"/>
              </a:defRPr>
            </a:pPr>
            <a:r>
              <a:rPr sz="1650" b="0">
                <a:solidFill>
                  <a:srgbClr val="70D6C4"/>
                </a:solidFill>
                <a:latin typeface="Consolas"/>
                <a:ea typeface="Consolas"/>
                <a:cs typeface="Consolas"/>
              </a:rPr>
              <a:t>Bitmap Heap Scan on sales_order  (cost=4.55..41.62 rows=10 width=8)</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  -&gt;  Bitmap Index Scan on sales_order_customer_date  (cost=0.00..4.54 rows=10 width=0)</a:t>
            </a:r>
          </a:p>
        </p:txBody>
      </p:sp>
      <p:sp>
        <p:nvSpPr>
          <p:cNvPr id="8" name="Rectangle 7">
            <a:extLst>
              <a:ext uri="{FF2B5EF4-FFF2-40B4-BE49-F238E27FC236}">
                <a16:creationId xmlns:a16="http://schemas.microsoft.com/office/drawing/2014/main" id="{0F907C22-2B6C-45C5-9BE8-E9AE2864C451}"/>
              </a:ext>
            </a:extLst>
          </p:cNvPr>
          <p:cNvSpPr>
            <a:spLocks noGrp="1"/>
          </p:cNvSpPr>
          <p:nvPr/>
        </p:nvSpPr>
        <p:spPr>
          <a:xfrm>
            <a:off x="609600" y="6067425"/>
            <a:ext cx="10915650" cy="2667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Plan uses the existing index. EXPLAIN estimates work; it does not execute the SELECT or prove a speedup.</a:t>
            </a:r>
          </a:p>
        </p:txBody>
      </p:sp>
    </p:spTree>
    <p:extLst>
      <p:ext uri="{BB962C8B-B14F-4D97-AF65-F5344CB8AC3E}">
        <p14:creationId xmlns:p14="http://schemas.microsoft.com/office/powerpoint/2010/main" val="18616343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7A9B58E-5A06-417E-9D96-25B1FF5E0720}"/>
              </a:ext>
            </a:extLst>
          </p:cNvPr>
          <p:cNvSpPr>
            <a:spLocks noGrp="1"/>
          </p:cNvSpPr>
          <p:nvPr/>
        </p:nvSpPr>
        <p:spPr>
          <a:xfrm>
            <a:off x="590550" y="457200"/>
            <a:ext cx="11010900" cy="809625"/>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Trigger reference: all five reporting triggers</a:t>
            </a:r>
          </a:p>
        </p:txBody>
      </p:sp>
      <p:sp>
        <p:nvSpPr>
          <p:cNvPr id="2" name="Rectangle 1">
            <a:extLst>
              <a:ext uri="{FF2B5EF4-FFF2-40B4-BE49-F238E27FC236}">
                <a16:creationId xmlns:a16="http://schemas.microsoft.com/office/drawing/2014/main" id="{F1BC55CB-6567-48FF-A058-4EE23B97078A}"/>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63</a:t>
            </a:r>
          </a:p>
        </p:txBody>
      </p:sp>
      <p:sp>
        <p:nvSpPr>
          <p:cNvPr id="3" name="Rectangle 2">
            <a:extLst>
              <a:ext uri="{FF2B5EF4-FFF2-40B4-BE49-F238E27FC236}">
                <a16:creationId xmlns:a16="http://schemas.microsoft.com/office/drawing/2014/main" id="{AE5D5493-07A6-4423-BEC7-1C6B1F45C55C}"/>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DATABASE SYSTEMS LAB</a:t>
            </a:r>
          </a:p>
        </p:txBody>
      </p:sp>
      <p:graphicFrame>
        <p:nvGraphicFramePr>
          <p:cNvPr id="4" name="Table 3">
            <a:extLst>
              <a:ext uri="{FF2B5EF4-FFF2-40B4-BE49-F238E27FC236}">
                <a16:creationId xmlns:a16="http://schemas.microsoft.com/office/drawing/2014/main" id="{0F69AC73-61D9-45C7-A65B-0F50660FDC5B}"/>
              </a:ext>
            </a:extLst>
          </p:cNvPr>
          <p:cNvGraphicFramePr/>
          <p:nvPr/>
        </p:nvGraphicFramePr>
        <p:xfrm>
          <a:off x="609600" y="1552575"/>
          <a:ext cx="10972800" cy="3381375"/>
        </p:xfrm>
        <a:graphic>
          <a:graphicData uri="http://schemas.openxmlformats.org/drawingml/2006/table">
            <a:tbl>
              <a:tblPr firstRow="1"/>
              <a:tblGrid>
                <a:gridCol w="3286125">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5210175">
                  <a:extLst>
                    <a:ext uri="{9D8B030D-6E8A-4147-A177-3AD203B41FA5}">
                      <a16:colId xmlns:a16="http://schemas.microsoft.com/office/drawing/2014/main" val="20002"/>
                    </a:ext>
                  </a:extLst>
                </a:gridCol>
              </a:tblGrid>
              <a:tr h="563563">
                <a:tc>
                  <a:txBody>
                    <a:bodyPr/>
                    <a:lstStyle/>
                    <a:p>
                      <a:r>
                        <a:rPr sz="1725" b="1">
                          <a:solidFill>
                            <a:srgbClr val="70D6C4"/>
                          </a:solidFill>
                          <a:latin typeface="Arial"/>
                          <a:ea typeface="Arial"/>
                          <a:cs typeface="Arial"/>
                        </a:rPr>
                        <a:t>Trigger</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725" b="1">
                          <a:solidFill>
                            <a:srgbClr val="70D6C4"/>
                          </a:solidFill>
                          <a:latin typeface="Arial"/>
                          <a:ea typeface="Arial"/>
                          <a:cs typeface="Arial"/>
                        </a:rPr>
                        <a:t>Table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725" b="1">
                          <a:solidFill>
                            <a:srgbClr val="70D6C4"/>
                          </a:solidFill>
                          <a:latin typeface="Arial"/>
                          <a:ea typeface="Arial"/>
                          <a:cs typeface="Arial"/>
                        </a:rPr>
                        <a:t>Event / function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63563">
                <a:tc>
                  <a:txBody>
                    <a:bodyPr/>
                    <a:lstStyle/>
                    <a:p>
                      <a:r>
                        <a:rPr sz="1725" b="0">
                          <a:solidFill>
                            <a:srgbClr val="F1F4F6"/>
                          </a:solidFill>
                          <a:latin typeface="Arial"/>
                          <a:ea typeface="Arial"/>
                          <a:cs typeface="Arial"/>
                        </a:rPr>
                        <a:t>reporting_request_insert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report_request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AFTER INSERT → audit_state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63563">
                <a:tc>
                  <a:txBody>
                    <a:bodyPr/>
                    <a:lstStyle/>
                    <a:p>
                      <a:r>
                        <a:rPr sz="1725" b="0">
                          <a:solidFill>
                            <a:srgbClr val="F1F4F6"/>
                          </a:solidFill>
                          <a:latin typeface="Arial"/>
                          <a:ea typeface="Arial"/>
                          <a:cs typeface="Arial"/>
                        </a:rPr>
                        <a:t>reporting_request_state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report_request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AFTER state change → audit_state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63563">
                <a:tc>
                  <a:txBody>
                    <a:bodyPr/>
                    <a:lstStyle/>
                    <a:p>
                      <a:r>
                        <a:rPr sz="1725" b="0">
                          <a:solidFill>
                            <a:srgbClr val="F1F4F6"/>
                          </a:solidFill>
                          <a:latin typeface="Arial"/>
                          <a:ea typeface="Arial"/>
                          <a:cs typeface="Arial"/>
                        </a:rPr>
                        <a:t>immutable_template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template_version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BEFORE UPDATE/DELETE → prevent_history_change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63563">
                <a:tc>
                  <a:txBody>
                    <a:bodyPr/>
                    <a:lstStyle/>
                    <a:p>
                      <a:r>
                        <a:rPr sz="1725" b="0">
                          <a:solidFill>
                            <a:srgbClr val="F1F4F6"/>
                          </a:solidFill>
                          <a:latin typeface="Arial"/>
                          <a:ea typeface="Arial"/>
                          <a:cs typeface="Arial"/>
                        </a:rPr>
                        <a:t>immutable_dataset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report_dataset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BEFORE UPDATE/DELETE → prevent_history_change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63563">
                <a:tc>
                  <a:txBody>
                    <a:bodyPr/>
                    <a:lstStyle/>
                    <a:p>
                      <a:r>
                        <a:rPr sz="1725" b="0">
                          <a:solidFill>
                            <a:srgbClr val="F1F4F6"/>
                          </a:solidFill>
                          <a:latin typeface="Arial"/>
                          <a:ea typeface="Arial"/>
                          <a:cs typeface="Arial"/>
                        </a:rPr>
                        <a:t>stock_history_immutable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stock_movement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725" b="0">
                          <a:solidFill>
                            <a:srgbClr val="F1F4F6"/>
                          </a:solidFill>
                          <a:latin typeface="Arial"/>
                          <a:ea typeface="Arial"/>
                          <a:cs typeface="Arial"/>
                        </a:rPr>
                        <a:t>BEFORE UPDATE/DELETE → protect_stock_history</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2EB79718-302C-4DD9-9599-834BD3F62444}"/>
              </a:ext>
            </a:extLst>
          </p:cNvPr>
          <p:cNvSpPr>
            <a:spLocks noGrp="1"/>
          </p:cNvSpPr>
          <p:nvPr/>
        </p:nvSpPr>
        <p:spPr>
          <a:xfrm>
            <a:off x="609600" y="5238750"/>
            <a:ext cx="10953750" cy="857250"/>
          </a:xfrm>
          <a:prstGeom prst="rect">
            <a:avLst/>
          </a:prstGeom>
          <a:noFill/>
          <a:ln w="0">
            <a:noFill/>
          </a:ln>
        </p:spPr>
        <p:txBody>
          <a:bodyPr wrap="square" lIns="0" tIns="0" rIns="0" bIns="0" anchor="t">
            <a:noAutofit/>
          </a:bodyPr>
          <a:lstStyle>
            <a:defPPr>
              <a:defRPr sz="1650" b="0">
                <a:solidFill>
                  <a:srgbClr val="70D6C4"/>
                </a:solidFill>
                <a:latin typeface="Consolas"/>
                <a:ea typeface="Consolas"/>
                <a:cs typeface="Consolas"/>
              </a:defRPr>
            </a:defPPr>
            <a:lvl1pPr>
              <a:defRPr sz="1650" b="0">
                <a:solidFill>
                  <a:srgbClr val="70D6C4"/>
                </a:solidFill>
                <a:latin typeface="Consolas"/>
                <a:ea typeface="Consolas"/>
                <a:cs typeface="Consolas"/>
              </a:defRPr>
            </a:lvl1pPr>
            <a:lvl2pPr>
              <a:defRPr sz="1650" b="0">
                <a:solidFill>
                  <a:srgbClr val="70D6C4"/>
                </a:solidFill>
                <a:latin typeface="Consolas"/>
                <a:ea typeface="Consolas"/>
                <a:cs typeface="Consolas"/>
              </a:defRPr>
            </a:lvl2pPr>
            <a:lvl3pPr>
              <a:defRPr sz="1650" b="0">
                <a:solidFill>
                  <a:srgbClr val="70D6C4"/>
                </a:solidFill>
                <a:latin typeface="Consolas"/>
                <a:ea typeface="Consolas"/>
                <a:cs typeface="Consolas"/>
              </a:defRPr>
            </a:lvl3pPr>
            <a:lvl4pPr>
              <a:defRPr sz="1650" b="0">
                <a:solidFill>
                  <a:srgbClr val="70D6C4"/>
                </a:solidFill>
                <a:latin typeface="Consolas"/>
                <a:ea typeface="Consolas"/>
                <a:cs typeface="Consolas"/>
              </a:defRPr>
            </a:lvl4pPr>
            <a:lvl5pPr>
              <a:defRPr sz="1650" b="0">
                <a:solidFill>
                  <a:srgbClr val="70D6C4"/>
                </a:solidFill>
                <a:latin typeface="Consolas"/>
                <a:ea typeface="Consolas"/>
                <a:cs typeface="Consolas"/>
              </a:defRPr>
            </a:lvl5pPr>
            <a:lvl6pPr>
              <a:defRPr sz="1650" b="0">
                <a:solidFill>
                  <a:srgbClr val="70D6C4"/>
                </a:solidFill>
                <a:latin typeface="Consolas"/>
                <a:ea typeface="Consolas"/>
                <a:cs typeface="Consolas"/>
              </a:defRPr>
            </a:lvl6pPr>
            <a:lvl7pPr>
              <a:defRPr sz="1650" b="0">
                <a:solidFill>
                  <a:srgbClr val="70D6C4"/>
                </a:solidFill>
                <a:latin typeface="Consolas"/>
                <a:ea typeface="Consolas"/>
                <a:cs typeface="Consolas"/>
              </a:defRPr>
            </a:lvl7pPr>
            <a:lvl8pPr>
              <a:defRPr sz="1650" b="0">
                <a:solidFill>
                  <a:srgbClr val="70D6C4"/>
                </a:solidFill>
                <a:latin typeface="Consolas"/>
                <a:ea typeface="Consolas"/>
                <a:cs typeface="Consolas"/>
              </a:defRPr>
            </a:lvl8pPr>
            <a:lvl9pPr>
              <a:defRPr sz="1650" b="0">
                <a:solidFill>
                  <a:srgbClr val="70D6C4"/>
                </a:solidFill>
                <a:latin typeface="Consolas"/>
                <a:ea typeface="Consolas"/>
                <a:cs typeface="Consolas"/>
              </a:defRPr>
            </a:lvl9pPr>
          </a:lstStyle>
          <a:p>
            <a:pPr>
              <a:defRPr sz="1650" b="0">
                <a:solidFill>
                  <a:srgbClr val="70D6C4"/>
                </a:solidFill>
                <a:latin typeface="Consolas"/>
                <a:ea typeface="Consolas"/>
                <a:cs typeface="Consolas"/>
              </a:defRPr>
            </a:pPr>
            <a:r>
              <a:rPr sz="1650" b="0">
                <a:solidFill>
                  <a:srgbClr val="70D6C4"/>
                </a:solidFill>
                <a:latin typeface="Consolas"/>
                <a:ea typeface="Consolas"/>
                <a:cs typeface="Consolas"/>
              </a:rPr>
              <a:t>CREATE TRIGGER immutable_dataset</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BEFORE UPDATE OR DELETE ON reporting.report_dataset</a:t>
            </a:r>
          </a:p>
          <a:p>
            <a:pPr>
              <a:defRPr sz="1650" b="0">
                <a:solidFill>
                  <a:srgbClr val="70D6C4"/>
                </a:solidFill>
                <a:latin typeface="Consolas"/>
                <a:ea typeface="Consolas"/>
                <a:cs typeface="Consolas"/>
              </a:defRPr>
            </a:pPr>
            <a:r>
              <a:rPr sz="1650" b="0">
                <a:solidFill>
                  <a:srgbClr val="70D6C4"/>
                </a:solidFill>
                <a:latin typeface="Consolas"/>
                <a:ea typeface="Consolas"/>
                <a:cs typeface="Consolas"/>
              </a:rPr>
              <a:t>FOR EACH ROW EXECUTE FUNCTION reporting.prevent_history_change();</a:t>
            </a:r>
          </a:p>
        </p:txBody>
      </p:sp>
    </p:spTree>
    <p:extLst>
      <p:ext uri="{BB962C8B-B14F-4D97-AF65-F5344CB8AC3E}">
        <p14:creationId xmlns:p14="http://schemas.microsoft.com/office/powerpoint/2010/main" val="15721055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97D4180-9E17-4BAB-9304-4E617D71B7D8}"/>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customer</a:t>
            </a:r>
          </a:p>
        </p:txBody>
      </p:sp>
      <p:sp>
        <p:nvSpPr>
          <p:cNvPr id="2" name="Rectangle 1">
            <a:extLst>
              <a:ext uri="{FF2B5EF4-FFF2-40B4-BE49-F238E27FC236}">
                <a16:creationId xmlns:a16="http://schemas.microsoft.com/office/drawing/2014/main" id="{ECE822E3-0B01-48F2-AAB7-A11672B42085}"/>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64</a:t>
            </a:r>
          </a:p>
        </p:txBody>
      </p:sp>
      <p:sp>
        <p:nvSpPr>
          <p:cNvPr id="3" name="Rectangle 2">
            <a:extLst>
              <a:ext uri="{FF2B5EF4-FFF2-40B4-BE49-F238E27FC236}">
                <a16:creationId xmlns:a16="http://schemas.microsoft.com/office/drawing/2014/main" id="{A79A39FA-4FC6-4BCE-9CBD-F7B3CB49E519}"/>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508DE8D2-62A0-43EE-A21C-6F606CF27C3E}"/>
              </a:ext>
            </a:extLst>
          </p:cNvPr>
          <p:cNvGraphicFramePr/>
          <p:nvPr/>
        </p:nvGraphicFramePr>
        <p:xfrm>
          <a:off x="609600" y="1476375"/>
          <a:ext cx="10972800" cy="3257550"/>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customer_id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Generated customer identifier.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customer_ref</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UQ</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Unique readable customer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full_name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Required customer name.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email</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UQ</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Unique customer email address.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region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Customer region.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9911C655-EA10-4CDE-8602-AE792EC77D63}"/>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6046652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D5D045E-89C9-47B2-9D39-FE35BA31EE5E}"/>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product</a:t>
            </a:r>
          </a:p>
        </p:txBody>
      </p:sp>
      <p:sp>
        <p:nvSpPr>
          <p:cNvPr id="2" name="Rectangle 1">
            <a:extLst>
              <a:ext uri="{FF2B5EF4-FFF2-40B4-BE49-F238E27FC236}">
                <a16:creationId xmlns:a16="http://schemas.microsoft.com/office/drawing/2014/main" id="{04A9D966-55A5-46BB-8CC4-E0EBC4704AA7}"/>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65</a:t>
            </a:r>
          </a:p>
        </p:txBody>
      </p:sp>
      <p:sp>
        <p:nvSpPr>
          <p:cNvPr id="3" name="Rectangle 2">
            <a:extLst>
              <a:ext uri="{FF2B5EF4-FFF2-40B4-BE49-F238E27FC236}">
                <a16:creationId xmlns:a16="http://schemas.microsoft.com/office/drawing/2014/main" id="{9927CB5F-B21E-4DBD-B44B-E566601A12B0}"/>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45C844B4-16EC-441D-A633-69BB53076388}"/>
              </a:ext>
            </a:extLst>
          </p:cNvPr>
          <p:cNvGraphicFramePr/>
          <p:nvPr/>
        </p:nvGraphicFramePr>
        <p:xfrm>
          <a:off x="609600" y="1476375"/>
          <a:ext cx="10972800" cy="3286125"/>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product_id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Generated product identifier.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sku</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UQ</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Unique business product code.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product_name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Current product name.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category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Product category.</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catalogue_price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numeric</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Current catalogue price, separate from sale price.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FB059CDC-3581-481B-BBED-1ABB5E529639}"/>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0168447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1A6657A-2AD1-4E8A-B616-F78E38AAC656}"/>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sales_order</a:t>
            </a:r>
          </a:p>
        </p:txBody>
      </p:sp>
      <p:sp>
        <p:nvSpPr>
          <p:cNvPr id="2" name="Rectangle 1">
            <a:extLst>
              <a:ext uri="{FF2B5EF4-FFF2-40B4-BE49-F238E27FC236}">
                <a16:creationId xmlns:a16="http://schemas.microsoft.com/office/drawing/2014/main" id="{00FB2FAD-293E-4AA9-A5B6-D45002AD6C2A}"/>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66</a:t>
            </a:r>
          </a:p>
        </p:txBody>
      </p:sp>
      <p:sp>
        <p:nvSpPr>
          <p:cNvPr id="3" name="Rectangle 2">
            <a:extLst>
              <a:ext uri="{FF2B5EF4-FFF2-40B4-BE49-F238E27FC236}">
                <a16:creationId xmlns:a16="http://schemas.microsoft.com/office/drawing/2014/main" id="{83EC1AF8-39C8-4AC1-B103-C42C98271035}"/>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79A5573D-8CE9-476F-98E7-35D7EB84A6C7}"/>
              </a:ext>
            </a:extLst>
          </p:cNvPr>
          <p:cNvGraphicFramePr/>
          <p:nvPr/>
        </p:nvGraphicFramePr>
        <p:xfrm>
          <a:off x="609600" y="1476375"/>
          <a:ext cx="10972800" cy="3257550"/>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order_id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Generated order identifier.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order_ref</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UQ</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Unique readable order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customer_id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FK: customer.customer_id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Customer who placed the order.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ordered_at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date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Business date of the order.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status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Completed or cancelled order state.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B4CB3F88-2FD1-4A0B-9E92-DCCEEFC8E5D1}"/>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2948210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D7C2EB0-B6E9-4803-A686-34AD76850F28}"/>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order_item</a:t>
            </a:r>
          </a:p>
        </p:txBody>
      </p:sp>
      <p:sp>
        <p:nvSpPr>
          <p:cNvPr id="2" name="Rectangle 1">
            <a:extLst>
              <a:ext uri="{FF2B5EF4-FFF2-40B4-BE49-F238E27FC236}">
                <a16:creationId xmlns:a16="http://schemas.microsoft.com/office/drawing/2014/main" id="{CA8204BC-9DED-4716-87BA-70083B79EFF0}"/>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67</a:t>
            </a:r>
          </a:p>
        </p:txBody>
      </p:sp>
      <p:sp>
        <p:nvSpPr>
          <p:cNvPr id="3" name="Rectangle 2">
            <a:extLst>
              <a:ext uri="{FF2B5EF4-FFF2-40B4-BE49-F238E27FC236}">
                <a16:creationId xmlns:a16="http://schemas.microsoft.com/office/drawing/2014/main" id="{BB89F6DA-3AA7-43DE-B468-97C9C8E2C885}"/>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E9B918C5-0FD0-4F18-949D-79BFDADA9348}"/>
              </a:ext>
            </a:extLst>
          </p:cNvPr>
          <p:cNvGraphicFramePr/>
          <p:nvPr/>
        </p:nvGraphicFramePr>
        <p:xfrm>
          <a:off x="609600" y="1476375"/>
          <a:ext cx="10972800" cy="3257550"/>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order_id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FK, PK: sales_order.order_id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Parent order, part of the composite 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line_number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integer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Line position, part of the composite 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product_id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FK: product.product_id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Product sold on this line.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quantity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integer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Positive units sold, bounded by a CHECK.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unit_price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numeric</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Historical price per unit on this sale line.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6F925F35-B5FA-4E7C-940E-945A9BCE1A5F}"/>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8887968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CE5D61-D74E-4F81-876F-4840CBC433AB}"/>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inventory_balance</a:t>
            </a:r>
          </a:p>
        </p:txBody>
      </p:sp>
      <p:sp>
        <p:nvSpPr>
          <p:cNvPr id="2" name="Rectangle 1">
            <a:extLst>
              <a:ext uri="{FF2B5EF4-FFF2-40B4-BE49-F238E27FC236}">
                <a16:creationId xmlns:a16="http://schemas.microsoft.com/office/drawing/2014/main" id="{B5394934-3254-453B-9CAF-6226640497B2}"/>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68</a:t>
            </a:r>
          </a:p>
        </p:txBody>
      </p:sp>
      <p:sp>
        <p:nvSpPr>
          <p:cNvPr id="3" name="Rectangle 2">
            <a:extLst>
              <a:ext uri="{FF2B5EF4-FFF2-40B4-BE49-F238E27FC236}">
                <a16:creationId xmlns:a16="http://schemas.microsoft.com/office/drawing/2014/main" id="{D97BE42B-336D-4943-9D4A-7BDE7736B365}"/>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B3065752-C24D-4D6C-B567-64AD8EC7C889}"/>
              </a:ext>
            </a:extLst>
          </p:cNvPr>
          <p:cNvGraphicFramePr/>
          <p:nvPr/>
        </p:nvGraphicFramePr>
        <p:xfrm>
          <a:off x="609600" y="1476375"/>
          <a:ext cx="10972800" cy="2714625"/>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product_id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 FK: product.product_id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Product whose stock this row tracks.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quantity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integer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Current physical units available.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reorder_level</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integer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Threshold for a low-stock alert.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updated_at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timestamptz</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 of the latest balance update.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3AA3F2C2-273B-486E-B8CA-F6CBAC129351}"/>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8740890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78F701-2743-4A58-8E82-C9248185704D}"/>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stock_movement (1/2)</a:t>
            </a:r>
          </a:p>
        </p:txBody>
      </p:sp>
      <p:sp>
        <p:nvSpPr>
          <p:cNvPr id="2" name="Rectangle 1">
            <a:extLst>
              <a:ext uri="{FF2B5EF4-FFF2-40B4-BE49-F238E27FC236}">
                <a16:creationId xmlns:a16="http://schemas.microsoft.com/office/drawing/2014/main" id="{F6D71046-9707-4F5B-8664-6241CC8C19C6}"/>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69</a:t>
            </a:r>
          </a:p>
        </p:txBody>
      </p:sp>
      <p:sp>
        <p:nvSpPr>
          <p:cNvPr id="3" name="Rectangle 2">
            <a:extLst>
              <a:ext uri="{FF2B5EF4-FFF2-40B4-BE49-F238E27FC236}">
                <a16:creationId xmlns:a16="http://schemas.microsoft.com/office/drawing/2014/main" id="{F12A995D-2768-4EE3-BBEA-00AA2F4A8416}"/>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65424414-2C77-4E48-AAFF-89B4BC1C58E1}"/>
              </a:ext>
            </a:extLst>
          </p:cNvPr>
          <p:cNvGraphicFramePr/>
          <p:nvPr/>
        </p:nvGraphicFramePr>
        <p:xfrm>
          <a:off x="609600" y="1476375"/>
          <a:ext cx="10972800" cy="4371975"/>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movement_id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Generated movement identifier.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product_id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FK: product.product_id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Product affected by this movement.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kind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Receipt or sale operation.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quantity_delta</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integer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Signed change in physical units.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reference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UQ</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Unique business reference for safe retries.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r h="542925">
                <a:tc>
                  <a:txBody>
                    <a:bodyPr/>
                    <a:lstStyle/>
                    <a:p>
                      <a:r>
                        <a:rPr sz="1575" b="0">
                          <a:solidFill>
                            <a:srgbClr val="F1F4F6"/>
                          </a:solidFill>
                          <a:latin typeface="Arial"/>
                          <a:ea typeface="Arial"/>
                          <a:cs typeface="Arial"/>
                        </a:rPr>
                        <a:t>note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Optional explanation of the movement.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6"/>
                  </a:ext>
                </a:extLst>
              </a:tr>
              <a:tr h="542925">
                <a:tc>
                  <a:txBody>
                    <a:bodyPr/>
                    <a:lstStyle/>
                    <a:p>
                      <a:r>
                        <a:rPr sz="1575" b="0">
                          <a:solidFill>
                            <a:srgbClr val="F1F4F6"/>
                          </a:solidFill>
                          <a:latin typeface="Arial"/>
                          <a:ea typeface="Arial"/>
                          <a:cs typeface="Arial"/>
                        </a:rPr>
                        <a:t>actor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Authenticated user who posted it.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D0E659E0-6596-4924-AB7D-83016FB03E35}"/>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2723273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53AF4D-B1EE-426A-9527-C97E9D1668EA}"/>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stock_movement (2/2)</a:t>
            </a:r>
          </a:p>
        </p:txBody>
      </p:sp>
      <p:sp>
        <p:nvSpPr>
          <p:cNvPr id="2" name="Rectangle 1">
            <a:extLst>
              <a:ext uri="{FF2B5EF4-FFF2-40B4-BE49-F238E27FC236}">
                <a16:creationId xmlns:a16="http://schemas.microsoft.com/office/drawing/2014/main" id="{A40B15B1-79D6-4DDC-9D49-0F59B457E3DD}"/>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70</a:t>
            </a:r>
          </a:p>
        </p:txBody>
      </p:sp>
      <p:sp>
        <p:nvSpPr>
          <p:cNvPr id="3" name="Rectangle 2">
            <a:extLst>
              <a:ext uri="{FF2B5EF4-FFF2-40B4-BE49-F238E27FC236}">
                <a16:creationId xmlns:a16="http://schemas.microsoft.com/office/drawing/2014/main" id="{5D09A2C5-27D2-4AA5-AD65-6267CDF31927}"/>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8CBCAF37-C8B2-48DD-B8F9-D9EA168A5CCA}"/>
              </a:ext>
            </a:extLst>
          </p:cNvPr>
          <p:cNvGraphicFramePr/>
          <p:nvPr/>
        </p:nvGraphicFramePr>
        <p:xfrm>
          <a:off x="609600" y="1476375"/>
          <a:ext cx="10972800" cy="3257550"/>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customer_id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FK: customer.customer_id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Yes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Buyer for a sale, absent for receipts.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unit_price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numeric</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Yes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Sale-time unit price, absent for receipts.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order_id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FK, UQ: sales_order.order_id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Yes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Sales order generated by a sale.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posted_on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date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Business date of the movement.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created_at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timestamptz</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 the movement was recorded.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FD5A29AC-A40F-4EEC-AE5A-20D797BD8B00}"/>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8297851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03E3A73-3383-461D-BD7D-EFB07E831FFA}"/>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import_batch (1/2)</a:t>
            </a:r>
          </a:p>
        </p:txBody>
      </p:sp>
      <p:sp>
        <p:nvSpPr>
          <p:cNvPr id="2" name="Rectangle 1">
            <a:extLst>
              <a:ext uri="{FF2B5EF4-FFF2-40B4-BE49-F238E27FC236}">
                <a16:creationId xmlns:a16="http://schemas.microsoft.com/office/drawing/2014/main" id="{D3FD17F3-C329-4533-8709-ED4A5EB29D29}"/>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71</a:t>
            </a:r>
          </a:p>
        </p:txBody>
      </p:sp>
      <p:sp>
        <p:nvSpPr>
          <p:cNvPr id="3" name="Rectangle 2">
            <a:extLst>
              <a:ext uri="{FF2B5EF4-FFF2-40B4-BE49-F238E27FC236}">
                <a16:creationId xmlns:a16="http://schemas.microsoft.com/office/drawing/2014/main" id="{735FAFFA-14D8-43FD-95C5-FF45CF8A3BC0}"/>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E37455EF-C5A0-4540-A0A1-2196ADC86BC0}"/>
              </a:ext>
            </a:extLst>
          </p:cNvPr>
          <p:cNvGraphicFramePr/>
          <p:nvPr/>
        </p:nvGraphicFramePr>
        <p:xfrm>
          <a:off x="609600" y="1476375"/>
          <a:ext cx="10972800" cy="4343400"/>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batch_id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uuid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Import batch identifier.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filename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Original uploaded file name.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file_sha256</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SHA-256 digest of uploaded bytes.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headers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jsonb</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Original column header list.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mapping</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jsonb</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Header-to-field mapping used.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r h="542925">
                <a:tc>
                  <a:txBody>
                    <a:bodyPr/>
                    <a:lstStyle/>
                    <a:p>
                      <a:r>
                        <a:rPr sz="1575" b="0">
                          <a:solidFill>
                            <a:srgbClr val="F1F4F6"/>
                          </a:solidFill>
                          <a:latin typeface="Arial"/>
                          <a:ea typeface="Arial"/>
                          <a:cs typeface="Arial"/>
                        </a:rPr>
                        <a:t>mapping_source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Manual, alias or AI mapping source.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6"/>
                  </a:ext>
                </a:extLst>
              </a:tr>
              <a:tr h="542925">
                <a:tc>
                  <a:txBody>
                    <a:bodyPr/>
                    <a:lstStyle/>
                    <a:p>
                      <a:r>
                        <a:rPr sz="1575" b="0">
                          <a:solidFill>
                            <a:srgbClr val="F1F4F6"/>
                          </a:solidFill>
                          <a:latin typeface="Arial"/>
                          <a:ea typeface="Arial"/>
                          <a:cs typeface="Arial"/>
                        </a:rPr>
                        <a:t>actor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User who uploaded the file.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B962AE71-6C05-4CF1-929B-045445672532}"/>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2538753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DEDB20B-4176-4CE0-97A7-B112C7B8C704}"/>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import_batch (2/2)</a:t>
            </a:r>
          </a:p>
        </p:txBody>
      </p:sp>
      <p:sp>
        <p:nvSpPr>
          <p:cNvPr id="2" name="Rectangle 1">
            <a:extLst>
              <a:ext uri="{FF2B5EF4-FFF2-40B4-BE49-F238E27FC236}">
                <a16:creationId xmlns:a16="http://schemas.microsoft.com/office/drawing/2014/main" id="{54F0E01C-DFC2-49DE-8161-657DD6490981}"/>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72</a:t>
            </a:r>
          </a:p>
        </p:txBody>
      </p:sp>
      <p:sp>
        <p:nvSpPr>
          <p:cNvPr id="3" name="Rectangle 2">
            <a:extLst>
              <a:ext uri="{FF2B5EF4-FFF2-40B4-BE49-F238E27FC236}">
                <a16:creationId xmlns:a16="http://schemas.microsoft.com/office/drawing/2014/main" id="{131994B7-8977-45CC-B1C0-242E5E8C68ED}"/>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2A0CBD26-7719-4E2A-911A-0D43CB05B6CB}"/>
              </a:ext>
            </a:extLst>
          </p:cNvPr>
          <p:cNvGraphicFramePr/>
          <p:nvPr/>
        </p:nvGraphicFramePr>
        <p:xfrm>
          <a:off x="609600" y="1476375"/>
          <a:ext cx="10972800" cy="2171700"/>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state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Preview or committed batch state.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created_at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timestamptz</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 the batch entered staging.</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committed_at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timestamptz</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Yes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 accepted facts were committed.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D5F9CAC4-3C10-47A2-8D37-A23DBF51FB00}"/>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5190981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0CE695F-531D-4109-BFFB-B3951D5DBBBB}"/>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import_row</a:t>
            </a:r>
          </a:p>
        </p:txBody>
      </p:sp>
      <p:sp>
        <p:nvSpPr>
          <p:cNvPr id="2" name="Rectangle 1">
            <a:extLst>
              <a:ext uri="{FF2B5EF4-FFF2-40B4-BE49-F238E27FC236}">
                <a16:creationId xmlns:a16="http://schemas.microsoft.com/office/drawing/2014/main" id="{E86DE7F5-0DBC-4F94-A067-551321CCB681}"/>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73</a:t>
            </a:r>
          </a:p>
        </p:txBody>
      </p:sp>
      <p:sp>
        <p:nvSpPr>
          <p:cNvPr id="3" name="Rectangle 2">
            <a:extLst>
              <a:ext uri="{FF2B5EF4-FFF2-40B4-BE49-F238E27FC236}">
                <a16:creationId xmlns:a16="http://schemas.microsoft.com/office/drawing/2014/main" id="{9A4108C1-38F9-479D-85C3-0D329F613125}"/>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4D06C92C-C262-4587-AD2C-E2823A612239}"/>
              </a:ext>
            </a:extLst>
          </p:cNvPr>
          <p:cNvGraphicFramePr/>
          <p:nvPr/>
        </p:nvGraphicFramePr>
        <p:xfrm>
          <a:off x="609600" y="1476375"/>
          <a:ext cx="10972800" cy="3829050"/>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batch_id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uuid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FK, PK: import_batch.batch_id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Parent staged batch identifier.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row_number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integer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CSV line number within the batch.</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raw</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jsonb</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Original parsed values as JSON.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cleaned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jsonb</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Validated canonical values as JSON.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errors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jsonb</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Retained validation error messages.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r h="542925">
                <a:tc>
                  <a:txBody>
                    <a:bodyPr/>
                    <a:lstStyle/>
                    <a:p>
                      <a:r>
                        <a:rPr sz="1575" b="0">
                          <a:solidFill>
                            <a:srgbClr val="F1F4F6"/>
                          </a:solidFill>
                          <a:latin typeface="Arial"/>
                          <a:ea typeface="Arial"/>
                          <a:cs typeface="Arial"/>
                        </a:rPr>
                        <a:t>state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Valid, rejected, imported or duplicate.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6"/>
                  </a:ext>
                </a:extLst>
              </a:tr>
            </a:tbl>
          </a:graphicData>
        </a:graphic>
      </p:graphicFrame>
      <p:sp>
        <p:nvSpPr>
          <p:cNvPr id="5" name="Rectangle 4">
            <a:extLst>
              <a:ext uri="{FF2B5EF4-FFF2-40B4-BE49-F238E27FC236}">
                <a16:creationId xmlns:a16="http://schemas.microsoft.com/office/drawing/2014/main" id="{FF4A7BC2-55A3-41EC-8A7D-E4189BB6EAB3}"/>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2143279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083AFF6-C5DB-4065-8044-91FC539C501C}"/>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template_version</a:t>
            </a:r>
          </a:p>
        </p:txBody>
      </p:sp>
      <p:sp>
        <p:nvSpPr>
          <p:cNvPr id="2" name="Rectangle 1">
            <a:extLst>
              <a:ext uri="{FF2B5EF4-FFF2-40B4-BE49-F238E27FC236}">
                <a16:creationId xmlns:a16="http://schemas.microsoft.com/office/drawing/2014/main" id="{A260DE7C-FDBA-4D28-A52C-0420956570C1}"/>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74</a:t>
            </a:r>
          </a:p>
        </p:txBody>
      </p:sp>
      <p:sp>
        <p:nvSpPr>
          <p:cNvPr id="3" name="Rectangle 2">
            <a:extLst>
              <a:ext uri="{FF2B5EF4-FFF2-40B4-BE49-F238E27FC236}">
                <a16:creationId xmlns:a16="http://schemas.microsoft.com/office/drawing/2014/main" id="{53E0DA9C-6214-4F82-9405-D8FC242B986D}"/>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383828F7-C1CE-493E-A0ED-9F55F0ADCE91}"/>
              </a:ext>
            </a:extLst>
          </p:cNvPr>
          <p:cNvGraphicFramePr/>
          <p:nvPr/>
        </p:nvGraphicFramePr>
        <p:xfrm>
          <a:off x="609600" y="1476375"/>
          <a:ext cx="10972800" cy="3800475"/>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template_id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Identifier of a specific template version.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code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UQ</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Report kind, unique together with version.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version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integer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UQ</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Version number within the report kind.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title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Readable report title.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sql_text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Approved parameterized report SQL.</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r h="542925">
                <a:tc>
                  <a:txBody>
                    <a:bodyPr/>
                    <a:lstStyle/>
                    <a:p>
                      <a:r>
                        <a:rPr sz="1575" b="0">
                          <a:solidFill>
                            <a:srgbClr val="F1F4F6"/>
                          </a:solidFill>
                          <a:latin typeface="Arial"/>
                          <a:ea typeface="Arial"/>
                          <a:cs typeface="Arial"/>
                        </a:rPr>
                        <a:t>created_at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timestamptz</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 the template version was saved.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6"/>
                  </a:ext>
                </a:extLst>
              </a:tr>
            </a:tbl>
          </a:graphicData>
        </a:graphic>
      </p:graphicFrame>
      <p:sp>
        <p:nvSpPr>
          <p:cNvPr id="5" name="Rectangle 4">
            <a:extLst>
              <a:ext uri="{FF2B5EF4-FFF2-40B4-BE49-F238E27FC236}">
                <a16:creationId xmlns:a16="http://schemas.microsoft.com/office/drawing/2014/main" id="{62E41418-7C75-46C7-9BE1-5CC2B9195BC1}"/>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4351919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118BC4F-6863-4B42-ACBB-094DC8DF4561}"/>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report_run (1/2)</a:t>
            </a:r>
          </a:p>
        </p:txBody>
      </p:sp>
      <p:sp>
        <p:nvSpPr>
          <p:cNvPr id="2" name="Rectangle 1">
            <a:extLst>
              <a:ext uri="{FF2B5EF4-FFF2-40B4-BE49-F238E27FC236}">
                <a16:creationId xmlns:a16="http://schemas.microsoft.com/office/drawing/2014/main" id="{38A3BA46-229E-477A-A8ED-24B2BF43DFAA}"/>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75</a:t>
            </a:r>
          </a:p>
        </p:txBody>
      </p:sp>
      <p:sp>
        <p:nvSpPr>
          <p:cNvPr id="3" name="Rectangle 2">
            <a:extLst>
              <a:ext uri="{FF2B5EF4-FFF2-40B4-BE49-F238E27FC236}">
                <a16:creationId xmlns:a16="http://schemas.microsoft.com/office/drawing/2014/main" id="{F490655B-37DC-45C7-AA6A-8B88BE9F0BAB}"/>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2E183DF4-1AA6-428E-BF3C-5DA450372531}"/>
              </a:ext>
            </a:extLst>
          </p:cNvPr>
          <p:cNvGraphicFramePr/>
          <p:nvPr/>
        </p:nvGraphicFramePr>
        <p:xfrm>
          <a:off x="609600" y="1285875"/>
          <a:ext cx="10972800" cy="4371975"/>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run_id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uuid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Submitted report batch identifier.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submission_key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uuid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UQ</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Unique retry-safe submission identity.</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template_id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FK: template_version.template_id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Template version for the batch.</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requested_by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FK: app_user.user_id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Configured internal requester identity.</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customer_id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FK: customer.customer_id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Yes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Customer for a single statement.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r h="542925">
                <a:tc>
                  <a:txBody>
                    <a:bodyPr/>
                    <a:lstStyle/>
                    <a:p>
                      <a:r>
                        <a:rPr sz="1575" b="0">
                          <a:solidFill>
                            <a:srgbClr val="F1F4F6"/>
                          </a:solidFill>
                          <a:latin typeface="Arial"/>
                          <a:ea typeface="Arial"/>
                          <a:cs typeface="Arial"/>
                        </a:rPr>
                        <a:t>start_date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date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Inclusive reporting period start.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6"/>
                  </a:ext>
                </a:extLst>
              </a:tr>
              <a:tr h="542925">
                <a:tc>
                  <a:txBody>
                    <a:bodyPr/>
                    <a:lstStyle/>
                    <a:p>
                      <a:r>
                        <a:rPr sz="1575" b="0">
                          <a:solidFill>
                            <a:srgbClr val="F1F4F6"/>
                          </a:solidFill>
                          <a:latin typeface="Arial"/>
                          <a:ea typeface="Arial"/>
                          <a:cs typeface="Arial"/>
                        </a:rPr>
                        <a:t>end_date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date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Exclusive reporting period end.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441BF09C-A5CE-4B87-9940-7B0FE5EBFE8B}"/>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4931567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3DF416-DA41-407B-BAF9-58040FA0DFAC}"/>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report_run (2/2)</a:t>
            </a:r>
          </a:p>
        </p:txBody>
      </p:sp>
      <p:sp>
        <p:nvSpPr>
          <p:cNvPr id="2" name="Rectangle 1">
            <a:extLst>
              <a:ext uri="{FF2B5EF4-FFF2-40B4-BE49-F238E27FC236}">
                <a16:creationId xmlns:a16="http://schemas.microsoft.com/office/drawing/2014/main" id="{9D8B8A6C-2760-4290-A89A-1A72DE235274}"/>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76</a:t>
            </a:r>
          </a:p>
        </p:txBody>
      </p:sp>
      <p:sp>
        <p:nvSpPr>
          <p:cNvPr id="3" name="Rectangle 2">
            <a:extLst>
              <a:ext uri="{FF2B5EF4-FFF2-40B4-BE49-F238E27FC236}">
                <a16:creationId xmlns:a16="http://schemas.microsoft.com/office/drawing/2014/main" id="{BDD506CC-DDC1-4088-AD61-25B2A7D17501}"/>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99184760-8DFB-4438-AB15-78B961657E8A}"/>
              </a:ext>
            </a:extLst>
          </p:cNvPr>
          <p:cNvGraphicFramePr/>
          <p:nvPr/>
        </p:nvGraphicFramePr>
        <p:xfrm>
          <a:off x="609600" y="1476375"/>
          <a:ext cx="10972800" cy="3857625"/>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top_n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integer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Requested ranking limit, 1 to 100.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bulk</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boolean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Generate one statement for each customer.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status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Preparation state, distinct from file completion.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created_at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timestamptz</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 the run was submitted.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prepared_at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timestamptz</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Yes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 dataset preparation finished.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r h="542925">
                <a:tc>
                  <a:txBody>
                    <a:bodyPr/>
                    <a:lstStyle/>
                    <a:p>
                      <a:r>
                        <a:rPr sz="1575" b="0">
                          <a:solidFill>
                            <a:srgbClr val="F1F4F6"/>
                          </a:solidFill>
                          <a:latin typeface="Arial"/>
                          <a:ea typeface="Arial"/>
                          <a:cs typeface="Arial"/>
                        </a:rPr>
                        <a:t>error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Yes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Preparation error, if any.</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6"/>
                  </a:ext>
                </a:extLst>
              </a:tr>
            </a:tbl>
          </a:graphicData>
        </a:graphic>
      </p:graphicFrame>
      <p:sp>
        <p:nvSpPr>
          <p:cNvPr id="5" name="Rectangle 4">
            <a:extLst>
              <a:ext uri="{FF2B5EF4-FFF2-40B4-BE49-F238E27FC236}">
                <a16:creationId xmlns:a16="http://schemas.microsoft.com/office/drawing/2014/main" id="{6F534190-A893-4F0B-BE02-0D2F054D2D48}"/>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378224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A8DD42C-3A6F-418D-926E-7ED7FB259D1A}"/>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report_request (1/2)</a:t>
            </a:r>
          </a:p>
        </p:txBody>
      </p:sp>
      <p:sp>
        <p:nvSpPr>
          <p:cNvPr id="2" name="Rectangle 1">
            <a:extLst>
              <a:ext uri="{FF2B5EF4-FFF2-40B4-BE49-F238E27FC236}">
                <a16:creationId xmlns:a16="http://schemas.microsoft.com/office/drawing/2014/main" id="{90B2FD76-0BC4-473C-825A-1DE99075555F}"/>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77</a:t>
            </a:r>
          </a:p>
        </p:txBody>
      </p:sp>
      <p:sp>
        <p:nvSpPr>
          <p:cNvPr id="3" name="Rectangle 2">
            <a:extLst>
              <a:ext uri="{FF2B5EF4-FFF2-40B4-BE49-F238E27FC236}">
                <a16:creationId xmlns:a16="http://schemas.microsoft.com/office/drawing/2014/main" id="{FBDDE57D-D076-4B6C-9AC3-2BDCF7C50549}"/>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9DE0F17A-3028-4CDF-B1B5-79A8787107B7}"/>
              </a:ext>
            </a:extLst>
          </p:cNvPr>
          <p:cNvGraphicFramePr/>
          <p:nvPr/>
        </p:nvGraphicFramePr>
        <p:xfrm>
          <a:off x="609600" y="1285875"/>
          <a:ext cx="10972800" cy="4343400"/>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request_id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uuid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Individual report identifier.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run_id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uuid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FK, UQ: report_run.run_id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Parent batch, paired with subject_key.</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subject_key</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UQ</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Report subject within the batch.</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customer_id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FK: customer.customer_id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Yes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Customer for a statement.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state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Queued, processing, completed or failed.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r h="542925">
                <a:tc>
                  <a:txBody>
                    <a:bodyPr/>
                    <a:lstStyle/>
                    <a:p>
                      <a:r>
                        <a:rPr sz="1575" b="0">
                          <a:solidFill>
                            <a:srgbClr val="F1F4F6"/>
                          </a:solidFill>
                          <a:latin typeface="Arial"/>
                          <a:ea typeface="Arial"/>
                          <a:cs typeface="Arial"/>
                        </a:rPr>
                        <a:t>created_at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timestamptz</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 the individual report was requested.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6"/>
                  </a:ext>
                </a:extLst>
              </a:tr>
              <a:tr h="542925">
                <a:tc>
                  <a:txBody>
                    <a:bodyPr/>
                    <a:lstStyle/>
                    <a:p>
                      <a:r>
                        <a:rPr sz="1575" b="0">
                          <a:solidFill>
                            <a:srgbClr val="F1F4F6"/>
                          </a:solidFill>
                          <a:latin typeface="Arial"/>
                          <a:ea typeface="Arial"/>
                          <a:cs typeface="Arial"/>
                        </a:rPr>
                        <a:t>completed_at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timestamptz</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Yes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 the report completed, if applicable.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5818B1B3-957D-4512-9B9F-B7138D38ABF2}"/>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3118915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CA6B1D7-A364-441C-904A-37FEAAC08E25}"/>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report_request (2/2)</a:t>
            </a:r>
          </a:p>
        </p:txBody>
      </p:sp>
      <p:sp>
        <p:nvSpPr>
          <p:cNvPr id="2" name="Rectangle 1">
            <a:extLst>
              <a:ext uri="{FF2B5EF4-FFF2-40B4-BE49-F238E27FC236}">
                <a16:creationId xmlns:a16="http://schemas.microsoft.com/office/drawing/2014/main" id="{880A35AD-3563-407F-886A-F383F982DC7A}"/>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78</a:t>
            </a:r>
          </a:p>
        </p:txBody>
      </p:sp>
      <p:sp>
        <p:nvSpPr>
          <p:cNvPr id="3" name="Rectangle 2">
            <a:extLst>
              <a:ext uri="{FF2B5EF4-FFF2-40B4-BE49-F238E27FC236}">
                <a16:creationId xmlns:a16="http://schemas.microsoft.com/office/drawing/2014/main" id="{8739FC79-BDCD-4F1B-B213-370A1E46FB55}"/>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9E8E34CE-417E-4326-960E-EE054A5802EE}"/>
              </a:ext>
            </a:extLst>
          </p:cNvPr>
          <p:cNvGraphicFramePr/>
          <p:nvPr/>
        </p:nvGraphicFramePr>
        <p:xfrm>
          <a:off x="609600" y="1476375"/>
          <a:ext cx="10972800" cy="2200275"/>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last_error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Yes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Most recent processing error.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attempts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integer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Recorded rendering attempt count.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enqueued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boolean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Whether rendering work has been enqueued.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7A44716F-7F58-431C-8337-B3FE710EEEDC}"/>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7646895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C0CC770-D753-420E-8CF3-8597FFB61D75}"/>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report_dataset</a:t>
            </a:r>
          </a:p>
        </p:txBody>
      </p:sp>
      <p:sp>
        <p:nvSpPr>
          <p:cNvPr id="2" name="Rectangle 1">
            <a:extLst>
              <a:ext uri="{FF2B5EF4-FFF2-40B4-BE49-F238E27FC236}">
                <a16:creationId xmlns:a16="http://schemas.microsoft.com/office/drawing/2014/main" id="{1E61BA6A-ECC1-4312-BAEF-2D4E8D5A449D}"/>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79</a:t>
            </a:r>
          </a:p>
        </p:txBody>
      </p:sp>
      <p:sp>
        <p:nvSpPr>
          <p:cNvPr id="3" name="Rectangle 2">
            <a:extLst>
              <a:ext uri="{FF2B5EF4-FFF2-40B4-BE49-F238E27FC236}">
                <a16:creationId xmlns:a16="http://schemas.microsoft.com/office/drawing/2014/main" id="{F4CD9650-5C2B-4FF2-B688-77DECE9B3334}"/>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FEC7358A-B24E-4812-A7CA-9DB3FFA4AA7D}"/>
              </a:ext>
            </a:extLst>
          </p:cNvPr>
          <p:cNvGraphicFramePr/>
          <p:nvPr/>
        </p:nvGraphicFramePr>
        <p:xfrm>
          <a:off x="609600" y="1476375"/>
          <a:ext cx="10972800" cy="2200275"/>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request_id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uuid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 FK: report_request.request_id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Report identity, at most one saved dataset.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rows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jsonb</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Saved calculated rows used for rendering.</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captured_at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timestamptz</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 the dataset was captured.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6F7FBDC5-585B-4873-970A-9E190A11157B}"/>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6664643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645CE3-F505-4458-93E3-2B510B5F6C2D}"/>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report_result (1/2)</a:t>
            </a:r>
          </a:p>
        </p:txBody>
      </p:sp>
      <p:sp>
        <p:nvSpPr>
          <p:cNvPr id="2" name="Rectangle 1">
            <a:extLst>
              <a:ext uri="{FF2B5EF4-FFF2-40B4-BE49-F238E27FC236}">
                <a16:creationId xmlns:a16="http://schemas.microsoft.com/office/drawing/2014/main" id="{31D971C2-05E3-444B-BFE0-4D66F7CD0529}"/>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80</a:t>
            </a:r>
          </a:p>
        </p:txBody>
      </p:sp>
      <p:sp>
        <p:nvSpPr>
          <p:cNvPr id="3" name="Rectangle 2">
            <a:extLst>
              <a:ext uri="{FF2B5EF4-FFF2-40B4-BE49-F238E27FC236}">
                <a16:creationId xmlns:a16="http://schemas.microsoft.com/office/drawing/2014/main" id="{3B8541B0-EFA4-4B7C-B113-1BD62EADDF40}"/>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AA919C0F-60BF-40FE-8DFC-185922140C7B}"/>
              </a:ext>
            </a:extLst>
          </p:cNvPr>
          <p:cNvGraphicFramePr/>
          <p:nvPr/>
        </p:nvGraphicFramePr>
        <p:xfrm>
          <a:off x="609600" y="1476375"/>
          <a:ext cx="10972800" cy="4371975"/>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request_id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uuid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 FK: report_request.request_id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Report identity, at most one result record.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csv_path</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UQ</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Path of generated CSV output.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html_path</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UQ</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Path of generated HTML output.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csv_sha256</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SHA-256 digest of the CSV file.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html_sha256</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SHA-256 digest of the HTML file.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r h="542925">
                <a:tc>
                  <a:txBody>
                    <a:bodyPr/>
                    <a:lstStyle/>
                    <a:p>
                      <a:r>
                        <a:rPr sz="1575" b="0">
                          <a:solidFill>
                            <a:srgbClr val="F1F4F6"/>
                          </a:solidFill>
                          <a:latin typeface="Arial"/>
                          <a:ea typeface="Arial"/>
                          <a:cs typeface="Arial"/>
                        </a:rPr>
                        <a:t>row_count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integer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Number of saved output rows.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6"/>
                  </a:ext>
                </a:extLst>
              </a:tr>
              <a:tr h="542925">
                <a:tc>
                  <a:txBody>
                    <a:bodyPr/>
                    <a:lstStyle/>
                    <a:p>
                      <a:r>
                        <a:rPr sz="1575" b="0">
                          <a:solidFill>
                            <a:srgbClr val="F1F4F6"/>
                          </a:solidFill>
                          <a:latin typeface="Arial"/>
                          <a:ea typeface="Arial"/>
                          <a:cs typeface="Arial"/>
                        </a:rPr>
                        <a:t>worker_name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Worker that generated the output.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53F2AD7B-DF54-4434-A9B5-64FD09410D82}"/>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3592301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005FA67-E824-44AB-9A68-3E8CA3D57835}"/>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report_result (2/2)</a:t>
            </a:r>
          </a:p>
        </p:txBody>
      </p:sp>
      <p:sp>
        <p:nvSpPr>
          <p:cNvPr id="2" name="Rectangle 1">
            <a:extLst>
              <a:ext uri="{FF2B5EF4-FFF2-40B4-BE49-F238E27FC236}">
                <a16:creationId xmlns:a16="http://schemas.microsoft.com/office/drawing/2014/main" id="{106BD68F-95FE-4DC8-8C58-F1A23F64E8AF}"/>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81</a:t>
            </a:r>
          </a:p>
        </p:txBody>
      </p:sp>
      <p:sp>
        <p:nvSpPr>
          <p:cNvPr id="3" name="Rectangle 2">
            <a:extLst>
              <a:ext uri="{FF2B5EF4-FFF2-40B4-BE49-F238E27FC236}">
                <a16:creationId xmlns:a16="http://schemas.microsoft.com/office/drawing/2014/main" id="{7645EC26-1CA5-4727-9EA1-467B5A183F9E}"/>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4D748066-508E-40CC-96FB-DC8DEC8193FF}"/>
              </a:ext>
            </a:extLst>
          </p:cNvPr>
          <p:cNvGraphicFramePr/>
          <p:nvPr/>
        </p:nvGraphicFramePr>
        <p:xfrm>
          <a:off x="609600" y="1476375"/>
          <a:ext cx="10972800" cy="2228850"/>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sql_seconds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double precision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Recorded SQL-stage duration in seconds.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render_seconds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double precision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Recorded render duration in seconds.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completed_at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timestamptz</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 result generation completed.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37992BB2-8358-4AE2-9F14-EE35AAAE0112}"/>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86477684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4AA41DD-C2BA-4842-894D-3780FE284A21}"/>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report_audit</a:t>
            </a:r>
          </a:p>
        </p:txBody>
      </p:sp>
      <p:sp>
        <p:nvSpPr>
          <p:cNvPr id="2" name="Rectangle 1">
            <a:extLst>
              <a:ext uri="{FF2B5EF4-FFF2-40B4-BE49-F238E27FC236}">
                <a16:creationId xmlns:a16="http://schemas.microsoft.com/office/drawing/2014/main" id="{3B9A19DD-4B85-42F2-921E-E6F20A84DF8C}"/>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82</a:t>
            </a:r>
          </a:p>
        </p:txBody>
      </p:sp>
      <p:sp>
        <p:nvSpPr>
          <p:cNvPr id="3" name="Rectangle 2">
            <a:extLst>
              <a:ext uri="{FF2B5EF4-FFF2-40B4-BE49-F238E27FC236}">
                <a16:creationId xmlns:a16="http://schemas.microsoft.com/office/drawing/2014/main" id="{01180977-4BA6-4E9C-9286-FAA69D6F7867}"/>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5CFEA5F9-D8BA-4736-8CB7-6493B1979DE2}"/>
              </a:ext>
            </a:extLst>
          </p:cNvPr>
          <p:cNvGraphicFramePr/>
          <p:nvPr/>
        </p:nvGraphicFramePr>
        <p:xfrm>
          <a:off x="609600" y="1476375"/>
          <a:ext cx="10972800" cy="3257550"/>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audit_id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bigint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Generated audit event identifier.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request_id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uuid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FK: report_request.request_id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Individual report whose state changed.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old_state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Yes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Previous state, absent on initial insert.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new_state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State after the transition.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event_at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timestamptz</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 of the state transition.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89CB0141-AC8D-49CB-90E6-209A70E666B4}"/>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1693312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D4BF36-12AD-432D-A2CF-B232913551A6}"/>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assistant_request (1/2)</a:t>
            </a:r>
          </a:p>
        </p:txBody>
      </p:sp>
      <p:sp>
        <p:nvSpPr>
          <p:cNvPr id="2" name="Rectangle 1">
            <a:extLst>
              <a:ext uri="{FF2B5EF4-FFF2-40B4-BE49-F238E27FC236}">
                <a16:creationId xmlns:a16="http://schemas.microsoft.com/office/drawing/2014/main" id="{A6771093-BE0D-49FA-A866-345676FCCD05}"/>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83</a:t>
            </a:r>
          </a:p>
        </p:txBody>
      </p:sp>
      <p:sp>
        <p:nvSpPr>
          <p:cNvPr id="3" name="Rectangle 2">
            <a:extLst>
              <a:ext uri="{FF2B5EF4-FFF2-40B4-BE49-F238E27FC236}">
                <a16:creationId xmlns:a16="http://schemas.microsoft.com/office/drawing/2014/main" id="{529A9CE1-AEEB-4C69-8040-0207020215D9}"/>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D6E56485-30F6-4A7F-B019-F774DD2BC23E}"/>
              </a:ext>
            </a:extLst>
          </p:cNvPr>
          <p:cNvGraphicFramePr/>
          <p:nvPr/>
        </p:nvGraphicFramePr>
        <p:xfrm>
          <a:off x="609600" y="1476375"/>
          <a:ext cx="10972800" cy="4343400"/>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request_id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uuid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Saved question-plan identifier.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actor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User who asked the question.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prompt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Original business question.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interpretation</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jsonb</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Approved intent and interpreted fields.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sql_text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Approved SQL text presented to user.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r h="542925">
                <a:tc>
                  <a:txBody>
                    <a:bodyPr/>
                    <a:lstStyle/>
                    <a:p>
                      <a:r>
                        <a:rPr sz="1575" b="0">
                          <a:solidFill>
                            <a:srgbClr val="F1F4F6"/>
                          </a:solidFill>
                          <a:latin typeface="Arial"/>
                          <a:ea typeface="Arial"/>
                          <a:cs typeface="Arial"/>
                        </a:rPr>
                        <a:t>parameters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jsonb</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Bound parameter values as JSON.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6"/>
                  </a:ext>
                </a:extLst>
              </a:tr>
              <a:tr h="542925">
                <a:tc>
                  <a:txBody>
                    <a:bodyPr/>
                    <a:lstStyle/>
                    <a:p>
                      <a:r>
                        <a:rPr sz="1575" b="0">
                          <a:solidFill>
                            <a:srgbClr val="F1F4F6"/>
                          </a:solidFill>
                          <a:latin typeface="Arial"/>
                          <a:ea typeface="Arial"/>
                          <a:cs typeface="Arial"/>
                        </a:rPr>
                        <a:t>source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Local parser or Gemini source.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DBC8E6F7-2712-486B-BDA5-473BF6ABF8E6}"/>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5426814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A6D3BED-DBE7-48FA-A8DB-0534063B41CA}"/>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assistant_request (2/2)</a:t>
            </a:r>
          </a:p>
        </p:txBody>
      </p:sp>
      <p:sp>
        <p:nvSpPr>
          <p:cNvPr id="2" name="Rectangle 1">
            <a:extLst>
              <a:ext uri="{FF2B5EF4-FFF2-40B4-BE49-F238E27FC236}">
                <a16:creationId xmlns:a16="http://schemas.microsoft.com/office/drawing/2014/main" id="{2A74FA39-4EE7-4E8B-8819-C7784E7B9FD4}"/>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84</a:t>
            </a:r>
          </a:p>
        </p:txBody>
      </p:sp>
      <p:sp>
        <p:nvSpPr>
          <p:cNvPr id="3" name="Rectangle 2">
            <a:extLst>
              <a:ext uri="{FF2B5EF4-FFF2-40B4-BE49-F238E27FC236}">
                <a16:creationId xmlns:a16="http://schemas.microsoft.com/office/drawing/2014/main" id="{894EDFC1-44D0-49D0-9A5E-066C8C74C71F}"/>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D796A886-5899-4596-864D-2D5DE54E4127}"/>
              </a:ext>
            </a:extLst>
          </p:cNvPr>
          <p:cNvGraphicFramePr/>
          <p:nvPr/>
        </p:nvGraphicFramePr>
        <p:xfrm>
          <a:off x="609600" y="1476375"/>
          <a:ext cx="10972800" cy="1628775"/>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model</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Yes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Optional provider model identifier.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created_at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timestamptz</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 the query plan was saved.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0AB38A06-5375-42D4-9A61-BB0A942B71E9}"/>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32394524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86B3066-B99B-406F-A31B-7282F85E2961}"/>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analysis_run (1/2)</a:t>
            </a:r>
          </a:p>
        </p:txBody>
      </p:sp>
      <p:sp>
        <p:nvSpPr>
          <p:cNvPr id="2" name="Rectangle 1">
            <a:extLst>
              <a:ext uri="{FF2B5EF4-FFF2-40B4-BE49-F238E27FC236}">
                <a16:creationId xmlns:a16="http://schemas.microsoft.com/office/drawing/2014/main" id="{3304AD20-7F67-406C-970C-D00BEE283B18}"/>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85</a:t>
            </a:r>
          </a:p>
        </p:txBody>
      </p:sp>
      <p:sp>
        <p:nvSpPr>
          <p:cNvPr id="3" name="Rectangle 2">
            <a:extLst>
              <a:ext uri="{FF2B5EF4-FFF2-40B4-BE49-F238E27FC236}">
                <a16:creationId xmlns:a16="http://schemas.microsoft.com/office/drawing/2014/main" id="{DD064FC9-DC85-4CC3-8115-1C73BA7B8580}"/>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6A5D871C-CD21-4BEB-B7DC-450A9D7A57A2}"/>
              </a:ext>
            </a:extLst>
          </p:cNvPr>
          <p:cNvGraphicFramePr/>
          <p:nvPr/>
        </p:nvGraphicFramePr>
        <p:xfrm>
          <a:off x="609600" y="1476375"/>
          <a:ext cx="10972800" cy="4343400"/>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analysis_id</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uuid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PK</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Retained analysis identifier.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actor</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User who requested the analysis.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542925">
                <a:tc>
                  <a:txBody>
                    <a:bodyPr/>
                    <a:lstStyle/>
                    <a:p>
                      <a:r>
                        <a:rPr sz="1575" b="0">
                          <a:solidFill>
                            <a:srgbClr val="F1F4F6"/>
                          </a:solidFill>
                          <a:latin typeface="Arial"/>
                          <a:ea typeface="Arial"/>
                          <a:cs typeface="Arial"/>
                        </a:rPr>
                        <a:t>start_date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date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Inclusive sales period start.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r h="542925">
                <a:tc>
                  <a:txBody>
                    <a:bodyPr/>
                    <a:lstStyle/>
                    <a:p>
                      <a:r>
                        <a:rPr sz="1575" b="0">
                          <a:solidFill>
                            <a:srgbClr val="F1F4F6"/>
                          </a:solidFill>
                          <a:latin typeface="Arial"/>
                          <a:ea typeface="Arial"/>
                          <a:cs typeface="Arial"/>
                        </a:rPr>
                        <a:t>end_date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date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Exclusive sales period end.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4"/>
                  </a:ext>
                </a:extLst>
              </a:tr>
              <a:tr h="542925">
                <a:tc>
                  <a:txBody>
                    <a:bodyPr/>
                    <a:lstStyle/>
                    <a:p>
                      <a:r>
                        <a:rPr sz="1575" b="0">
                          <a:solidFill>
                            <a:srgbClr val="F1F4F6"/>
                          </a:solidFill>
                          <a:latin typeface="Arial"/>
                          <a:ea typeface="Arial"/>
                          <a:cs typeface="Arial"/>
                        </a:rPr>
                        <a:t>facts</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jsonb</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SQL aggregate facts and alerts as JSON.</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5"/>
                  </a:ext>
                </a:extLst>
              </a:tr>
              <a:tr h="542925">
                <a:tc>
                  <a:txBody>
                    <a:bodyPr/>
                    <a:lstStyle/>
                    <a:p>
                      <a:r>
                        <a:rPr sz="1575" b="0">
                          <a:solidFill>
                            <a:srgbClr val="F1F4F6"/>
                          </a:solidFill>
                          <a:latin typeface="Arial"/>
                          <a:ea typeface="Arial"/>
                          <a:cs typeface="Arial"/>
                        </a:rPr>
                        <a:t>narrative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Stored explanation of the facts.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6"/>
                  </a:ext>
                </a:extLst>
              </a:tr>
              <a:tr h="542925">
                <a:tc>
                  <a:txBody>
                    <a:bodyPr/>
                    <a:lstStyle/>
                    <a:p>
                      <a:r>
                        <a:rPr sz="1575" b="0">
                          <a:solidFill>
                            <a:srgbClr val="F1F4F6"/>
                          </a:solidFill>
                          <a:latin typeface="Arial"/>
                          <a:ea typeface="Arial"/>
                          <a:cs typeface="Arial"/>
                        </a:rPr>
                        <a:t>source</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Deterministic or Gemini source.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2F9B40D9-F05A-4324-95CB-5C685589E9ED}"/>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3327623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C265EE0-D7D9-4DE7-92D9-0765DAD6AD5E}"/>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Schema: analysis_run (2/2)</a:t>
            </a:r>
          </a:p>
        </p:txBody>
      </p:sp>
      <p:sp>
        <p:nvSpPr>
          <p:cNvPr id="2" name="Rectangle 1">
            <a:extLst>
              <a:ext uri="{FF2B5EF4-FFF2-40B4-BE49-F238E27FC236}">
                <a16:creationId xmlns:a16="http://schemas.microsoft.com/office/drawing/2014/main" id="{1DDF91B1-DCAB-4E01-949B-A34FBB40BB7B}"/>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86</a:t>
            </a:r>
          </a:p>
        </p:txBody>
      </p:sp>
      <p:sp>
        <p:nvSpPr>
          <p:cNvPr id="3" name="Rectangle 2">
            <a:extLst>
              <a:ext uri="{FF2B5EF4-FFF2-40B4-BE49-F238E27FC236}">
                <a16:creationId xmlns:a16="http://schemas.microsoft.com/office/drawing/2014/main" id="{7A058992-1685-4C1F-83D5-7145F3255BC9}"/>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graphicFrame>
        <p:nvGraphicFramePr>
          <p:cNvPr id="4" name="Table 3">
            <a:extLst>
              <a:ext uri="{FF2B5EF4-FFF2-40B4-BE49-F238E27FC236}">
                <a16:creationId xmlns:a16="http://schemas.microsoft.com/office/drawing/2014/main" id="{548D1869-01A1-47AE-B47C-5072BE107142}"/>
              </a:ext>
            </a:extLst>
          </p:cNvPr>
          <p:cNvGraphicFramePr/>
          <p:nvPr/>
        </p:nvGraphicFramePr>
        <p:xfrm>
          <a:off x="609600" y="1476375"/>
          <a:ext cx="10972800" cy="1628775"/>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3924300">
                  <a:extLst>
                    <a:ext uri="{9D8B030D-6E8A-4147-A177-3AD203B41FA5}">
                      <a16:colId xmlns:a16="http://schemas.microsoft.com/office/drawing/2014/main" val="20004"/>
                    </a:ext>
                  </a:extLst>
                </a:gridCol>
              </a:tblGrid>
              <a:tr h="542925">
                <a:tc>
                  <a:txBody>
                    <a:bodyPr/>
                    <a:lstStyle/>
                    <a:p>
                      <a:r>
                        <a:rPr sz="1575" b="1">
                          <a:solidFill>
                            <a:srgbClr val="70D6C4"/>
                          </a:solidFill>
                          <a:latin typeface="Arial"/>
                          <a:ea typeface="Arial"/>
                          <a:cs typeface="Arial"/>
                        </a:rPr>
                        <a:t>Column</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Type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Key / reference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NULL</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75" b="1">
                          <a:solidFill>
                            <a:srgbClr val="70D6C4"/>
                          </a:solidFill>
                          <a:latin typeface="Arial"/>
                          <a:ea typeface="Arial"/>
                          <a:cs typeface="Arial"/>
                        </a:rPr>
                        <a:t>Stores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542925">
                <a:tc>
                  <a:txBody>
                    <a:bodyPr/>
                    <a:lstStyle/>
                    <a:p>
                      <a:r>
                        <a:rPr sz="1575" b="0">
                          <a:solidFill>
                            <a:srgbClr val="F1F4F6"/>
                          </a:solidFill>
                          <a:latin typeface="Arial"/>
                          <a:ea typeface="Arial"/>
                          <a:cs typeface="Arial"/>
                        </a:rPr>
                        <a:t>model</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text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Yes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Optional provider model identifier.</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542925">
                <a:tc>
                  <a:txBody>
                    <a:bodyPr/>
                    <a:lstStyle/>
                    <a:p>
                      <a:r>
                        <a:rPr sz="1575" b="0">
                          <a:solidFill>
                            <a:srgbClr val="F1F4F6"/>
                          </a:solidFill>
                          <a:latin typeface="Arial"/>
                          <a:ea typeface="Arial"/>
                          <a:cs typeface="Arial"/>
                        </a:rPr>
                        <a:t>created_at</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timestamptz</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No</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75" b="0">
                          <a:solidFill>
                            <a:srgbClr val="F1F4F6"/>
                          </a:solidFill>
                          <a:latin typeface="Arial"/>
                          <a:ea typeface="Arial"/>
                          <a:cs typeface="Arial"/>
                        </a:rPr>
                        <a:t>Time the analysis was saved.</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BEAEF7CF-AFBB-44CD-A4F1-9F2857C33E52}"/>
              </a:ext>
            </a:extLst>
          </p:cNvPr>
          <p:cNvSpPr>
            <a:spLocks noGrp="1"/>
          </p:cNvSpPr>
          <p:nvPr/>
        </p:nvSpPr>
        <p:spPr>
          <a:xfrm>
            <a:off x="609600" y="6048375"/>
            <a:ext cx="10763250" cy="419100"/>
          </a:xfrm>
          <a:prstGeom prst="rect">
            <a:avLst/>
          </a:prstGeom>
          <a:noFill/>
          <a:ln w="0">
            <a:noFill/>
          </a:ln>
        </p:spPr>
        <p:txBody>
          <a:bodyPr wrap="square" lIns="0" tIns="0" rIns="0" bIns="0" anchor="t">
            <a:noAutofit/>
          </a:bodyPr>
          <a:lstStyle>
            <a:defPPr>
              <a:defRPr sz="1350" b="0">
                <a:solidFill>
                  <a:srgbClr val="AAB8C5"/>
                </a:solidFill>
                <a:latin typeface="Arial"/>
                <a:ea typeface="Arial"/>
                <a:cs typeface="Arial"/>
              </a:defRPr>
            </a:defPPr>
            <a:lvl1pPr>
              <a:defRPr sz="1350" b="0">
                <a:solidFill>
                  <a:srgbClr val="AAB8C5"/>
                </a:solidFill>
                <a:latin typeface="Arial"/>
                <a:ea typeface="Arial"/>
                <a:cs typeface="Arial"/>
              </a:defRPr>
            </a:lvl1pPr>
            <a:lvl2pPr>
              <a:defRPr sz="1350" b="0">
                <a:solidFill>
                  <a:srgbClr val="AAB8C5"/>
                </a:solidFill>
                <a:latin typeface="Arial"/>
                <a:ea typeface="Arial"/>
                <a:cs typeface="Arial"/>
              </a:defRPr>
            </a:lvl2pPr>
            <a:lvl3pPr>
              <a:defRPr sz="1350" b="0">
                <a:solidFill>
                  <a:srgbClr val="AAB8C5"/>
                </a:solidFill>
                <a:latin typeface="Arial"/>
                <a:ea typeface="Arial"/>
                <a:cs typeface="Arial"/>
              </a:defRPr>
            </a:lvl3pPr>
            <a:lvl4pPr>
              <a:defRPr sz="1350" b="0">
                <a:solidFill>
                  <a:srgbClr val="AAB8C5"/>
                </a:solidFill>
                <a:latin typeface="Arial"/>
                <a:ea typeface="Arial"/>
                <a:cs typeface="Arial"/>
              </a:defRPr>
            </a:lvl4pPr>
            <a:lvl5pPr>
              <a:defRPr sz="1350" b="0">
                <a:solidFill>
                  <a:srgbClr val="AAB8C5"/>
                </a:solidFill>
                <a:latin typeface="Arial"/>
                <a:ea typeface="Arial"/>
                <a:cs typeface="Arial"/>
              </a:defRPr>
            </a:lvl5pPr>
            <a:lvl6pPr>
              <a:defRPr sz="1350" b="0">
                <a:solidFill>
                  <a:srgbClr val="AAB8C5"/>
                </a:solidFill>
                <a:latin typeface="Arial"/>
                <a:ea typeface="Arial"/>
                <a:cs typeface="Arial"/>
              </a:defRPr>
            </a:lvl6pPr>
            <a:lvl7pPr>
              <a:defRPr sz="1350" b="0">
                <a:solidFill>
                  <a:srgbClr val="AAB8C5"/>
                </a:solidFill>
                <a:latin typeface="Arial"/>
                <a:ea typeface="Arial"/>
                <a:cs typeface="Arial"/>
              </a:defRPr>
            </a:lvl7pPr>
            <a:lvl8pPr>
              <a:defRPr sz="1350" b="0">
                <a:solidFill>
                  <a:srgbClr val="AAB8C5"/>
                </a:solidFill>
                <a:latin typeface="Arial"/>
                <a:ea typeface="Arial"/>
                <a:cs typeface="Arial"/>
              </a:defRPr>
            </a:lvl8pPr>
            <a:lvl9pPr>
              <a:defRPr sz="1350" b="0">
                <a:solidFill>
                  <a:srgbClr val="AAB8C5"/>
                </a:solidFill>
                <a:latin typeface="Arial"/>
                <a:ea typeface="Arial"/>
                <a:cs typeface="Arial"/>
              </a:defRPr>
            </a:lvl9pPr>
          </a:lstStyle>
          <a:p>
            <a:pPr>
              <a:defRPr sz="1350" b="0">
                <a:solidFill>
                  <a:srgbClr val="AAB8C5"/>
                </a:solidFill>
                <a:latin typeface="Arial"/>
                <a:ea typeface="Arial"/>
                <a:cs typeface="Arial"/>
              </a:defRPr>
            </a:pPr>
            <a:r>
              <a:rPr sz="1350" b="0">
                <a:solidFill>
                  <a:srgbClr val="AAB8C5"/>
                </a:solidFill>
                <a:latin typeface="Arial"/>
                <a:ea typeface="Arial"/>
                <a:cs typeface="Arial"/>
              </a:rPr>
              <a:t>PK primary key    FK foreign key    UQ unique constraint. A composite key covers its full column combination.</a:t>
            </a:r>
          </a:p>
        </p:txBody>
      </p:sp>
    </p:spTree>
    <p:extLst>
      <p:ext uri="{BB962C8B-B14F-4D97-AF65-F5344CB8AC3E}">
        <p14:creationId xmlns:p14="http://schemas.microsoft.com/office/powerpoint/2010/main" val="17018846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BC3A75F-66FB-4DDC-8C17-26D57DAE797F}"/>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SQL reference: NOT EXISTS</a:t>
            </a:r>
          </a:p>
        </p:txBody>
      </p:sp>
      <p:sp>
        <p:nvSpPr>
          <p:cNvPr id="2" name="Rectangle 1">
            <a:extLst>
              <a:ext uri="{FF2B5EF4-FFF2-40B4-BE49-F238E27FC236}">
                <a16:creationId xmlns:a16="http://schemas.microsoft.com/office/drawing/2014/main" id="{9B81E0CA-43DC-4E14-87F9-C90BEC317442}"/>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87</a:t>
            </a:r>
          </a:p>
        </p:txBody>
      </p:sp>
      <p:sp>
        <p:nvSpPr>
          <p:cNvPr id="3" name="Rectangle 2">
            <a:extLst>
              <a:ext uri="{FF2B5EF4-FFF2-40B4-BE49-F238E27FC236}">
                <a16:creationId xmlns:a16="http://schemas.microsoft.com/office/drawing/2014/main" id="{25A9ABD8-E128-4393-9739-9EEA360DFEC1}"/>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sp>
        <p:nvSpPr>
          <p:cNvPr id="4" name="Rectangle 3">
            <a:extLst>
              <a:ext uri="{FF2B5EF4-FFF2-40B4-BE49-F238E27FC236}">
                <a16:creationId xmlns:a16="http://schemas.microsoft.com/office/drawing/2014/main" id="{B5789B91-0F46-4C04-98B9-1D5AF034B2B6}"/>
              </a:ext>
            </a:extLst>
          </p:cNvPr>
          <p:cNvSpPr>
            <a:spLocks noGrp="1"/>
          </p:cNvSpPr>
          <p:nvPr/>
        </p:nvSpPr>
        <p:spPr>
          <a:xfrm>
            <a:off x="609600" y="1600200"/>
            <a:ext cx="10953750" cy="3238500"/>
          </a:xfrm>
          <a:prstGeom prst="rect">
            <a:avLst/>
          </a:prstGeom>
          <a:noFill/>
          <a:ln w="0">
            <a:noFill/>
          </a:ln>
        </p:spPr>
        <p:txBody>
          <a:bodyPr wrap="square" lIns="0" tIns="0" rIns="0" bIns="0" anchor="t">
            <a:noAutofit/>
          </a:bodyPr>
          <a:lstStyle>
            <a:defPPr>
              <a:defRPr sz="1575" b="0">
                <a:solidFill>
                  <a:srgbClr val="70D6C4"/>
                </a:solidFill>
                <a:latin typeface="Consolas"/>
                <a:ea typeface="Consolas"/>
                <a:cs typeface="Consolas"/>
              </a:defRPr>
            </a:defPPr>
            <a:lvl1pPr>
              <a:defRPr sz="1575" b="0">
                <a:solidFill>
                  <a:srgbClr val="70D6C4"/>
                </a:solidFill>
                <a:latin typeface="Consolas"/>
                <a:ea typeface="Consolas"/>
                <a:cs typeface="Consolas"/>
              </a:defRPr>
            </a:lvl1pPr>
            <a:lvl2pPr>
              <a:defRPr sz="1575" b="0">
                <a:solidFill>
                  <a:srgbClr val="70D6C4"/>
                </a:solidFill>
                <a:latin typeface="Consolas"/>
                <a:ea typeface="Consolas"/>
                <a:cs typeface="Consolas"/>
              </a:defRPr>
            </a:lvl2pPr>
            <a:lvl3pPr>
              <a:defRPr sz="1575" b="0">
                <a:solidFill>
                  <a:srgbClr val="70D6C4"/>
                </a:solidFill>
                <a:latin typeface="Consolas"/>
                <a:ea typeface="Consolas"/>
                <a:cs typeface="Consolas"/>
              </a:defRPr>
            </a:lvl3pPr>
            <a:lvl4pPr>
              <a:defRPr sz="1575" b="0">
                <a:solidFill>
                  <a:srgbClr val="70D6C4"/>
                </a:solidFill>
                <a:latin typeface="Consolas"/>
                <a:ea typeface="Consolas"/>
                <a:cs typeface="Consolas"/>
              </a:defRPr>
            </a:lvl4pPr>
            <a:lvl5pPr>
              <a:defRPr sz="1575" b="0">
                <a:solidFill>
                  <a:srgbClr val="70D6C4"/>
                </a:solidFill>
                <a:latin typeface="Consolas"/>
                <a:ea typeface="Consolas"/>
                <a:cs typeface="Consolas"/>
              </a:defRPr>
            </a:lvl5pPr>
            <a:lvl6pPr>
              <a:defRPr sz="1575" b="0">
                <a:solidFill>
                  <a:srgbClr val="70D6C4"/>
                </a:solidFill>
                <a:latin typeface="Consolas"/>
                <a:ea typeface="Consolas"/>
                <a:cs typeface="Consolas"/>
              </a:defRPr>
            </a:lvl6pPr>
            <a:lvl7pPr>
              <a:defRPr sz="1575" b="0">
                <a:solidFill>
                  <a:srgbClr val="70D6C4"/>
                </a:solidFill>
                <a:latin typeface="Consolas"/>
                <a:ea typeface="Consolas"/>
                <a:cs typeface="Consolas"/>
              </a:defRPr>
            </a:lvl7pPr>
            <a:lvl8pPr>
              <a:defRPr sz="1575" b="0">
                <a:solidFill>
                  <a:srgbClr val="70D6C4"/>
                </a:solidFill>
                <a:latin typeface="Consolas"/>
                <a:ea typeface="Consolas"/>
                <a:cs typeface="Consolas"/>
              </a:defRPr>
            </a:lvl8pPr>
            <a:lvl9pPr>
              <a:defRPr sz="1575" b="0">
                <a:solidFill>
                  <a:srgbClr val="70D6C4"/>
                </a:solidFill>
                <a:latin typeface="Consolas"/>
                <a:ea typeface="Consolas"/>
                <a:cs typeface="Consolas"/>
              </a:defRPr>
            </a:lvl9pPr>
          </a:lstStyle>
          <a:p>
            <a:pPr>
              <a:defRPr sz="1575" b="0">
                <a:solidFill>
                  <a:srgbClr val="70D6C4"/>
                </a:solidFill>
                <a:latin typeface="Consolas"/>
                <a:ea typeface="Consolas"/>
                <a:cs typeface="Consolas"/>
              </a:defRPr>
            </a:pPr>
            <a:r>
              <a:rPr sz="1575" b="0">
                <a:solidFill>
                  <a:srgbClr val="70D6C4"/>
                </a:solidFill>
                <a:latin typeface="Consolas"/>
                <a:ea typeface="Consolas"/>
                <a:cs typeface="Consolas"/>
              </a:rPr>
              <a:t>SELECT c.customer_ref</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FROM reporting.customer c</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WHERE NOT EXISTS (</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SELECT 1</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FROM reporting.sales_order o</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WHERE o.customer_id = c.customer_id</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AND o.status = 'completed'</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AND o.ordered_at &gt;= DATE '2026-02-01'</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AND o.ordered_at &lt; DATE '2026-03-01'</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ORDER BY c.customer_ref</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LIMIT 3;</a:t>
            </a:r>
          </a:p>
        </p:txBody>
      </p:sp>
      <p:graphicFrame>
        <p:nvGraphicFramePr>
          <p:cNvPr id="5" name="Table 4">
            <a:extLst>
              <a:ext uri="{FF2B5EF4-FFF2-40B4-BE49-F238E27FC236}">
                <a16:creationId xmlns:a16="http://schemas.microsoft.com/office/drawing/2014/main" id="{E0E0D88B-73A3-4297-AC74-7C9E3666F5B2}"/>
              </a:ext>
            </a:extLst>
          </p:cNvPr>
          <p:cNvGraphicFramePr/>
          <p:nvPr/>
        </p:nvGraphicFramePr>
        <p:xfrm>
          <a:off x="609600" y="4857750"/>
          <a:ext cx="10972800" cy="1280160"/>
        </p:xfrm>
        <a:graphic>
          <a:graphicData uri="http://schemas.openxmlformats.org/drawingml/2006/table">
            <a:tbl>
              <a:tblPr firstRow="1"/>
              <a:tblGrid>
                <a:gridCol w="10972800">
                  <a:extLst>
                    <a:ext uri="{9D8B030D-6E8A-4147-A177-3AD203B41FA5}">
                      <a16:colId xmlns:a16="http://schemas.microsoft.com/office/drawing/2014/main" val="20000"/>
                    </a:ext>
                  </a:extLst>
                </a:gridCol>
              </a:tblGrid>
              <a:tr h="297656">
                <a:tc>
                  <a:txBody>
                    <a:bodyPr/>
                    <a:lstStyle/>
                    <a:p>
                      <a:r>
                        <a:rPr sz="1500" b="1">
                          <a:solidFill>
                            <a:srgbClr val="70D6C4"/>
                          </a:solidFill>
                          <a:latin typeface="Arial"/>
                          <a:ea typeface="Arial"/>
                          <a:cs typeface="Arial"/>
                        </a:rPr>
                        <a:t>customer_ref</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297656">
                <a:tc>
                  <a:txBody>
                    <a:bodyPr/>
                    <a:lstStyle/>
                    <a:p>
                      <a:r>
                        <a:rPr sz="1500" b="0">
                          <a:solidFill>
                            <a:srgbClr val="F1F4F6"/>
                          </a:solidFill>
                          <a:latin typeface="Arial"/>
                          <a:ea typeface="Arial"/>
                          <a:cs typeface="Arial"/>
                        </a:rPr>
                        <a:t>DEMO-000032</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297656">
                <a:tc>
                  <a:txBody>
                    <a:bodyPr/>
                    <a:lstStyle/>
                    <a:p>
                      <a:r>
                        <a:rPr sz="1500" b="0">
                          <a:solidFill>
                            <a:srgbClr val="F1F4F6"/>
                          </a:solidFill>
                          <a:latin typeface="Arial"/>
                          <a:ea typeface="Arial"/>
                          <a:cs typeface="Arial"/>
                        </a:rPr>
                        <a:t>DEMO-000033</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297656">
                <a:tc>
                  <a:txBody>
                    <a:bodyPr/>
                    <a:lstStyle/>
                    <a:p>
                      <a:r>
                        <a:rPr sz="1500" b="0">
                          <a:solidFill>
                            <a:srgbClr val="F1F4F6"/>
                          </a:solidFill>
                          <a:latin typeface="Arial"/>
                          <a:ea typeface="Arial"/>
                          <a:cs typeface="Arial"/>
                        </a:rPr>
                        <a:t>DEMO-000034</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89765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F70557-7682-4566-83B6-1EA18F01E4B1}"/>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SQL reference: ranked products</a:t>
            </a:r>
          </a:p>
        </p:txBody>
      </p:sp>
      <p:sp>
        <p:nvSpPr>
          <p:cNvPr id="2" name="Rectangle 1">
            <a:extLst>
              <a:ext uri="{FF2B5EF4-FFF2-40B4-BE49-F238E27FC236}">
                <a16:creationId xmlns:a16="http://schemas.microsoft.com/office/drawing/2014/main" id="{83817094-F18C-4960-B4F8-6EE7A948C16B}"/>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88</a:t>
            </a:r>
          </a:p>
        </p:txBody>
      </p:sp>
      <p:sp>
        <p:nvSpPr>
          <p:cNvPr id="3" name="Rectangle 2">
            <a:extLst>
              <a:ext uri="{FF2B5EF4-FFF2-40B4-BE49-F238E27FC236}">
                <a16:creationId xmlns:a16="http://schemas.microsoft.com/office/drawing/2014/main" id="{37FED9C1-E762-42CA-AE81-2DA368B25BA5}"/>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sp>
        <p:nvSpPr>
          <p:cNvPr id="4" name="Rectangle 3">
            <a:extLst>
              <a:ext uri="{FF2B5EF4-FFF2-40B4-BE49-F238E27FC236}">
                <a16:creationId xmlns:a16="http://schemas.microsoft.com/office/drawing/2014/main" id="{3606EA4F-4ADE-4392-9B4B-8ED95AE491F8}"/>
              </a:ext>
            </a:extLst>
          </p:cNvPr>
          <p:cNvSpPr>
            <a:spLocks noGrp="1"/>
          </p:cNvSpPr>
          <p:nvPr/>
        </p:nvSpPr>
        <p:spPr>
          <a:xfrm>
            <a:off x="609600" y="1600200"/>
            <a:ext cx="10953750" cy="3238500"/>
          </a:xfrm>
          <a:prstGeom prst="rect">
            <a:avLst/>
          </a:prstGeom>
          <a:noFill/>
          <a:ln w="0">
            <a:noFill/>
          </a:ln>
        </p:spPr>
        <p:txBody>
          <a:bodyPr wrap="square" lIns="0" tIns="0" rIns="0" bIns="0" anchor="t">
            <a:noAutofit/>
          </a:bodyPr>
          <a:lstStyle>
            <a:defPPr>
              <a:defRPr sz="1575" b="0">
                <a:solidFill>
                  <a:srgbClr val="70D6C4"/>
                </a:solidFill>
                <a:latin typeface="Consolas"/>
                <a:ea typeface="Consolas"/>
                <a:cs typeface="Consolas"/>
              </a:defRPr>
            </a:defPPr>
            <a:lvl1pPr>
              <a:defRPr sz="1575" b="0">
                <a:solidFill>
                  <a:srgbClr val="70D6C4"/>
                </a:solidFill>
                <a:latin typeface="Consolas"/>
                <a:ea typeface="Consolas"/>
                <a:cs typeface="Consolas"/>
              </a:defRPr>
            </a:lvl1pPr>
            <a:lvl2pPr>
              <a:defRPr sz="1575" b="0">
                <a:solidFill>
                  <a:srgbClr val="70D6C4"/>
                </a:solidFill>
                <a:latin typeface="Consolas"/>
                <a:ea typeface="Consolas"/>
                <a:cs typeface="Consolas"/>
              </a:defRPr>
            </a:lvl2pPr>
            <a:lvl3pPr>
              <a:defRPr sz="1575" b="0">
                <a:solidFill>
                  <a:srgbClr val="70D6C4"/>
                </a:solidFill>
                <a:latin typeface="Consolas"/>
                <a:ea typeface="Consolas"/>
                <a:cs typeface="Consolas"/>
              </a:defRPr>
            </a:lvl3pPr>
            <a:lvl4pPr>
              <a:defRPr sz="1575" b="0">
                <a:solidFill>
                  <a:srgbClr val="70D6C4"/>
                </a:solidFill>
                <a:latin typeface="Consolas"/>
                <a:ea typeface="Consolas"/>
                <a:cs typeface="Consolas"/>
              </a:defRPr>
            </a:lvl4pPr>
            <a:lvl5pPr>
              <a:defRPr sz="1575" b="0">
                <a:solidFill>
                  <a:srgbClr val="70D6C4"/>
                </a:solidFill>
                <a:latin typeface="Consolas"/>
                <a:ea typeface="Consolas"/>
                <a:cs typeface="Consolas"/>
              </a:defRPr>
            </a:lvl5pPr>
            <a:lvl6pPr>
              <a:defRPr sz="1575" b="0">
                <a:solidFill>
                  <a:srgbClr val="70D6C4"/>
                </a:solidFill>
                <a:latin typeface="Consolas"/>
                <a:ea typeface="Consolas"/>
                <a:cs typeface="Consolas"/>
              </a:defRPr>
            </a:lvl6pPr>
            <a:lvl7pPr>
              <a:defRPr sz="1575" b="0">
                <a:solidFill>
                  <a:srgbClr val="70D6C4"/>
                </a:solidFill>
                <a:latin typeface="Consolas"/>
                <a:ea typeface="Consolas"/>
                <a:cs typeface="Consolas"/>
              </a:defRPr>
            </a:lvl7pPr>
            <a:lvl8pPr>
              <a:defRPr sz="1575" b="0">
                <a:solidFill>
                  <a:srgbClr val="70D6C4"/>
                </a:solidFill>
                <a:latin typeface="Consolas"/>
                <a:ea typeface="Consolas"/>
                <a:cs typeface="Consolas"/>
              </a:defRPr>
            </a:lvl8pPr>
            <a:lvl9pPr>
              <a:defRPr sz="1575" b="0">
                <a:solidFill>
                  <a:srgbClr val="70D6C4"/>
                </a:solidFill>
                <a:latin typeface="Consolas"/>
                <a:ea typeface="Consolas"/>
                <a:cs typeface="Consolas"/>
              </a:defRPr>
            </a:lvl9pPr>
          </a:lstStyle>
          <a:p>
            <a:pPr>
              <a:defRPr sz="1575" b="0">
                <a:solidFill>
                  <a:srgbClr val="70D6C4"/>
                </a:solidFill>
                <a:latin typeface="Consolas"/>
                <a:ea typeface="Consolas"/>
                <a:cs typeface="Consolas"/>
              </a:defRPr>
            </a:pPr>
            <a:r>
              <a:rPr sz="1575" b="0">
                <a:solidFill>
                  <a:srgbClr val="70D6C4"/>
                </a:solidFill>
                <a:latin typeface="Consolas"/>
                <a:ea typeface="Consolas"/>
                <a:cs typeface="Consolas"/>
              </a:rPr>
              <a:t>SELECT sku, product_name, category,</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sum(quantity) AS units, sum(line_total) AS sales,</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dense_rank() OVER (ORDER BY sum(line_total) DESC) AS sales_rank</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FROM reporting.v_sales_lines</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WHERE ordered_at &gt;= DATE '2026-01-01'</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AND ordered_at &lt; DATE '2027-01-01'</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GROUP BY sku, product_name, category</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ORDER BY sales DESC, sku</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LIMIT 3;</a:t>
            </a:r>
          </a:p>
        </p:txBody>
      </p:sp>
      <p:graphicFrame>
        <p:nvGraphicFramePr>
          <p:cNvPr id="5" name="Table 4">
            <a:extLst>
              <a:ext uri="{FF2B5EF4-FFF2-40B4-BE49-F238E27FC236}">
                <a16:creationId xmlns:a16="http://schemas.microsoft.com/office/drawing/2014/main" id="{65BB47B9-A218-402F-B2F2-F6633CCF6D4A}"/>
              </a:ext>
            </a:extLst>
          </p:cNvPr>
          <p:cNvGraphicFramePr/>
          <p:nvPr/>
        </p:nvGraphicFramePr>
        <p:xfrm>
          <a:off x="609600" y="4857750"/>
          <a:ext cx="10972800" cy="1280160"/>
        </p:xfrm>
        <a:graphic>
          <a:graphicData uri="http://schemas.openxmlformats.org/drawingml/2006/table">
            <a:tbl>
              <a:tblPr firstRow="1"/>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297656">
                <a:tc>
                  <a:txBody>
                    <a:bodyPr/>
                    <a:lstStyle/>
                    <a:p>
                      <a:r>
                        <a:rPr sz="1500" b="1">
                          <a:solidFill>
                            <a:srgbClr val="70D6C4"/>
                          </a:solidFill>
                          <a:latin typeface="Arial"/>
                          <a:ea typeface="Arial"/>
                          <a:cs typeface="Arial"/>
                        </a:rPr>
                        <a:t>sku</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00" b="1">
                          <a:solidFill>
                            <a:srgbClr val="70D6C4"/>
                          </a:solidFill>
                          <a:latin typeface="Arial"/>
                          <a:ea typeface="Arial"/>
                          <a:cs typeface="Arial"/>
                        </a:rPr>
                        <a:t>product_name</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00" b="1">
                          <a:solidFill>
                            <a:srgbClr val="70D6C4"/>
                          </a:solidFill>
                          <a:latin typeface="Arial"/>
                          <a:ea typeface="Arial"/>
                          <a:cs typeface="Arial"/>
                        </a:rPr>
                        <a:t>category</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00" b="1">
                          <a:solidFill>
                            <a:srgbClr val="70D6C4"/>
                          </a:solidFill>
                          <a:latin typeface="Arial"/>
                          <a:ea typeface="Arial"/>
                          <a:cs typeface="Arial"/>
                        </a:rPr>
                        <a:t>units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00" b="1">
                          <a:solidFill>
                            <a:srgbClr val="70D6C4"/>
                          </a:solidFill>
                          <a:latin typeface="Arial"/>
                          <a:ea typeface="Arial"/>
                          <a:cs typeface="Arial"/>
                        </a:rPr>
                        <a:t>sales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00" b="1">
                          <a:solidFill>
                            <a:srgbClr val="70D6C4"/>
                          </a:solidFill>
                          <a:latin typeface="Arial"/>
                          <a:ea typeface="Arial"/>
                          <a:cs typeface="Arial"/>
                        </a:rPr>
                        <a:t>sales_rank</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297656">
                <a:tc>
                  <a:txBody>
                    <a:bodyPr/>
                    <a:lstStyle/>
                    <a:p>
                      <a:r>
                        <a:rPr sz="1500" b="0">
                          <a:solidFill>
                            <a:srgbClr val="F1F4F6"/>
                          </a:solidFill>
                          <a:latin typeface="Arial"/>
                          <a:ea typeface="Arial"/>
                          <a:cs typeface="Arial"/>
                        </a:rPr>
                        <a:t>SKU-30</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Product 30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Office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29988</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22491000.00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1</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297656">
                <a:tc>
                  <a:txBody>
                    <a:bodyPr/>
                    <a:lstStyle/>
                    <a:p>
                      <a:r>
                        <a:rPr sz="1500" b="0">
                          <a:solidFill>
                            <a:srgbClr val="F1F4F6"/>
                          </a:solidFill>
                          <a:latin typeface="Arial"/>
                          <a:ea typeface="Arial"/>
                          <a:cs typeface="Arial"/>
                        </a:rPr>
                        <a:t>SKU-28</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Product 28</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Home</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29988</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20991600.00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2</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297656">
                <a:tc>
                  <a:txBody>
                    <a:bodyPr/>
                    <a:lstStyle/>
                    <a:p>
                      <a:r>
                        <a:rPr sz="1500" b="0">
                          <a:solidFill>
                            <a:srgbClr val="F1F4F6"/>
                          </a:solidFill>
                          <a:latin typeface="Arial"/>
                          <a:ea typeface="Arial"/>
                          <a:cs typeface="Arial"/>
                        </a:rPr>
                        <a:t>SKU-26</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Product 26</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Electronics</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29988</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19492200.00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3669795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BA2DF71-55B0-4866-ADF1-BABE8FB17FFF}"/>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SQL reference: monthly running total</a:t>
            </a:r>
          </a:p>
        </p:txBody>
      </p:sp>
      <p:sp>
        <p:nvSpPr>
          <p:cNvPr id="2" name="Rectangle 1">
            <a:extLst>
              <a:ext uri="{FF2B5EF4-FFF2-40B4-BE49-F238E27FC236}">
                <a16:creationId xmlns:a16="http://schemas.microsoft.com/office/drawing/2014/main" id="{A1ABBC84-0189-47E4-A546-5E8DB28FF924}"/>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89</a:t>
            </a:r>
          </a:p>
        </p:txBody>
      </p:sp>
      <p:sp>
        <p:nvSpPr>
          <p:cNvPr id="3" name="Rectangle 2">
            <a:extLst>
              <a:ext uri="{FF2B5EF4-FFF2-40B4-BE49-F238E27FC236}">
                <a16:creationId xmlns:a16="http://schemas.microsoft.com/office/drawing/2014/main" id="{1AB8F55F-5D87-4CBE-BDDB-11383BA601DB}"/>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sp>
        <p:nvSpPr>
          <p:cNvPr id="4" name="Rectangle 3">
            <a:extLst>
              <a:ext uri="{FF2B5EF4-FFF2-40B4-BE49-F238E27FC236}">
                <a16:creationId xmlns:a16="http://schemas.microsoft.com/office/drawing/2014/main" id="{ECACBA6B-88E7-4CAA-A22C-EB0F90423FE4}"/>
              </a:ext>
            </a:extLst>
          </p:cNvPr>
          <p:cNvSpPr>
            <a:spLocks noGrp="1"/>
          </p:cNvSpPr>
          <p:nvPr/>
        </p:nvSpPr>
        <p:spPr>
          <a:xfrm>
            <a:off x="609600" y="1600200"/>
            <a:ext cx="10953750" cy="3238500"/>
          </a:xfrm>
          <a:prstGeom prst="rect">
            <a:avLst/>
          </a:prstGeom>
          <a:noFill/>
          <a:ln w="0">
            <a:noFill/>
          </a:ln>
        </p:spPr>
        <p:txBody>
          <a:bodyPr wrap="square" lIns="0" tIns="0" rIns="0" bIns="0" anchor="t">
            <a:noAutofit/>
          </a:bodyPr>
          <a:lstStyle>
            <a:defPPr>
              <a:defRPr sz="1575" b="0">
                <a:solidFill>
                  <a:srgbClr val="70D6C4"/>
                </a:solidFill>
                <a:latin typeface="Consolas"/>
                <a:ea typeface="Consolas"/>
                <a:cs typeface="Consolas"/>
              </a:defRPr>
            </a:defPPr>
            <a:lvl1pPr>
              <a:defRPr sz="1575" b="0">
                <a:solidFill>
                  <a:srgbClr val="70D6C4"/>
                </a:solidFill>
                <a:latin typeface="Consolas"/>
                <a:ea typeface="Consolas"/>
                <a:cs typeface="Consolas"/>
              </a:defRPr>
            </a:lvl1pPr>
            <a:lvl2pPr>
              <a:defRPr sz="1575" b="0">
                <a:solidFill>
                  <a:srgbClr val="70D6C4"/>
                </a:solidFill>
                <a:latin typeface="Consolas"/>
                <a:ea typeface="Consolas"/>
                <a:cs typeface="Consolas"/>
              </a:defRPr>
            </a:lvl2pPr>
            <a:lvl3pPr>
              <a:defRPr sz="1575" b="0">
                <a:solidFill>
                  <a:srgbClr val="70D6C4"/>
                </a:solidFill>
                <a:latin typeface="Consolas"/>
                <a:ea typeface="Consolas"/>
                <a:cs typeface="Consolas"/>
              </a:defRPr>
            </a:lvl3pPr>
            <a:lvl4pPr>
              <a:defRPr sz="1575" b="0">
                <a:solidFill>
                  <a:srgbClr val="70D6C4"/>
                </a:solidFill>
                <a:latin typeface="Consolas"/>
                <a:ea typeface="Consolas"/>
                <a:cs typeface="Consolas"/>
              </a:defRPr>
            </a:lvl4pPr>
            <a:lvl5pPr>
              <a:defRPr sz="1575" b="0">
                <a:solidFill>
                  <a:srgbClr val="70D6C4"/>
                </a:solidFill>
                <a:latin typeface="Consolas"/>
                <a:ea typeface="Consolas"/>
                <a:cs typeface="Consolas"/>
              </a:defRPr>
            </a:lvl5pPr>
            <a:lvl6pPr>
              <a:defRPr sz="1575" b="0">
                <a:solidFill>
                  <a:srgbClr val="70D6C4"/>
                </a:solidFill>
                <a:latin typeface="Consolas"/>
                <a:ea typeface="Consolas"/>
                <a:cs typeface="Consolas"/>
              </a:defRPr>
            </a:lvl6pPr>
            <a:lvl7pPr>
              <a:defRPr sz="1575" b="0">
                <a:solidFill>
                  <a:srgbClr val="70D6C4"/>
                </a:solidFill>
                <a:latin typeface="Consolas"/>
                <a:ea typeface="Consolas"/>
                <a:cs typeface="Consolas"/>
              </a:defRPr>
            </a:lvl7pPr>
            <a:lvl8pPr>
              <a:defRPr sz="1575" b="0">
                <a:solidFill>
                  <a:srgbClr val="70D6C4"/>
                </a:solidFill>
                <a:latin typeface="Consolas"/>
                <a:ea typeface="Consolas"/>
                <a:cs typeface="Consolas"/>
              </a:defRPr>
            </a:lvl8pPr>
            <a:lvl9pPr>
              <a:defRPr sz="1575" b="0">
                <a:solidFill>
                  <a:srgbClr val="70D6C4"/>
                </a:solidFill>
                <a:latin typeface="Consolas"/>
                <a:ea typeface="Consolas"/>
                <a:cs typeface="Consolas"/>
              </a:defRPr>
            </a:lvl9pPr>
          </a:lstStyle>
          <a:p>
            <a:pPr>
              <a:defRPr sz="1575" b="0">
                <a:solidFill>
                  <a:srgbClr val="70D6C4"/>
                </a:solidFill>
                <a:latin typeface="Consolas"/>
                <a:ea typeface="Consolas"/>
                <a:cs typeface="Consolas"/>
              </a:defRPr>
            </a:pPr>
            <a:r>
              <a:rPr sz="1575" b="0">
                <a:solidFill>
                  <a:srgbClr val="70D6C4"/>
                </a:solidFill>
                <a:latin typeface="Consolas"/>
                <a:ea typeface="Consolas"/>
                <a:cs typeface="Consolas"/>
              </a:rPr>
              <a:t>WITH totals AS (</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SELECT date_trunc('month', ordered_at)::date AS month,</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sum(line_total) AS sales,</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count(DISTINCT order_id) AS orders</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FROM reporting.v_sales_lines</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WHERE ordered_at &gt;= DATE '2026-01-01'</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AND ordered_at &lt; DATE '2027-01-01'</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GROUP BY 1</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SELECT month, orders, sales,</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       sum(sales) OVER (ORDER BY month) AS running_sales</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FROM totals</a:t>
            </a:r>
          </a:p>
          <a:p>
            <a:pPr>
              <a:defRPr sz="1575" b="0">
                <a:solidFill>
                  <a:srgbClr val="70D6C4"/>
                </a:solidFill>
                <a:latin typeface="Consolas"/>
                <a:ea typeface="Consolas"/>
                <a:cs typeface="Consolas"/>
              </a:defRPr>
            </a:pPr>
            <a:r>
              <a:rPr sz="1575" b="0">
                <a:solidFill>
                  <a:srgbClr val="70D6C4"/>
                </a:solidFill>
                <a:latin typeface="Consolas"/>
                <a:ea typeface="Consolas"/>
                <a:cs typeface="Consolas"/>
              </a:rPr>
              <a:t>ORDER BY month;</a:t>
            </a:r>
          </a:p>
        </p:txBody>
      </p:sp>
      <p:graphicFrame>
        <p:nvGraphicFramePr>
          <p:cNvPr id="5" name="Table 4">
            <a:extLst>
              <a:ext uri="{FF2B5EF4-FFF2-40B4-BE49-F238E27FC236}">
                <a16:creationId xmlns:a16="http://schemas.microsoft.com/office/drawing/2014/main" id="{0C1D6EC9-DD20-4942-B5E4-BD83CF5EE150}"/>
              </a:ext>
            </a:extLst>
          </p:cNvPr>
          <p:cNvGraphicFramePr/>
          <p:nvPr/>
        </p:nvGraphicFramePr>
        <p:xfrm>
          <a:off x="609600" y="4857750"/>
          <a:ext cx="10972800" cy="1280160"/>
        </p:xfrm>
        <a:graphic>
          <a:graphicData uri="http://schemas.openxmlformats.org/drawingml/2006/table">
            <a:tbl>
              <a:tblPr firstRow="1"/>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297656">
                <a:tc>
                  <a:txBody>
                    <a:bodyPr/>
                    <a:lstStyle/>
                    <a:p>
                      <a:r>
                        <a:rPr sz="1500" b="1">
                          <a:solidFill>
                            <a:srgbClr val="70D6C4"/>
                          </a:solidFill>
                          <a:latin typeface="Arial"/>
                          <a:ea typeface="Arial"/>
                          <a:cs typeface="Arial"/>
                        </a:rPr>
                        <a:t>month</a:t>
                      </a:r>
                    </a:p>
                  </a:txBody>
                  <a:tcPr>
                    <a:lnL w="6668">
                      <a:solidFill>
                        <a:srgbClr val="344352"/>
                      </a:solidFill>
                      <a:prstDash val="soli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00" b="1">
                          <a:solidFill>
                            <a:srgbClr val="70D6C4"/>
                          </a:solidFill>
                          <a:latin typeface="Arial"/>
                          <a:ea typeface="Arial"/>
                          <a:cs typeface="Arial"/>
                        </a:rPr>
                        <a:t>orders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00" b="1">
                          <a:solidFill>
                            <a:srgbClr val="70D6C4"/>
                          </a:solidFill>
                          <a:latin typeface="Arial"/>
                          <a:ea typeface="Arial"/>
                          <a:cs typeface="Arial"/>
                        </a:rPr>
                        <a:t>sales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tc>
                  <a:txBody>
                    <a:bodyPr/>
                    <a:lstStyle/>
                    <a:p>
                      <a:r>
                        <a:rPr sz="1500" b="1">
                          <a:solidFill>
                            <a:srgbClr val="70D6C4"/>
                          </a:solidFill>
                          <a:latin typeface="Arial"/>
                          <a:ea typeface="Arial"/>
                          <a:cs typeface="Arial"/>
                        </a:rPr>
                        <a:t>running_sales</a:t>
                      </a:r>
                    </a:p>
                  </a:txBody>
                  <a:tcPr>
                    <a:lnL w="6668" cap="flat" cmpd="sng" algn="ctr">
                      <a:solidFill>
                        <a:srgbClr val="344352"/>
                      </a:solidFill>
                      <a:prstDash val="solid"/>
                      <a:round/>
                      <a:headEnd type="none" w="med" len="med"/>
                      <a:tailEnd type="none" w="med" len="med"/>
                    </a:lnL>
                    <a:lnR w="6668">
                      <a:solidFill>
                        <a:srgbClr val="344352"/>
                      </a:solidFill>
                      <a:prstDash val="solid"/>
                    </a:lnR>
                    <a:lnT w="6668">
                      <a:solidFill>
                        <a:srgbClr val="344352"/>
                      </a:solidFill>
                      <a:prstDash val="solid"/>
                    </a:lnT>
                    <a:lnB w="6668">
                      <a:solidFill>
                        <a:srgbClr val="344352"/>
                      </a:solidFill>
                      <a:prstDash val="solid"/>
                    </a:lnB>
                    <a:solidFill>
                      <a:srgbClr val="223746"/>
                    </a:solidFill>
                  </a:tcPr>
                </a:tc>
                <a:extLst>
                  <a:ext uri="{0D108BD9-81ED-4DB2-BD59-A6C34878D82A}">
                    <a16:rowId xmlns:a16="http://schemas.microsoft.com/office/drawing/2014/main" val="10000"/>
                  </a:ext>
                </a:extLst>
              </a:tr>
              <a:tr h="297656">
                <a:tc>
                  <a:txBody>
                    <a:bodyPr/>
                    <a:lstStyle/>
                    <a:p>
                      <a:r>
                        <a:rPr sz="1500" b="0">
                          <a:solidFill>
                            <a:srgbClr val="F1F4F6"/>
                          </a:solidFill>
                          <a:latin typeface="Arial"/>
                          <a:ea typeface="Arial"/>
                          <a:cs typeface="Arial"/>
                        </a:rPr>
                        <a:t>2026-01-01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11603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33893975.00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33893975.00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1"/>
                  </a:ext>
                </a:extLst>
              </a:tr>
              <a:tr h="297656">
                <a:tc>
                  <a:txBody>
                    <a:bodyPr/>
                    <a:lstStyle/>
                    <a:p>
                      <a:r>
                        <a:rPr sz="1500" b="0">
                          <a:solidFill>
                            <a:srgbClr val="F1F4F6"/>
                          </a:solidFill>
                          <a:latin typeface="Arial"/>
                          <a:ea typeface="Arial"/>
                          <a:cs typeface="Arial"/>
                        </a:rPr>
                        <a:t>2026-02-01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10453</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30573125.00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64467100.00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2"/>
                  </a:ext>
                </a:extLst>
              </a:tr>
              <a:tr h="297656">
                <a:tc>
                  <a:txBody>
                    <a:bodyPr/>
                    <a:lstStyle/>
                    <a:p>
                      <a:r>
                        <a:rPr sz="1500" b="0">
                          <a:solidFill>
                            <a:srgbClr val="F1F4F6"/>
                          </a:solidFill>
                          <a:latin typeface="Arial"/>
                          <a:ea typeface="Arial"/>
                          <a:cs typeface="Arial"/>
                        </a:rPr>
                        <a:t>2026-03-01</a:t>
                      </a:r>
                    </a:p>
                  </a:txBody>
                  <a:tcPr>
                    <a:lnL w="6668">
                      <a:solidFill>
                        <a:srgbClr val="344352"/>
                      </a:solidFill>
                      <a:prstDash val="soli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11542</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33773975.00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tc>
                  <a:txBody>
                    <a:bodyPr/>
                    <a:lstStyle/>
                    <a:p>
                      <a:r>
                        <a:rPr sz="1500" b="0">
                          <a:solidFill>
                            <a:srgbClr val="F1F4F6"/>
                          </a:solidFill>
                          <a:latin typeface="Arial"/>
                          <a:ea typeface="Arial"/>
                          <a:cs typeface="Arial"/>
                        </a:rPr>
                        <a:t>98241075.00</a:t>
                      </a:r>
                    </a:p>
                  </a:txBody>
                  <a:tcPr>
                    <a:lnL w="6668" cap="flat" cmpd="sng" algn="ctr">
                      <a:solidFill>
                        <a:srgbClr val="344352"/>
                      </a:solidFill>
                      <a:prstDash val="solid"/>
                      <a:round/>
                      <a:headEnd type="none" w="med" len="med"/>
                      <a:tailEnd type="none" w="med" len="med"/>
                    </a:lnL>
                    <a:lnR w="6668">
                      <a:solidFill>
                        <a:srgbClr val="344352"/>
                      </a:solidFill>
                      <a:prstDash val="solid"/>
                    </a:lnR>
                    <a:lnT w="6668" cap="flat" cmpd="sng" algn="ctr">
                      <a:solidFill>
                        <a:srgbClr val="344352"/>
                      </a:solidFill>
                      <a:prstDash val="solid"/>
                      <a:round/>
                      <a:headEnd type="none" w="med" len="med"/>
                      <a:tailEnd type="none" w="med" len="med"/>
                    </a:lnT>
                    <a:lnB w="6668">
                      <a:solidFill>
                        <a:srgbClr val="344352"/>
                      </a:solidFill>
                      <a:prstDash val="solid"/>
                    </a:lnB>
                    <a:solidFill>
                      <a:srgbClr val="17243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4151425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DB5E33-0B0D-434D-80F5-AC1109954BBA}"/>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SQL reference: stock posting function</a:t>
            </a:r>
          </a:p>
        </p:txBody>
      </p:sp>
      <p:sp>
        <p:nvSpPr>
          <p:cNvPr id="2" name="Rectangle 1">
            <a:extLst>
              <a:ext uri="{FF2B5EF4-FFF2-40B4-BE49-F238E27FC236}">
                <a16:creationId xmlns:a16="http://schemas.microsoft.com/office/drawing/2014/main" id="{6E591D0F-98A9-4E5D-9B4F-35463CB6B2C8}"/>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90</a:t>
            </a:r>
          </a:p>
        </p:txBody>
      </p:sp>
      <p:sp>
        <p:nvSpPr>
          <p:cNvPr id="3" name="Rectangle 2">
            <a:extLst>
              <a:ext uri="{FF2B5EF4-FFF2-40B4-BE49-F238E27FC236}">
                <a16:creationId xmlns:a16="http://schemas.microsoft.com/office/drawing/2014/main" id="{B4C707AF-7530-49D5-8D5E-731273C834DD}"/>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sp>
        <p:nvSpPr>
          <p:cNvPr id="4" name="Rectangle 3">
            <a:extLst>
              <a:ext uri="{FF2B5EF4-FFF2-40B4-BE49-F238E27FC236}">
                <a16:creationId xmlns:a16="http://schemas.microsoft.com/office/drawing/2014/main" id="{38F7E6AA-948C-48F4-8290-979BEF4488C9}"/>
              </a:ext>
            </a:extLst>
          </p:cNvPr>
          <p:cNvSpPr>
            <a:spLocks noGrp="1"/>
          </p:cNvSpPr>
          <p:nvPr/>
        </p:nvSpPr>
        <p:spPr>
          <a:xfrm>
            <a:off x="609600" y="1600200"/>
            <a:ext cx="10953750" cy="2952750"/>
          </a:xfrm>
          <a:prstGeom prst="rect">
            <a:avLst/>
          </a:prstGeom>
          <a:noFill/>
          <a:ln w="0">
            <a:noFill/>
          </a:ln>
        </p:spPr>
        <p:txBody>
          <a:bodyPr wrap="square" lIns="0" tIns="0" rIns="0" bIns="0" anchor="t">
            <a:noAutofit/>
          </a:bodyPr>
          <a:lstStyle>
            <a:defPPr>
              <a:defRPr sz="1800" b="0">
                <a:solidFill>
                  <a:srgbClr val="70D6C4"/>
                </a:solidFill>
                <a:latin typeface="Consolas"/>
                <a:ea typeface="Consolas"/>
                <a:cs typeface="Consolas"/>
              </a:defRPr>
            </a:defPPr>
            <a:lvl1pPr>
              <a:defRPr sz="1800" b="0">
                <a:solidFill>
                  <a:srgbClr val="70D6C4"/>
                </a:solidFill>
                <a:latin typeface="Consolas"/>
                <a:ea typeface="Consolas"/>
                <a:cs typeface="Consolas"/>
              </a:defRPr>
            </a:lvl1pPr>
            <a:lvl2pPr>
              <a:defRPr sz="1800" b="0">
                <a:solidFill>
                  <a:srgbClr val="70D6C4"/>
                </a:solidFill>
                <a:latin typeface="Consolas"/>
                <a:ea typeface="Consolas"/>
                <a:cs typeface="Consolas"/>
              </a:defRPr>
            </a:lvl2pPr>
            <a:lvl3pPr>
              <a:defRPr sz="1800" b="0">
                <a:solidFill>
                  <a:srgbClr val="70D6C4"/>
                </a:solidFill>
                <a:latin typeface="Consolas"/>
                <a:ea typeface="Consolas"/>
                <a:cs typeface="Consolas"/>
              </a:defRPr>
            </a:lvl3pPr>
            <a:lvl4pPr>
              <a:defRPr sz="1800" b="0">
                <a:solidFill>
                  <a:srgbClr val="70D6C4"/>
                </a:solidFill>
                <a:latin typeface="Consolas"/>
                <a:ea typeface="Consolas"/>
                <a:cs typeface="Consolas"/>
              </a:defRPr>
            </a:lvl4pPr>
            <a:lvl5pPr>
              <a:defRPr sz="1800" b="0">
                <a:solidFill>
                  <a:srgbClr val="70D6C4"/>
                </a:solidFill>
                <a:latin typeface="Consolas"/>
                <a:ea typeface="Consolas"/>
                <a:cs typeface="Consolas"/>
              </a:defRPr>
            </a:lvl5pPr>
            <a:lvl6pPr>
              <a:defRPr sz="1800" b="0">
                <a:solidFill>
                  <a:srgbClr val="70D6C4"/>
                </a:solidFill>
                <a:latin typeface="Consolas"/>
                <a:ea typeface="Consolas"/>
                <a:cs typeface="Consolas"/>
              </a:defRPr>
            </a:lvl6pPr>
            <a:lvl7pPr>
              <a:defRPr sz="1800" b="0">
                <a:solidFill>
                  <a:srgbClr val="70D6C4"/>
                </a:solidFill>
                <a:latin typeface="Consolas"/>
                <a:ea typeface="Consolas"/>
                <a:cs typeface="Consolas"/>
              </a:defRPr>
            </a:lvl7pPr>
            <a:lvl8pPr>
              <a:defRPr sz="1800" b="0">
                <a:solidFill>
                  <a:srgbClr val="70D6C4"/>
                </a:solidFill>
                <a:latin typeface="Consolas"/>
                <a:ea typeface="Consolas"/>
                <a:cs typeface="Consolas"/>
              </a:defRPr>
            </a:lvl8pPr>
            <a:lvl9pPr>
              <a:defRPr sz="1800" b="0">
                <a:solidFill>
                  <a:srgbClr val="70D6C4"/>
                </a:solidFill>
                <a:latin typeface="Consolas"/>
                <a:ea typeface="Consolas"/>
                <a:cs typeface="Consolas"/>
              </a:defRPr>
            </a:lvl9pPr>
          </a:lstStyle>
          <a:p>
            <a:pPr>
              <a:defRPr sz="1800" b="0">
                <a:solidFill>
                  <a:srgbClr val="70D6C4"/>
                </a:solidFill>
                <a:latin typeface="Consolas"/>
                <a:ea typeface="Consolas"/>
                <a:cs typeface="Consolas"/>
              </a:defRPr>
            </a:pPr>
            <a:r>
              <a:rPr sz="1800" b="0">
                <a:solidFill>
                  <a:srgbClr val="70D6C4"/>
                </a:solidFill>
                <a:latin typeface="Consolas"/>
                <a:ea typeface="Consolas"/>
                <a:cs typeface="Consolas"/>
              </a:rPr>
              <a:t>SELECT quantity INTO balance</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FROM reporting.inventory_balance</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WHERE product_id=p_product FOR UPDATE;</a:t>
            </a:r>
          </a:p>
          <a:p>
            <a:endParaRPr sz="1800" b="0">
              <a:solidFill>
                <a:srgbClr val="70D6C4"/>
              </a:solidFill>
              <a:latin typeface="Consolas"/>
              <a:ea typeface="Consolas"/>
              <a:cs typeface="Consolas"/>
            </a:endParaRP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IF p_kind='sale' AND balance&lt;p_quantity THEN</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RAISE EXCEPTION</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'Insufficient stock: % available, % requested', balance, p_quantity</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    USING ERRCODE='23514';</a:t>
            </a:r>
          </a:p>
          <a:p>
            <a:pPr>
              <a:defRPr sz="1800" b="0">
                <a:solidFill>
                  <a:srgbClr val="70D6C4"/>
                </a:solidFill>
                <a:latin typeface="Consolas"/>
                <a:ea typeface="Consolas"/>
                <a:cs typeface="Consolas"/>
              </a:defRPr>
            </a:pPr>
            <a:r>
              <a:rPr sz="1800" b="0">
                <a:solidFill>
                  <a:srgbClr val="70D6C4"/>
                </a:solidFill>
                <a:latin typeface="Consolas"/>
                <a:ea typeface="Consolas"/>
                <a:cs typeface="Consolas"/>
              </a:rPr>
              <a:t>END IF;</a:t>
            </a:r>
          </a:p>
        </p:txBody>
      </p:sp>
      <p:sp>
        <p:nvSpPr>
          <p:cNvPr id="5" name="Rectangle 4">
            <a:extLst>
              <a:ext uri="{FF2B5EF4-FFF2-40B4-BE49-F238E27FC236}">
                <a16:creationId xmlns:a16="http://schemas.microsoft.com/office/drawing/2014/main" id="{9D997B33-AEA0-401D-8446-833FB080974F}"/>
              </a:ext>
            </a:extLst>
          </p:cNvPr>
          <p:cNvSpPr>
            <a:spLocks noGrp="1"/>
          </p:cNvSpPr>
          <p:nvPr/>
        </p:nvSpPr>
        <p:spPr>
          <a:xfrm>
            <a:off x="609600" y="5048250"/>
            <a:ext cx="10858500" cy="952500"/>
          </a:xfrm>
          <a:prstGeom prst="rect">
            <a:avLst/>
          </a:prstGeom>
          <a:noFill/>
          <a:ln w="0">
            <a:noFill/>
          </a:ln>
        </p:spPr>
        <p:txBody>
          <a:bodyPr wrap="square" lIns="0" tIns="0" rIns="0" bIns="0" anchor="t">
            <a:noAutofit/>
          </a:bodyPr>
          <a:lstStyle>
            <a:defPPr>
              <a:defRPr sz="2025" b="0">
                <a:solidFill>
                  <a:srgbClr val="F1F4F6"/>
                </a:solidFill>
                <a:latin typeface="Arial"/>
                <a:ea typeface="Arial"/>
                <a:cs typeface="Arial"/>
              </a:defRPr>
            </a:defPPr>
            <a:lvl1pPr>
              <a:defRPr sz="2025" b="0">
                <a:solidFill>
                  <a:srgbClr val="F1F4F6"/>
                </a:solidFill>
                <a:latin typeface="Arial"/>
                <a:ea typeface="Arial"/>
                <a:cs typeface="Arial"/>
              </a:defRPr>
            </a:lvl1pPr>
            <a:lvl2pPr>
              <a:defRPr sz="2025" b="0">
                <a:solidFill>
                  <a:srgbClr val="F1F4F6"/>
                </a:solidFill>
                <a:latin typeface="Arial"/>
                <a:ea typeface="Arial"/>
                <a:cs typeface="Arial"/>
              </a:defRPr>
            </a:lvl2pPr>
            <a:lvl3pPr>
              <a:defRPr sz="2025" b="0">
                <a:solidFill>
                  <a:srgbClr val="F1F4F6"/>
                </a:solidFill>
                <a:latin typeface="Arial"/>
                <a:ea typeface="Arial"/>
                <a:cs typeface="Arial"/>
              </a:defRPr>
            </a:lvl3pPr>
            <a:lvl4pPr>
              <a:defRPr sz="2025" b="0">
                <a:solidFill>
                  <a:srgbClr val="F1F4F6"/>
                </a:solidFill>
                <a:latin typeface="Arial"/>
                <a:ea typeface="Arial"/>
                <a:cs typeface="Arial"/>
              </a:defRPr>
            </a:lvl4pPr>
            <a:lvl5pPr>
              <a:defRPr sz="2025" b="0">
                <a:solidFill>
                  <a:srgbClr val="F1F4F6"/>
                </a:solidFill>
                <a:latin typeface="Arial"/>
                <a:ea typeface="Arial"/>
                <a:cs typeface="Arial"/>
              </a:defRPr>
            </a:lvl5pPr>
            <a:lvl6pPr>
              <a:defRPr sz="2025" b="0">
                <a:solidFill>
                  <a:srgbClr val="F1F4F6"/>
                </a:solidFill>
                <a:latin typeface="Arial"/>
                <a:ea typeface="Arial"/>
                <a:cs typeface="Arial"/>
              </a:defRPr>
            </a:lvl6pPr>
            <a:lvl7pPr>
              <a:defRPr sz="2025" b="0">
                <a:solidFill>
                  <a:srgbClr val="F1F4F6"/>
                </a:solidFill>
                <a:latin typeface="Arial"/>
                <a:ea typeface="Arial"/>
                <a:cs typeface="Arial"/>
              </a:defRPr>
            </a:lvl7pPr>
            <a:lvl8pPr>
              <a:defRPr sz="2025" b="0">
                <a:solidFill>
                  <a:srgbClr val="F1F4F6"/>
                </a:solidFill>
                <a:latin typeface="Arial"/>
                <a:ea typeface="Arial"/>
                <a:cs typeface="Arial"/>
              </a:defRPr>
            </a:lvl8pPr>
            <a:lvl9pPr>
              <a:defRPr sz="2025" b="0">
                <a:solidFill>
                  <a:srgbClr val="F1F4F6"/>
                </a:solidFill>
                <a:latin typeface="Arial"/>
                <a:ea typeface="Arial"/>
                <a:cs typeface="Arial"/>
              </a:defRPr>
            </a:lvl9pPr>
          </a:lstStyle>
          <a:p>
            <a:pPr>
              <a:defRPr sz="2025" b="0">
                <a:solidFill>
                  <a:srgbClr val="F1F4F6"/>
                </a:solidFill>
                <a:latin typeface="Arial"/>
                <a:ea typeface="Arial"/>
                <a:cs typeface="Arial"/>
              </a:defRPr>
            </a:pPr>
            <a:r>
              <a:rPr sz="2025" b="0">
                <a:solidFill>
                  <a:srgbClr val="F1F4F6"/>
                </a:solidFill>
                <a:latin typeface="Arial"/>
                <a:ea typeface="Arial"/>
                <a:cs typeface="Arial"/>
              </a:rPr>
              <a:t>FOR UPDATE serializes changes to the same product balance.</a:t>
            </a:r>
          </a:p>
          <a:p>
            <a:pPr>
              <a:defRPr sz="2025" b="0">
                <a:solidFill>
                  <a:srgbClr val="F1F4F6"/>
                </a:solidFill>
                <a:latin typeface="Arial"/>
                <a:ea typeface="Arial"/>
                <a:cs typeface="Arial"/>
              </a:defRPr>
            </a:pPr>
            <a:r>
              <a:rPr sz="2025" b="0">
                <a:solidFill>
                  <a:srgbClr val="F1F4F6"/>
                </a:solidFill>
                <a:latin typeface="Arial"/>
                <a:ea typeface="Arial"/>
                <a:cs typeface="Arial"/>
              </a:rPr>
              <a:t>The exception aborts an invalid sale before it creates an order.</a:t>
            </a:r>
          </a:p>
        </p:txBody>
      </p:sp>
    </p:spTree>
    <p:extLst>
      <p:ext uri="{BB962C8B-B14F-4D97-AF65-F5344CB8AC3E}">
        <p14:creationId xmlns:p14="http://schemas.microsoft.com/office/powerpoint/2010/main" val="595919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6A763CE-B879-4E6B-962A-489993337A7D}"/>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SQL reference: trigger and index</a:t>
            </a:r>
          </a:p>
        </p:txBody>
      </p:sp>
      <p:sp>
        <p:nvSpPr>
          <p:cNvPr id="2" name="Rectangle 1">
            <a:extLst>
              <a:ext uri="{FF2B5EF4-FFF2-40B4-BE49-F238E27FC236}">
                <a16:creationId xmlns:a16="http://schemas.microsoft.com/office/drawing/2014/main" id="{CF39A3BC-20A9-48DD-8327-316879248E28}"/>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91</a:t>
            </a:r>
          </a:p>
        </p:txBody>
      </p:sp>
      <p:sp>
        <p:nvSpPr>
          <p:cNvPr id="3" name="Rectangle 2">
            <a:extLst>
              <a:ext uri="{FF2B5EF4-FFF2-40B4-BE49-F238E27FC236}">
                <a16:creationId xmlns:a16="http://schemas.microsoft.com/office/drawing/2014/main" id="{455B6650-1EC9-4C43-ADA6-5F92E4346186}"/>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sp>
        <p:nvSpPr>
          <p:cNvPr id="4" name="Rectangle 3">
            <a:extLst>
              <a:ext uri="{FF2B5EF4-FFF2-40B4-BE49-F238E27FC236}">
                <a16:creationId xmlns:a16="http://schemas.microsoft.com/office/drawing/2014/main" id="{0ED97C30-2408-494A-A339-6FF775CDB49A}"/>
              </a:ext>
            </a:extLst>
          </p:cNvPr>
          <p:cNvSpPr>
            <a:spLocks noGrp="1"/>
          </p:cNvSpPr>
          <p:nvPr/>
        </p:nvSpPr>
        <p:spPr>
          <a:xfrm>
            <a:off x="609600" y="1600200"/>
            <a:ext cx="10953750" cy="2857500"/>
          </a:xfrm>
          <a:prstGeom prst="rect">
            <a:avLst/>
          </a:prstGeom>
          <a:noFill/>
          <a:ln w="0">
            <a:noFill/>
          </a:ln>
        </p:spPr>
        <p:txBody>
          <a:bodyPr wrap="square" lIns="0" tIns="0" rIns="0" bIns="0" anchor="t">
            <a:noAutofit/>
          </a:bodyPr>
          <a:lstStyle>
            <a:defPPr>
              <a:defRPr sz="1875" b="0">
                <a:solidFill>
                  <a:srgbClr val="70D6C4"/>
                </a:solidFill>
                <a:latin typeface="Consolas"/>
                <a:ea typeface="Consolas"/>
                <a:cs typeface="Consolas"/>
              </a:defRPr>
            </a:defPPr>
            <a:lvl1pPr>
              <a:defRPr sz="1875" b="0">
                <a:solidFill>
                  <a:srgbClr val="70D6C4"/>
                </a:solidFill>
                <a:latin typeface="Consolas"/>
                <a:ea typeface="Consolas"/>
                <a:cs typeface="Consolas"/>
              </a:defRPr>
            </a:lvl1pPr>
            <a:lvl2pPr>
              <a:defRPr sz="1875" b="0">
                <a:solidFill>
                  <a:srgbClr val="70D6C4"/>
                </a:solidFill>
                <a:latin typeface="Consolas"/>
                <a:ea typeface="Consolas"/>
                <a:cs typeface="Consolas"/>
              </a:defRPr>
            </a:lvl2pPr>
            <a:lvl3pPr>
              <a:defRPr sz="1875" b="0">
                <a:solidFill>
                  <a:srgbClr val="70D6C4"/>
                </a:solidFill>
                <a:latin typeface="Consolas"/>
                <a:ea typeface="Consolas"/>
                <a:cs typeface="Consolas"/>
              </a:defRPr>
            </a:lvl3pPr>
            <a:lvl4pPr>
              <a:defRPr sz="1875" b="0">
                <a:solidFill>
                  <a:srgbClr val="70D6C4"/>
                </a:solidFill>
                <a:latin typeface="Consolas"/>
                <a:ea typeface="Consolas"/>
                <a:cs typeface="Consolas"/>
              </a:defRPr>
            </a:lvl4pPr>
            <a:lvl5pPr>
              <a:defRPr sz="1875" b="0">
                <a:solidFill>
                  <a:srgbClr val="70D6C4"/>
                </a:solidFill>
                <a:latin typeface="Consolas"/>
                <a:ea typeface="Consolas"/>
                <a:cs typeface="Consolas"/>
              </a:defRPr>
            </a:lvl5pPr>
            <a:lvl6pPr>
              <a:defRPr sz="1875" b="0">
                <a:solidFill>
                  <a:srgbClr val="70D6C4"/>
                </a:solidFill>
                <a:latin typeface="Consolas"/>
                <a:ea typeface="Consolas"/>
                <a:cs typeface="Consolas"/>
              </a:defRPr>
            </a:lvl6pPr>
            <a:lvl7pPr>
              <a:defRPr sz="1875" b="0">
                <a:solidFill>
                  <a:srgbClr val="70D6C4"/>
                </a:solidFill>
                <a:latin typeface="Consolas"/>
                <a:ea typeface="Consolas"/>
                <a:cs typeface="Consolas"/>
              </a:defRPr>
            </a:lvl7pPr>
            <a:lvl8pPr>
              <a:defRPr sz="1875" b="0">
                <a:solidFill>
                  <a:srgbClr val="70D6C4"/>
                </a:solidFill>
                <a:latin typeface="Consolas"/>
                <a:ea typeface="Consolas"/>
                <a:cs typeface="Consolas"/>
              </a:defRPr>
            </a:lvl8pPr>
            <a:lvl9pPr>
              <a:defRPr sz="1875" b="0">
                <a:solidFill>
                  <a:srgbClr val="70D6C4"/>
                </a:solidFill>
                <a:latin typeface="Consolas"/>
                <a:ea typeface="Consolas"/>
                <a:cs typeface="Consolas"/>
              </a:defRPr>
            </a:lvl9pPr>
          </a:lstStyle>
          <a:p>
            <a:pPr>
              <a:defRPr sz="1875" b="0">
                <a:solidFill>
                  <a:srgbClr val="70D6C4"/>
                </a:solidFill>
                <a:latin typeface="Consolas"/>
                <a:ea typeface="Consolas"/>
                <a:cs typeface="Consolas"/>
              </a:defRPr>
            </a:pPr>
            <a:r>
              <a:rPr sz="1875" b="0">
                <a:solidFill>
                  <a:srgbClr val="70D6C4"/>
                </a:solidFill>
                <a:latin typeface="Consolas"/>
                <a:ea typeface="Consolas"/>
                <a:cs typeface="Consolas"/>
              </a:rPr>
              <a:t>CREATE TRIGGER stock_history_immutable</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BEFORE UPDATE OR DELETE ON reporting.stock_movement</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FOR EACH ROW</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EXECUTE FUNCTION reporting.protect_stock_history();</a:t>
            </a:r>
          </a:p>
          <a:p>
            <a:endParaRPr sz="1875" b="0">
              <a:solidFill>
                <a:srgbClr val="70D6C4"/>
              </a:solidFill>
              <a:latin typeface="Consolas"/>
              <a:ea typeface="Consolas"/>
              <a:cs typeface="Consolas"/>
            </a:endParaRP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CREATE INDEX sales_order_customer_date</a:t>
            </a:r>
          </a:p>
          <a:p>
            <a:pPr>
              <a:defRPr sz="1875" b="0">
                <a:solidFill>
                  <a:srgbClr val="70D6C4"/>
                </a:solidFill>
                <a:latin typeface="Consolas"/>
                <a:ea typeface="Consolas"/>
                <a:cs typeface="Consolas"/>
              </a:defRPr>
            </a:pPr>
            <a:r>
              <a:rPr sz="1875" b="0">
                <a:solidFill>
                  <a:srgbClr val="70D6C4"/>
                </a:solidFill>
                <a:latin typeface="Consolas"/>
                <a:ea typeface="Consolas"/>
                <a:cs typeface="Consolas"/>
              </a:rPr>
              <a:t>ON reporting.sales_order(customer_id, ordered_at);</a:t>
            </a:r>
          </a:p>
        </p:txBody>
      </p:sp>
      <p:sp>
        <p:nvSpPr>
          <p:cNvPr id="5" name="Rectangle 4">
            <a:extLst>
              <a:ext uri="{FF2B5EF4-FFF2-40B4-BE49-F238E27FC236}">
                <a16:creationId xmlns:a16="http://schemas.microsoft.com/office/drawing/2014/main" id="{04A68202-1053-4B6E-B97B-BA2A7F4F38FB}"/>
              </a:ext>
            </a:extLst>
          </p:cNvPr>
          <p:cNvSpPr>
            <a:spLocks noGrp="1"/>
          </p:cNvSpPr>
          <p:nvPr/>
        </p:nvSpPr>
        <p:spPr>
          <a:xfrm>
            <a:off x="609600" y="5048250"/>
            <a:ext cx="10858500" cy="952500"/>
          </a:xfrm>
          <a:prstGeom prst="rect">
            <a:avLst/>
          </a:prstGeom>
          <a:noFill/>
          <a:ln w="0">
            <a:noFill/>
          </a:ln>
        </p:spPr>
        <p:txBody>
          <a:bodyPr wrap="square" lIns="0" tIns="0" rIns="0" bIns="0" anchor="t">
            <a:noAutofit/>
          </a:bodyPr>
          <a:lstStyle>
            <a:defPPr>
              <a:defRPr sz="2100" b="0">
                <a:solidFill>
                  <a:srgbClr val="F1F4F6"/>
                </a:solidFill>
                <a:latin typeface="Arial"/>
                <a:ea typeface="Arial"/>
                <a:cs typeface="Arial"/>
              </a:defRPr>
            </a:defPPr>
            <a:lvl1pPr>
              <a:defRPr sz="2100" b="0">
                <a:solidFill>
                  <a:srgbClr val="F1F4F6"/>
                </a:solidFill>
                <a:latin typeface="Arial"/>
                <a:ea typeface="Arial"/>
                <a:cs typeface="Arial"/>
              </a:defRPr>
            </a:lvl1pPr>
            <a:lvl2pPr>
              <a:defRPr sz="2100" b="0">
                <a:solidFill>
                  <a:srgbClr val="F1F4F6"/>
                </a:solidFill>
                <a:latin typeface="Arial"/>
                <a:ea typeface="Arial"/>
                <a:cs typeface="Arial"/>
              </a:defRPr>
            </a:lvl2pPr>
            <a:lvl3pPr>
              <a:defRPr sz="2100" b="0">
                <a:solidFill>
                  <a:srgbClr val="F1F4F6"/>
                </a:solidFill>
                <a:latin typeface="Arial"/>
                <a:ea typeface="Arial"/>
                <a:cs typeface="Arial"/>
              </a:defRPr>
            </a:lvl3pPr>
            <a:lvl4pPr>
              <a:defRPr sz="2100" b="0">
                <a:solidFill>
                  <a:srgbClr val="F1F4F6"/>
                </a:solidFill>
                <a:latin typeface="Arial"/>
                <a:ea typeface="Arial"/>
                <a:cs typeface="Arial"/>
              </a:defRPr>
            </a:lvl4pPr>
            <a:lvl5pPr>
              <a:defRPr sz="2100" b="0">
                <a:solidFill>
                  <a:srgbClr val="F1F4F6"/>
                </a:solidFill>
                <a:latin typeface="Arial"/>
                <a:ea typeface="Arial"/>
                <a:cs typeface="Arial"/>
              </a:defRPr>
            </a:lvl5pPr>
            <a:lvl6pPr>
              <a:defRPr sz="2100" b="0">
                <a:solidFill>
                  <a:srgbClr val="F1F4F6"/>
                </a:solidFill>
                <a:latin typeface="Arial"/>
                <a:ea typeface="Arial"/>
                <a:cs typeface="Arial"/>
              </a:defRPr>
            </a:lvl6pPr>
            <a:lvl7pPr>
              <a:defRPr sz="2100" b="0">
                <a:solidFill>
                  <a:srgbClr val="F1F4F6"/>
                </a:solidFill>
                <a:latin typeface="Arial"/>
                <a:ea typeface="Arial"/>
                <a:cs typeface="Arial"/>
              </a:defRPr>
            </a:lvl7pPr>
            <a:lvl8pPr>
              <a:defRPr sz="2100" b="0">
                <a:solidFill>
                  <a:srgbClr val="F1F4F6"/>
                </a:solidFill>
                <a:latin typeface="Arial"/>
                <a:ea typeface="Arial"/>
                <a:cs typeface="Arial"/>
              </a:defRPr>
            </a:lvl8pPr>
            <a:lvl9pPr>
              <a:defRPr sz="2100" b="0">
                <a:solidFill>
                  <a:srgbClr val="F1F4F6"/>
                </a:solidFill>
                <a:latin typeface="Arial"/>
                <a:ea typeface="Arial"/>
                <a:cs typeface="Arial"/>
              </a:defRPr>
            </a:lvl9pPr>
          </a:lstStyle>
          <a:p>
            <a:pPr>
              <a:defRPr sz="2100" b="0">
                <a:solidFill>
                  <a:srgbClr val="F1F4F6"/>
                </a:solidFill>
                <a:latin typeface="Arial"/>
                <a:ea typeface="Arial"/>
                <a:cs typeface="Arial"/>
              </a:defRPr>
            </a:pPr>
            <a:r>
              <a:rPr sz="2100" b="0">
                <a:solidFill>
                  <a:srgbClr val="F1F4F6"/>
                </a:solidFill>
                <a:latin typeface="Arial"/>
                <a:ea typeface="Arial"/>
                <a:cs typeface="Arial"/>
              </a:rPr>
              <a:t>Trigger: posted stock history remains append-only.</a:t>
            </a:r>
          </a:p>
          <a:p>
            <a:pPr>
              <a:defRPr sz="2100" b="0">
                <a:solidFill>
                  <a:srgbClr val="F1F4F6"/>
                </a:solidFill>
                <a:latin typeface="Arial"/>
                <a:ea typeface="Arial"/>
                <a:cs typeface="Arial"/>
              </a:defRPr>
            </a:pPr>
            <a:r>
              <a:rPr sz="2100" b="0">
                <a:solidFill>
                  <a:srgbClr val="F1F4F6"/>
                </a:solidFill>
                <a:latin typeface="Arial"/>
                <a:ea typeface="Arial"/>
                <a:cs typeface="Arial"/>
              </a:rPr>
              <a:t>Index: customer and date filtering has a matching access path.</a:t>
            </a:r>
          </a:p>
        </p:txBody>
      </p:sp>
    </p:spTree>
    <p:extLst>
      <p:ext uri="{BB962C8B-B14F-4D97-AF65-F5344CB8AC3E}">
        <p14:creationId xmlns:p14="http://schemas.microsoft.com/office/powerpoint/2010/main" val="11916799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bg>
      <p:bgPr>
        <a:solidFill>
          <a:srgbClr val="101923"/>
        </a:solidFill>
        <a:effectLst/>
      </p:bgPr>
    </p:bg>
    <p:spTree>
      <p:nvGrpSpPr>
        <p:cNvPr id="1" name=""/>
        <p:cNvGrpSpPr/>
        <p:nvPr/>
      </p:nvGrpSpPr>
      <p:grpSpPr>
        <a:xfrm>
          <a:off x="0" y="0"/>
          <a:ext cx="0" cy="0"/>
          <a:chOff x="0" y="0"/>
          <a:chExt cx="0" cy="0"/>
        </a:xfrm>
      </p:grpSpPr>
      <p:cxnSp>
        <p:nvCxnSpPr>
          <p:cNvPr id="21" name="Straight Arrow Connector 20">
            <a:extLst>
              <a:ext uri="{FF2B5EF4-FFF2-40B4-BE49-F238E27FC236}">
                <a16:creationId xmlns:a16="http://schemas.microsoft.com/office/drawing/2014/main" id="{F5462BAF-3353-4DF3-8F0F-2D2AC616A267}"/>
              </a:ext>
            </a:extLst>
          </p:cNvPr>
          <p:cNvCxnSpPr>
            <a:stCxn id="19" idx="3"/>
            <a:endCxn id="20" idx="1"/>
          </p:cNvCxnSpPr>
          <p:nvPr/>
        </p:nvCxnSpPr>
        <p:spPr>
          <a:xfrm>
            <a:off x="3038475" y="5405438"/>
            <a:ext cx="1733550" cy="0"/>
          </a:xfrm>
          <a:prstGeom prst="straightConnector1">
            <a:avLst/>
          </a:prstGeom>
          <a:ln w="19050">
            <a:solidFill>
              <a:srgbClr val="70D6C4"/>
            </a:solidFill>
            <a:tailEnd type="arrow" w="med" len="med"/>
          </a:ln>
        </p:spPr>
      </p:cxnSp>
      <p:cxnSp>
        <p:nvCxnSpPr>
          <p:cNvPr id="16" name="Straight Arrow Connector 15">
            <a:extLst>
              <a:ext uri="{FF2B5EF4-FFF2-40B4-BE49-F238E27FC236}">
                <a16:creationId xmlns:a16="http://schemas.microsoft.com/office/drawing/2014/main" id="{1916D95F-9CB1-435F-B07B-B70DD606AD71}"/>
              </a:ext>
            </a:extLst>
          </p:cNvPr>
          <p:cNvCxnSpPr>
            <a:stCxn id="6" idx="2"/>
            <a:endCxn id="13" idx="0"/>
          </p:cNvCxnSpPr>
          <p:nvPr/>
        </p:nvCxnSpPr>
        <p:spPr>
          <a:xfrm>
            <a:off x="10215563" y="2381250"/>
            <a:ext cx="0" cy="1047750"/>
          </a:xfrm>
          <a:prstGeom prst="straightConnector1">
            <a:avLst/>
          </a:prstGeom>
          <a:ln w="19050">
            <a:solidFill>
              <a:srgbClr val="70D6C4"/>
            </a:solidFill>
            <a:tailEnd type="arrow" w="med" len="med"/>
          </a:ln>
        </p:spPr>
      </p:cxnSp>
      <p:cxnSp>
        <p:nvCxnSpPr>
          <p:cNvPr id="15" name="Connector: Elbow 14">
            <a:extLst>
              <a:ext uri="{FF2B5EF4-FFF2-40B4-BE49-F238E27FC236}">
                <a16:creationId xmlns:a16="http://schemas.microsoft.com/office/drawing/2014/main" id="{31EDD0A9-17E8-4756-93E7-631CC0DF09AD}"/>
              </a:ext>
            </a:extLst>
          </p:cNvPr>
          <p:cNvCxnSpPr>
            <a:stCxn id="6" idx="2"/>
            <a:endCxn id="12" idx="0"/>
          </p:cNvCxnSpPr>
          <p:nvPr/>
        </p:nvCxnSpPr>
        <p:spPr>
          <a:xfrm flipH="1">
            <a:off x="5986463" y="2381250"/>
            <a:ext cx="4229100" cy="1047750"/>
          </a:xfrm>
          <a:prstGeom prst="bentConnector4">
            <a:avLst>
              <a:gd name="adj1" fmla="val 0"/>
              <a:gd name="adj2" fmla="val 50000"/>
            </a:avLst>
          </a:prstGeom>
          <a:ln w="19050">
            <a:solidFill>
              <a:srgbClr val="70D6C4"/>
            </a:solidFill>
            <a:tailEnd type="arrow" w="med" len="med"/>
          </a:ln>
        </p:spPr>
      </p:cxnSp>
      <p:cxnSp>
        <p:nvCxnSpPr>
          <p:cNvPr id="14" name="Connector: Elbow 13">
            <a:extLst>
              <a:ext uri="{FF2B5EF4-FFF2-40B4-BE49-F238E27FC236}">
                <a16:creationId xmlns:a16="http://schemas.microsoft.com/office/drawing/2014/main" id="{E96B4F71-D17C-4DBB-AE35-994E25AF0534}"/>
              </a:ext>
            </a:extLst>
          </p:cNvPr>
          <p:cNvCxnSpPr>
            <a:stCxn id="6" idx="2"/>
            <a:endCxn id="11" idx="0"/>
          </p:cNvCxnSpPr>
          <p:nvPr/>
        </p:nvCxnSpPr>
        <p:spPr>
          <a:xfrm flipH="1">
            <a:off x="1824038" y="2381250"/>
            <a:ext cx="8391525" cy="1047750"/>
          </a:xfrm>
          <a:prstGeom prst="bentConnector4">
            <a:avLst>
              <a:gd name="adj1" fmla="val 0"/>
              <a:gd name="adj2" fmla="val 50000"/>
            </a:avLst>
          </a:prstGeom>
          <a:ln w="19050">
            <a:solidFill>
              <a:srgbClr val="70D6C4"/>
            </a:solidFill>
            <a:tailEnd type="arrow" w="med" len="med"/>
          </a:ln>
        </p:spPr>
      </p:cxnSp>
      <p:cxnSp>
        <p:nvCxnSpPr>
          <p:cNvPr id="8" name="Straight Arrow Connector 7">
            <a:extLst>
              <a:ext uri="{FF2B5EF4-FFF2-40B4-BE49-F238E27FC236}">
                <a16:creationId xmlns:a16="http://schemas.microsoft.com/office/drawing/2014/main" id="{200E24F6-F104-4E16-9AA7-9E591F199871}"/>
              </a:ext>
            </a:extLst>
          </p:cNvPr>
          <p:cNvCxnSpPr>
            <a:stCxn id="5" idx="3"/>
            <a:endCxn id="6" idx="1"/>
          </p:cNvCxnSpPr>
          <p:nvPr/>
        </p:nvCxnSpPr>
        <p:spPr>
          <a:xfrm>
            <a:off x="7200900" y="2024063"/>
            <a:ext cx="1657350" cy="0"/>
          </a:xfrm>
          <a:prstGeom prst="straightConnector1">
            <a:avLst/>
          </a:prstGeom>
          <a:ln w="19050">
            <a:solidFill>
              <a:srgbClr val="70D6C4"/>
            </a:solidFill>
            <a:tailEnd type="arrow" w="med" len="med"/>
          </a:ln>
        </p:spPr>
      </p:cxnSp>
      <p:cxnSp>
        <p:nvCxnSpPr>
          <p:cNvPr id="7" name="Straight Arrow Connector 6">
            <a:extLst>
              <a:ext uri="{FF2B5EF4-FFF2-40B4-BE49-F238E27FC236}">
                <a16:creationId xmlns:a16="http://schemas.microsoft.com/office/drawing/2014/main" id="{835FA83A-6EE4-4807-9BF9-F0E97B8E9494}"/>
              </a:ext>
            </a:extLst>
          </p:cNvPr>
          <p:cNvCxnSpPr>
            <a:stCxn id="4" idx="3"/>
            <a:endCxn id="5" idx="1"/>
          </p:cNvCxnSpPr>
          <p:nvPr/>
        </p:nvCxnSpPr>
        <p:spPr>
          <a:xfrm>
            <a:off x="3038475" y="2024063"/>
            <a:ext cx="1733550" cy="0"/>
          </a:xfrm>
          <a:prstGeom prst="straightConnector1">
            <a:avLst/>
          </a:prstGeom>
          <a:ln w="19050">
            <a:solidFill>
              <a:srgbClr val="70D6C4"/>
            </a:solidFill>
            <a:tailEnd type="arrow" w="med" len="med"/>
          </a:ln>
        </p:spPr>
      </p:cxnSp>
      <p:sp>
        <p:nvSpPr>
          <p:cNvPr id="23" name="Rectangle 22">
            <a:extLst>
              <a:ext uri="{FF2B5EF4-FFF2-40B4-BE49-F238E27FC236}">
                <a16:creationId xmlns:a16="http://schemas.microsoft.com/office/drawing/2014/main" id="{451C21F3-DA51-4361-A0B9-FE785C459C0F}"/>
              </a:ext>
            </a:extLst>
          </p:cNvPr>
          <p:cNvSpPr>
            <a:spLocks noGrp="1"/>
          </p:cNvSpPr>
          <p:nvPr/>
        </p:nvSpPr>
        <p:spPr>
          <a:xfrm>
            <a:off x="590550" y="457200"/>
            <a:ext cx="11010900" cy="819150"/>
          </a:xfrm>
          <a:prstGeom prst="rect">
            <a:avLst/>
          </a:prstGeom>
          <a:noFill/>
          <a:ln w="0">
            <a:noFill/>
          </a:ln>
        </p:spPr>
        <p:txBody>
          <a:bodyPr wrap="square" lIns="0" tIns="0" rIns="0" bIns="0" anchor="t">
            <a:noAutofit/>
          </a:bodyPr>
          <a:lstStyle>
            <a:defPPr>
              <a:defRPr sz="3225" b="1">
                <a:solidFill>
                  <a:srgbClr val="F1F4F6"/>
                </a:solidFill>
                <a:latin typeface="Arial"/>
                <a:ea typeface="Arial"/>
                <a:cs typeface="Arial"/>
              </a:defRPr>
            </a:defPPr>
            <a:lvl1pPr>
              <a:defRPr sz="3225" b="1">
                <a:solidFill>
                  <a:srgbClr val="F1F4F6"/>
                </a:solidFill>
                <a:latin typeface="Arial"/>
                <a:ea typeface="Arial"/>
                <a:cs typeface="Arial"/>
              </a:defRPr>
            </a:lvl1pPr>
            <a:lvl2pPr>
              <a:defRPr sz="3225" b="1">
                <a:solidFill>
                  <a:srgbClr val="F1F4F6"/>
                </a:solidFill>
                <a:latin typeface="Arial"/>
                <a:ea typeface="Arial"/>
                <a:cs typeface="Arial"/>
              </a:defRPr>
            </a:lvl2pPr>
            <a:lvl3pPr>
              <a:defRPr sz="3225" b="1">
                <a:solidFill>
                  <a:srgbClr val="F1F4F6"/>
                </a:solidFill>
                <a:latin typeface="Arial"/>
                <a:ea typeface="Arial"/>
                <a:cs typeface="Arial"/>
              </a:defRPr>
            </a:lvl3pPr>
            <a:lvl4pPr>
              <a:defRPr sz="3225" b="1">
                <a:solidFill>
                  <a:srgbClr val="F1F4F6"/>
                </a:solidFill>
                <a:latin typeface="Arial"/>
                <a:ea typeface="Arial"/>
                <a:cs typeface="Arial"/>
              </a:defRPr>
            </a:lvl4pPr>
            <a:lvl5pPr>
              <a:defRPr sz="3225" b="1">
                <a:solidFill>
                  <a:srgbClr val="F1F4F6"/>
                </a:solidFill>
                <a:latin typeface="Arial"/>
                <a:ea typeface="Arial"/>
                <a:cs typeface="Arial"/>
              </a:defRPr>
            </a:lvl5pPr>
            <a:lvl6pPr>
              <a:defRPr sz="3225" b="1">
                <a:solidFill>
                  <a:srgbClr val="F1F4F6"/>
                </a:solidFill>
                <a:latin typeface="Arial"/>
                <a:ea typeface="Arial"/>
                <a:cs typeface="Arial"/>
              </a:defRPr>
            </a:lvl6pPr>
            <a:lvl7pPr>
              <a:defRPr sz="3225" b="1">
                <a:solidFill>
                  <a:srgbClr val="F1F4F6"/>
                </a:solidFill>
                <a:latin typeface="Arial"/>
                <a:ea typeface="Arial"/>
                <a:cs typeface="Arial"/>
              </a:defRPr>
            </a:lvl7pPr>
            <a:lvl8pPr>
              <a:defRPr sz="3225" b="1">
                <a:solidFill>
                  <a:srgbClr val="F1F4F6"/>
                </a:solidFill>
                <a:latin typeface="Arial"/>
                <a:ea typeface="Arial"/>
                <a:cs typeface="Arial"/>
              </a:defRPr>
            </a:lvl8pPr>
            <a:lvl9pPr>
              <a:defRPr sz="3225" b="1">
                <a:solidFill>
                  <a:srgbClr val="F1F4F6"/>
                </a:solidFill>
                <a:latin typeface="Arial"/>
                <a:ea typeface="Arial"/>
                <a:cs typeface="Arial"/>
              </a:defRPr>
            </a:lvl9pPr>
          </a:lstStyle>
          <a:p>
            <a:pPr>
              <a:defRPr sz="3225" b="1">
                <a:solidFill>
                  <a:srgbClr val="F1F4F6"/>
                </a:solidFill>
                <a:latin typeface="Arial"/>
                <a:ea typeface="Arial"/>
                <a:cs typeface="Arial"/>
              </a:defRPr>
            </a:pPr>
            <a:r>
              <a:rPr sz="3225" b="1">
                <a:solidFill>
                  <a:srgbClr val="F1F4F6"/>
                </a:solidFill>
                <a:latin typeface="Arial"/>
                <a:ea typeface="Arial"/>
                <a:cs typeface="Arial"/>
              </a:rPr>
              <a:t>Relationships: report and import history</a:t>
            </a:r>
          </a:p>
        </p:txBody>
      </p:sp>
      <p:sp>
        <p:nvSpPr>
          <p:cNvPr id="2" name="Rectangle 1">
            <a:extLst>
              <a:ext uri="{FF2B5EF4-FFF2-40B4-BE49-F238E27FC236}">
                <a16:creationId xmlns:a16="http://schemas.microsoft.com/office/drawing/2014/main" id="{19826C88-D0AD-4E60-A461-DFF66629CBFF}"/>
              </a:ext>
            </a:extLst>
          </p:cNvPr>
          <p:cNvSpPr>
            <a:spLocks noGrp="1"/>
          </p:cNvSpPr>
          <p:nvPr/>
        </p:nvSpPr>
        <p:spPr>
          <a:xfrm>
            <a:off x="11049000" y="6438900"/>
            <a:ext cx="552450" cy="228600"/>
          </a:xfrm>
          <a:prstGeom prst="rect">
            <a:avLst/>
          </a:prstGeom>
          <a:noFill/>
          <a:ln w="0">
            <a:noFill/>
          </a:ln>
        </p:spPr>
        <p:txBody>
          <a:bodyPr wrap="square" lIns="0" tIns="0" rIns="0" bIns="0" anchor="t">
            <a:noAutofit/>
          </a:bodyPr>
          <a:lstStyle>
            <a:defPPr>
              <a:defRPr sz="1200" b="0">
                <a:solidFill>
                  <a:srgbClr val="AAB8C5"/>
                </a:solidFill>
                <a:latin typeface="Arial"/>
                <a:ea typeface="Arial"/>
                <a:cs typeface="Arial"/>
              </a:defRPr>
            </a:defPPr>
            <a:lvl1pPr>
              <a:defRPr sz="1200" b="0">
                <a:solidFill>
                  <a:srgbClr val="AAB8C5"/>
                </a:solidFill>
                <a:latin typeface="Arial"/>
                <a:ea typeface="Arial"/>
                <a:cs typeface="Arial"/>
              </a:defRPr>
            </a:lvl1pPr>
            <a:lvl2pPr>
              <a:defRPr sz="1200" b="0">
                <a:solidFill>
                  <a:srgbClr val="AAB8C5"/>
                </a:solidFill>
                <a:latin typeface="Arial"/>
                <a:ea typeface="Arial"/>
                <a:cs typeface="Arial"/>
              </a:defRPr>
            </a:lvl2pPr>
            <a:lvl3pPr>
              <a:defRPr sz="1200" b="0">
                <a:solidFill>
                  <a:srgbClr val="AAB8C5"/>
                </a:solidFill>
                <a:latin typeface="Arial"/>
                <a:ea typeface="Arial"/>
                <a:cs typeface="Arial"/>
              </a:defRPr>
            </a:lvl3pPr>
            <a:lvl4pPr>
              <a:defRPr sz="1200" b="0">
                <a:solidFill>
                  <a:srgbClr val="AAB8C5"/>
                </a:solidFill>
                <a:latin typeface="Arial"/>
                <a:ea typeface="Arial"/>
                <a:cs typeface="Arial"/>
              </a:defRPr>
            </a:lvl4pPr>
            <a:lvl5pPr>
              <a:defRPr sz="1200" b="0">
                <a:solidFill>
                  <a:srgbClr val="AAB8C5"/>
                </a:solidFill>
                <a:latin typeface="Arial"/>
                <a:ea typeface="Arial"/>
                <a:cs typeface="Arial"/>
              </a:defRPr>
            </a:lvl5pPr>
            <a:lvl6pPr>
              <a:defRPr sz="1200" b="0">
                <a:solidFill>
                  <a:srgbClr val="AAB8C5"/>
                </a:solidFill>
                <a:latin typeface="Arial"/>
                <a:ea typeface="Arial"/>
                <a:cs typeface="Arial"/>
              </a:defRPr>
            </a:lvl6pPr>
            <a:lvl7pPr>
              <a:defRPr sz="1200" b="0">
                <a:solidFill>
                  <a:srgbClr val="AAB8C5"/>
                </a:solidFill>
                <a:latin typeface="Arial"/>
                <a:ea typeface="Arial"/>
                <a:cs typeface="Arial"/>
              </a:defRPr>
            </a:lvl7pPr>
            <a:lvl8pPr>
              <a:defRPr sz="1200" b="0">
                <a:solidFill>
                  <a:srgbClr val="AAB8C5"/>
                </a:solidFill>
                <a:latin typeface="Arial"/>
                <a:ea typeface="Arial"/>
                <a:cs typeface="Arial"/>
              </a:defRPr>
            </a:lvl8pPr>
            <a:lvl9pPr>
              <a:defRPr sz="1200" b="0">
                <a:solidFill>
                  <a:srgbClr val="AAB8C5"/>
                </a:solidFill>
                <a:latin typeface="Arial"/>
                <a:ea typeface="Arial"/>
                <a:cs typeface="Arial"/>
              </a:defRPr>
            </a:lvl9pPr>
          </a:lstStyle>
          <a:p>
            <a:pPr>
              <a:defRPr sz="1200" b="0">
                <a:solidFill>
                  <a:srgbClr val="AAB8C5"/>
                </a:solidFill>
                <a:latin typeface="Arial"/>
                <a:ea typeface="Arial"/>
                <a:cs typeface="Arial"/>
              </a:defRPr>
            </a:pPr>
            <a:r>
              <a:rPr sz="1200" b="0">
                <a:solidFill>
                  <a:srgbClr val="AAB8C5"/>
                </a:solidFill>
                <a:latin typeface="Arial"/>
                <a:ea typeface="Arial"/>
                <a:cs typeface="Arial"/>
              </a:rPr>
              <a:t>92</a:t>
            </a:r>
          </a:p>
        </p:txBody>
      </p:sp>
      <p:sp>
        <p:nvSpPr>
          <p:cNvPr id="3" name="Rectangle 2">
            <a:extLst>
              <a:ext uri="{FF2B5EF4-FFF2-40B4-BE49-F238E27FC236}">
                <a16:creationId xmlns:a16="http://schemas.microsoft.com/office/drawing/2014/main" id="{1CEC3780-37C3-4315-85D6-78B0EBF11559}"/>
              </a:ext>
            </a:extLst>
          </p:cNvPr>
          <p:cNvSpPr>
            <a:spLocks noGrp="1"/>
          </p:cNvSpPr>
          <p:nvPr/>
        </p:nvSpPr>
        <p:spPr>
          <a:xfrm>
            <a:off x="590550" y="6448425"/>
            <a:ext cx="8096250" cy="209550"/>
          </a:xfrm>
          <a:prstGeom prst="rect">
            <a:avLst/>
          </a:prstGeom>
          <a:noFill/>
          <a:ln w="0">
            <a:noFill/>
          </a:ln>
        </p:spPr>
        <p:txBody>
          <a:bodyPr wrap="square" lIns="0" tIns="0" rIns="0" bIns="0" anchor="t">
            <a:noAutofit/>
          </a:bodyPr>
          <a:lstStyle>
            <a:defPPr>
              <a:defRPr sz="1050" b="0">
                <a:solidFill>
                  <a:srgbClr val="AAB8C5"/>
                </a:solidFill>
                <a:latin typeface="Arial"/>
                <a:ea typeface="Arial"/>
                <a:cs typeface="Arial"/>
              </a:defRPr>
            </a:defPPr>
            <a:lvl1pPr>
              <a:defRPr sz="1050" b="0">
                <a:solidFill>
                  <a:srgbClr val="AAB8C5"/>
                </a:solidFill>
                <a:latin typeface="Arial"/>
                <a:ea typeface="Arial"/>
                <a:cs typeface="Arial"/>
              </a:defRPr>
            </a:lvl1pPr>
            <a:lvl2pPr>
              <a:defRPr sz="1050" b="0">
                <a:solidFill>
                  <a:srgbClr val="AAB8C5"/>
                </a:solidFill>
                <a:latin typeface="Arial"/>
                <a:ea typeface="Arial"/>
                <a:cs typeface="Arial"/>
              </a:defRPr>
            </a:lvl2pPr>
            <a:lvl3pPr>
              <a:defRPr sz="1050" b="0">
                <a:solidFill>
                  <a:srgbClr val="AAB8C5"/>
                </a:solidFill>
                <a:latin typeface="Arial"/>
                <a:ea typeface="Arial"/>
                <a:cs typeface="Arial"/>
              </a:defRPr>
            </a:lvl3pPr>
            <a:lvl4pPr>
              <a:defRPr sz="1050" b="0">
                <a:solidFill>
                  <a:srgbClr val="AAB8C5"/>
                </a:solidFill>
                <a:latin typeface="Arial"/>
                <a:ea typeface="Arial"/>
                <a:cs typeface="Arial"/>
              </a:defRPr>
            </a:lvl4pPr>
            <a:lvl5pPr>
              <a:defRPr sz="1050" b="0">
                <a:solidFill>
                  <a:srgbClr val="AAB8C5"/>
                </a:solidFill>
                <a:latin typeface="Arial"/>
                <a:ea typeface="Arial"/>
                <a:cs typeface="Arial"/>
              </a:defRPr>
            </a:lvl5pPr>
            <a:lvl6pPr>
              <a:defRPr sz="1050" b="0">
                <a:solidFill>
                  <a:srgbClr val="AAB8C5"/>
                </a:solidFill>
                <a:latin typeface="Arial"/>
                <a:ea typeface="Arial"/>
                <a:cs typeface="Arial"/>
              </a:defRPr>
            </a:lvl6pPr>
            <a:lvl7pPr>
              <a:defRPr sz="1050" b="0">
                <a:solidFill>
                  <a:srgbClr val="AAB8C5"/>
                </a:solidFill>
                <a:latin typeface="Arial"/>
                <a:ea typeface="Arial"/>
                <a:cs typeface="Arial"/>
              </a:defRPr>
            </a:lvl7pPr>
            <a:lvl8pPr>
              <a:defRPr sz="1050" b="0">
                <a:solidFill>
                  <a:srgbClr val="AAB8C5"/>
                </a:solidFill>
                <a:latin typeface="Arial"/>
                <a:ea typeface="Arial"/>
                <a:cs typeface="Arial"/>
              </a:defRPr>
            </a:lvl8pPr>
            <a:lvl9pPr>
              <a:defRPr sz="1050" b="0">
                <a:solidFill>
                  <a:srgbClr val="AAB8C5"/>
                </a:solidFill>
                <a:latin typeface="Arial"/>
                <a:ea typeface="Arial"/>
                <a:cs typeface="Arial"/>
              </a:defRPr>
            </a:lvl9pPr>
          </a:lstStyle>
          <a:p>
            <a:pPr>
              <a:defRPr sz="1050" b="0">
                <a:solidFill>
                  <a:srgbClr val="AAB8C5"/>
                </a:solidFill>
                <a:latin typeface="Arial"/>
                <a:ea typeface="Arial"/>
                <a:cs typeface="Arial"/>
              </a:defRPr>
            </a:pPr>
            <a:r>
              <a:rPr sz="1050" b="0">
                <a:solidFill>
                  <a:srgbClr val="AAB8C5"/>
                </a:solidFill>
                <a:latin typeface="Arial"/>
                <a:ea typeface="Arial"/>
                <a:cs typeface="Arial"/>
              </a:rPr>
              <a:t>CONDUIT / SCHEMA REFERENCE</a:t>
            </a:r>
          </a:p>
        </p:txBody>
      </p:sp>
      <p:sp>
        <p:nvSpPr>
          <p:cNvPr id="4" name="Rectangle 3">
            <a:extLst>
              <a:ext uri="{FF2B5EF4-FFF2-40B4-BE49-F238E27FC236}">
                <a16:creationId xmlns:a16="http://schemas.microsoft.com/office/drawing/2014/main" id="{981CF186-DE6E-46DD-9EFE-4F9573E351A3}"/>
              </a:ext>
            </a:extLst>
          </p:cNvPr>
          <p:cNvSpPr>
            <a:spLocks noGrp="1"/>
          </p:cNvSpPr>
          <p:nvPr/>
        </p:nvSpPr>
        <p:spPr>
          <a:xfrm>
            <a:off x="609600" y="1666875"/>
            <a:ext cx="2428875" cy="714375"/>
          </a:xfrm>
          <a:prstGeom prst="rect">
            <a:avLst/>
          </a:prstGeom>
          <a:solidFill>
            <a:srgbClr val="172431"/>
          </a:solidFill>
          <a:ln w="9525">
            <a:solidFill>
              <a:srgbClr val="344352"/>
            </a:solidFill>
          </a:ln>
        </p:spPr>
        <p:txBody>
          <a:bodyPr lIns="114300" tIns="114300" rIns="114300" bIns="114300" anchor="ctr"/>
          <a:lstStyle>
            <a:defPPr algn="ctr">
              <a:defRPr sz="1875">
                <a:solidFill>
                  <a:srgbClr val="F1F4F6"/>
                </a:solidFill>
                <a:latin typeface="Arial"/>
                <a:ea typeface="Arial"/>
                <a:cs typeface="Arial"/>
              </a:defRPr>
            </a:defPPr>
            <a:lvl1pPr algn="ctr">
              <a:defRPr sz="1875">
                <a:solidFill>
                  <a:srgbClr val="F1F4F6"/>
                </a:solidFill>
                <a:latin typeface="Arial"/>
                <a:ea typeface="Arial"/>
                <a:cs typeface="Arial"/>
              </a:defRPr>
            </a:lvl1pPr>
            <a:lvl2pPr algn="ctr">
              <a:defRPr sz="1875">
                <a:solidFill>
                  <a:srgbClr val="F1F4F6"/>
                </a:solidFill>
                <a:latin typeface="Arial"/>
                <a:ea typeface="Arial"/>
                <a:cs typeface="Arial"/>
              </a:defRPr>
            </a:lvl2pPr>
            <a:lvl3pPr algn="ctr">
              <a:defRPr sz="1875">
                <a:solidFill>
                  <a:srgbClr val="F1F4F6"/>
                </a:solidFill>
                <a:latin typeface="Arial"/>
                <a:ea typeface="Arial"/>
                <a:cs typeface="Arial"/>
              </a:defRPr>
            </a:lvl3pPr>
            <a:lvl4pPr algn="ctr">
              <a:defRPr sz="1875">
                <a:solidFill>
                  <a:srgbClr val="F1F4F6"/>
                </a:solidFill>
                <a:latin typeface="Arial"/>
                <a:ea typeface="Arial"/>
                <a:cs typeface="Arial"/>
              </a:defRPr>
            </a:lvl4pPr>
            <a:lvl5pPr algn="ctr">
              <a:defRPr sz="1875">
                <a:solidFill>
                  <a:srgbClr val="F1F4F6"/>
                </a:solidFill>
                <a:latin typeface="Arial"/>
                <a:ea typeface="Arial"/>
                <a:cs typeface="Arial"/>
              </a:defRPr>
            </a:lvl5pPr>
            <a:lvl6pPr algn="ctr">
              <a:defRPr sz="1875">
                <a:solidFill>
                  <a:srgbClr val="F1F4F6"/>
                </a:solidFill>
                <a:latin typeface="Arial"/>
                <a:ea typeface="Arial"/>
                <a:cs typeface="Arial"/>
              </a:defRPr>
            </a:lvl6pPr>
            <a:lvl7pPr algn="ctr">
              <a:defRPr sz="1875">
                <a:solidFill>
                  <a:srgbClr val="F1F4F6"/>
                </a:solidFill>
                <a:latin typeface="Arial"/>
                <a:ea typeface="Arial"/>
                <a:cs typeface="Arial"/>
              </a:defRPr>
            </a:lvl7pPr>
            <a:lvl8pPr algn="ctr">
              <a:defRPr sz="1875">
                <a:solidFill>
                  <a:srgbClr val="F1F4F6"/>
                </a:solidFill>
                <a:latin typeface="Arial"/>
                <a:ea typeface="Arial"/>
                <a:cs typeface="Arial"/>
              </a:defRPr>
            </a:lvl8pPr>
            <a:lvl9pPr algn="ctr">
              <a:defRPr sz="1875">
                <a:solidFill>
                  <a:srgbClr val="F1F4F6"/>
                </a:solidFill>
                <a:latin typeface="Arial"/>
                <a:ea typeface="Arial"/>
                <a:cs typeface="Arial"/>
              </a:defRPr>
            </a:lvl9pPr>
          </a:lstStyle>
          <a:p>
            <a:pPr algn="ctr">
              <a:defRPr sz="1875">
                <a:solidFill>
                  <a:srgbClr val="F1F4F6"/>
                </a:solidFill>
                <a:latin typeface="Arial"/>
                <a:ea typeface="Arial"/>
                <a:cs typeface="Arial"/>
              </a:defRPr>
            </a:pPr>
            <a:r>
              <a:rPr sz="1875">
                <a:solidFill>
                  <a:srgbClr val="F1F4F6"/>
                </a:solidFill>
                <a:latin typeface="Arial"/>
                <a:ea typeface="Arial"/>
                <a:cs typeface="Arial"/>
              </a:rPr>
              <a:t>template_version</a:t>
            </a:r>
          </a:p>
        </p:txBody>
      </p:sp>
      <p:sp>
        <p:nvSpPr>
          <p:cNvPr id="5" name="Rectangle 4">
            <a:extLst>
              <a:ext uri="{FF2B5EF4-FFF2-40B4-BE49-F238E27FC236}">
                <a16:creationId xmlns:a16="http://schemas.microsoft.com/office/drawing/2014/main" id="{E2577792-DDE9-498C-BD17-ECCC67AE1EFC}"/>
              </a:ext>
            </a:extLst>
          </p:cNvPr>
          <p:cNvSpPr>
            <a:spLocks noGrp="1"/>
          </p:cNvSpPr>
          <p:nvPr/>
        </p:nvSpPr>
        <p:spPr>
          <a:xfrm>
            <a:off x="4772025" y="1666875"/>
            <a:ext cx="2428875" cy="714375"/>
          </a:xfrm>
          <a:prstGeom prst="rect">
            <a:avLst/>
          </a:prstGeom>
          <a:solidFill>
            <a:srgbClr val="172431"/>
          </a:solidFill>
          <a:ln w="9525">
            <a:solidFill>
              <a:srgbClr val="344352"/>
            </a:solidFill>
          </a:ln>
        </p:spPr>
        <p:txBody>
          <a:bodyPr lIns="114300" tIns="114300" rIns="114300" bIns="114300" anchor="ctr"/>
          <a:lstStyle>
            <a:defPPr algn="ctr">
              <a:defRPr sz="1875">
                <a:solidFill>
                  <a:srgbClr val="F1F4F6"/>
                </a:solidFill>
                <a:latin typeface="Arial"/>
                <a:ea typeface="Arial"/>
                <a:cs typeface="Arial"/>
              </a:defRPr>
            </a:defPPr>
            <a:lvl1pPr algn="ctr">
              <a:defRPr sz="1875">
                <a:solidFill>
                  <a:srgbClr val="F1F4F6"/>
                </a:solidFill>
                <a:latin typeface="Arial"/>
                <a:ea typeface="Arial"/>
                <a:cs typeface="Arial"/>
              </a:defRPr>
            </a:lvl1pPr>
            <a:lvl2pPr algn="ctr">
              <a:defRPr sz="1875">
                <a:solidFill>
                  <a:srgbClr val="F1F4F6"/>
                </a:solidFill>
                <a:latin typeface="Arial"/>
                <a:ea typeface="Arial"/>
                <a:cs typeface="Arial"/>
              </a:defRPr>
            </a:lvl2pPr>
            <a:lvl3pPr algn="ctr">
              <a:defRPr sz="1875">
                <a:solidFill>
                  <a:srgbClr val="F1F4F6"/>
                </a:solidFill>
                <a:latin typeface="Arial"/>
                <a:ea typeface="Arial"/>
                <a:cs typeface="Arial"/>
              </a:defRPr>
            </a:lvl3pPr>
            <a:lvl4pPr algn="ctr">
              <a:defRPr sz="1875">
                <a:solidFill>
                  <a:srgbClr val="F1F4F6"/>
                </a:solidFill>
                <a:latin typeface="Arial"/>
                <a:ea typeface="Arial"/>
                <a:cs typeface="Arial"/>
              </a:defRPr>
            </a:lvl4pPr>
            <a:lvl5pPr algn="ctr">
              <a:defRPr sz="1875">
                <a:solidFill>
                  <a:srgbClr val="F1F4F6"/>
                </a:solidFill>
                <a:latin typeface="Arial"/>
                <a:ea typeface="Arial"/>
                <a:cs typeface="Arial"/>
              </a:defRPr>
            </a:lvl5pPr>
            <a:lvl6pPr algn="ctr">
              <a:defRPr sz="1875">
                <a:solidFill>
                  <a:srgbClr val="F1F4F6"/>
                </a:solidFill>
                <a:latin typeface="Arial"/>
                <a:ea typeface="Arial"/>
                <a:cs typeface="Arial"/>
              </a:defRPr>
            </a:lvl6pPr>
            <a:lvl7pPr algn="ctr">
              <a:defRPr sz="1875">
                <a:solidFill>
                  <a:srgbClr val="F1F4F6"/>
                </a:solidFill>
                <a:latin typeface="Arial"/>
                <a:ea typeface="Arial"/>
                <a:cs typeface="Arial"/>
              </a:defRPr>
            </a:lvl7pPr>
            <a:lvl8pPr algn="ctr">
              <a:defRPr sz="1875">
                <a:solidFill>
                  <a:srgbClr val="F1F4F6"/>
                </a:solidFill>
                <a:latin typeface="Arial"/>
                <a:ea typeface="Arial"/>
                <a:cs typeface="Arial"/>
              </a:defRPr>
            </a:lvl8pPr>
            <a:lvl9pPr algn="ctr">
              <a:defRPr sz="1875">
                <a:solidFill>
                  <a:srgbClr val="F1F4F6"/>
                </a:solidFill>
                <a:latin typeface="Arial"/>
                <a:ea typeface="Arial"/>
                <a:cs typeface="Arial"/>
              </a:defRPr>
            </a:lvl9pPr>
          </a:lstStyle>
          <a:p>
            <a:pPr algn="ctr">
              <a:defRPr sz="1875">
                <a:solidFill>
                  <a:srgbClr val="F1F4F6"/>
                </a:solidFill>
                <a:latin typeface="Arial"/>
                <a:ea typeface="Arial"/>
                <a:cs typeface="Arial"/>
              </a:defRPr>
            </a:pPr>
            <a:r>
              <a:rPr sz="1875">
                <a:solidFill>
                  <a:srgbClr val="F1F4F6"/>
                </a:solidFill>
                <a:latin typeface="Arial"/>
                <a:ea typeface="Arial"/>
                <a:cs typeface="Arial"/>
              </a:rPr>
              <a:t>report_run</a:t>
            </a:r>
          </a:p>
        </p:txBody>
      </p:sp>
      <p:sp>
        <p:nvSpPr>
          <p:cNvPr id="6" name="Rectangle 5">
            <a:extLst>
              <a:ext uri="{FF2B5EF4-FFF2-40B4-BE49-F238E27FC236}">
                <a16:creationId xmlns:a16="http://schemas.microsoft.com/office/drawing/2014/main" id="{9C111A3E-C702-44FA-B7B9-6AA9B69E40CF}"/>
              </a:ext>
            </a:extLst>
          </p:cNvPr>
          <p:cNvSpPr>
            <a:spLocks noGrp="1"/>
          </p:cNvSpPr>
          <p:nvPr/>
        </p:nvSpPr>
        <p:spPr>
          <a:xfrm>
            <a:off x="8858250" y="1666875"/>
            <a:ext cx="2714625" cy="714375"/>
          </a:xfrm>
          <a:prstGeom prst="rect">
            <a:avLst/>
          </a:prstGeom>
          <a:solidFill>
            <a:srgbClr val="172431"/>
          </a:solidFill>
          <a:ln w="9525">
            <a:solidFill>
              <a:srgbClr val="344352"/>
            </a:solidFill>
          </a:ln>
        </p:spPr>
        <p:txBody>
          <a:bodyPr lIns="114300" tIns="114300" rIns="114300" bIns="114300" anchor="ctr"/>
          <a:lstStyle>
            <a:defPPr algn="ctr">
              <a:defRPr sz="1875">
                <a:solidFill>
                  <a:srgbClr val="F1F4F6"/>
                </a:solidFill>
                <a:latin typeface="Arial"/>
                <a:ea typeface="Arial"/>
                <a:cs typeface="Arial"/>
              </a:defRPr>
            </a:defPPr>
            <a:lvl1pPr algn="ctr">
              <a:defRPr sz="1875">
                <a:solidFill>
                  <a:srgbClr val="F1F4F6"/>
                </a:solidFill>
                <a:latin typeface="Arial"/>
                <a:ea typeface="Arial"/>
                <a:cs typeface="Arial"/>
              </a:defRPr>
            </a:lvl1pPr>
            <a:lvl2pPr algn="ctr">
              <a:defRPr sz="1875">
                <a:solidFill>
                  <a:srgbClr val="F1F4F6"/>
                </a:solidFill>
                <a:latin typeface="Arial"/>
                <a:ea typeface="Arial"/>
                <a:cs typeface="Arial"/>
              </a:defRPr>
            </a:lvl2pPr>
            <a:lvl3pPr algn="ctr">
              <a:defRPr sz="1875">
                <a:solidFill>
                  <a:srgbClr val="F1F4F6"/>
                </a:solidFill>
                <a:latin typeface="Arial"/>
                <a:ea typeface="Arial"/>
                <a:cs typeface="Arial"/>
              </a:defRPr>
            </a:lvl3pPr>
            <a:lvl4pPr algn="ctr">
              <a:defRPr sz="1875">
                <a:solidFill>
                  <a:srgbClr val="F1F4F6"/>
                </a:solidFill>
                <a:latin typeface="Arial"/>
                <a:ea typeface="Arial"/>
                <a:cs typeface="Arial"/>
              </a:defRPr>
            </a:lvl4pPr>
            <a:lvl5pPr algn="ctr">
              <a:defRPr sz="1875">
                <a:solidFill>
                  <a:srgbClr val="F1F4F6"/>
                </a:solidFill>
                <a:latin typeface="Arial"/>
                <a:ea typeface="Arial"/>
                <a:cs typeface="Arial"/>
              </a:defRPr>
            </a:lvl5pPr>
            <a:lvl6pPr algn="ctr">
              <a:defRPr sz="1875">
                <a:solidFill>
                  <a:srgbClr val="F1F4F6"/>
                </a:solidFill>
                <a:latin typeface="Arial"/>
                <a:ea typeface="Arial"/>
                <a:cs typeface="Arial"/>
              </a:defRPr>
            </a:lvl6pPr>
            <a:lvl7pPr algn="ctr">
              <a:defRPr sz="1875">
                <a:solidFill>
                  <a:srgbClr val="F1F4F6"/>
                </a:solidFill>
                <a:latin typeface="Arial"/>
                <a:ea typeface="Arial"/>
                <a:cs typeface="Arial"/>
              </a:defRPr>
            </a:lvl7pPr>
            <a:lvl8pPr algn="ctr">
              <a:defRPr sz="1875">
                <a:solidFill>
                  <a:srgbClr val="F1F4F6"/>
                </a:solidFill>
                <a:latin typeface="Arial"/>
                <a:ea typeface="Arial"/>
                <a:cs typeface="Arial"/>
              </a:defRPr>
            </a:lvl8pPr>
            <a:lvl9pPr algn="ctr">
              <a:defRPr sz="1875">
                <a:solidFill>
                  <a:srgbClr val="F1F4F6"/>
                </a:solidFill>
                <a:latin typeface="Arial"/>
                <a:ea typeface="Arial"/>
                <a:cs typeface="Arial"/>
              </a:defRPr>
            </a:lvl9pPr>
          </a:lstStyle>
          <a:p>
            <a:pPr algn="ctr">
              <a:defRPr sz="1875">
                <a:solidFill>
                  <a:srgbClr val="F1F4F6"/>
                </a:solidFill>
                <a:latin typeface="Arial"/>
                <a:ea typeface="Arial"/>
                <a:cs typeface="Arial"/>
              </a:defRPr>
            </a:pPr>
            <a:r>
              <a:rPr sz="1875">
                <a:solidFill>
                  <a:srgbClr val="F1F4F6"/>
                </a:solidFill>
                <a:latin typeface="Arial"/>
                <a:ea typeface="Arial"/>
                <a:cs typeface="Arial"/>
              </a:rPr>
              <a:t>report_request</a:t>
            </a:r>
          </a:p>
        </p:txBody>
      </p:sp>
      <p:sp>
        <p:nvSpPr>
          <p:cNvPr id="9" name="Rectangle 8">
            <a:extLst>
              <a:ext uri="{FF2B5EF4-FFF2-40B4-BE49-F238E27FC236}">
                <a16:creationId xmlns:a16="http://schemas.microsoft.com/office/drawing/2014/main" id="{A000A86F-DB37-453F-8C81-03E4CA1F7C28}"/>
              </a:ext>
            </a:extLst>
          </p:cNvPr>
          <p:cNvSpPr>
            <a:spLocks noGrp="1"/>
          </p:cNvSpPr>
          <p:nvPr/>
        </p:nvSpPr>
        <p:spPr>
          <a:xfrm>
            <a:off x="3333750" y="1743075"/>
            <a:ext cx="1238250" cy="285750"/>
          </a:xfrm>
          <a:prstGeom prst="rect">
            <a:avLst/>
          </a:prstGeom>
          <a:noFill/>
          <a:ln w="0">
            <a:noFill/>
          </a:ln>
        </p:spPr>
        <p:txBody>
          <a:bodyPr wrap="square" lIns="0" tIns="0" rIns="0" bIns="0" anchor="t">
            <a:noAutofit/>
          </a:bodyPr>
          <a:lstStyle>
            <a:defPPr>
              <a:defRPr sz="1500" b="0">
                <a:solidFill>
                  <a:srgbClr val="70D6C4"/>
                </a:solidFill>
                <a:latin typeface="Arial"/>
                <a:ea typeface="Arial"/>
                <a:cs typeface="Arial"/>
              </a:defRPr>
            </a:defPPr>
            <a:lvl1pPr>
              <a:defRPr sz="1500" b="0">
                <a:solidFill>
                  <a:srgbClr val="70D6C4"/>
                </a:solidFill>
                <a:latin typeface="Arial"/>
                <a:ea typeface="Arial"/>
                <a:cs typeface="Arial"/>
              </a:defRPr>
            </a:lvl1pPr>
            <a:lvl2pPr>
              <a:defRPr sz="1500" b="0">
                <a:solidFill>
                  <a:srgbClr val="70D6C4"/>
                </a:solidFill>
                <a:latin typeface="Arial"/>
                <a:ea typeface="Arial"/>
                <a:cs typeface="Arial"/>
              </a:defRPr>
            </a:lvl2pPr>
            <a:lvl3pPr>
              <a:defRPr sz="1500" b="0">
                <a:solidFill>
                  <a:srgbClr val="70D6C4"/>
                </a:solidFill>
                <a:latin typeface="Arial"/>
                <a:ea typeface="Arial"/>
                <a:cs typeface="Arial"/>
              </a:defRPr>
            </a:lvl3pPr>
            <a:lvl4pPr>
              <a:defRPr sz="1500" b="0">
                <a:solidFill>
                  <a:srgbClr val="70D6C4"/>
                </a:solidFill>
                <a:latin typeface="Arial"/>
                <a:ea typeface="Arial"/>
                <a:cs typeface="Arial"/>
              </a:defRPr>
            </a:lvl4pPr>
            <a:lvl5pPr>
              <a:defRPr sz="1500" b="0">
                <a:solidFill>
                  <a:srgbClr val="70D6C4"/>
                </a:solidFill>
                <a:latin typeface="Arial"/>
                <a:ea typeface="Arial"/>
                <a:cs typeface="Arial"/>
              </a:defRPr>
            </a:lvl5pPr>
            <a:lvl6pPr>
              <a:defRPr sz="1500" b="0">
                <a:solidFill>
                  <a:srgbClr val="70D6C4"/>
                </a:solidFill>
                <a:latin typeface="Arial"/>
                <a:ea typeface="Arial"/>
                <a:cs typeface="Arial"/>
              </a:defRPr>
            </a:lvl6pPr>
            <a:lvl7pPr>
              <a:defRPr sz="1500" b="0">
                <a:solidFill>
                  <a:srgbClr val="70D6C4"/>
                </a:solidFill>
                <a:latin typeface="Arial"/>
                <a:ea typeface="Arial"/>
                <a:cs typeface="Arial"/>
              </a:defRPr>
            </a:lvl7pPr>
            <a:lvl8pPr>
              <a:defRPr sz="1500" b="0">
                <a:solidFill>
                  <a:srgbClr val="70D6C4"/>
                </a:solidFill>
                <a:latin typeface="Arial"/>
                <a:ea typeface="Arial"/>
                <a:cs typeface="Arial"/>
              </a:defRPr>
            </a:lvl8pPr>
            <a:lvl9pPr>
              <a:defRPr sz="1500" b="0">
                <a:solidFill>
                  <a:srgbClr val="70D6C4"/>
                </a:solidFill>
                <a:latin typeface="Arial"/>
                <a:ea typeface="Arial"/>
                <a:cs typeface="Arial"/>
              </a:defRPr>
            </a:lvl9pPr>
          </a:lstStyle>
          <a:p>
            <a:pPr>
              <a:defRPr sz="1500" b="0">
                <a:solidFill>
                  <a:srgbClr val="70D6C4"/>
                </a:solidFill>
                <a:latin typeface="Arial"/>
                <a:ea typeface="Arial"/>
                <a:cs typeface="Arial"/>
              </a:defRPr>
            </a:pPr>
            <a:r>
              <a:rPr sz="1500" b="0">
                <a:solidFill>
                  <a:srgbClr val="70D6C4"/>
                </a:solidFill>
                <a:latin typeface="Arial"/>
                <a:ea typeface="Arial"/>
                <a:cs typeface="Arial"/>
              </a:rPr>
              <a:t>1 : many</a:t>
            </a:r>
          </a:p>
        </p:txBody>
      </p:sp>
      <p:sp>
        <p:nvSpPr>
          <p:cNvPr id="10" name="Rectangle 9">
            <a:extLst>
              <a:ext uri="{FF2B5EF4-FFF2-40B4-BE49-F238E27FC236}">
                <a16:creationId xmlns:a16="http://schemas.microsoft.com/office/drawing/2014/main" id="{F19292AA-FF50-4192-B020-698BCAFA5053}"/>
              </a:ext>
            </a:extLst>
          </p:cNvPr>
          <p:cNvSpPr>
            <a:spLocks noGrp="1"/>
          </p:cNvSpPr>
          <p:nvPr/>
        </p:nvSpPr>
        <p:spPr>
          <a:xfrm>
            <a:off x="7505700" y="1743075"/>
            <a:ext cx="1238250" cy="285750"/>
          </a:xfrm>
          <a:prstGeom prst="rect">
            <a:avLst/>
          </a:prstGeom>
          <a:noFill/>
          <a:ln w="0">
            <a:noFill/>
          </a:ln>
        </p:spPr>
        <p:txBody>
          <a:bodyPr wrap="square" lIns="0" tIns="0" rIns="0" bIns="0" anchor="t">
            <a:noAutofit/>
          </a:bodyPr>
          <a:lstStyle>
            <a:defPPr>
              <a:defRPr sz="1500" b="0">
                <a:solidFill>
                  <a:srgbClr val="70D6C4"/>
                </a:solidFill>
                <a:latin typeface="Arial"/>
                <a:ea typeface="Arial"/>
                <a:cs typeface="Arial"/>
              </a:defRPr>
            </a:defPPr>
            <a:lvl1pPr>
              <a:defRPr sz="1500" b="0">
                <a:solidFill>
                  <a:srgbClr val="70D6C4"/>
                </a:solidFill>
                <a:latin typeface="Arial"/>
                <a:ea typeface="Arial"/>
                <a:cs typeface="Arial"/>
              </a:defRPr>
            </a:lvl1pPr>
            <a:lvl2pPr>
              <a:defRPr sz="1500" b="0">
                <a:solidFill>
                  <a:srgbClr val="70D6C4"/>
                </a:solidFill>
                <a:latin typeface="Arial"/>
                <a:ea typeface="Arial"/>
                <a:cs typeface="Arial"/>
              </a:defRPr>
            </a:lvl2pPr>
            <a:lvl3pPr>
              <a:defRPr sz="1500" b="0">
                <a:solidFill>
                  <a:srgbClr val="70D6C4"/>
                </a:solidFill>
                <a:latin typeface="Arial"/>
                <a:ea typeface="Arial"/>
                <a:cs typeface="Arial"/>
              </a:defRPr>
            </a:lvl3pPr>
            <a:lvl4pPr>
              <a:defRPr sz="1500" b="0">
                <a:solidFill>
                  <a:srgbClr val="70D6C4"/>
                </a:solidFill>
                <a:latin typeface="Arial"/>
                <a:ea typeface="Arial"/>
                <a:cs typeface="Arial"/>
              </a:defRPr>
            </a:lvl4pPr>
            <a:lvl5pPr>
              <a:defRPr sz="1500" b="0">
                <a:solidFill>
                  <a:srgbClr val="70D6C4"/>
                </a:solidFill>
                <a:latin typeface="Arial"/>
                <a:ea typeface="Arial"/>
                <a:cs typeface="Arial"/>
              </a:defRPr>
            </a:lvl5pPr>
            <a:lvl6pPr>
              <a:defRPr sz="1500" b="0">
                <a:solidFill>
                  <a:srgbClr val="70D6C4"/>
                </a:solidFill>
                <a:latin typeface="Arial"/>
                <a:ea typeface="Arial"/>
                <a:cs typeface="Arial"/>
              </a:defRPr>
            </a:lvl6pPr>
            <a:lvl7pPr>
              <a:defRPr sz="1500" b="0">
                <a:solidFill>
                  <a:srgbClr val="70D6C4"/>
                </a:solidFill>
                <a:latin typeface="Arial"/>
                <a:ea typeface="Arial"/>
                <a:cs typeface="Arial"/>
              </a:defRPr>
            </a:lvl7pPr>
            <a:lvl8pPr>
              <a:defRPr sz="1500" b="0">
                <a:solidFill>
                  <a:srgbClr val="70D6C4"/>
                </a:solidFill>
                <a:latin typeface="Arial"/>
                <a:ea typeface="Arial"/>
                <a:cs typeface="Arial"/>
              </a:defRPr>
            </a:lvl8pPr>
            <a:lvl9pPr>
              <a:defRPr sz="1500" b="0">
                <a:solidFill>
                  <a:srgbClr val="70D6C4"/>
                </a:solidFill>
                <a:latin typeface="Arial"/>
                <a:ea typeface="Arial"/>
                <a:cs typeface="Arial"/>
              </a:defRPr>
            </a:lvl9pPr>
          </a:lstStyle>
          <a:p>
            <a:pPr>
              <a:defRPr sz="1500" b="0">
                <a:solidFill>
                  <a:srgbClr val="70D6C4"/>
                </a:solidFill>
                <a:latin typeface="Arial"/>
                <a:ea typeface="Arial"/>
                <a:cs typeface="Arial"/>
              </a:defRPr>
            </a:pPr>
            <a:r>
              <a:rPr sz="1500" b="0">
                <a:solidFill>
                  <a:srgbClr val="70D6C4"/>
                </a:solidFill>
                <a:latin typeface="Arial"/>
                <a:ea typeface="Arial"/>
                <a:cs typeface="Arial"/>
              </a:rPr>
              <a:t>1 : many</a:t>
            </a:r>
          </a:p>
        </p:txBody>
      </p:sp>
      <p:sp>
        <p:nvSpPr>
          <p:cNvPr id="11" name="Rectangle 10">
            <a:extLst>
              <a:ext uri="{FF2B5EF4-FFF2-40B4-BE49-F238E27FC236}">
                <a16:creationId xmlns:a16="http://schemas.microsoft.com/office/drawing/2014/main" id="{0670D69C-75A9-4C92-B74F-43449C7307F2}"/>
              </a:ext>
            </a:extLst>
          </p:cNvPr>
          <p:cNvSpPr>
            <a:spLocks noGrp="1"/>
          </p:cNvSpPr>
          <p:nvPr/>
        </p:nvSpPr>
        <p:spPr>
          <a:xfrm>
            <a:off x="609600" y="3429000"/>
            <a:ext cx="2428875" cy="714375"/>
          </a:xfrm>
          <a:prstGeom prst="rect">
            <a:avLst/>
          </a:prstGeom>
          <a:solidFill>
            <a:srgbClr val="172431"/>
          </a:solidFill>
          <a:ln w="9525">
            <a:solidFill>
              <a:srgbClr val="344352"/>
            </a:solidFill>
          </a:ln>
        </p:spPr>
        <p:txBody>
          <a:bodyPr lIns="114300" tIns="114300" rIns="114300" bIns="114300" anchor="ctr"/>
          <a:lstStyle>
            <a:defPPr algn="ctr">
              <a:defRPr sz="1875">
                <a:solidFill>
                  <a:srgbClr val="F1F4F6"/>
                </a:solidFill>
                <a:latin typeface="Arial"/>
                <a:ea typeface="Arial"/>
                <a:cs typeface="Arial"/>
              </a:defRPr>
            </a:defPPr>
            <a:lvl1pPr algn="ctr">
              <a:defRPr sz="1875">
                <a:solidFill>
                  <a:srgbClr val="F1F4F6"/>
                </a:solidFill>
                <a:latin typeface="Arial"/>
                <a:ea typeface="Arial"/>
                <a:cs typeface="Arial"/>
              </a:defRPr>
            </a:lvl1pPr>
            <a:lvl2pPr algn="ctr">
              <a:defRPr sz="1875">
                <a:solidFill>
                  <a:srgbClr val="F1F4F6"/>
                </a:solidFill>
                <a:latin typeface="Arial"/>
                <a:ea typeface="Arial"/>
                <a:cs typeface="Arial"/>
              </a:defRPr>
            </a:lvl2pPr>
            <a:lvl3pPr algn="ctr">
              <a:defRPr sz="1875">
                <a:solidFill>
                  <a:srgbClr val="F1F4F6"/>
                </a:solidFill>
                <a:latin typeface="Arial"/>
                <a:ea typeface="Arial"/>
                <a:cs typeface="Arial"/>
              </a:defRPr>
            </a:lvl3pPr>
            <a:lvl4pPr algn="ctr">
              <a:defRPr sz="1875">
                <a:solidFill>
                  <a:srgbClr val="F1F4F6"/>
                </a:solidFill>
                <a:latin typeface="Arial"/>
                <a:ea typeface="Arial"/>
                <a:cs typeface="Arial"/>
              </a:defRPr>
            </a:lvl4pPr>
            <a:lvl5pPr algn="ctr">
              <a:defRPr sz="1875">
                <a:solidFill>
                  <a:srgbClr val="F1F4F6"/>
                </a:solidFill>
                <a:latin typeface="Arial"/>
                <a:ea typeface="Arial"/>
                <a:cs typeface="Arial"/>
              </a:defRPr>
            </a:lvl5pPr>
            <a:lvl6pPr algn="ctr">
              <a:defRPr sz="1875">
                <a:solidFill>
                  <a:srgbClr val="F1F4F6"/>
                </a:solidFill>
                <a:latin typeface="Arial"/>
                <a:ea typeface="Arial"/>
                <a:cs typeface="Arial"/>
              </a:defRPr>
            </a:lvl6pPr>
            <a:lvl7pPr algn="ctr">
              <a:defRPr sz="1875">
                <a:solidFill>
                  <a:srgbClr val="F1F4F6"/>
                </a:solidFill>
                <a:latin typeface="Arial"/>
                <a:ea typeface="Arial"/>
                <a:cs typeface="Arial"/>
              </a:defRPr>
            </a:lvl7pPr>
            <a:lvl8pPr algn="ctr">
              <a:defRPr sz="1875">
                <a:solidFill>
                  <a:srgbClr val="F1F4F6"/>
                </a:solidFill>
                <a:latin typeface="Arial"/>
                <a:ea typeface="Arial"/>
                <a:cs typeface="Arial"/>
              </a:defRPr>
            </a:lvl8pPr>
            <a:lvl9pPr algn="ctr">
              <a:defRPr sz="1875">
                <a:solidFill>
                  <a:srgbClr val="F1F4F6"/>
                </a:solidFill>
                <a:latin typeface="Arial"/>
                <a:ea typeface="Arial"/>
                <a:cs typeface="Arial"/>
              </a:defRPr>
            </a:lvl9pPr>
          </a:lstStyle>
          <a:p>
            <a:pPr algn="ctr">
              <a:defRPr sz="1875">
                <a:solidFill>
                  <a:srgbClr val="F1F4F6"/>
                </a:solidFill>
                <a:latin typeface="Arial"/>
                <a:ea typeface="Arial"/>
                <a:cs typeface="Arial"/>
              </a:defRPr>
            </a:pPr>
            <a:r>
              <a:rPr sz="1875">
                <a:solidFill>
                  <a:srgbClr val="F1F4F6"/>
                </a:solidFill>
                <a:latin typeface="Arial"/>
                <a:ea typeface="Arial"/>
                <a:cs typeface="Arial"/>
              </a:rPr>
              <a:t>report_dataset</a:t>
            </a:r>
          </a:p>
        </p:txBody>
      </p:sp>
      <p:sp>
        <p:nvSpPr>
          <p:cNvPr id="12" name="Rectangle 11">
            <a:extLst>
              <a:ext uri="{FF2B5EF4-FFF2-40B4-BE49-F238E27FC236}">
                <a16:creationId xmlns:a16="http://schemas.microsoft.com/office/drawing/2014/main" id="{736242A8-8D26-4164-B5D9-6389882CB2FA}"/>
              </a:ext>
            </a:extLst>
          </p:cNvPr>
          <p:cNvSpPr>
            <a:spLocks noGrp="1"/>
          </p:cNvSpPr>
          <p:nvPr/>
        </p:nvSpPr>
        <p:spPr>
          <a:xfrm>
            <a:off x="4772025" y="3429000"/>
            <a:ext cx="2428875" cy="714375"/>
          </a:xfrm>
          <a:prstGeom prst="rect">
            <a:avLst/>
          </a:prstGeom>
          <a:solidFill>
            <a:srgbClr val="172431"/>
          </a:solidFill>
          <a:ln w="9525">
            <a:solidFill>
              <a:srgbClr val="344352"/>
            </a:solidFill>
          </a:ln>
        </p:spPr>
        <p:txBody>
          <a:bodyPr lIns="114300" tIns="114300" rIns="114300" bIns="114300" anchor="ctr"/>
          <a:lstStyle>
            <a:defPPr algn="ctr">
              <a:defRPr sz="1875">
                <a:solidFill>
                  <a:srgbClr val="F1F4F6"/>
                </a:solidFill>
                <a:latin typeface="Arial"/>
                <a:ea typeface="Arial"/>
                <a:cs typeface="Arial"/>
              </a:defRPr>
            </a:defPPr>
            <a:lvl1pPr algn="ctr">
              <a:defRPr sz="1875">
                <a:solidFill>
                  <a:srgbClr val="F1F4F6"/>
                </a:solidFill>
                <a:latin typeface="Arial"/>
                <a:ea typeface="Arial"/>
                <a:cs typeface="Arial"/>
              </a:defRPr>
            </a:lvl1pPr>
            <a:lvl2pPr algn="ctr">
              <a:defRPr sz="1875">
                <a:solidFill>
                  <a:srgbClr val="F1F4F6"/>
                </a:solidFill>
                <a:latin typeface="Arial"/>
                <a:ea typeface="Arial"/>
                <a:cs typeface="Arial"/>
              </a:defRPr>
            </a:lvl2pPr>
            <a:lvl3pPr algn="ctr">
              <a:defRPr sz="1875">
                <a:solidFill>
                  <a:srgbClr val="F1F4F6"/>
                </a:solidFill>
                <a:latin typeface="Arial"/>
                <a:ea typeface="Arial"/>
                <a:cs typeface="Arial"/>
              </a:defRPr>
            </a:lvl3pPr>
            <a:lvl4pPr algn="ctr">
              <a:defRPr sz="1875">
                <a:solidFill>
                  <a:srgbClr val="F1F4F6"/>
                </a:solidFill>
                <a:latin typeface="Arial"/>
                <a:ea typeface="Arial"/>
                <a:cs typeface="Arial"/>
              </a:defRPr>
            </a:lvl4pPr>
            <a:lvl5pPr algn="ctr">
              <a:defRPr sz="1875">
                <a:solidFill>
                  <a:srgbClr val="F1F4F6"/>
                </a:solidFill>
                <a:latin typeface="Arial"/>
                <a:ea typeface="Arial"/>
                <a:cs typeface="Arial"/>
              </a:defRPr>
            </a:lvl5pPr>
            <a:lvl6pPr algn="ctr">
              <a:defRPr sz="1875">
                <a:solidFill>
                  <a:srgbClr val="F1F4F6"/>
                </a:solidFill>
                <a:latin typeface="Arial"/>
                <a:ea typeface="Arial"/>
                <a:cs typeface="Arial"/>
              </a:defRPr>
            </a:lvl6pPr>
            <a:lvl7pPr algn="ctr">
              <a:defRPr sz="1875">
                <a:solidFill>
                  <a:srgbClr val="F1F4F6"/>
                </a:solidFill>
                <a:latin typeface="Arial"/>
                <a:ea typeface="Arial"/>
                <a:cs typeface="Arial"/>
              </a:defRPr>
            </a:lvl7pPr>
            <a:lvl8pPr algn="ctr">
              <a:defRPr sz="1875">
                <a:solidFill>
                  <a:srgbClr val="F1F4F6"/>
                </a:solidFill>
                <a:latin typeface="Arial"/>
                <a:ea typeface="Arial"/>
                <a:cs typeface="Arial"/>
              </a:defRPr>
            </a:lvl8pPr>
            <a:lvl9pPr algn="ctr">
              <a:defRPr sz="1875">
                <a:solidFill>
                  <a:srgbClr val="F1F4F6"/>
                </a:solidFill>
                <a:latin typeface="Arial"/>
                <a:ea typeface="Arial"/>
                <a:cs typeface="Arial"/>
              </a:defRPr>
            </a:lvl9pPr>
          </a:lstStyle>
          <a:p>
            <a:pPr algn="ctr">
              <a:defRPr sz="1875">
                <a:solidFill>
                  <a:srgbClr val="F1F4F6"/>
                </a:solidFill>
                <a:latin typeface="Arial"/>
                <a:ea typeface="Arial"/>
                <a:cs typeface="Arial"/>
              </a:defRPr>
            </a:pPr>
            <a:r>
              <a:rPr sz="1875">
                <a:solidFill>
                  <a:srgbClr val="F1F4F6"/>
                </a:solidFill>
                <a:latin typeface="Arial"/>
                <a:ea typeface="Arial"/>
                <a:cs typeface="Arial"/>
              </a:rPr>
              <a:t>report_result</a:t>
            </a:r>
          </a:p>
        </p:txBody>
      </p:sp>
      <p:sp>
        <p:nvSpPr>
          <p:cNvPr id="13" name="Rectangle 12">
            <a:extLst>
              <a:ext uri="{FF2B5EF4-FFF2-40B4-BE49-F238E27FC236}">
                <a16:creationId xmlns:a16="http://schemas.microsoft.com/office/drawing/2014/main" id="{3A677EF8-107F-40C2-AA9F-D3EA617DBC16}"/>
              </a:ext>
            </a:extLst>
          </p:cNvPr>
          <p:cNvSpPr>
            <a:spLocks noGrp="1"/>
          </p:cNvSpPr>
          <p:nvPr/>
        </p:nvSpPr>
        <p:spPr>
          <a:xfrm>
            <a:off x="8858250" y="3429000"/>
            <a:ext cx="2714625" cy="714375"/>
          </a:xfrm>
          <a:prstGeom prst="rect">
            <a:avLst/>
          </a:prstGeom>
          <a:solidFill>
            <a:srgbClr val="172431"/>
          </a:solidFill>
          <a:ln w="9525">
            <a:solidFill>
              <a:srgbClr val="344352"/>
            </a:solidFill>
          </a:ln>
        </p:spPr>
        <p:txBody>
          <a:bodyPr lIns="114300" tIns="114300" rIns="114300" bIns="114300" anchor="ctr"/>
          <a:lstStyle>
            <a:defPPr algn="ctr">
              <a:defRPr sz="1875">
                <a:solidFill>
                  <a:srgbClr val="F1F4F6"/>
                </a:solidFill>
                <a:latin typeface="Arial"/>
                <a:ea typeface="Arial"/>
                <a:cs typeface="Arial"/>
              </a:defRPr>
            </a:defPPr>
            <a:lvl1pPr algn="ctr">
              <a:defRPr sz="1875">
                <a:solidFill>
                  <a:srgbClr val="F1F4F6"/>
                </a:solidFill>
                <a:latin typeface="Arial"/>
                <a:ea typeface="Arial"/>
                <a:cs typeface="Arial"/>
              </a:defRPr>
            </a:lvl1pPr>
            <a:lvl2pPr algn="ctr">
              <a:defRPr sz="1875">
                <a:solidFill>
                  <a:srgbClr val="F1F4F6"/>
                </a:solidFill>
                <a:latin typeface="Arial"/>
                <a:ea typeface="Arial"/>
                <a:cs typeface="Arial"/>
              </a:defRPr>
            </a:lvl2pPr>
            <a:lvl3pPr algn="ctr">
              <a:defRPr sz="1875">
                <a:solidFill>
                  <a:srgbClr val="F1F4F6"/>
                </a:solidFill>
                <a:latin typeface="Arial"/>
                <a:ea typeface="Arial"/>
                <a:cs typeface="Arial"/>
              </a:defRPr>
            </a:lvl3pPr>
            <a:lvl4pPr algn="ctr">
              <a:defRPr sz="1875">
                <a:solidFill>
                  <a:srgbClr val="F1F4F6"/>
                </a:solidFill>
                <a:latin typeface="Arial"/>
                <a:ea typeface="Arial"/>
                <a:cs typeface="Arial"/>
              </a:defRPr>
            </a:lvl4pPr>
            <a:lvl5pPr algn="ctr">
              <a:defRPr sz="1875">
                <a:solidFill>
                  <a:srgbClr val="F1F4F6"/>
                </a:solidFill>
                <a:latin typeface="Arial"/>
                <a:ea typeface="Arial"/>
                <a:cs typeface="Arial"/>
              </a:defRPr>
            </a:lvl5pPr>
            <a:lvl6pPr algn="ctr">
              <a:defRPr sz="1875">
                <a:solidFill>
                  <a:srgbClr val="F1F4F6"/>
                </a:solidFill>
                <a:latin typeface="Arial"/>
                <a:ea typeface="Arial"/>
                <a:cs typeface="Arial"/>
              </a:defRPr>
            </a:lvl6pPr>
            <a:lvl7pPr algn="ctr">
              <a:defRPr sz="1875">
                <a:solidFill>
                  <a:srgbClr val="F1F4F6"/>
                </a:solidFill>
                <a:latin typeface="Arial"/>
                <a:ea typeface="Arial"/>
                <a:cs typeface="Arial"/>
              </a:defRPr>
            </a:lvl7pPr>
            <a:lvl8pPr algn="ctr">
              <a:defRPr sz="1875">
                <a:solidFill>
                  <a:srgbClr val="F1F4F6"/>
                </a:solidFill>
                <a:latin typeface="Arial"/>
                <a:ea typeface="Arial"/>
                <a:cs typeface="Arial"/>
              </a:defRPr>
            </a:lvl8pPr>
            <a:lvl9pPr algn="ctr">
              <a:defRPr sz="1875">
                <a:solidFill>
                  <a:srgbClr val="F1F4F6"/>
                </a:solidFill>
                <a:latin typeface="Arial"/>
                <a:ea typeface="Arial"/>
                <a:cs typeface="Arial"/>
              </a:defRPr>
            </a:lvl9pPr>
          </a:lstStyle>
          <a:p>
            <a:pPr algn="ctr">
              <a:defRPr sz="1875">
                <a:solidFill>
                  <a:srgbClr val="F1F4F6"/>
                </a:solidFill>
                <a:latin typeface="Arial"/>
                <a:ea typeface="Arial"/>
                <a:cs typeface="Arial"/>
              </a:defRPr>
            </a:pPr>
            <a:r>
              <a:rPr sz="1875">
                <a:solidFill>
                  <a:srgbClr val="F1F4F6"/>
                </a:solidFill>
                <a:latin typeface="Arial"/>
                <a:ea typeface="Arial"/>
                <a:cs typeface="Arial"/>
              </a:rPr>
              <a:t>report_audit</a:t>
            </a:r>
          </a:p>
        </p:txBody>
      </p:sp>
      <p:sp>
        <p:nvSpPr>
          <p:cNvPr id="17" name="Rectangle 16">
            <a:extLst>
              <a:ext uri="{FF2B5EF4-FFF2-40B4-BE49-F238E27FC236}">
                <a16:creationId xmlns:a16="http://schemas.microsoft.com/office/drawing/2014/main" id="{C9012AF4-AA13-475D-9371-9B415BD9761B}"/>
              </a:ext>
            </a:extLst>
          </p:cNvPr>
          <p:cNvSpPr>
            <a:spLocks noGrp="1"/>
          </p:cNvSpPr>
          <p:nvPr/>
        </p:nvSpPr>
        <p:spPr>
          <a:xfrm>
            <a:off x="609600" y="4324350"/>
            <a:ext cx="7905750" cy="333375"/>
          </a:xfrm>
          <a:prstGeom prst="rect">
            <a:avLst/>
          </a:prstGeom>
          <a:noFill/>
          <a:ln w="0">
            <a:noFill/>
          </a:ln>
        </p:spPr>
        <p:txBody>
          <a:bodyPr wrap="square" lIns="0" tIns="0" rIns="0" bIns="0" anchor="t">
            <a:noAutofit/>
          </a:bodyPr>
          <a:lstStyle>
            <a:defPPr>
              <a:defRPr sz="1800" b="0">
                <a:solidFill>
                  <a:srgbClr val="70D6C4"/>
                </a:solidFill>
                <a:latin typeface="Arial"/>
                <a:ea typeface="Arial"/>
                <a:cs typeface="Arial"/>
              </a:defRPr>
            </a:defPPr>
            <a:lvl1pPr>
              <a:defRPr sz="1800" b="0">
                <a:solidFill>
                  <a:srgbClr val="70D6C4"/>
                </a:solidFill>
                <a:latin typeface="Arial"/>
                <a:ea typeface="Arial"/>
                <a:cs typeface="Arial"/>
              </a:defRPr>
            </a:lvl1pPr>
            <a:lvl2pPr>
              <a:defRPr sz="1800" b="0">
                <a:solidFill>
                  <a:srgbClr val="70D6C4"/>
                </a:solidFill>
                <a:latin typeface="Arial"/>
                <a:ea typeface="Arial"/>
                <a:cs typeface="Arial"/>
              </a:defRPr>
            </a:lvl2pPr>
            <a:lvl3pPr>
              <a:defRPr sz="1800" b="0">
                <a:solidFill>
                  <a:srgbClr val="70D6C4"/>
                </a:solidFill>
                <a:latin typeface="Arial"/>
                <a:ea typeface="Arial"/>
                <a:cs typeface="Arial"/>
              </a:defRPr>
            </a:lvl3pPr>
            <a:lvl4pPr>
              <a:defRPr sz="1800" b="0">
                <a:solidFill>
                  <a:srgbClr val="70D6C4"/>
                </a:solidFill>
                <a:latin typeface="Arial"/>
                <a:ea typeface="Arial"/>
                <a:cs typeface="Arial"/>
              </a:defRPr>
            </a:lvl4pPr>
            <a:lvl5pPr>
              <a:defRPr sz="1800" b="0">
                <a:solidFill>
                  <a:srgbClr val="70D6C4"/>
                </a:solidFill>
                <a:latin typeface="Arial"/>
                <a:ea typeface="Arial"/>
                <a:cs typeface="Arial"/>
              </a:defRPr>
            </a:lvl5pPr>
            <a:lvl6pPr>
              <a:defRPr sz="1800" b="0">
                <a:solidFill>
                  <a:srgbClr val="70D6C4"/>
                </a:solidFill>
                <a:latin typeface="Arial"/>
                <a:ea typeface="Arial"/>
                <a:cs typeface="Arial"/>
              </a:defRPr>
            </a:lvl6pPr>
            <a:lvl7pPr>
              <a:defRPr sz="1800" b="0">
                <a:solidFill>
                  <a:srgbClr val="70D6C4"/>
                </a:solidFill>
                <a:latin typeface="Arial"/>
                <a:ea typeface="Arial"/>
                <a:cs typeface="Arial"/>
              </a:defRPr>
            </a:lvl7pPr>
            <a:lvl8pPr>
              <a:defRPr sz="1800" b="0">
                <a:solidFill>
                  <a:srgbClr val="70D6C4"/>
                </a:solidFill>
                <a:latin typeface="Arial"/>
                <a:ea typeface="Arial"/>
                <a:cs typeface="Arial"/>
              </a:defRPr>
            </a:lvl8pPr>
            <a:lvl9pPr>
              <a:defRPr sz="1800" b="0">
                <a:solidFill>
                  <a:srgbClr val="70D6C4"/>
                </a:solidFill>
                <a:latin typeface="Arial"/>
                <a:ea typeface="Arial"/>
                <a:cs typeface="Arial"/>
              </a:defRPr>
            </a:lvl9pPr>
          </a:lstStyle>
          <a:p>
            <a:pPr>
              <a:defRPr sz="1800" b="0">
                <a:solidFill>
                  <a:srgbClr val="70D6C4"/>
                </a:solidFill>
                <a:latin typeface="Arial"/>
                <a:ea typeface="Arial"/>
                <a:cs typeface="Arial"/>
              </a:defRPr>
            </a:pPr>
            <a:r>
              <a:rPr sz="1800" b="0">
                <a:solidFill>
                  <a:srgbClr val="70D6C4"/>
                </a:solidFill>
                <a:latin typeface="Arial"/>
                <a:ea typeface="Arial"/>
                <a:cs typeface="Arial"/>
              </a:rPr>
              <a:t>0..1 dataset and 0..1 result per request</a:t>
            </a:r>
          </a:p>
        </p:txBody>
      </p:sp>
      <p:sp>
        <p:nvSpPr>
          <p:cNvPr id="18" name="Rectangle 17">
            <a:extLst>
              <a:ext uri="{FF2B5EF4-FFF2-40B4-BE49-F238E27FC236}">
                <a16:creationId xmlns:a16="http://schemas.microsoft.com/office/drawing/2014/main" id="{C4C6AABF-AEC3-4FE4-A7FE-92D22F3C66AE}"/>
              </a:ext>
            </a:extLst>
          </p:cNvPr>
          <p:cNvSpPr>
            <a:spLocks noGrp="1"/>
          </p:cNvSpPr>
          <p:nvPr/>
        </p:nvSpPr>
        <p:spPr>
          <a:xfrm>
            <a:off x="10382250" y="2828925"/>
            <a:ext cx="1190625" cy="333375"/>
          </a:xfrm>
          <a:prstGeom prst="rect">
            <a:avLst/>
          </a:prstGeom>
          <a:noFill/>
          <a:ln w="0">
            <a:noFill/>
          </a:ln>
        </p:spPr>
        <p:txBody>
          <a:bodyPr wrap="square" lIns="0" tIns="0" rIns="0" bIns="0" anchor="t">
            <a:noAutofit/>
          </a:bodyPr>
          <a:lstStyle>
            <a:defPPr>
              <a:defRPr sz="1500" b="0">
                <a:solidFill>
                  <a:srgbClr val="70D6C4"/>
                </a:solidFill>
                <a:latin typeface="Arial"/>
                <a:ea typeface="Arial"/>
                <a:cs typeface="Arial"/>
              </a:defRPr>
            </a:defPPr>
            <a:lvl1pPr>
              <a:defRPr sz="1500" b="0">
                <a:solidFill>
                  <a:srgbClr val="70D6C4"/>
                </a:solidFill>
                <a:latin typeface="Arial"/>
                <a:ea typeface="Arial"/>
                <a:cs typeface="Arial"/>
              </a:defRPr>
            </a:lvl1pPr>
            <a:lvl2pPr>
              <a:defRPr sz="1500" b="0">
                <a:solidFill>
                  <a:srgbClr val="70D6C4"/>
                </a:solidFill>
                <a:latin typeface="Arial"/>
                <a:ea typeface="Arial"/>
                <a:cs typeface="Arial"/>
              </a:defRPr>
            </a:lvl2pPr>
            <a:lvl3pPr>
              <a:defRPr sz="1500" b="0">
                <a:solidFill>
                  <a:srgbClr val="70D6C4"/>
                </a:solidFill>
                <a:latin typeface="Arial"/>
                <a:ea typeface="Arial"/>
                <a:cs typeface="Arial"/>
              </a:defRPr>
            </a:lvl3pPr>
            <a:lvl4pPr>
              <a:defRPr sz="1500" b="0">
                <a:solidFill>
                  <a:srgbClr val="70D6C4"/>
                </a:solidFill>
                <a:latin typeface="Arial"/>
                <a:ea typeface="Arial"/>
                <a:cs typeface="Arial"/>
              </a:defRPr>
            </a:lvl4pPr>
            <a:lvl5pPr>
              <a:defRPr sz="1500" b="0">
                <a:solidFill>
                  <a:srgbClr val="70D6C4"/>
                </a:solidFill>
                <a:latin typeface="Arial"/>
                <a:ea typeface="Arial"/>
                <a:cs typeface="Arial"/>
              </a:defRPr>
            </a:lvl5pPr>
            <a:lvl6pPr>
              <a:defRPr sz="1500" b="0">
                <a:solidFill>
                  <a:srgbClr val="70D6C4"/>
                </a:solidFill>
                <a:latin typeface="Arial"/>
                <a:ea typeface="Arial"/>
                <a:cs typeface="Arial"/>
              </a:defRPr>
            </a:lvl6pPr>
            <a:lvl7pPr>
              <a:defRPr sz="1500" b="0">
                <a:solidFill>
                  <a:srgbClr val="70D6C4"/>
                </a:solidFill>
                <a:latin typeface="Arial"/>
                <a:ea typeface="Arial"/>
                <a:cs typeface="Arial"/>
              </a:defRPr>
            </a:lvl7pPr>
            <a:lvl8pPr>
              <a:defRPr sz="1500" b="0">
                <a:solidFill>
                  <a:srgbClr val="70D6C4"/>
                </a:solidFill>
                <a:latin typeface="Arial"/>
                <a:ea typeface="Arial"/>
                <a:cs typeface="Arial"/>
              </a:defRPr>
            </a:lvl8pPr>
            <a:lvl9pPr>
              <a:defRPr sz="1500" b="0">
                <a:solidFill>
                  <a:srgbClr val="70D6C4"/>
                </a:solidFill>
                <a:latin typeface="Arial"/>
                <a:ea typeface="Arial"/>
                <a:cs typeface="Arial"/>
              </a:defRPr>
            </a:lvl9pPr>
          </a:lstStyle>
          <a:p>
            <a:pPr>
              <a:defRPr sz="1500" b="0">
                <a:solidFill>
                  <a:srgbClr val="70D6C4"/>
                </a:solidFill>
                <a:latin typeface="Arial"/>
                <a:ea typeface="Arial"/>
                <a:cs typeface="Arial"/>
              </a:defRPr>
            </a:pPr>
            <a:r>
              <a:rPr sz="1500" b="0">
                <a:solidFill>
                  <a:srgbClr val="70D6C4"/>
                </a:solidFill>
                <a:latin typeface="Arial"/>
                <a:ea typeface="Arial"/>
                <a:cs typeface="Arial"/>
              </a:rPr>
              <a:t>1 : many</a:t>
            </a:r>
          </a:p>
        </p:txBody>
      </p:sp>
      <p:sp>
        <p:nvSpPr>
          <p:cNvPr id="19" name="Rectangle 18">
            <a:extLst>
              <a:ext uri="{FF2B5EF4-FFF2-40B4-BE49-F238E27FC236}">
                <a16:creationId xmlns:a16="http://schemas.microsoft.com/office/drawing/2014/main" id="{8765AB42-0EA8-4930-AEAB-5A18CD26F219}"/>
              </a:ext>
            </a:extLst>
          </p:cNvPr>
          <p:cNvSpPr>
            <a:spLocks noGrp="1"/>
          </p:cNvSpPr>
          <p:nvPr/>
        </p:nvSpPr>
        <p:spPr>
          <a:xfrm>
            <a:off x="609600" y="5048250"/>
            <a:ext cx="2428875" cy="714375"/>
          </a:xfrm>
          <a:prstGeom prst="rect">
            <a:avLst/>
          </a:prstGeom>
          <a:solidFill>
            <a:srgbClr val="172431"/>
          </a:solidFill>
          <a:ln w="9525">
            <a:solidFill>
              <a:srgbClr val="344352"/>
            </a:solidFill>
          </a:ln>
        </p:spPr>
        <p:txBody>
          <a:bodyPr lIns="114300" tIns="114300" rIns="114300" bIns="114300" anchor="ctr"/>
          <a:lstStyle>
            <a:defPPr algn="ctr">
              <a:defRPr sz="1875">
                <a:solidFill>
                  <a:srgbClr val="F1F4F6"/>
                </a:solidFill>
                <a:latin typeface="Arial"/>
                <a:ea typeface="Arial"/>
                <a:cs typeface="Arial"/>
              </a:defRPr>
            </a:defPPr>
            <a:lvl1pPr algn="ctr">
              <a:defRPr sz="1875">
                <a:solidFill>
                  <a:srgbClr val="F1F4F6"/>
                </a:solidFill>
                <a:latin typeface="Arial"/>
                <a:ea typeface="Arial"/>
                <a:cs typeface="Arial"/>
              </a:defRPr>
            </a:lvl1pPr>
            <a:lvl2pPr algn="ctr">
              <a:defRPr sz="1875">
                <a:solidFill>
                  <a:srgbClr val="F1F4F6"/>
                </a:solidFill>
                <a:latin typeface="Arial"/>
                <a:ea typeface="Arial"/>
                <a:cs typeface="Arial"/>
              </a:defRPr>
            </a:lvl2pPr>
            <a:lvl3pPr algn="ctr">
              <a:defRPr sz="1875">
                <a:solidFill>
                  <a:srgbClr val="F1F4F6"/>
                </a:solidFill>
                <a:latin typeface="Arial"/>
                <a:ea typeface="Arial"/>
                <a:cs typeface="Arial"/>
              </a:defRPr>
            </a:lvl3pPr>
            <a:lvl4pPr algn="ctr">
              <a:defRPr sz="1875">
                <a:solidFill>
                  <a:srgbClr val="F1F4F6"/>
                </a:solidFill>
                <a:latin typeface="Arial"/>
                <a:ea typeface="Arial"/>
                <a:cs typeface="Arial"/>
              </a:defRPr>
            </a:lvl4pPr>
            <a:lvl5pPr algn="ctr">
              <a:defRPr sz="1875">
                <a:solidFill>
                  <a:srgbClr val="F1F4F6"/>
                </a:solidFill>
                <a:latin typeface="Arial"/>
                <a:ea typeface="Arial"/>
                <a:cs typeface="Arial"/>
              </a:defRPr>
            </a:lvl5pPr>
            <a:lvl6pPr algn="ctr">
              <a:defRPr sz="1875">
                <a:solidFill>
                  <a:srgbClr val="F1F4F6"/>
                </a:solidFill>
                <a:latin typeface="Arial"/>
                <a:ea typeface="Arial"/>
                <a:cs typeface="Arial"/>
              </a:defRPr>
            </a:lvl6pPr>
            <a:lvl7pPr algn="ctr">
              <a:defRPr sz="1875">
                <a:solidFill>
                  <a:srgbClr val="F1F4F6"/>
                </a:solidFill>
                <a:latin typeface="Arial"/>
                <a:ea typeface="Arial"/>
                <a:cs typeface="Arial"/>
              </a:defRPr>
            </a:lvl7pPr>
            <a:lvl8pPr algn="ctr">
              <a:defRPr sz="1875">
                <a:solidFill>
                  <a:srgbClr val="F1F4F6"/>
                </a:solidFill>
                <a:latin typeface="Arial"/>
                <a:ea typeface="Arial"/>
                <a:cs typeface="Arial"/>
              </a:defRPr>
            </a:lvl8pPr>
            <a:lvl9pPr algn="ctr">
              <a:defRPr sz="1875">
                <a:solidFill>
                  <a:srgbClr val="F1F4F6"/>
                </a:solidFill>
                <a:latin typeface="Arial"/>
                <a:ea typeface="Arial"/>
                <a:cs typeface="Arial"/>
              </a:defRPr>
            </a:lvl9pPr>
          </a:lstStyle>
          <a:p>
            <a:pPr algn="ctr">
              <a:defRPr sz="1875">
                <a:solidFill>
                  <a:srgbClr val="F1F4F6"/>
                </a:solidFill>
                <a:latin typeface="Arial"/>
                <a:ea typeface="Arial"/>
                <a:cs typeface="Arial"/>
              </a:defRPr>
            </a:pPr>
            <a:r>
              <a:rPr sz="1875">
                <a:solidFill>
                  <a:srgbClr val="F1F4F6"/>
                </a:solidFill>
                <a:latin typeface="Arial"/>
                <a:ea typeface="Arial"/>
                <a:cs typeface="Arial"/>
              </a:rPr>
              <a:t>import_batch</a:t>
            </a:r>
          </a:p>
        </p:txBody>
      </p:sp>
      <p:sp>
        <p:nvSpPr>
          <p:cNvPr id="20" name="Rectangle 19">
            <a:extLst>
              <a:ext uri="{FF2B5EF4-FFF2-40B4-BE49-F238E27FC236}">
                <a16:creationId xmlns:a16="http://schemas.microsoft.com/office/drawing/2014/main" id="{C09E6229-1BE9-4B62-9BA4-BD8B045BAFA3}"/>
              </a:ext>
            </a:extLst>
          </p:cNvPr>
          <p:cNvSpPr>
            <a:spLocks noGrp="1"/>
          </p:cNvSpPr>
          <p:nvPr/>
        </p:nvSpPr>
        <p:spPr>
          <a:xfrm>
            <a:off x="4772025" y="5048250"/>
            <a:ext cx="2428875" cy="714375"/>
          </a:xfrm>
          <a:prstGeom prst="rect">
            <a:avLst/>
          </a:prstGeom>
          <a:solidFill>
            <a:srgbClr val="172431"/>
          </a:solidFill>
          <a:ln w="9525">
            <a:solidFill>
              <a:srgbClr val="344352"/>
            </a:solidFill>
          </a:ln>
        </p:spPr>
        <p:txBody>
          <a:bodyPr lIns="114300" tIns="114300" rIns="114300" bIns="114300" anchor="ctr"/>
          <a:lstStyle>
            <a:defPPr algn="ctr">
              <a:defRPr sz="1875">
                <a:solidFill>
                  <a:srgbClr val="F1F4F6"/>
                </a:solidFill>
                <a:latin typeface="Arial"/>
                <a:ea typeface="Arial"/>
                <a:cs typeface="Arial"/>
              </a:defRPr>
            </a:defPPr>
            <a:lvl1pPr algn="ctr">
              <a:defRPr sz="1875">
                <a:solidFill>
                  <a:srgbClr val="F1F4F6"/>
                </a:solidFill>
                <a:latin typeface="Arial"/>
                <a:ea typeface="Arial"/>
                <a:cs typeface="Arial"/>
              </a:defRPr>
            </a:lvl1pPr>
            <a:lvl2pPr algn="ctr">
              <a:defRPr sz="1875">
                <a:solidFill>
                  <a:srgbClr val="F1F4F6"/>
                </a:solidFill>
                <a:latin typeface="Arial"/>
                <a:ea typeface="Arial"/>
                <a:cs typeface="Arial"/>
              </a:defRPr>
            </a:lvl2pPr>
            <a:lvl3pPr algn="ctr">
              <a:defRPr sz="1875">
                <a:solidFill>
                  <a:srgbClr val="F1F4F6"/>
                </a:solidFill>
                <a:latin typeface="Arial"/>
                <a:ea typeface="Arial"/>
                <a:cs typeface="Arial"/>
              </a:defRPr>
            </a:lvl3pPr>
            <a:lvl4pPr algn="ctr">
              <a:defRPr sz="1875">
                <a:solidFill>
                  <a:srgbClr val="F1F4F6"/>
                </a:solidFill>
                <a:latin typeface="Arial"/>
                <a:ea typeface="Arial"/>
                <a:cs typeface="Arial"/>
              </a:defRPr>
            </a:lvl4pPr>
            <a:lvl5pPr algn="ctr">
              <a:defRPr sz="1875">
                <a:solidFill>
                  <a:srgbClr val="F1F4F6"/>
                </a:solidFill>
                <a:latin typeface="Arial"/>
                <a:ea typeface="Arial"/>
                <a:cs typeface="Arial"/>
              </a:defRPr>
            </a:lvl5pPr>
            <a:lvl6pPr algn="ctr">
              <a:defRPr sz="1875">
                <a:solidFill>
                  <a:srgbClr val="F1F4F6"/>
                </a:solidFill>
                <a:latin typeface="Arial"/>
                <a:ea typeface="Arial"/>
                <a:cs typeface="Arial"/>
              </a:defRPr>
            </a:lvl6pPr>
            <a:lvl7pPr algn="ctr">
              <a:defRPr sz="1875">
                <a:solidFill>
                  <a:srgbClr val="F1F4F6"/>
                </a:solidFill>
                <a:latin typeface="Arial"/>
                <a:ea typeface="Arial"/>
                <a:cs typeface="Arial"/>
              </a:defRPr>
            </a:lvl7pPr>
            <a:lvl8pPr algn="ctr">
              <a:defRPr sz="1875">
                <a:solidFill>
                  <a:srgbClr val="F1F4F6"/>
                </a:solidFill>
                <a:latin typeface="Arial"/>
                <a:ea typeface="Arial"/>
                <a:cs typeface="Arial"/>
              </a:defRPr>
            </a:lvl8pPr>
            <a:lvl9pPr algn="ctr">
              <a:defRPr sz="1875">
                <a:solidFill>
                  <a:srgbClr val="F1F4F6"/>
                </a:solidFill>
                <a:latin typeface="Arial"/>
                <a:ea typeface="Arial"/>
                <a:cs typeface="Arial"/>
              </a:defRPr>
            </a:lvl9pPr>
          </a:lstStyle>
          <a:p>
            <a:pPr algn="ctr">
              <a:defRPr sz="1875">
                <a:solidFill>
                  <a:srgbClr val="F1F4F6"/>
                </a:solidFill>
                <a:latin typeface="Arial"/>
                <a:ea typeface="Arial"/>
                <a:cs typeface="Arial"/>
              </a:defRPr>
            </a:pPr>
            <a:r>
              <a:rPr sz="1875">
                <a:solidFill>
                  <a:srgbClr val="F1F4F6"/>
                </a:solidFill>
                <a:latin typeface="Arial"/>
                <a:ea typeface="Arial"/>
                <a:cs typeface="Arial"/>
              </a:rPr>
              <a:t>import_row</a:t>
            </a:r>
          </a:p>
        </p:txBody>
      </p:sp>
      <p:sp>
        <p:nvSpPr>
          <p:cNvPr id="22" name="Rectangle 21">
            <a:extLst>
              <a:ext uri="{FF2B5EF4-FFF2-40B4-BE49-F238E27FC236}">
                <a16:creationId xmlns:a16="http://schemas.microsoft.com/office/drawing/2014/main" id="{5D05FB80-B35C-423B-B227-0A3103BD808F}"/>
              </a:ext>
            </a:extLst>
          </p:cNvPr>
          <p:cNvSpPr>
            <a:spLocks noGrp="1"/>
          </p:cNvSpPr>
          <p:nvPr/>
        </p:nvSpPr>
        <p:spPr>
          <a:xfrm>
            <a:off x="3333750" y="5067300"/>
            <a:ext cx="1285875" cy="333375"/>
          </a:xfrm>
          <a:prstGeom prst="rect">
            <a:avLst/>
          </a:prstGeom>
          <a:noFill/>
          <a:ln w="0">
            <a:noFill/>
          </a:ln>
        </p:spPr>
        <p:txBody>
          <a:bodyPr wrap="square" lIns="0" tIns="0" rIns="0" bIns="0" anchor="t">
            <a:noAutofit/>
          </a:bodyPr>
          <a:lstStyle>
            <a:defPPr>
              <a:defRPr sz="1500" b="0">
                <a:solidFill>
                  <a:srgbClr val="70D6C4"/>
                </a:solidFill>
                <a:latin typeface="Arial"/>
                <a:ea typeface="Arial"/>
                <a:cs typeface="Arial"/>
              </a:defRPr>
            </a:defPPr>
            <a:lvl1pPr>
              <a:defRPr sz="1500" b="0">
                <a:solidFill>
                  <a:srgbClr val="70D6C4"/>
                </a:solidFill>
                <a:latin typeface="Arial"/>
                <a:ea typeface="Arial"/>
                <a:cs typeface="Arial"/>
              </a:defRPr>
            </a:lvl1pPr>
            <a:lvl2pPr>
              <a:defRPr sz="1500" b="0">
                <a:solidFill>
                  <a:srgbClr val="70D6C4"/>
                </a:solidFill>
                <a:latin typeface="Arial"/>
                <a:ea typeface="Arial"/>
                <a:cs typeface="Arial"/>
              </a:defRPr>
            </a:lvl2pPr>
            <a:lvl3pPr>
              <a:defRPr sz="1500" b="0">
                <a:solidFill>
                  <a:srgbClr val="70D6C4"/>
                </a:solidFill>
                <a:latin typeface="Arial"/>
                <a:ea typeface="Arial"/>
                <a:cs typeface="Arial"/>
              </a:defRPr>
            </a:lvl3pPr>
            <a:lvl4pPr>
              <a:defRPr sz="1500" b="0">
                <a:solidFill>
                  <a:srgbClr val="70D6C4"/>
                </a:solidFill>
                <a:latin typeface="Arial"/>
                <a:ea typeface="Arial"/>
                <a:cs typeface="Arial"/>
              </a:defRPr>
            </a:lvl4pPr>
            <a:lvl5pPr>
              <a:defRPr sz="1500" b="0">
                <a:solidFill>
                  <a:srgbClr val="70D6C4"/>
                </a:solidFill>
                <a:latin typeface="Arial"/>
                <a:ea typeface="Arial"/>
                <a:cs typeface="Arial"/>
              </a:defRPr>
            </a:lvl5pPr>
            <a:lvl6pPr>
              <a:defRPr sz="1500" b="0">
                <a:solidFill>
                  <a:srgbClr val="70D6C4"/>
                </a:solidFill>
                <a:latin typeface="Arial"/>
                <a:ea typeface="Arial"/>
                <a:cs typeface="Arial"/>
              </a:defRPr>
            </a:lvl6pPr>
            <a:lvl7pPr>
              <a:defRPr sz="1500" b="0">
                <a:solidFill>
                  <a:srgbClr val="70D6C4"/>
                </a:solidFill>
                <a:latin typeface="Arial"/>
                <a:ea typeface="Arial"/>
                <a:cs typeface="Arial"/>
              </a:defRPr>
            </a:lvl7pPr>
            <a:lvl8pPr>
              <a:defRPr sz="1500" b="0">
                <a:solidFill>
                  <a:srgbClr val="70D6C4"/>
                </a:solidFill>
                <a:latin typeface="Arial"/>
                <a:ea typeface="Arial"/>
                <a:cs typeface="Arial"/>
              </a:defRPr>
            </a:lvl8pPr>
            <a:lvl9pPr>
              <a:defRPr sz="1500" b="0">
                <a:solidFill>
                  <a:srgbClr val="70D6C4"/>
                </a:solidFill>
                <a:latin typeface="Arial"/>
                <a:ea typeface="Arial"/>
                <a:cs typeface="Arial"/>
              </a:defRPr>
            </a:lvl9pPr>
          </a:lstStyle>
          <a:p>
            <a:pPr>
              <a:defRPr sz="1500" b="0">
                <a:solidFill>
                  <a:srgbClr val="70D6C4"/>
                </a:solidFill>
                <a:latin typeface="Arial"/>
                <a:ea typeface="Arial"/>
                <a:cs typeface="Arial"/>
              </a:defRPr>
            </a:pPr>
            <a:r>
              <a:rPr sz="1500" b="0">
                <a:solidFill>
                  <a:srgbClr val="70D6C4"/>
                </a:solidFill>
                <a:latin typeface="Arial"/>
                <a:ea typeface="Arial"/>
                <a:cs typeface="Arial"/>
              </a:rPr>
              <a:t>1 : many</a:t>
            </a:r>
          </a:p>
        </p:txBody>
      </p:sp>
    </p:spTree>
    <p:extLst>
      <p:ext uri="{BB962C8B-B14F-4D97-AF65-F5344CB8AC3E}">
        <p14:creationId xmlns:p14="http://schemas.microsoft.com/office/powerpoint/2010/main" val="30845892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485</TotalTime>
  <Words>24251</Words>
  <Application>Microsoft Office PowerPoint</Application>
  <DocSecurity>0</DocSecurity>
  <PresentationFormat>Widescreen</PresentationFormat>
  <Paragraphs>2762</Paragraphs>
  <Slides>91</Slides>
  <Notes>91</Notes>
  <HiddenSlides>34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91</vt:i4>
      </vt:variant>
    </vt:vector>
  </HeadingPairs>
  <TitlesOfParts>
    <vt:vector size="96" baseType="lpstr">
      <vt:lpstr>Aptos</vt:lpstr>
      <vt:lpstr>Arial</vt:lpstr>
      <vt:lpstr>Consolas</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TANAY MOHTA</cp:lastModifiedBy>
  <cp:revision>9</cp:revision>
  <dcterms:created xsi:type="dcterms:W3CDTF">2026-10-18T20:43:45Z</dcterms:created>
  <dcterms:modified xsi:type="dcterms:W3CDTF">2026-10-20T05:53:18Z</dcterms:modified>
</cp:coreProperties>
</file>