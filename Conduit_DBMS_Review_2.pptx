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4121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 professors and evaluators. This is Team 17 presenting Conduit for DBMS Project Review 2.</a:t>
            </a:r>
          </a:p>
          <a:p>
            <a:r>
              <a:t>Our team consists of G Anirudh, Tanay Mohta, and Dhyey Dhumasia.</a:t>
            </a:r>
          </a:p>
          <a:p>
            <a:r>
              <a:t>Our core thesis: rather than running a complex message broker alongside a database with dual-write synchronization issues, we prove that modern PostgreSQL provides all necessary primitives to function as an enterprise-grade message broker natively.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 Review 1, our evaluator noted that the database was relegated to an admin panel while messages were handled in custom files.</a:t>
            </a:r>
          </a:p>
          <a:p>
            <a:r>
              <a:t>For Review 2, we performed a 100% pivot to an RDBMS-core architecture.</a:t>
            </a:r>
          </a:p>
          <a:p>
            <a:r>
              <a:t>Messages are now relational rows; producing is an ACID transaction; consuming uses SKIP LOCKED; durability is guaranteed by PostgreSQL's WAL.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is our complete 15-table relational schema.</a:t>
            </a:r>
          </a:p>
          <a:p>
            <a:r>
              <a:t>We have zero denormalization anomalies. All tables are in BCNF/3NF.</a:t>
            </a:r>
          </a:p>
          <a:p>
            <a:r>
              <a:t>Notice the separation of concern: Identity, Core Messaging, and Consumption/Ops.</a:t>
            </a:r>
          </a:p>
          <a:p>
            <a:r>
              <a:t>Important detail: PRODUCER_SEQUENCE is separated from MESSAGE because in PostgreSQL, unique constraints on a partitioned table must include the partition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critical evaluation criteria is constraints and validation. Conduit enforces 157 constraints directly in PostgreSQL.</a:t>
            </a:r>
          </a:p>
          <a:p>
            <a:r>
              <a:t>This includes composite primary keys, intentional foreign key cascading, and domain check constraints.</a:t>
            </a:r>
          </a:p>
          <a:p>
            <a:r>
              <a:t>Furthermore, we implement schema validation directly in SQL functions so messages violate topic contracts get rejected at the database 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is our physical partitioning design. The MESSAGE table is partitioned by range on created_at.</a:t>
            </a:r>
          </a:p>
          <a:p>
            <a:r>
              <a:t>This allows partition pruning during queries and instant truncation of old months without table-level vacuums.</a:t>
            </a:r>
          </a:p>
          <a:p>
            <a:r>
              <a:t>We also highlight a key PG16 finding: foreign keys from partitioned tables work natively, providing true referential integrity.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Criterion 2 covers data insertion and management. In Conduit, data insertion is not a blind INSERT.</a:t>
            </a:r>
          </a:p>
          <a:p>
            <a:r>
              <a:t>The produce() procedure executes a 5-step atomic pipeline:</a:t>
            </a:r>
          </a:p>
          <a:p>
            <a:r>
              <a:t>Advisory lock -&gt; Idempotency check -&gt; Hash routing -&gt; Monotonic row-locked offset assignment -&gt; Insert &amp; Notify.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For testing and demonstration, we created a 2,000-message production dataset exhibiting all realistic states.</a:t>
            </a:r>
          </a:p>
          <a:p>
            <a:r>
              <a:t>We also manage the full lifecycle: poison messages that fail 3 times are captured in the Dead Letter Queue, and our reaper procedure automatically reclaims messages from crashed consumers.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Criterion 3 covers operational queries. The heart of Conduit is our non-blocking consume query.</a:t>
            </a:r>
          </a:p>
          <a:p>
            <a:r>
              <a:t>Traditional database queues suffer from lock waits. By utilizing SELECT ... FOR UPDATE SKIP LOCKED, multiple workers can pull batches concurrently without waiting on each other.</a:t>
            </a:r>
          </a:p>
          <a:p>
            <a:r>
              <a:t>In our concurrency race benchmark, 5 workers drained 5,000 messages with exactly zero duplicate deliveries.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 Criterion 3, we demonstrate advanced joins and aggregations.</a:t>
            </a:r>
          </a:p>
          <a:p>
            <a:r>
              <a:t>Our consumer lag view joins 4 relational entities to compute lag on the fly.</a:t>
            </a:r>
          </a:p>
          <a:p>
            <a:r>
              <a:t>Our topic stats view uses single-pass FILTER aggregations, and throughput metrics leverage SQL window functions for running totals.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Criterion 4 is our strongest area: Advanced Database Features.</a:t>
            </a:r>
          </a:p>
          <a:p>
            <a:r>
              <a:t>We have implemented the complete broker business logic in stored procedures in 10_functions.sql.</a:t>
            </a:r>
          </a:p>
          <a:p>
            <a:r>
              <a:t>Notice the ack() procedure: it updates message status and commits the group offset in a single ACID transaction.</a:t>
            </a:r>
          </a:p>
          <a:p>
            <a:r>
              <a:t>We also defined a complete custom SQLSTATE hierarchy from CDT01 to CDT21.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have 15 triggers actively operating across the database.</a:t>
            </a:r>
          </a:p>
          <a:p>
            <a:r>
              <a:t>They enforce invariants that application software cannot bypass: ACL checks, account suspension checks, monotonic offset regression guards, immutable audit logs, and real-time NOTIFY signaling.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Another advanced feature is native Row-Level Security (RLS).</a:t>
            </a:r>
          </a:p>
          <a:p>
            <a:r>
              <a:t>We created a dedicated conduit_app role and set session variables per connection.</a:t>
            </a:r>
          </a:p>
          <a:p>
            <a:r>
              <a:t>If Bob has access to Topic A but not Topic B, even if he executes 'SELECT * FROM message', PostgreSQL physically hides Topic B rows from his result set at the storage engine 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also excelled in indexing strategies.</a:t>
            </a:r>
          </a:p>
          <a:p>
            <a:r>
              <a:t>We use partial indexes for the pending queue, BRIN indexes for append-only logs, and composite B-Trees for offsets.</a:t>
            </a:r>
          </a:p>
          <a:p>
            <a:r>
              <a:t>In our Milestone 8 benchmarks, we ran EXPLAIN ANALYZE on 30,000 rows, proving that PostgreSQL uses our partial index and finishes in 1.9 ms without scanning delivered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 support dashboard reads without locking operational tables, we deployed a materialized view refreshed concurrently.</a:t>
            </a:r>
          </a:p>
          <a:p>
            <a:r>
              <a:t>For durability, we ran a destructive recovery test: we killed PostgreSQL with SIGKILL (kill -9) during active operations.</a:t>
            </a:r>
          </a:p>
          <a:p>
            <a:r>
              <a:t>Upon reboot, PostgreSQL replayed its Write-Ahead Log, successfully recovering every committed message with zero data loss.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are our empirical defense numbers.</a:t>
            </a:r>
          </a:p>
          <a:p>
            <a:r>
              <a:t>We can achieve over 2,500 produces/sec and over 3,300 consumes/sec.</a:t>
            </a:r>
          </a:p>
          <a:p>
            <a:r>
              <a:t>We also provide an honest evaluation of the 'price of guarantees': transactional idempotency, audit triggers, and RLS cost 32x compared to a bare raw insert, but provide complete enterprise correctness.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 have built complete verification tools for this review.</a:t>
            </a:r>
          </a:p>
          <a:p>
            <a:r>
              <a:t>First, our offline-capable web dashboard on localhost:8000 provides full visual inspection.</a:t>
            </a:r>
          </a:p>
          <a:p>
            <a:r>
              <a:t>Second, we have 8 self-asserting Python demo scripts in demos/ that prove concurrency, idempotency, DLQ, and crash recovery with zero manual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 conclusion, Conduit completely saturates every single line of the Review 2 rubric.</a:t>
            </a:r>
          </a:p>
          <a:p>
            <a:r>
              <a:t>We have demonstrated robust schema design, 157 constraints, transactional data ingestion, complex relational joins and window aggregations, and advanced DBMS features including stored procedures, 15 triggers, RLS, partial/BRIN indexing, and WAL recovery.</a:t>
            </a:r>
          </a:p>
          <a:p>
            <a:r>
              <a:t>Thank you, and we are now ready to demonstrate the live system and answer your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22860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865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4800" b="1">
                <a:solidFill>
                  <a:srgbClr val="F8FAFC"/>
                </a:solidFill>
                <a:latin typeface="Arial"/>
              </a:defRPr>
            </a:pPr>
            <a:r>
              <a:t>CONDUIT</a:t>
            </a:r>
          </a:p>
          <a:p>
            <a:pPr>
              <a:spcAft>
                <a:spcPts val="1200"/>
              </a:spcAft>
              <a:defRPr sz="2000" b="1">
                <a:solidFill>
                  <a:srgbClr val="38BDF8"/>
                </a:solidFill>
                <a:latin typeface="Arial"/>
              </a:defRPr>
            </a:pPr>
            <a:r>
              <a:t>A High-Throughput Message Broker Built on PostgreSQL Engine Primitives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DBMS Project Review 2: Database Implementation, Operations &amp; Advanced Features (10 Marks)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389120"/>
            <a:ext cx="10728655" cy="16459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4526280"/>
            <a:ext cx="10362895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Arial"/>
              </a:defRPr>
            </a:pPr>
            <a:r>
              <a:t>PROJECT DETAILS &amp; TEAM 17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38BDF8"/>
                </a:solidFill>
                <a:latin typeface="Arial"/>
              </a:rPr>
              <a:t>Team Members: </a:t>
            </a:r>
            <a:r>
              <a:rPr sz="1100">
                <a:solidFill>
                  <a:srgbClr val="F8FAFC"/>
                </a:solidFill>
                <a:latin typeface="Arial"/>
              </a:rPr>
              <a:t>G Anirudh (24BDS0335)  ·  Tanay Mohta (24BDS0294)  ·  Dhyey Dhumasia (24BCE0529)</a:t>
            </a:r>
          </a:p>
          <a:p>
            <a:pPr>
              <a:spcAft>
                <a:spcPts val="600"/>
              </a:spcAft>
            </a:pPr>
            <a:r>
              <a:rPr sz="1100" b="1">
                <a:solidFill>
                  <a:srgbClr val="38BDF8"/>
                </a:solidFill>
                <a:latin typeface="Arial"/>
              </a:rPr>
              <a:t>Architecture Thesis: </a:t>
            </a:r>
            <a:r>
              <a:rPr sz="1100">
                <a:solidFill>
                  <a:srgbClr val="F8FAFC"/>
                </a:solidFill>
                <a:latin typeface="Arial"/>
              </a:rPr>
              <a:t>The DBMS is not an accessory to the broker — the DBMS IS the broker. Messages are rows, producing is a transaction, consuming is SKIP LOCKED, and durability is PostgreSQL's WAL.</a:t>
            </a:r>
          </a:p>
          <a:p>
            <a:pPr>
              <a:spcAft>
                <a:spcPts val="0"/>
              </a:spcAft>
            </a:pPr>
            <a:r>
              <a:rPr sz="1100" b="1">
                <a:solidFill>
                  <a:srgbClr val="38BDF8"/>
                </a:solidFill>
                <a:latin typeface="Arial"/>
              </a:rPr>
              <a:t>Technology Stack: </a:t>
            </a:r>
            <a:r>
              <a:rPr sz="1100">
                <a:solidFill>
                  <a:srgbClr val="F8FAFC"/>
                </a:solidFill>
                <a:latin typeface="Arial"/>
              </a:rPr>
              <a:t>PostgreSQL 16 · Procedural PL/pgSQL · Row-Level Security · FastAPI REST/SSE · Pure-Python Conduit SDK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Arial"/>
              </a:defRPr>
            </a:pPr>
            <a:r>
              <a:t>CONTEXT &amp; ARCHITECTURAL EVOLUTION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The Review 1 Pivot: Transition to Full RDBMS-Core Architecture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Shifting message storage and concurrency entirely inside PostgreSQL 16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BBF24"/>
                </a:solidFill>
                <a:latin typeface="Arial"/>
              </a:defRPr>
            </a:pPr>
            <a:r>
              <a:t>Review 1 (Initial Submission)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38BDF8"/>
                </a:solidFill>
                <a:latin typeface="Arial"/>
              </a:rPr>
              <a:t>Architecture: </a:t>
            </a:r>
            <a:r>
              <a:rPr sz="1050">
                <a:solidFill>
                  <a:srgbClr val="F8FAFC"/>
                </a:solidFill>
                <a:latin typeface="Arial"/>
              </a:rPr>
              <a:t>Hybrid custom data-plane + RDBMS metadata control plane.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38BDF8"/>
                </a:solidFill>
                <a:latin typeface="Arial"/>
              </a:rPr>
              <a:t>Flaw Identified: </a:t>
            </a:r>
            <a:r>
              <a:rPr sz="1050">
                <a:solidFill>
                  <a:srgbClr val="F8FAFC"/>
                </a:solidFill>
                <a:latin typeface="Arial"/>
              </a:rPr>
              <a:t>PostgreSQL only held administrative metadata (6 tables: USER, TOPIC, etc.). Messages never touched the relational schema.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38BDF8"/>
                </a:solidFill>
                <a:latin typeface="Arial"/>
              </a:rPr>
              <a:t>Perception: </a:t>
            </a:r>
            <a:r>
              <a:rPr sz="1050">
                <a:solidFill>
                  <a:srgbClr val="F8FAFC"/>
                </a:solidFill>
                <a:latin typeface="Arial"/>
              </a:rPr>
              <a:t>'A distributed systems project with a DBMS panel bolted on.' Core course concepts (transactions, locks, joins) were missing from the hot path.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38BDF8"/>
                </a:solidFill>
                <a:latin typeface="Arial"/>
              </a:rPr>
              <a:t>Recovery: </a:t>
            </a:r>
            <a:r>
              <a:rPr sz="1050">
                <a:solidFill>
                  <a:srgbClr val="F8FAFC"/>
                </a:solidFill>
                <a:latin typeface="Arial"/>
              </a:rPr>
              <a:t>Hand-rolled file-based WAL and custom in-memory offset indexes.</a:t>
            </a:r>
          </a:p>
          <a:p>
            <a:pPr>
              <a:spcAft>
                <a:spcPts val="0"/>
              </a:spcAft>
            </a:pPr>
            <a:r>
              <a:rPr sz="1050" b="1">
                <a:solidFill>
                  <a:srgbClr val="38BDF8"/>
                </a:solidFill>
                <a:latin typeface="Arial"/>
              </a:rPr>
              <a:t>Verdict: </a:t>
            </a:r>
            <a:r>
              <a:rPr sz="1050">
                <a:solidFill>
                  <a:srgbClr val="F8FAFC"/>
                </a:solidFill>
                <a:latin typeface="Arial"/>
              </a:rPr>
              <a:t>Failed to showcase the full power of advanced database mechanisms.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876495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Arial"/>
              </a:defRPr>
            </a:pPr>
            <a:r>
              <a:t>Review 2 (Current Implementation)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38BDF8"/>
                </a:solidFill>
                <a:latin typeface="Arial"/>
              </a:rPr>
              <a:t>Full RDBMS Core: </a:t>
            </a:r>
            <a:r>
              <a:rPr sz="1050">
                <a:solidFill>
                  <a:srgbClr val="F8FAFC"/>
                </a:solidFill>
                <a:latin typeface="Arial"/>
              </a:rPr>
              <a:t>PostgreSQL 16 serves and stores messages directly as partitioned relational rows.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38BDF8"/>
                </a:solidFill>
                <a:latin typeface="Arial"/>
              </a:rPr>
              <a:t>Rubric Saturation: </a:t>
            </a:r>
            <a:r>
              <a:rPr sz="1050">
                <a:solidFill>
                  <a:srgbClr val="F8FAFC"/>
                </a:solidFill>
                <a:latin typeface="Arial"/>
              </a:rPr>
              <a:t>Every course concept is on the hot path: Transactions, Procedural PL/pgSQL, Triggers, RLS, Partitioning, and BRIN Indexing.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38BDF8"/>
                </a:solidFill>
                <a:latin typeface="Arial"/>
              </a:rPr>
              <a:t>Prior Art Justification: </a:t>
            </a:r>
            <a:r>
              <a:rPr sz="1050">
                <a:solidFill>
                  <a:srgbClr val="F8FAFC"/>
                </a:solidFill>
                <a:latin typeface="Arial"/>
              </a:rPr>
              <a:t>Builds upon proven industrial architectures: pgmq, Message DB, Graphile-Worker, and Quartz JDBC store.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38BDF8"/>
                </a:solidFill>
                <a:latin typeface="Arial"/>
              </a:rPr>
              <a:t>ACID Durability: </a:t>
            </a:r>
            <a:r>
              <a:rPr sz="1050">
                <a:solidFill>
                  <a:srgbClr val="F8FAFC"/>
                </a:solidFill>
                <a:latin typeface="Arial"/>
              </a:rPr>
              <a:t>PostgreSQL's Write-Ahead Log (WAL) completely replaces hand-rolled logging with proven crash durability.</a:t>
            </a:r>
          </a:p>
          <a:p>
            <a:pPr>
              <a:spcAft>
                <a:spcPts val="0"/>
              </a:spcAft>
            </a:pPr>
            <a:r>
              <a:rPr sz="1050" b="1">
                <a:solidFill>
                  <a:srgbClr val="38BDF8"/>
                </a:solidFill>
                <a:latin typeface="Arial"/>
              </a:rPr>
              <a:t>Concurrency Control: </a:t>
            </a:r>
            <a:r>
              <a:rPr sz="1050">
                <a:solidFill>
                  <a:srgbClr val="F8FAFC"/>
                </a:solidFill>
                <a:latin typeface="Arial"/>
              </a:rPr>
              <a:t>Engine-level SELECT ... FOR UPDATE SKIP LOCKED provides lock-free queue draining without duplicates.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Arial"/>
              </a:defRPr>
            </a:pPr>
            <a:r>
              <a:t>CRITERION 1: DATABASE IMPLEMENTATION (10 MARKS)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Relational Schema Architecture: 15 Tables in 3NF / BCNF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Fully normalized schema categorised into three cohesive functional tiers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8328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301752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  <a:latin typeface="Arial"/>
              </a:defRPr>
            </a:pPr>
            <a:r>
              <a:t>1. Identity &amp; Security (4 Tables)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38BDF8"/>
                </a:solidFill>
                <a:latin typeface="Arial"/>
              </a:rPr>
              <a:t>ROLE: </a:t>
            </a:r>
            <a:r>
              <a:rPr sz="950">
                <a:solidFill>
                  <a:srgbClr val="F8FAFC"/>
                </a:solidFill>
                <a:latin typeface="Arial"/>
              </a:rPr>
              <a:t>role_id (PK), role_name (admin, operator, producer, consumer, viewer). Normalized out of user.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38BDF8"/>
                </a:solidFill>
                <a:latin typeface="Arial"/>
              </a:rPr>
              <a:t>APP_USER: </a:t>
            </a:r>
            <a:r>
              <a:rPr sz="950">
                <a:solidFill>
                  <a:srgbClr val="F8FAFC"/>
                </a:solidFill>
                <a:latin typeface="Arial"/>
              </a:rPr>
              <a:t>user_id (BIGSERIAL PK), username, email, role_id (FK), status (active, suspended).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38BDF8"/>
                </a:solidFill>
                <a:latin typeface="Arial"/>
              </a:rPr>
              <a:t>APPLICATION: </a:t>
            </a:r>
            <a:r>
              <a:rPr sz="950">
                <a:solidFill>
                  <a:srgbClr val="F8FAFC"/>
                </a:solidFill>
                <a:latin typeface="Arial"/>
              </a:rPr>
              <a:t>app_id (PK), app_name, api_key (UUID), owner_user_id (FK), app_type (producer, consumer, both), status.</a:t>
            </a:r>
          </a:p>
          <a:p>
            <a:pPr>
              <a:spcAft>
                <a:spcPts val="0"/>
              </a:spcAft>
            </a:pPr>
            <a:r>
              <a:rPr sz="950" b="1">
                <a:solidFill>
                  <a:srgbClr val="38BDF8"/>
                </a:solidFill>
                <a:latin typeface="Arial"/>
              </a:rPr>
              <a:t>ACCESS: </a:t>
            </a:r>
            <a:r>
              <a:rPr sz="950">
                <a:solidFill>
                  <a:srgbClr val="F8FAFC"/>
                </a:solidFill>
                <a:latin typeface="Arial"/>
              </a:rPr>
              <a:t>access_id (PK), user_id (FK), topic_id (FK), access_type (produce, consume, admin). Unique ACL triple.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463040"/>
            <a:ext cx="356616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480560" y="1600200"/>
            <a:ext cx="32004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6366F1"/>
                </a:solidFill>
                <a:latin typeface="Arial"/>
              </a:defRPr>
            </a:pPr>
            <a:r>
              <a:t>2. Messaging Domain (5 Tables)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38BDF8"/>
                </a:solidFill>
                <a:latin typeface="Arial"/>
              </a:rPr>
              <a:t>TOPIC: </a:t>
            </a:r>
            <a:r>
              <a:rPr sz="950">
                <a:solidFill>
                  <a:srgbClr val="F8FAFC"/>
                </a:solidFill>
                <a:latin typeface="Arial"/>
              </a:rPr>
              <a:t>topic_id (PK), topic_name, retention_days, max_message_bytes, status, created_by (FK).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38BDF8"/>
                </a:solidFill>
                <a:latin typeface="Arial"/>
              </a:rPr>
              <a:t>PARTITION: </a:t>
            </a:r>
            <a:r>
              <a:rPr sz="950">
                <a:solidFill>
                  <a:srgbClr val="F8FAFC"/>
                </a:solidFill>
                <a:latin typeface="Arial"/>
              </a:rPr>
              <a:t>partition_id (PK), topic_id (FK), partition_number, next_offset (monotonic counter under row lock).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38BDF8"/>
                </a:solidFill>
                <a:latin typeface="Arial"/>
              </a:rPr>
              <a:t>SCHEMA_VERSION: </a:t>
            </a:r>
            <a:r>
              <a:rPr sz="950">
                <a:solidFill>
                  <a:srgbClr val="F8FAFC"/>
                </a:solidFill>
                <a:latin typeface="Arial"/>
              </a:rPr>
              <a:t>schema_id (PK), topic_id (FK), version, format, definition (JSONB validation contract).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38BDF8"/>
                </a:solidFill>
                <a:latin typeface="Arial"/>
              </a:rPr>
              <a:t>MESSAGE: </a:t>
            </a:r>
            <a:r>
              <a:rPr sz="950">
                <a:solidFill>
                  <a:srgbClr val="F8FAFC"/>
                </a:solidFill>
                <a:latin typeface="Arial"/>
              </a:rPr>
              <a:t>The core: created_at, topic_id, partition_id, msg_offset, payload (JSONB), status, attempts. Monthly partitioned.</a:t>
            </a:r>
          </a:p>
          <a:p>
            <a:pPr>
              <a:spcAft>
                <a:spcPts val="0"/>
              </a:spcAft>
            </a:pPr>
            <a:r>
              <a:rPr sz="950" b="1">
                <a:solidFill>
                  <a:srgbClr val="38BDF8"/>
                </a:solidFill>
                <a:latin typeface="Arial"/>
              </a:rPr>
              <a:t>PRODUCER_SEQUENCE: </a:t>
            </a:r>
            <a:r>
              <a:rPr sz="950">
                <a:solidFill>
                  <a:srgbClr val="F8FAFC"/>
                </a:solidFill>
                <a:latin typeface="Arial"/>
              </a:rPr>
              <a:t>Composite PK (producer_app_id, producer_seq). Dedicated outbox ledger for exact deduplication.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463040"/>
            <a:ext cx="3413455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0" y="1600200"/>
            <a:ext cx="3047695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Arial"/>
              </a:defRPr>
            </a:pPr>
            <a:r>
              <a:t>3. Consumption &amp; Ops (6 Tables)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38BDF8"/>
                </a:solidFill>
                <a:latin typeface="Arial"/>
              </a:rPr>
              <a:t>CONSUMER_GROUP: </a:t>
            </a:r>
            <a:r>
              <a:rPr sz="950">
                <a:solidFill>
                  <a:srgbClr val="F8FAFC"/>
                </a:solidFill>
                <a:latin typeface="Arial"/>
              </a:rPr>
              <a:t>group_id (PK), group_name, max_delivery_attempts (1..10), status (active, paused).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38BDF8"/>
                </a:solidFill>
                <a:latin typeface="Arial"/>
              </a:rPr>
              <a:t>GROUP_SUBSCRIPTION: </a:t>
            </a:r>
            <a:r>
              <a:rPr sz="950">
                <a:solidFill>
                  <a:srgbClr val="F8FAFC"/>
                </a:solidFill>
                <a:latin typeface="Arial"/>
              </a:rPr>
              <a:t>Composite PK (group_id, topic_id). Resolves M:N group-to-topic mapping cleanly.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38BDF8"/>
                </a:solidFill>
                <a:latin typeface="Arial"/>
              </a:rPr>
              <a:t>GROUP_OFFSET: </a:t>
            </a:r>
            <a:r>
              <a:rPr sz="950">
                <a:solidFill>
                  <a:srgbClr val="F8FAFC"/>
                </a:solidFill>
                <a:latin typeface="Arial"/>
              </a:rPr>
              <a:t>Composite PK (group_id, partition_id), committed_offset. Protected by monotonic trigger.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38BDF8"/>
                </a:solidFill>
                <a:latin typeface="Arial"/>
              </a:rPr>
              <a:t>DEAD_LETTER_MESSAGE: </a:t>
            </a:r>
            <a:r>
              <a:rPr sz="950">
                <a:solidFill>
                  <a:srgbClr val="F8FAFC"/>
                </a:solidFill>
                <a:latin typeface="Arial"/>
              </a:rPr>
              <a:t>dlq_id (PK), original_topic_id, msg_key, payload, failure_reason, attempts, status.</a:t>
            </a:r>
          </a:p>
          <a:p>
            <a:pPr>
              <a:spcAft>
                <a:spcPts val="600"/>
              </a:spcAft>
            </a:pPr>
            <a:r>
              <a:rPr sz="950" b="1">
                <a:solidFill>
                  <a:srgbClr val="38BDF8"/>
                </a:solidFill>
                <a:latin typeface="Arial"/>
              </a:rPr>
              <a:t>AUDIT_LOG: </a:t>
            </a:r>
            <a:r>
              <a:rPr sz="950">
                <a:solidFill>
                  <a:srgbClr val="F8FAFC"/>
                </a:solidFill>
                <a:latin typeface="Arial"/>
              </a:rPr>
              <a:t>log_id (PK), user_id, app_id, topic_id, event_type, status, details (JSONB). BRIN-indexed.</a:t>
            </a:r>
          </a:p>
          <a:p>
            <a:pPr>
              <a:spcAft>
                <a:spcPts val="0"/>
              </a:spcAft>
            </a:pPr>
            <a:r>
              <a:rPr sz="950" b="1">
                <a:solidFill>
                  <a:srgbClr val="38BDF8"/>
                </a:solidFill>
                <a:latin typeface="Arial"/>
              </a:rPr>
              <a:t>BROKER_CONFIG: </a:t>
            </a:r>
            <a:r>
              <a:rPr sz="950">
                <a:solidFill>
                  <a:srgbClr val="F8FAFC"/>
                </a:solidFill>
                <a:latin typeface="Arial"/>
              </a:rPr>
              <a:t>config_id (PK), config_key, config_value, updated_at.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Arial"/>
              </a:defRPr>
            </a:pPr>
            <a:r>
              <a:t>CRITERION 1: DATABASE IMPLEMENTATION (10 MARKS)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Data Integrity: 157 Engine-Level Constraints &amp; JSON Validation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Guaranteed correctness at the storage layer without relying on external application 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2555" y="1826342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  <a:latin typeface="Arial"/>
              </a:defRPr>
            </a:pPr>
            <a:r>
              <a:rPr dirty="0"/>
              <a:t>Integrity Constraints Enforced</a:t>
            </a:r>
          </a:p>
          <a:p>
            <a:pPr>
              <a:spcAft>
                <a:spcPts val="700"/>
              </a:spcAft>
            </a:pPr>
            <a:r>
              <a:rPr sz="1000" b="1" dirty="0">
                <a:solidFill>
                  <a:srgbClr val="38BDF8"/>
                </a:solidFill>
                <a:latin typeface="Arial"/>
              </a:rPr>
              <a:t>157 Total Constraints: </a:t>
            </a:r>
            <a:r>
              <a:rPr sz="1000" dirty="0">
                <a:solidFill>
                  <a:srgbClr val="F8FAFC"/>
                </a:solidFill>
                <a:latin typeface="Arial"/>
              </a:rPr>
              <a:t>Verified via PostgreSQL's </a:t>
            </a:r>
            <a:r>
              <a:rPr sz="1000" dirty="0" err="1">
                <a:solidFill>
                  <a:srgbClr val="F8FAFC"/>
                </a:solidFill>
                <a:latin typeface="Arial"/>
              </a:rPr>
              <a:t>information_schema.table_constraints</a:t>
            </a:r>
            <a:r>
              <a:rPr sz="1000" dirty="0">
                <a:solidFill>
                  <a:srgbClr val="F8FAFC"/>
                </a:solidFill>
                <a:latin typeface="Arial"/>
              </a:rPr>
              <a:t> catalog.</a:t>
            </a:r>
          </a:p>
          <a:p>
            <a:pPr>
              <a:spcAft>
                <a:spcPts val="700"/>
              </a:spcAft>
            </a:pPr>
            <a:r>
              <a:rPr sz="1000" b="1" dirty="0">
                <a:solidFill>
                  <a:srgbClr val="38BDF8"/>
                </a:solidFill>
                <a:latin typeface="Arial"/>
              </a:rPr>
              <a:t>Composite Primary Keys: </a:t>
            </a:r>
            <a:r>
              <a:rPr sz="1000" dirty="0">
                <a:solidFill>
                  <a:srgbClr val="F8FAFC"/>
                </a:solidFill>
                <a:latin typeface="Arial"/>
              </a:rPr>
              <a:t>Enforced across junction and ledger tables: (</a:t>
            </a:r>
            <a:r>
              <a:rPr sz="1000" dirty="0" err="1">
                <a:solidFill>
                  <a:srgbClr val="F8FAFC"/>
                </a:solidFill>
                <a:latin typeface="Arial"/>
              </a:rPr>
              <a:t>group_id</a:t>
            </a:r>
            <a:r>
              <a:rPr sz="1000" dirty="0">
                <a:solidFill>
                  <a:srgbClr val="F8FAFC"/>
                </a:solidFill>
                <a:latin typeface="Arial"/>
              </a:rPr>
              <a:t>, </a:t>
            </a:r>
            <a:r>
              <a:rPr sz="1000" dirty="0" err="1">
                <a:solidFill>
                  <a:srgbClr val="F8FAFC"/>
                </a:solidFill>
                <a:latin typeface="Arial"/>
              </a:rPr>
              <a:t>topic_id</a:t>
            </a:r>
            <a:r>
              <a:rPr sz="1000" dirty="0">
                <a:solidFill>
                  <a:srgbClr val="F8FAFC"/>
                </a:solidFill>
                <a:latin typeface="Arial"/>
              </a:rPr>
              <a:t>), (</a:t>
            </a:r>
            <a:r>
              <a:rPr sz="1000" dirty="0" err="1">
                <a:solidFill>
                  <a:srgbClr val="F8FAFC"/>
                </a:solidFill>
                <a:latin typeface="Arial"/>
              </a:rPr>
              <a:t>group_id</a:t>
            </a:r>
            <a:r>
              <a:rPr sz="1000" dirty="0">
                <a:solidFill>
                  <a:srgbClr val="F8FAFC"/>
                </a:solidFill>
                <a:latin typeface="Arial"/>
              </a:rPr>
              <a:t>, </a:t>
            </a:r>
            <a:r>
              <a:rPr sz="1000" dirty="0" err="1">
                <a:solidFill>
                  <a:srgbClr val="F8FAFC"/>
                </a:solidFill>
                <a:latin typeface="Arial"/>
              </a:rPr>
              <a:t>partition_id</a:t>
            </a:r>
            <a:r>
              <a:rPr sz="1000" dirty="0">
                <a:solidFill>
                  <a:srgbClr val="F8FAFC"/>
                </a:solidFill>
                <a:latin typeface="Arial"/>
              </a:rPr>
              <a:t>), (</a:t>
            </a:r>
            <a:r>
              <a:rPr sz="1000" dirty="0" err="1">
                <a:solidFill>
                  <a:srgbClr val="F8FAFC"/>
                </a:solidFill>
                <a:latin typeface="Arial"/>
              </a:rPr>
              <a:t>producer_app_id</a:t>
            </a:r>
            <a:r>
              <a:rPr sz="1000" dirty="0">
                <a:solidFill>
                  <a:srgbClr val="F8FAFC"/>
                </a:solidFill>
                <a:latin typeface="Arial"/>
              </a:rPr>
              <a:t>, </a:t>
            </a:r>
            <a:r>
              <a:rPr sz="1000" dirty="0" err="1">
                <a:solidFill>
                  <a:srgbClr val="F8FAFC"/>
                </a:solidFill>
                <a:latin typeface="Arial"/>
              </a:rPr>
              <a:t>producer_seq</a:t>
            </a:r>
            <a:r>
              <a:rPr sz="1000" dirty="0">
                <a:solidFill>
                  <a:srgbClr val="F8FAFC"/>
                </a:solidFill>
                <a:latin typeface="Arial"/>
              </a:rPr>
              <a:t>).</a:t>
            </a:r>
          </a:p>
          <a:p>
            <a:pPr>
              <a:spcAft>
                <a:spcPts val="700"/>
              </a:spcAft>
            </a:pPr>
            <a:r>
              <a:rPr sz="1000" b="1" dirty="0">
                <a:solidFill>
                  <a:srgbClr val="38BDF8"/>
                </a:solidFill>
                <a:latin typeface="Arial"/>
              </a:rPr>
              <a:t>Foreign Key Cascades &amp; Restricts: </a:t>
            </a:r>
            <a:r>
              <a:rPr sz="1000" dirty="0">
                <a:solidFill>
                  <a:srgbClr val="F8FAFC"/>
                </a:solidFill>
                <a:latin typeface="Arial"/>
              </a:rPr>
              <a:t>Deliberate ON DELETE policies: CASCADE on memberships; RESTRICT on topics/apps to prevent orphaned message data; SET NULL on audit actors.</a:t>
            </a:r>
          </a:p>
          <a:p>
            <a:pPr>
              <a:spcAft>
                <a:spcPts val="700"/>
              </a:spcAft>
            </a:pPr>
            <a:r>
              <a:rPr sz="1000" b="1" dirty="0">
                <a:solidFill>
                  <a:srgbClr val="38BDF8"/>
                </a:solidFill>
                <a:latin typeface="Arial"/>
              </a:rPr>
              <a:t>Domain CHECK Constraints: </a:t>
            </a:r>
            <a:r>
              <a:rPr sz="1000" dirty="0">
                <a:solidFill>
                  <a:srgbClr val="F8FAFC"/>
                </a:solidFill>
                <a:latin typeface="Arial"/>
              </a:rPr>
              <a:t>Enforces valid states: status IN ('pending', 'claimed', 'delivered', 'dead'); attempts BETWEEN 1 AND 10; </a:t>
            </a:r>
            <a:r>
              <a:rPr sz="1000" dirty="0" err="1">
                <a:solidFill>
                  <a:srgbClr val="F8FAFC"/>
                </a:solidFill>
                <a:latin typeface="Arial"/>
              </a:rPr>
              <a:t>retention_days</a:t>
            </a:r>
            <a:r>
              <a:rPr sz="1000" dirty="0">
                <a:solidFill>
                  <a:srgbClr val="F8FAFC"/>
                </a:solidFill>
                <a:latin typeface="Arial"/>
              </a:rPr>
              <a:t> BETWEEN 1 AND 3650.</a:t>
            </a:r>
          </a:p>
          <a:p>
            <a:pPr>
              <a:spcAft>
                <a:spcPts val="0"/>
              </a:spcAft>
            </a:pPr>
            <a:r>
              <a:rPr sz="1000" b="1" dirty="0">
                <a:solidFill>
                  <a:srgbClr val="38BDF8"/>
                </a:solidFill>
                <a:latin typeface="Arial"/>
              </a:rPr>
              <a:t>Strict UNIQUE Constraints: </a:t>
            </a:r>
            <a:r>
              <a:rPr sz="1000" dirty="0">
                <a:solidFill>
                  <a:srgbClr val="F8FAFC"/>
                </a:solidFill>
                <a:latin typeface="Arial"/>
              </a:rPr>
              <a:t>Protects natural keys: </a:t>
            </a:r>
            <a:r>
              <a:rPr sz="1000" dirty="0" err="1">
                <a:solidFill>
                  <a:srgbClr val="F8FAFC"/>
                </a:solidFill>
                <a:latin typeface="Arial"/>
              </a:rPr>
              <a:t>app_name</a:t>
            </a:r>
            <a:r>
              <a:rPr sz="1000" dirty="0">
                <a:solidFill>
                  <a:srgbClr val="F8FAFC"/>
                </a:solidFill>
                <a:latin typeface="Arial"/>
              </a:rPr>
              <a:t>, </a:t>
            </a:r>
            <a:r>
              <a:rPr sz="1000" dirty="0" err="1">
                <a:solidFill>
                  <a:srgbClr val="F8FAFC"/>
                </a:solidFill>
                <a:latin typeface="Arial"/>
              </a:rPr>
              <a:t>topic_name</a:t>
            </a:r>
            <a:r>
              <a:rPr sz="1000" dirty="0">
                <a:solidFill>
                  <a:srgbClr val="F8FAFC"/>
                </a:solidFill>
                <a:latin typeface="Arial"/>
              </a:rPr>
              <a:t>, username, email, API key UUIDs, and ACL triples (</a:t>
            </a:r>
            <a:r>
              <a:rPr sz="1000" dirty="0" err="1">
                <a:solidFill>
                  <a:srgbClr val="F8FAFC"/>
                </a:solidFill>
                <a:latin typeface="Arial"/>
              </a:rPr>
              <a:t>user_id</a:t>
            </a:r>
            <a:r>
              <a:rPr sz="1000" dirty="0">
                <a:solidFill>
                  <a:srgbClr val="F8FAFC"/>
                </a:solidFill>
                <a:latin typeface="Arial"/>
              </a:rPr>
              <a:t>, </a:t>
            </a:r>
            <a:r>
              <a:rPr sz="1000" dirty="0" err="1">
                <a:solidFill>
                  <a:srgbClr val="F8FAFC"/>
                </a:solidFill>
                <a:latin typeface="Arial"/>
              </a:rPr>
              <a:t>topic_id</a:t>
            </a:r>
            <a:r>
              <a:rPr sz="1000" dirty="0">
                <a:solidFill>
                  <a:srgbClr val="F8FAFC"/>
                </a:solidFill>
                <a:latin typeface="Arial"/>
              </a:rPr>
              <a:t>, </a:t>
            </a:r>
            <a:r>
              <a:rPr sz="1000" dirty="0" err="1">
                <a:solidFill>
                  <a:srgbClr val="F8FAFC"/>
                </a:solidFill>
                <a:latin typeface="Arial"/>
              </a:rPr>
              <a:t>access_type</a:t>
            </a:r>
            <a:r>
              <a:rPr sz="1000" dirty="0">
                <a:solidFill>
                  <a:srgbClr val="F8FAFC"/>
                </a:solidFill>
                <a:latin typeface="Arial"/>
              </a:rPr>
              <a:t>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46317" y="1874520"/>
            <a:ext cx="4876495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6366F1"/>
                </a:solidFill>
                <a:latin typeface="Arial"/>
              </a:defRPr>
            </a:pPr>
            <a:r>
              <a:rPr dirty="0"/>
              <a:t>Dynamic JSON Schema Validation</a:t>
            </a:r>
          </a:p>
          <a:p>
            <a:pPr>
              <a:spcAft>
                <a:spcPts val="700"/>
              </a:spcAft>
            </a:pPr>
            <a:r>
              <a:rPr sz="1000" b="1" dirty="0">
                <a:solidFill>
                  <a:srgbClr val="38BDF8"/>
                </a:solidFill>
                <a:latin typeface="Arial"/>
              </a:rPr>
              <a:t>JSONB Message Contracts: </a:t>
            </a:r>
            <a:r>
              <a:rPr sz="1000" dirty="0">
                <a:solidFill>
                  <a:srgbClr val="F8FAFC"/>
                </a:solidFill>
                <a:latin typeface="Arial"/>
              </a:rPr>
              <a:t>Topics can enforce optional JSON contracts stored in </a:t>
            </a:r>
            <a:r>
              <a:rPr sz="1000" dirty="0" err="1">
                <a:solidFill>
                  <a:srgbClr val="F8FAFC"/>
                </a:solidFill>
                <a:latin typeface="Arial"/>
              </a:rPr>
              <a:t>schema_version.definition</a:t>
            </a:r>
            <a:r>
              <a:rPr sz="1000" dirty="0">
                <a:solidFill>
                  <a:srgbClr val="F8FAFC"/>
                </a:solidFill>
                <a:latin typeface="Arial"/>
              </a:rPr>
              <a:t>.</a:t>
            </a:r>
          </a:p>
          <a:p>
            <a:pPr>
              <a:spcAft>
                <a:spcPts val="700"/>
              </a:spcAft>
            </a:pPr>
            <a:r>
              <a:rPr sz="1000" b="1" dirty="0">
                <a:solidFill>
                  <a:srgbClr val="38BDF8"/>
                </a:solidFill>
                <a:latin typeface="Arial"/>
              </a:rPr>
              <a:t>In-Database Validator Function: </a:t>
            </a:r>
            <a:r>
              <a:rPr sz="1000" dirty="0" err="1">
                <a:solidFill>
                  <a:srgbClr val="F8FAFC"/>
                </a:solidFill>
                <a:latin typeface="Arial"/>
              </a:rPr>
              <a:t>fn_validate_schema</a:t>
            </a:r>
            <a:r>
              <a:rPr sz="1000" dirty="0">
                <a:solidFill>
                  <a:srgbClr val="F8FAFC"/>
                </a:solidFill>
                <a:latin typeface="Arial"/>
              </a:rPr>
              <a:t>(payload JSONB, schema JSONB) executes inside PL/</a:t>
            </a:r>
            <a:r>
              <a:rPr sz="1000" dirty="0" err="1">
                <a:solidFill>
                  <a:srgbClr val="F8FAFC"/>
                </a:solidFill>
                <a:latin typeface="Arial"/>
              </a:rPr>
              <a:t>pgSQL</a:t>
            </a:r>
            <a:r>
              <a:rPr sz="1000" dirty="0">
                <a:solidFill>
                  <a:srgbClr val="F8FAFC"/>
                </a:solidFill>
                <a:latin typeface="Arial"/>
              </a:rPr>
              <a:t> on the produce hot path.</a:t>
            </a:r>
          </a:p>
          <a:p>
            <a:pPr>
              <a:spcAft>
                <a:spcPts val="700"/>
              </a:spcAft>
            </a:pPr>
            <a:r>
              <a:rPr sz="1000" b="1" dirty="0">
                <a:solidFill>
                  <a:srgbClr val="38BDF8"/>
                </a:solidFill>
                <a:latin typeface="Arial"/>
              </a:rPr>
              <a:t>Required Field Enforcement: </a:t>
            </a:r>
            <a:r>
              <a:rPr sz="1000" dirty="0">
                <a:solidFill>
                  <a:srgbClr val="F8FAFC"/>
                </a:solidFill>
                <a:latin typeface="Arial"/>
              </a:rPr>
              <a:t>Extracts schema['required'] using </a:t>
            </a:r>
            <a:r>
              <a:rPr sz="1000" dirty="0" err="1">
                <a:solidFill>
                  <a:srgbClr val="F8FAFC"/>
                </a:solidFill>
                <a:latin typeface="Arial"/>
              </a:rPr>
              <a:t>jsonb_array_elements_text</a:t>
            </a:r>
            <a:r>
              <a:rPr sz="1000" dirty="0">
                <a:solidFill>
                  <a:srgbClr val="F8FAFC"/>
                </a:solidFill>
                <a:latin typeface="Arial"/>
              </a:rPr>
              <a:t>() and verifies payload ? key.</a:t>
            </a:r>
          </a:p>
          <a:p>
            <a:pPr>
              <a:spcAft>
                <a:spcPts val="700"/>
              </a:spcAft>
            </a:pPr>
            <a:r>
              <a:rPr sz="1000" b="1" dirty="0">
                <a:solidFill>
                  <a:srgbClr val="38BDF8"/>
                </a:solidFill>
                <a:latin typeface="Arial"/>
              </a:rPr>
              <a:t>Immediate Rejection: </a:t>
            </a:r>
            <a:r>
              <a:rPr sz="1000" dirty="0">
                <a:solidFill>
                  <a:srgbClr val="F8FAFC"/>
                </a:solidFill>
                <a:latin typeface="Arial"/>
              </a:rPr>
              <a:t>Invalid payloads raise custom exception CDT04 (Schema Validation Failed), rolling back the insert immediately.</a:t>
            </a:r>
          </a:p>
          <a:p>
            <a:pPr>
              <a:spcAft>
                <a:spcPts val="0"/>
              </a:spcAft>
            </a:pPr>
            <a:r>
              <a:rPr sz="1000" b="1" dirty="0">
                <a:solidFill>
                  <a:srgbClr val="38BDF8"/>
                </a:solidFill>
                <a:latin typeface="Arial"/>
              </a:rPr>
              <a:t>Zero Bad Data: </a:t>
            </a:r>
            <a:r>
              <a:rPr sz="1000" dirty="0">
                <a:solidFill>
                  <a:srgbClr val="F8FAFC"/>
                </a:solidFill>
                <a:latin typeface="Arial"/>
              </a:rPr>
              <a:t>Malicious or malformed payloads never pollute the storage layer.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Arial"/>
              </a:defRPr>
            </a:pPr>
            <a:r>
              <a:t>CRITERION 1: DATABASE IMPLEMENTATION (10 MARKS)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Physical Database Design: Monthly Range Partitioning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Partition pruning, storage lifecycle management, and PG16 partitioned FK integrity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BBF24"/>
                </a:solidFill>
                <a:latin typeface="Arial"/>
              </a:defRPr>
            </a:pPr>
            <a:r>
              <a:t>Partitioning Scheme (MESSAGE Table)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Partition by Range: </a:t>
            </a:r>
            <a:r>
              <a:rPr sz="1000">
                <a:solidFill>
                  <a:srgbClr val="F8FAFC"/>
                </a:solidFill>
                <a:latin typeface="Arial"/>
              </a:rPr>
              <a:t>PARTITION BY RANGE (created_at) splits message storage across monthly boundary tables.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Partition Relations: </a:t>
            </a:r>
            <a:r>
              <a:rPr sz="1000">
                <a:solidFill>
                  <a:srgbClr val="F8FAFC"/>
                </a:solidFill>
                <a:latin typeface="Arial"/>
              </a:rPr>
              <a:t>message_2026_09 through message_2027_03 + message_default catch-all partition.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Composite Partition PK: </a:t>
            </a:r>
            <a:r>
              <a:rPr sz="1000">
                <a:solidFill>
                  <a:srgbClr val="F8FAFC"/>
                </a:solidFill>
                <a:latin typeface="Arial"/>
              </a:rPr>
              <a:t>PRIMARY KEY (created_at, topic_id, partition_id, msg_offset) strictly satisfies PostgreSQL's partition key inclusion rule.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Automated Management: </a:t>
            </a:r>
            <a:r>
              <a:rPr sz="1000">
                <a:solidFill>
                  <a:srgbClr val="F8FAFC"/>
                </a:solidFill>
                <a:latin typeface="Arial"/>
              </a:rPr>
              <a:t>create_monthly_partition(target_date) dynamically attaches future partitions before boundary rollovers.</a:t>
            </a:r>
          </a:p>
          <a:p>
            <a:pPr>
              <a:spcAft>
                <a:spcPts val="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Partition Pruning: </a:t>
            </a:r>
            <a:r>
              <a:rPr sz="1000">
                <a:solidFill>
                  <a:srgbClr val="F8FAFC"/>
                </a:solidFill>
                <a:latin typeface="Arial"/>
              </a:rPr>
              <a:t>Queries filtering by time range prune unneeded physical tables, reading only active disk blocks.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876495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Arial"/>
              </a:defRPr>
            </a:pPr>
            <a:r>
              <a:t>PG16 Milestone &amp; Retention Drops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PostgreSQL 16 FK Milestone: </a:t>
            </a:r>
            <a:r>
              <a:rPr sz="1000">
                <a:solidFill>
                  <a:srgbClr val="F8FAFC"/>
                </a:solidFill>
                <a:latin typeface="Arial"/>
              </a:rPr>
              <a:t>Historically, foreign keys referencing partitioned tables were restricted. In PG16, Conduit successfully enforces 4 real foreign keys on MESSAGE directly.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Split Retention Architecture: </a:t>
            </a:r>
            <a:r>
              <a:rPr sz="1000">
                <a:solidFill>
                  <a:srgbClr val="F8FAFC"/>
                </a:solidFill>
                <a:latin typeface="Arial"/>
              </a:rPr>
              <a:t>A critical design defense: per-topic retention vs global physical partition drops.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Per-Topic Purge (DELETE): </a:t>
            </a:r>
            <a:r>
              <a:rPr sz="1000">
                <a:solidFill>
                  <a:srgbClr val="F8FAFC"/>
                </a:solidFill>
                <a:latin typeface="Arial"/>
              </a:rPr>
              <a:t>purge_retention(topic_id) deletes rows older than topic.retention_days without affecting other topics.</a:t>
            </a:r>
          </a:p>
          <a:p>
            <a:pPr>
              <a:spcAft>
                <a:spcPts val="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Global Drop Floor (DETACH): </a:t>
            </a:r>
            <a:r>
              <a:rPr sz="1000">
                <a:solidFill>
                  <a:srgbClr val="F8FAFC"/>
                </a:solidFill>
                <a:latin typeface="Arial"/>
              </a:rPr>
              <a:t>drop_old_partitions(keep_days) performs zero-downtime ALTER TABLE DETACH PARTITION + DROP TABLE for months older than the retention floor.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Arial"/>
              </a:defRPr>
            </a:pPr>
            <a:r>
              <a:t>CRITERION 2: DATA INSERTION &amp; MANAGEMENT (10 MARKS)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The Produce Transaction: 5-Step Atomic Ingestion Pipeline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Comprehensive data insertion workflow inside the produce() stored procedure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728655" cy="868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6289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  <a:latin typeface="Arial"/>
              </a:defRPr>
            </a:pPr>
            <a:r>
              <a:t>Step 1: Advisory Lock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F8FAFC"/>
                </a:solidFill>
                <a:latin typeface="Arial"/>
              </a:rPr>
              <a:t>pg_advisory_xact_lock(app_id, seq) serializes concurrent retries from the same client without table locking.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23160"/>
            <a:ext cx="10728655" cy="868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36289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6366F1"/>
                </a:solidFill>
                <a:latin typeface="Arial"/>
              </a:defRPr>
            </a:pPr>
            <a:r>
              <a:t>Step 2: Idempotency Check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F8FAFC"/>
                </a:solidFill>
                <a:latin typeface="Arial"/>
              </a:rPr>
              <a:t>Queries producer_sequence. If (app, seq) exists, returns original location (is_duplicate=true). Zero double-inserts.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10728655" cy="868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520440"/>
            <a:ext cx="1036289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Arial"/>
              </a:defRPr>
            </a:pPr>
            <a:r>
              <a:t>Step 3: Hash Routing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F8FAFC"/>
                </a:solidFill>
                <a:latin typeface="Arial"/>
              </a:rPr>
              <a:t>Key-based routing: partition = abs(hashtext(msg_key)) % partition_count. Round-robin for unkeyed messages.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43400"/>
            <a:ext cx="10728655" cy="868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480560"/>
            <a:ext cx="1036289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BBF24"/>
                </a:solidFill>
                <a:latin typeface="Arial"/>
              </a:defRPr>
            </a:pPr>
            <a:r>
              <a:t>Step 4: Offset Allocation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F8FAFC"/>
                </a:solidFill>
                <a:latin typeface="Arial"/>
              </a:rPr>
              <a:t>SELECT next_offset FROM partition FOR UPDATE. Monotonically increments next_offset (gap-free per partition).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303520"/>
            <a:ext cx="10728655" cy="8686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5440680"/>
            <a:ext cx="10362895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B7185"/>
                </a:solidFill>
                <a:latin typeface="Arial"/>
              </a:defRPr>
            </a:pPr>
            <a:r>
              <a:t>Step 5: Insert &amp; Notify</a:t>
            </a:r>
          </a:p>
          <a:p>
            <a:pPr>
              <a:spcAft>
                <a:spcPts val="0"/>
              </a:spcAft>
            </a:pPr>
            <a:r>
              <a:rPr sz="1050">
                <a:solidFill>
                  <a:srgbClr val="F8FAFC"/>
                </a:solidFill>
                <a:latin typeface="Arial"/>
              </a:rPr>
              <a:t>Inserts into message and producer_sequence. Trigger fires pg_notify('conduit_events', ...) for real-time SSE.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Arial"/>
              </a:defRPr>
            </a:pPr>
            <a:r>
              <a:t>CRITERION 2: DATA INSERTION &amp; MANAGEMENT (10 MARKS)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Dataset Seeding, Dead-Lettering &amp; Housekeeping Procedures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Realistic production dataset and autonomous message lifecycle operations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Arial"/>
              </a:defRPr>
            </a:pPr>
            <a:r>
              <a:t>The 2,000-Message Seed Dataset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Production Simulation: </a:t>
            </a:r>
            <a:r>
              <a:rPr sz="1000">
                <a:solidFill>
                  <a:srgbClr val="F8FAFC"/>
                </a:solidFill>
                <a:latin typeface="Arial"/>
              </a:rPr>
              <a:t>50_seed.sql provisions an exact enterprise message distribution across 4 topics and 6 applications.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Status Breakdown: </a:t>
            </a:r>
            <a:r>
              <a:rPr sz="1000">
                <a:solidFill>
                  <a:srgbClr val="F8FAFC"/>
                </a:solidFill>
                <a:latin typeface="Arial"/>
              </a:rPr>
              <a:t>1,580 Delivered (79%), 390 Pending (19.5%), 29 Claimed (1.45%), 1 Dead letter message.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Application Ecosystem: </a:t>
            </a:r>
            <a:r>
              <a:rPr sz="1000">
                <a:solidFill>
                  <a:srgbClr val="F8FAFC"/>
                </a:solidFill>
                <a:latin typeface="Arial"/>
              </a:rPr>
              <a:t>checkout-service (producer), payment-service (both), fraud-detector (both), email-service (consumer), analytics-worker.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Subscription Matrix: </a:t>
            </a:r>
            <a:r>
              <a:rPr sz="1000">
                <a:solidFill>
                  <a:srgbClr val="F8FAFC"/>
                </a:solidFill>
                <a:latin typeface="Arial"/>
              </a:rPr>
              <a:t>6 Consumer group subscriptions (billing-workers, payment-processors, email-workers, fraud-team, analytics-team).</a:t>
            </a:r>
          </a:p>
          <a:p>
            <a:pPr>
              <a:spcAft>
                <a:spcPts val="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Deterministic Seeding: </a:t>
            </a:r>
            <a:r>
              <a:rPr sz="1000">
                <a:solidFill>
                  <a:srgbClr val="F8FAFC"/>
                </a:solidFill>
                <a:latin typeface="Arial"/>
              </a:rPr>
              <a:t>Gated via CONDUIT_SEED=true; reproducible across all teammate machines.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876495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B7185"/>
                </a:solidFill>
                <a:latin typeface="Arial"/>
              </a:defRPr>
            </a:pPr>
            <a:r>
              <a:t>Poison Pills &amp; Housekeeping Procedures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Dead Letter Queue (DLQ): </a:t>
            </a:r>
            <a:r>
              <a:rPr sz="1000">
                <a:solidFill>
                  <a:srgbClr val="F8FAFC"/>
                </a:solidFill>
                <a:latin typeface="Arial"/>
              </a:rPr>
              <a:t>Messages failing delivery &gt;= max_delivery_attempts (default 3) are snapped into dead_letter_message and marked dead.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Requeue Procedure: </a:t>
            </a:r>
            <a:r>
              <a:rPr sz="1000">
                <a:solidFill>
                  <a:srgbClr val="F8FAFC"/>
                </a:solidFill>
                <a:latin typeface="Arial"/>
              </a:rPr>
              <a:t>requeue_dlq(dlq_id, app, topic) re-inserts dead messages as a fresh produce with an incremented sequence, setting dlq.status = 'requeued'.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Crashed Consumer Reaper: </a:t>
            </a:r>
            <a:r>
              <a:rPr sz="1000">
                <a:solidFill>
                  <a:srgbClr val="F8FAFC"/>
                </a:solidFill>
                <a:latin typeface="Arial"/>
              </a:rPr>
              <a:t>reap_expired_claims() scans WHERE status='claimed' AND visible_at &lt;= now(). Restores un-acked claims to 'pending' or routes to DLQ.</a:t>
            </a:r>
          </a:p>
          <a:p>
            <a:pPr>
              <a:spcAft>
                <a:spcPts val="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Housekeeping Procedures: </a:t>
            </a:r>
            <a:r>
              <a:rPr sz="1000">
                <a:solidFill>
                  <a:srgbClr val="F8FAFC"/>
                </a:solidFill>
                <a:latin typeface="Arial"/>
              </a:rPr>
              <a:t>purge_retention(), drop_old_partitions(), and refresh_dashboard() provide scheduled maintenance.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Arial"/>
              </a:defRPr>
            </a:pPr>
            <a:r>
              <a:t>CRITERION 3: DATABASE OPERATIONS (10 MARKS)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Operational Queries: Non-Blocking Consumption via SKIP LOCKED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Executing high-concurrency queue drainage without lock contention or duplicate reads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48640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512064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  <a:latin typeface="Arial"/>
              </a:defRPr>
            </a:pPr>
            <a:r>
              <a:t>The Hot-Path Consume Query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Core SQL Operation: </a:t>
            </a:r>
            <a:r>
              <a:rPr sz="1000">
                <a:solidFill>
                  <a:srgbClr val="F8FAFC"/>
                </a:solidFill>
                <a:latin typeface="Arial"/>
              </a:rPr>
              <a:t>Executed inside consume(group_id, topic_id, batch_size, timeout):</a:t>
            </a:r>
          </a:p>
          <a:p>
            <a:pPr>
              <a:spcAft>
                <a:spcPts val="800"/>
              </a:spcAft>
            </a:pPr>
            <a:r>
              <a:rPr sz="950" b="1">
                <a:solidFill>
                  <a:srgbClr val="38BDF8"/>
                </a:solidFill>
                <a:latin typeface="Arial"/>
              </a:rPr>
              <a:t>SQL Definition: </a:t>
            </a:r>
            <a:r>
              <a:rPr sz="950">
                <a:solidFill>
                  <a:srgbClr val="FBBF24"/>
                </a:solidFill>
                <a:latin typeface="Arial"/>
              </a:rPr>
              <a:t>SELECT created_at, partition_id, msg_offset,
       payload, attempts
FROM message
WHERE topic_id = p_topic_id
  AND status = 'pending'
  AND (visible_at IS NULL OR visible_at &lt;= now())
ORDER BY msg_offset ASC
LIMIT p_batch_size
FOR UPDATE SKIP LOCKED;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FOR UPDATE: </a:t>
            </a:r>
            <a:r>
              <a:rPr sz="1000">
                <a:solidFill>
                  <a:srgbClr val="F8FAFC"/>
                </a:solidFill>
                <a:latin typeface="Arial"/>
              </a:rPr>
              <a:t>Acquires exclusive row-level locks on selected message records.</a:t>
            </a:r>
          </a:p>
          <a:p>
            <a:pPr>
              <a:spcAft>
                <a:spcPts val="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SKIP LOCKED: </a:t>
            </a:r>
            <a:r>
              <a:rPr sz="1000">
                <a:solidFill>
                  <a:srgbClr val="F8FAFC"/>
                </a:solidFill>
                <a:latin typeface="Arial"/>
              </a:rPr>
              <a:t>The key engine primitive! Skips already-locked rows instead of waiting. Multiple consumer instances drain simultaneously with ZERO contention.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463040"/>
            <a:ext cx="4967935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75120" y="1600200"/>
            <a:ext cx="4602175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Arial"/>
              </a:defRPr>
            </a:pPr>
            <a:r>
              <a:t>Query Execution &amp; Filtering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Dynamic Filtering Clauses: </a:t>
            </a:r>
            <a:r>
              <a:rPr sz="1000">
                <a:solidFill>
                  <a:srgbClr val="F8FAFC"/>
                </a:solidFill>
                <a:latin typeface="Arial"/>
              </a:rPr>
              <a:t>Filters on composite keys (topic_id, partition_id), discrete states (status='pending'), and temporal bounds (visible_at &lt;= now()).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Partial Index Scanning: </a:t>
            </a:r>
            <a:r>
              <a:rPr sz="1000">
                <a:solidFill>
                  <a:srgbClr val="F8FAFC"/>
                </a:solidFill>
                <a:latin typeface="Arial"/>
              </a:rPr>
              <a:t>The planner scans idx_message_pending. Because 'delivered' messages are excluded, the scanned index is miniscule.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Concurrency Proof (Demo 02): </a:t>
            </a:r>
            <a:r>
              <a:rPr sz="1000">
                <a:solidFill>
                  <a:srgbClr val="F8FAFC"/>
                </a:solidFill>
                <a:latin typeface="Arial"/>
              </a:rPr>
              <a:t>3 racing worker processes consuming concurrently from the same partition: 12 messages claimed, 12 delivered, EXACTLY ZERO duplicates.</a:t>
            </a:r>
          </a:p>
          <a:p>
            <a:pPr>
              <a:spcAft>
                <a:spcPts val="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LockRows Plan Node: </a:t>
            </a:r>
            <a:r>
              <a:rPr sz="1000">
                <a:solidFill>
                  <a:srgbClr val="F8FAFC"/>
                </a:solidFill>
                <a:latin typeface="Arial"/>
              </a:rPr>
              <a:t>EXPLAIN ANALYZE confirms execution plan: LockRows -&gt; Limit -&gt; Bitmap Index Scan.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Arial"/>
              </a:defRPr>
            </a:pPr>
            <a:r>
              <a:t>CRITERION 3: DATABASE OPERATIONS (10 MARKS)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Complex Relational Joins, FILTER Aggregations &amp; Window Functions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Multi-table relational operations powering operational observability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6366F1"/>
                </a:solidFill>
                <a:latin typeface="Arial"/>
              </a:defRPr>
            </a:pPr>
            <a:r>
              <a:t>Multi-Table Joins &amp; Derived State</a:t>
            </a:r>
          </a:p>
          <a:p>
            <a:pPr>
              <a:spcAft>
                <a:spcPts val="800"/>
              </a:spcAft>
            </a:pPr>
            <a:r>
              <a:rPr sz="950" b="1">
                <a:solidFill>
                  <a:srgbClr val="38BDF8"/>
                </a:solidFill>
                <a:latin typeface="Arial"/>
              </a:rPr>
              <a:t>v_consumer_lag View (4-Table Join): </a:t>
            </a:r>
            <a:r>
              <a:rPr sz="950">
                <a:solidFill>
                  <a:srgbClr val="F8FAFC"/>
                </a:solidFill>
                <a:latin typeface="Arial"/>
              </a:rPr>
              <a:t>Joins consumer_group cg JOIN group_subscription gs ON cg.group_id = gs.group_id JOIN partition p ON gs.topic_id = p.topic_id JOIN group_offset go ON go.group_id = cg.group_id AND go.partition_id = p.partition_id JOIN topic t ON p.topic_id = t.topic_id.</a:t>
            </a:r>
          </a:p>
          <a:p>
            <a:pPr>
              <a:spcAft>
                <a:spcPts val="8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Deterministic Lag Calculation: </a:t>
            </a:r>
            <a:r>
              <a:rPr sz="1000">
                <a:solidFill>
                  <a:srgbClr val="F8FAFC"/>
                </a:solidFill>
                <a:latin typeface="Arial"/>
              </a:rPr>
              <a:t>Lag is not an arbitrary broker memory metric; it is calculated deterministically: lag = p.next_offset - go.committed_offset.</a:t>
            </a:r>
          </a:p>
          <a:p>
            <a:pPr>
              <a:spcAft>
                <a:spcPts val="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v_audit_recent View: </a:t>
            </a:r>
            <a:r>
              <a:rPr sz="1000">
                <a:solidFill>
                  <a:srgbClr val="F8FAFC"/>
                </a:solidFill>
                <a:latin typeface="Arial"/>
              </a:rPr>
              <a:t>Performs multi-table outer joins across audit_log, app_user, application, and topic to resolve UUIDs and IDs into human-readable actor trails.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876495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Arial"/>
              </a:defRPr>
            </a:pPr>
            <a:r>
              <a:t>FILTER Aggregations &amp; Window Functions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Single-Pass FILTER Aggregates (v_topic_stats): </a:t>
            </a:r>
            <a:r>
              <a:rPr sz="1000">
                <a:solidFill>
                  <a:srgbClr val="F8FAFC"/>
                </a:solidFill>
                <a:latin typeface="Arial"/>
              </a:rPr>
              <a:t>Avoids multiple table scans using PostgreSQL's FILTER syntax:</a:t>
            </a:r>
          </a:p>
          <a:p>
            <a:pPr>
              <a:spcAft>
                <a:spcPts val="800"/>
              </a:spcAft>
            </a:pPr>
            <a:r>
              <a:rPr sz="900">
                <a:solidFill>
                  <a:srgbClr val="FBBF24"/>
                </a:solidFill>
                <a:latin typeface="Arial"/>
              </a:rPr>
              <a:t>SELECT t.topic_name,
  count(*) FILTER (WHERE m.status = 'pending') AS pending,
  count(*) FILTER (WHERE m.status = 'claimed') AS claimed,
  count(*) FILTER (WHERE m.status = 'delivered') AS delivered,
  count(*) FILTER (WHERE m.status = 'dead') AS dead
FROM topic t LEFT JOIN message m ON t.topic_id = m.topic_id
GROUP BY t.topic_name;</a:t>
            </a:r>
          </a:p>
          <a:p>
            <a:pPr>
              <a:spcAft>
                <a:spcPts val="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Window Functions (v_throughput_by_minute): </a:t>
            </a:r>
            <a:r>
              <a:rPr sz="1000">
                <a:solidFill>
                  <a:srgbClr val="F8FAFC"/>
                </a:solidFill>
                <a:latin typeface="Arial"/>
              </a:rPr>
              <a:t>Uses date_trunc('minute', created_at) and SUM(count(*)) OVER (ORDER BY minute) to compute historical velocity and running totals.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Arial"/>
              </a:defRPr>
            </a:pPr>
            <a:r>
              <a:t>CRITERION 4: ADVANCED DATABASE FEATURES (10 MARKS)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Stored Procedures &amp; Atomic Multi-Table Transactions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Encapsulating the entire message broker data-plane inside PL/pgSQL routines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  <a:latin typeface="Arial"/>
              </a:defRPr>
            </a:pPr>
            <a:r>
              <a:t>Complete Procedural Surface (10_functions.sql)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produce() / produce_batch(): </a:t>
            </a:r>
            <a:r>
              <a:rPr sz="1000">
                <a:solidFill>
                  <a:srgbClr val="F8FAFC"/>
                </a:solidFill>
                <a:latin typeface="Arial"/>
              </a:rPr>
              <a:t>Atomic ingestion, deduplication, schema validation, and offset assignment.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consume(): </a:t>
            </a:r>
            <a:r>
              <a:rPr sz="1000">
                <a:solidFill>
                  <a:srgbClr val="F8FAFC"/>
                </a:solidFill>
                <a:latin typeface="Arial"/>
              </a:rPr>
              <a:t>Non-blocking batch claim via SELECT ... FOR UPDATE SKIP LOCKED.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ack(): </a:t>
            </a:r>
            <a:r>
              <a:rPr sz="1000">
                <a:solidFill>
                  <a:srgbClr val="F8FAFC"/>
                </a:solidFill>
                <a:latin typeface="Arial"/>
              </a:rPr>
              <a:t>The exactly-once guarantee! Atomically flips status='delivered' AND advances group_offset.committed_offset in ONE single transaction.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nack(): </a:t>
            </a:r>
            <a:r>
              <a:rPr sz="1000">
                <a:solidFill>
                  <a:srgbClr val="F8FAFC"/>
                </a:solidFill>
                <a:latin typeface="Arial"/>
              </a:rPr>
              <a:t>Increments attempts counter; transitions to DLQ if max attempts reached.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reap_expired_claims(): </a:t>
            </a:r>
            <a:r>
              <a:rPr sz="1000">
                <a:solidFill>
                  <a:srgbClr val="F8FAFC"/>
                </a:solidFill>
                <a:latin typeface="Arial"/>
              </a:rPr>
              <a:t>Background recovery for crashed consumers.</a:t>
            </a:r>
          </a:p>
          <a:p>
            <a:pPr>
              <a:spcAft>
                <a:spcPts val="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requeue_dlq(): </a:t>
            </a:r>
            <a:r>
              <a:rPr sz="1000">
                <a:solidFill>
                  <a:srgbClr val="F8FAFC"/>
                </a:solidFill>
                <a:latin typeface="Arial"/>
              </a:rPr>
              <a:t>Restores dead messages into circulation.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876495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BBF24"/>
                </a:solidFill>
                <a:latin typeface="Arial"/>
              </a:defRPr>
            </a:pPr>
            <a:r>
              <a:t>Custom SQLSTATE Exception Hierarchy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Defensive Exception Architecture: </a:t>
            </a:r>
            <a:r>
              <a:rPr sz="1000">
                <a:solidFill>
                  <a:srgbClr val="F8FAFC"/>
                </a:solidFill>
                <a:latin typeface="Arial"/>
              </a:rPr>
              <a:t>Conduit defines custom SQLSTATE error codes (CDT01-CDT21) mapped to HTTP errors in the API layer:</a:t>
            </a:r>
          </a:p>
          <a:p>
            <a:pPr>
              <a:spcAft>
                <a:spcPts val="5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CDT01 / CDT02: </a:t>
            </a:r>
            <a:r>
              <a:rPr sz="1000">
                <a:solidFill>
                  <a:srgbClr val="F8FAFC"/>
                </a:solidFill>
                <a:latin typeface="Arial"/>
              </a:rPr>
              <a:t>Unknown or inactive topic.</a:t>
            </a:r>
          </a:p>
          <a:p>
            <a:pPr>
              <a:spcAft>
                <a:spcPts val="5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CDT04 / CDT05: </a:t>
            </a:r>
            <a:r>
              <a:rPr sz="1000">
                <a:solidFill>
                  <a:srgbClr val="F8FAFC"/>
                </a:solidFill>
                <a:latin typeface="Arial"/>
              </a:rPr>
              <a:t>Schema validation failed / Message exceeds max_bytes.</a:t>
            </a:r>
          </a:p>
          <a:p>
            <a:pPr>
              <a:spcAft>
                <a:spcPts val="5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CDT07 / CDT08: </a:t>
            </a:r>
            <a:r>
              <a:rPr sz="1000">
                <a:solidFill>
                  <a:srgbClr val="F8FAFC"/>
                </a:solidFill>
                <a:latin typeface="Arial"/>
              </a:rPr>
              <a:t>Unknown group / Group not subscribed to topic.</a:t>
            </a:r>
          </a:p>
          <a:p>
            <a:pPr>
              <a:spcAft>
                <a:spcPts val="5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CDT17 / CDT18: </a:t>
            </a:r>
            <a:r>
              <a:rPr sz="1000">
                <a:solidFill>
                  <a:srgbClr val="F8FAFC"/>
                </a:solidFill>
                <a:latin typeface="Arial"/>
              </a:rPr>
              <a:t>ACL produce permission denied / Consume permission denied.</a:t>
            </a:r>
          </a:p>
          <a:p>
            <a:pPr>
              <a:spcAft>
                <a:spcPts val="5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CDT19: </a:t>
            </a:r>
            <a:r>
              <a:rPr sz="1000">
                <a:solidFill>
                  <a:srgbClr val="F8FAFC"/>
                </a:solidFill>
                <a:latin typeface="Arial"/>
              </a:rPr>
              <a:t>Monotonic committed offset regression attempt rejected.</a:t>
            </a:r>
          </a:p>
          <a:p>
            <a:pPr>
              <a:spcAft>
                <a:spcPts val="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CDT20 / CDT21: </a:t>
            </a:r>
            <a:r>
              <a:rPr sz="1000">
                <a:solidFill>
                  <a:srgbClr val="F8FAFC"/>
                </a:solidFill>
                <a:latin typeface="Arial"/>
              </a:rPr>
              <a:t>Unauthorized application type / User account suspended.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Arial"/>
              </a:defRPr>
            </a:pPr>
            <a:r>
              <a:t>CRITERION 4: ADVANCED DATABASE FEATURES (10 MARKS)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Active Database Architecture: 15 Automated Triggers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Autonomous audit trails, ACL security enforcement, and event notification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B7185"/>
                </a:solidFill>
                <a:latin typeface="Arial"/>
              </a:defRPr>
            </a:pPr>
            <a:r>
              <a:t>Security &amp; Invariant Triggers (20_triggers.sql)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1. ACL Enforcement Trigger (trg_acl_produce_check): </a:t>
            </a:r>
            <a:r>
              <a:rPr sz="1000">
                <a:solidFill>
                  <a:srgbClr val="F8FAFC"/>
                </a:solidFill>
                <a:latin typeface="Arial"/>
              </a:rPr>
              <a:t>BEFORE INSERT ON message: verifies the app owner holds produce access and status='active'. Raises CDT17/CDT21 on violation.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2. Consume Authorization Trigger: </a:t>
            </a:r>
            <a:r>
              <a:rPr sz="1000">
                <a:solidFill>
                  <a:srgbClr val="F8FAFC"/>
                </a:solidFill>
                <a:latin typeface="Arial"/>
              </a:rPr>
              <a:t>BEFORE UPDATE ON message: verifies claiming consumer group holds consume permission before status flips to 'claimed'.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3. Monotonic Offset Guard (trg_group_offset_monotonic): </a:t>
            </a:r>
            <a:r>
              <a:rPr sz="1000">
                <a:solidFill>
                  <a:srgbClr val="F8FAFC"/>
                </a:solidFill>
                <a:latin typeface="Arial"/>
              </a:rPr>
              <a:t>BEFORE UPDATE ON group_offset: enforces NEW.committed_offset &gt;= OLD.committed_offset. Aborts regressions with CDT19.</a:t>
            </a:r>
          </a:p>
          <a:p>
            <a:pPr>
              <a:spcAft>
                <a:spcPts val="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4. Updated_At Auto-Stamp: </a:t>
            </a:r>
            <a:r>
              <a:rPr sz="1000">
                <a:solidFill>
                  <a:srgbClr val="F8FAFC"/>
                </a:solidFill>
                <a:latin typeface="Arial"/>
              </a:rPr>
              <a:t>BEFORE UPDATE ON broker_config: automatically stamps current_timestamp, preventing forged update dates.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876495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Arial"/>
              </a:defRPr>
            </a:pPr>
            <a:r>
              <a:t>Audit &amp; Real-Time Notification Triggers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5. Immutable Audit Triggers (Terminal Events Only): </a:t>
            </a:r>
            <a:r>
              <a:rPr sz="1000">
                <a:solidFill>
                  <a:srgbClr val="F8FAFC"/>
                </a:solidFill>
                <a:latin typeface="Arial"/>
              </a:rPr>
              <a:t>Fires AFTER INSERT/UPDATE to record PRODUCE, DELIVERED, DLQ, and ACL changes into audit_log. Bypassing audit is physically impossible.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6. Auth Failure Persistence Pattern: </a:t>
            </a:r>
            <a:r>
              <a:rPr sz="1000">
                <a:solidFill>
                  <a:srgbClr val="F8FAFC"/>
                </a:solidFill>
                <a:latin typeface="Arial"/>
              </a:rPr>
              <a:t>Because an aborted transaction rolls back trigger inserts, triggers raise clean exceptions; callers invoke log_auth_failure() to persist the failed attempt.</a:t>
            </a:r>
          </a:p>
          <a:p>
            <a:pPr>
              <a:spcAft>
                <a:spcPts val="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7. Inter-Process NOTIFY Trigger (trg_message_notify): </a:t>
            </a:r>
            <a:r>
              <a:rPr sz="1000">
                <a:solidFill>
                  <a:srgbClr val="F8FAFC"/>
                </a:solidFill>
                <a:latin typeface="Arial"/>
              </a:rPr>
              <a:t>AFTER INSERT ON message: fires pg_notify('conduit_events', ...). Asynchronous listeners receive event JSON instantly without polling.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Arial"/>
              </a:defRPr>
            </a:pPr>
            <a:r>
              <a:t>CRITERION 4: ADVANCED DATABASE FEATURES (10 MARKS)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Multi-Tenant Isolation via Native Row-Level Security (RLS)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Engine-level access control: unauthorized apps cannot see rows even via raw SELECT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  <a:latin typeface="Arial"/>
              </a:defRPr>
            </a:pPr>
            <a:r>
              <a:t>RLS Architecture (30_rls.sql)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Dedicated Role (conduit_app): </a:t>
            </a:r>
            <a:r>
              <a:rPr sz="1000">
                <a:solidFill>
                  <a:srgbClr val="F8FAFC"/>
                </a:solidFill>
                <a:latin typeface="Arial"/>
              </a:rPr>
              <a:t>PostgreSQL superusers bypass RLS by design. We provisioned the non-superuser conduit_app role for hot-path application connections.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Session GUC Context: </a:t>
            </a:r>
            <a:r>
              <a:rPr sz="1000">
                <a:solidFill>
                  <a:srgbClr val="F8FAFC"/>
                </a:solidFill>
                <a:latin typeface="Arial"/>
              </a:rPr>
              <a:t>FastAPI sets the verified identity per transaction using SET LOCAL app.user_id = '&lt;user_id&gt;'.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Default-Deny Policy: </a:t>
            </a:r>
            <a:r>
              <a:rPr sz="1000">
                <a:solidFill>
                  <a:srgbClr val="F8FAFC"/>
                </a:solidFill>
                <a:latin typeface="Arial"/>
              </a:rPr>
              <a:t>If app.user_id is unset or invalid, RLS defaults to zero visibility (empty result set).</a:t>
            </a:r>
          </a:p>
          <a:p>
            <a:pPr>
              <a:spcAft>
                <a:spcPts val="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Selective Table Scope: </a:t>
            </a:r>
            <a:r>
              <a:rPr sz="1000">
                <a:solidFill>
                  <a:srgbClr val="F8FAFC"/>
                </a:solidFill>
                <a:latin typeface="Arial"/>
              </a:rPr>
              <a:t>RLS is enabled on MESSAGE and DEAD_LETTER_MESSAGE, maintaining maximum performance while securing message contents.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876495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6366F1"/>
                </a:solidFill>
                <a:latin typeface="Arial"/>
              </a:defRPr>
            </a:pPr>
            <a:r>
              <a:t>5 Concrete RLS Policies Enforced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Policy 1 (SELECT on message): </a:t>
            </a:r>
            <a:r>
              <a:rPr sz="1000">
                <a:solidFill>
                  <a:srgbClr val="F8FAFC"/>
                </a:solidFill>
                <a:latin typeface="Arial"/>
              </a:rPr>
              <a:t>USING (fn_can_access_topic(topic_id, 'consume') OR fn_can_access_topic(topic_id, 'produce') OR fn_is_admin()).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Policy 2 (INSERT on message): </a:t>
            </a:r>
            <a:r>
              <a:rPr sz="1000">
                <a:solidFill>
                  <a:srgbClr val="F8FAFC"/>
                </a:solidFill>
                <a:latin typeface="Arial"/>
              </a:rPr>
              <a:t>WITH CHECK (fn_can_access_topic(topic_id, 'produce') OR fn_is_admin()).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Policy 3 (UPDATE on message): </a:t>
            </a:r>
            <a:r>
              <a:rPr sz="1000">
                <a:solidFill>
                  <a:srgbClr val="F8FAFC"/>
                </a:solidFill>
                <a:latin typeface="Arial"/>
              </a:rPr>
              <a:t>USING (fn_can_access_topic(topic_id, 'consume') OR fn_is_admin()).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Policy 4 &amp; 5 (DLQ Read/Write): </a:t>
            </a:r>
            <a:r>
              <a:rPr sz="1000">
                <a:solidFill>
                  <a:srgbClr val="F8FAFC"/>
                </a:solidFill>
                <a:latin typeface="Arial"/>
              </a:rPr>
              <a:t>Scoped to users holding consumer permissions on the original topic.</a:t>
            </a:r>
          </a:p>
          <a:p>
            <a:pPr>
              <a:spcAft>
                <a:spcPts val="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Security Invoker Views: </a:t>
            </a:r>
            <a:r>
              <a:rPr sz="1000">
                <a:solidFill>
                  <a:srgbClr val="F8FAFC"/>
                </a:solidFill>
                <a:latin typeface="Arial"/>
              </a:rPr>
              <a:t>All analytical views are created with security_invoker = true, forcing views to obey the caller's RLS permissions.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Arial"/>
              </a:defRPr>
            </a:pPr>
            <a:r>
              <a:t>CRITERION 4: ADVANCED DATABASE FEATURES (10 MARKS)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Engine Optimization: Partial Indexes, BRIN &amp; EXPLAIN Proofs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Strategic indexing tailored to message queue lifecycle and append-only workloads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BBF24"/>
                </a:solidFill>
                <a:latin typeface="Arial"/>
              </a:defRPr>
            </a:pPr>
            <a:r>
              <a:t>Strategic Indexing Hierarchy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Partial Index (idx_message_pending): </a:t>
            </a:r>
            <a:r>
              <a:rPr sz="1000">
                <a:solidFill>
                  <a:srgbClr val="F8FAFC"/>
                </a:solidFill>
                <a:latin typeface="Arial"/>
              </a:rPr>
              <a:t>CREATE INDEX ... ON message(topic_id, partition_id, msg_offset) WHERE status = 'pending'. Indexes only unconsumed messages. Index remains tiny even with 10M delivered rows.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Partial Index (idx_message_claimed_visible_at): </a:t>
            </a:r>
            <a:r>
              <a:rPr sz="1000">
                <a:solidFill>
                  <a:srgbClr val="F8FAFC"/>
                </a:solidFill>
                <a:latin typeface="Arial"/>
              </a:rPr>
              <a:t>WHERE status = 'claimed'. Backs the reaper procedure to find expired claims instantly without scanning active messages.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BRIN Index (Block Range Index): </a:t>
            </a:r>
            <a:r>
              <a:rPr sz="1000">
                <a:solidFill>
                  <a:srgbClr val="F8FAFC"/>
                </a:solidFill>
                <a:latin typeface="Arial"/>
              </a:rPr>
              <a:t>ON message(created_at) and audit_log(event_timestamp). Stores min/max per block range. 99% smaller footprint than B-Tree for time-ordered logs.</a:t>
            </a:r>
          </a:p>
          <a:p>
            <a:pPr>
              <a:spcAft>
                <a:spcPts val="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Composite PK Index: </a:t>
            </a:r>
            <a:r>
              <a:rPr sz="1000">
                <a:solidFill>
                  <a:srgbClr val="F8FAFC"/>
                </a:solidFill>
                <a:latin typeface="Arial"/>
              </a:rPr>
              <a:t>ON producer_sequence(producer_app_id, producer_seq) for instantaneous O(1) deduplication lookups.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876495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Arial"/>
              </a:defRPr>
            </a:pPr>
            <a:r>
              <a:t>EXPLAIN at 30,000-Message Scale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The Milestone 2 vs 8 Finding: </a:t>
            </a:r>
            <a:r>
              <a:rPr sz="1000">
                <a:solidFill>
                  <a:srgbClr val="F8FAFC"/>
                </a:solidFill>
                <a:latin typeface="Arial"/>
              </a:rPr>
              <a:t>At demo scale (&lt;200 rows), the PostgreSQL planner correctly chooses a sequential scan over index scans (cheaper disk I/O).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The 30k Scale Proof (explain_at_scale.py): </a:t>
            </a:r>
            <a:r>
              <a:rPr sz="1000">
                <a:solidFill>
                  <a:srgbClr val="F8FAFC"/>
                </a:solidFill>
                <a:latin typeface="Arial"/>
              </a:rPr>
              <a:t>With 30,000 total messages and 100 pending, EXPLAIN (ANALYZE, BUFFERS) proves the planner shifts 100% to Bitmap Index Scan using idx_message_pending.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Execution Speed: </a:t>
            </a:r>
            <a:r>
              <a:rPr sz="1000">
                <a:solidFill>
                  <a:srgbClr val="F8FAFC"/>
                </a:solidFill>
                <a:latin typeface="Arial"/>
              </a:rPr>
              <a:t>1.9 ms execution time across 30,000 rows with ZERO sequential scans.</a:t>
            </a:r>
          </a:p>
          <a:p>
            <a:pPr>
              <a:spcAft>
                <a:spcPts val="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Dead-TID Insight: </a:t>
            </a:r>
            <a:r>
              <a:rPr sz="1000">
                <a:solidFill>
                  <a:srgbClr val="F8FAFC"/>
                </a:solidFill>
                <a:latin typeface="Arial"/>
              </a:rPr>
              <a:t>Directly captures autovacuum dynamics: bitmap scan rechecks live vs dead index entries, proving deep course understanding.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Arial"/>
              </a:defRPr>
            </a:pPr>
            <a:r>
              <a:t>CRITERION 4: ADVANCED DATABASE FEATURES (10 MARKS)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Materialized Views &amp; WAL Crash Recovery Verification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Non-blocking reporting aggregation and empirical durability testing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  <a:latin typeface="Arial"/>
              </a:defRPr>
            </a:pPr>
            <a:r>
              <a:rPr dirty="0"/>
              <a:t>Materialized View (</a:t>
            </a:r>
            <a:r>
              <a:rPr dirty="0" err="1"/>
              <a:t>mv_topic_stats</a:t>
            </a:r>
            <a:r>
              <a:rPr dirty="0"/>
              <a:t>)</a:t>
            </a:r>
          </a:p>
          <a:p>
            <a:pPr>
              <a:spcAft>
                <a:spcPts val="700"/>
              </a:spcAft>
            </a:pPr>
            <a:r>
              <a:rPr sz="1000" b="1" dirty="0">
                <a:solidFill>
                  <a:srgbClr val="38BDF8"/>
                </a:solidFill>
                <a:latin typeface="Arial"/>
              </a:rPr>
              <a:t>CQRS Analytical Decoupling: </a:t>
            </a:r>
            <a:r>
              <a:rPr sz="1000" dirty="0">
                <a:solidFill>
                  <a:srgbClr val="F8FAFC"/>
                </a:solidFill>
                <a:latin typeface="Arial"/>
              </a:rPr>
              <a:t>Aggregating millions of messages for dashboard statistics creates read lock contention. </a:t>
            </a:r>
            <a:r>
              <a:rPr sz="1000" dirty="0" err="1">
                <a:solidFill>
                  <a:srgbClr val="F8FAFC"/>
                </a:solidFill>
                <a:latin typeface="Arial"/>
              </a:rPr>
              <a:t>mv_topic_stats</a:t>
            </a:r>
            <a:r>
              <a:rPr sz="1000" dirty="0">
                <a:solidFill>
                  <a:srgbClr val="F8FAFC"/>
                </a:solidFill>
                <a:latin typeface="Arial"/>
              </a:rPr>
              <a:t> caches precomputed aggregates.</a:t>
            </a:r>
          </a:p>
          <a:p>
            <a:pPr>
              <a:spcAft>
                <a:spcPts val="700"/>
              </a:spcAft>
            </a:pPr>
            <a:r>
              <a:rPr sz="1000" b="1" dirty="0">
                <a:solidFill>
                  <a:srgbClr val="38BDF8"/>
                </a:solidFill>
                <a:latin typeface="Arial"/>
              </a:rPr>
              <a:t>Non-Blocking Concurrent Refresh: </a:t>
            </a:r>
            <a:r>
              <a:rPr sz="1000" dirty="0">
                <a:solidFill>
                  <a:srgbClr val="F8FAFC"/>
                </a:solidFill>
                <a:latin typeface="Arial"/>
              </a:rPr>
              <a:t>REFRESH MATERIALIZED VIEW CONCURRENTLY </a:t>
            </a:r>
            <a:r>
              <a:rPr sz="1000" dirty="0" err="1">
                <a:solidFill>
                  <a:srgbClr val="F8FAFC"/>
                </a:solidFill>
                <a:latin typeface="Arial"/>
              </a:rPr>
              <a:t>mv_topic_stats</a:t>
            </a:r>
            <a:r>
              <a:rPr sz="1000" dirty="0">
                <a:solidFill>
                  <a:srgbClr val="F8FAFC"/>
                </a:solidFill>
                <a:latin typeface="Arial"/>
              </a:rPr>
              <a:t>. Backed by unique index on </a:t>
            </a:r>
            <a:r>
              <a:rPr sz="1000" dirty="0" err="1">
                <a:solidFill>
                  <a:srgbClr val="F8FAFC"/>
                </a:solidFill>
                <a:latin typeface="Arial"/>
              </a:rPr>
              <a:t>topic_name</a:t>
            </a:r>
            <a:r>
              <a:rPr sz="1000" dirty="0">
                <a:solidFill>
                  <a:srgbClr val="F8FAFC"/>
                </a:solidFill>
                <a:latin typeface="Arial"/>
              </a:rPr>
              <a:t>.</a:t>
            </a:r>
          </a:p>
          <a:p>
            <a:pPr>
              <a:spcAft>
                <a:spcPts val="700"/>
              </a:spcAft>
            </a:pPr>
            <a:r>
              <a:rPr sz="1000" b="1" dirty="0">
                <a:solidFill>
                  <a:srgbClr val="38BDF8"/>
                </a:solidFill>
                <a:latin typeface="Arial"/>
              </a:rPr>
              <a:t>Zero Read Blocking: </a:t>
            </a:r>
            <a:r>
              <a:rPr sz="1000" dirty="0">
                <a:solidFill>
                  <a:srgbClr val="F8FAFC"/>
                </a:solidFill>
                <a:latin typeface="Arial"/>
              </a:rPr>
              <a:t>Concurrent refresh allows background updates while readers continue reading cached data without table locks.</a:t>
            </a:r>
          </a:p>
          <a:p>
            <a:pPr>
              <a:spcAft>
                <a:spcPts val="0"/>
              </a:spcAft>
            </a:pPr>
            <a:r>
              <a:rPr sz="1000" b="1" dirty="0">
                <a:solidFill>
                  <a:srgbClr val="38BDF8"/>
                </a:solidFill>
                <a:latin typeface="Arial"/>
              </a:rPr>
              <a:t>Automated Refresh Function: </a:t>
            </a:r>
            <a:r>
              <a:rPr sz="1000" dirty="0" err="1">
                <a:solidFill>
                  <a:srgbClr val="F8FAFC"/>
                </a:solidFill>
                <a:latin typeface="Arial"/>
              </a:rPr>
              <a:t>refresh_dashboard</a:t>
            </a:r>
            <a:r>
              <a:rPr sz="1000" dirty="0">
                <a:solidFill>
                  <a:srgbClr val="F8FAFC"/>
                </a:solidFill>
                <a:latin typeface="Arial"/>
              </a:rPr>
              <a:t>() encapsulates maintenance; administrative callers trigger it via API or dashboard button.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876495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BBF24"/>
                </a:solidFill>
                <a:latin typeface="Arial"/>
              </a:defRPr>
            </a:pPr>
            <a:r>
              <a:t>Durability &amp; WAL Crash Recovery (Demo 08)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Write-Ahead Logging (WAL): </a:t>
            </a:r>
            <a:r>
              <a:rPr sz="1000">
                <a:solidFill>
                  <a:srgbClr val="F8FAFC"/>
                </a:solidFill>
                <a:latin typeface="Arial"/>
              </a:rPr>
              <a:t>Durability is guaranteed by PostgreSQL's native fsync-backed WAL, eliminating hand-rolled log vulnerabilities.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The Kill -9 Crash Test (08_wal_recovery.ps1): </a:t>
            </a:r>
            <a:r>
              <a:rPr sz="1000">
                <a:solidFill>
                  <a:srgbClr val="F8FAFC"/>
                </a:solidFill>
                <a:latin typeface="Arial"/>
              </a:rPr>
              <a:t>1. Ingests 100 acknowledged messages.
2. Executes docker kill -s 9 conduit-db (hard ungraceful crash).
3. Re-spins the PostgreSQL container.
4. Database enters automated crash recovery mode and replays the WAL.</a:t>
            </a:r>
          </a:p>
          <a:p>
            <a:pPr>
              <a:spcAft>
                <a:spcPts val="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Empirical Durability Result: </a:t>
            </a:r>
            <a:r>
              <a:rPr sz="1000">
                <a:solidFill>
                  <a:srgbClr val="F8FAFC"/>
                </a:solidFill>
                <a:latin typeface="Arial"/>
              </a:rPr>
              <a:t>All 100 acknowledged messages and committed offsets survive intact. In-flight uncommitted transactions vanish cleanly. ZERO data corruption.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Arial"/>
              </a:defRPr>
            </a:pPr>
            <a:r>
              <a:t>DEFENSE &amp; EMPIRICAL EVALUATION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Production Benchmarks: Throughput, Concurrency &amp; The Price of Guarantees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Hard numbers measured on the system demonstrating scalability and trade-offs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Arial"/>
              </a:defRPr>
            </a:pPr>
            <a:r>
              <a:t>Throughput &amp; Scaling Metrics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Produce Throughput: </a:t>
            </a:r>
            <a:r>
              <a:rPr sz="1000">
                <a:solidFill>
                  <a:srgbClr val="F8FAFC"/>
                </a:solidFill>
                <a:latin typeface="Arial"/>
              </a:rPr>
              <a:t>495 msg/s (batch=1) -&gt; 1,521 msg/s (batch=10) -&gt; 2,562 msg/s (batch=1000). Batching yields a 5x to 15x scaling curve.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Contention Resilience: </a:t>
            </a:r>
            <a:r>
              <a:rPr sz="1000">
                <a:solidFill>
                  <a:srgbClr val="F8FAFC"/>
                </a:solidFill>
                <a:latin typeface="Arial"/>
              </a:rPr>
              <a:t>4 concurrent producers contending on 2 partitions saw only a 7% throughput penalty (2,085 msg/s). Advisory locks serialize gracefully.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Consume Throughput: </a:t>
            </a:r>
            <a:r>
              <a:rPr sz="1000">
                <a:solidFill>
                  <a:srgbClr val="F8FAFC"/>
                </a:solidFill>
                <a:latin typeface="Arial"/>
              </a:rPr>
              <a:t>Up to 3,379 msg/s across 5 workers.</a:t>
            </a:r>
          </a:p>
          <a:p>
            <a:pPr>
              <a:spcAft>
                <a:spcPts val="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Zero-Duplicate Drain: </a:t>
            </a:r>
            <a:r>
              <a:rPr sz="1000">
                <a:solidFill>
                  <a:srgbClr val="F8FAFC"/>
                </a:solidFill>
                <a:latin typeface="Arial"/>
              </a:rPr>
              <a:t>5 concurrent workers draining 5,000 messages achieved 100% disjoint claims via SKIP LOCKED.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876495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B7185"/>
                </a:solidFill>
                <a:latin typeface="Arial"/>
              </a:defRPr>
            </a:pPr>
            <a:r>
              <a:t>The 'Price of Guarantees' Defense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Benchmark Tiers (bench_overhead.py): </a:t>
            </a:r>
            <a:r>
              <a:rPr sz="1000">
                <a:solidFill>
                  <a:srgbClr val="F8FAFC"/>
                </a:solidFill>
                <a:latin typeface="Arial"/>
              </a:rPr>
              <a:t>Evaluates what ACID and security guarantees cost compared to raw storage:</a:t>
            </a:r>
          </a:p>
          <a:p>
            <a:pPr>
              <a:spcAft>
                <a:spcPts val="5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1. Bare INSERT (No Guarantees): </a:t>
            </a:r>
            <a:r>
              <a:rPr sz="1000">
                <a:solidFill>
                  <a:srgbClr val="F8FAFC"/>
                </a:solidFill>
                <a:latin typeface="Arial"/>
              </a:rPr>
              <a:t>106,183 msg/s (Baseline: 1.0x).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2. produce() as Admin: </a:t>
            </a:r>
            <a:r>
              <a:rPr sz="1000">
                <a:solidFill>
                  <a:srgbClr val="F8FAFC"/>
                </a:solidFill>
                <a:latin typeface="Arial"/>
              </a:rPr>
              <a:t>3,291 msg/s (32.3x overhead): Buys idempotency ledger, advisory locks, monotonic gap-free offsets, schema validation, audit triggers &amp; NOTIFY.</a:t>
            </a:r>
          </a:p>
          <a:p>
            <a:pPr>
              <a:spcAft>
                <a:spcPts val="7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3. produce() as App (+RLS): </a:t>
            </a:r>
            <a:r>
              <a:rPr sz="1000">
                <a:solidFill>
                  <a:srgbClr val="F8FAFC"/>
                </a:solidFill>
                <a:latin typeface="Arial"/>
              </a:rPr>
              <a:t>2,454 msg/s (43.3x overhead): RLS policy checks add ~34% overhead over the admin path.</a:t>
            </a:r>
          </a:p>
          <a:p>
            <a:pPr>
              <a:spcAft>
                <a:spcPts val="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The Defense Conclusion: </a:t>
            </a:r>
            <a:r>
              <a:rPr sz="1000">
                <a:solidFill>
                  <a:srgbClr val="F8FAFC"/>
                </a:solidFill>
                <a:latin typeface="Arial"/>
              </a:rPr>
              <a:t>A bare insert is 32x faster, but Conduit buys SQS/Kafka-grade transactional correctness and multi-tenant isolation on commodity PostgreSQL.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Arial"/>
              </a:defRPr>
            </a:pPr>
            <a:r>
              <a:t>VERIFICATION &amp; TOOLING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Live Dashboard &amp; Automated Scenario Verification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Self-asserting test suites and real-time operational user interface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475488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8BDF8"/>
                </a:solidFill>
                <a:latin typeface="Arial"/>
              </a:defRPr>
            </a:pPr>
            <a:r>
              <a:t>9-Page Operational Dashboard (Port 8000)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Overview: </a:t>
            </a:r>
            <a:r>
              <a:rPr sz="1000">
                <a:solidFill>
                  <a:srgbClr val="F8FAFC"/>
                </a:solidFill>
                <a:latin typeface="Arial"/>
              </a:rPr>
              <a:t>Real-time stat cards, throughput charts, consumer group lag table, and maintenance buttons.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Message Browser: </a:t>
            </a:r>
            <a:r>
              <a:rPr sz="1000">
                <a:solidFill>
                  <a:srgbClr val="F8FAFC"/>
                </a:solidFill>
                <a:latin typeface="Arial"/>
              </a:rPr>
              <a:t>Live event-driven message inspector updating dynamically via SSE.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Playground: </a:t>
            </a:r>
            <a:r>
              <a:rPr sz="1000">
                <a:solidFill>
                  <a:srgbClr val="F8FAFC"/>
                </a:solidFill>
                <a:latin typeface="Arial"/>
              </a:rPr>
              <a:t>End-to-end interactive demo: send message -&gt; view location chip -&gt; consume -&gt; ack/nack.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Topics &amp; Groups: </a:t>
            </a:r>
            <a:r>
              <a:rPr sz="1000">
                <a:solidFill>
                  <a:srgbClr val="F8FAFC"/>
                </a:solidFill>
                <a:latin typeface="Arial"/>
              </a:rPr>
              <a:t>Topic creation with JSON schema contracts and group subscription management.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Audit &amp; DLQ: </a:t>
            </a:r>
            <a:r>
              <a:rPr sz="1000">
                <a:solidFill>
                  <a:srgbClr val="F8FAFC"/>
                </a:solidFill>
                <a:latin typeface="Arial"/>
              </a:rPr>
              <a:t>Filterable immutable audit trail and DLQ requeue management.</a:t>
            </a:r>
          </a:p>
          <a:p>
            <a:pPr>
              <a:spcAft>
                <a:spcPts val="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SQL Console: </a:t>
            </a:r>
            <a:r>
              <a:rPr sz="1000">
                <a:solidFill>
                  <a:srgbClr val="F8FAFC"/>
                </a:solidFill>
                <a:latin typeface="Arial"/>
              </a:rPr>
              <a:t>Built-in read-only query analyzer with statement_timeout safety.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42255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876495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34D399"/>
                </a:solidFill>
                <a:latin typeface="Arial"/>
              </a:defRPr>
            </a:pPr>
            <a:r>
              <a:t>8 Self-Asserting Demo Scripts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01_basic_flow.py: </a:t>
            </a:r>
            <a:r>
              <a:rPr sz="1000">
                <a:solidFill>
                  <a:srgbClr val="F8FAFC"/>
                </a:solidFill>
                <a:latin typeface="Arial"/>
              </a:rPr>
              <a:t>Send -&gt; stored -&gt; read -&gt; ack complete lifecycle.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02_concurrency_race.py: </a:t>
            </a:r>
            <a:r>
              <a:rPr sz="1000">
                <a:solidFill>
                  <a:srgbClr val="F8FAFC"/>
                </a:solidFill>
                <a:latin typeface="Arial"/>
              </a:rPr>
              <a:t>3 racing consumers; verifies zero duplicate deliveries.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03_idempotency.py: </a:t>
            </a:r>
            <a:r>
              <a:rPr sz="1000">
                <a:solidFill>
                  <a:srgbClr val="F8FAFC"/>
                </a:solidFill>
                <a:latin typeface="Arial"/>
              </a:rPr>
              <a:t>Retry storm: duplicate sequence returns original location with 1 row on disk.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04_poison_dlq.py: </a:t>
            </a:r>
            <a:r>
              <a:rPr sz="1000">
                <a:solidFill>
                  <a:srgbClr val="F8FAFC"/>
                </a:solidFill>
                <a:latin typeface="Arial"/>
              </a:rPr>
              <a:t>Poison message failing 3x moves to DLQ; successfully requeued.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05_crash_recovery.py: </a:t>
            </a:r>
            <a:r>
              <a:rPr sz="1000">
                <a:solidFill>
                  <a:srgbClr val="F8FAFC"/>
                </a:solidFill>
                <a:latin typeface="Arial"/>
              </a:rPr>
              <a:t>Simulated worker crash; reaper restores message visibility.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06_security.py: </a:t>
            </a:r>
            <a:r>
              <a:rPr sz="1000">
                <a:solidFill>
                  <a:srgbClr val="F8FAFC"/>
                </a:solidFill>
                <a:latin typeface="Arial"/>
              </a:rPr>
              <a:t>RLS/ACL denial verification and persisted audit records.</a:t>
            </a:r>
          </a:p>
          <a:p>
            <a:pPr>
              <a:spcAft>
                <a:spcPts val="60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07_exactly_once.py: </a:t>
            </a:r>
            <a:r>
              <a:rPr sz="1000">
                <a:solidFill>
                  <a:srgbClr val="F8FAFC"/>
                </a:solidFill>
                <a:latin typeface="Arial"/>
              </a:rPr>
              <a:t>Atomic multi-table ack + committed offset verification.</a:t>
            </a:r>
          </a:p>
          <a:p>
            <a:pPr>
              <a:spcAft>
                <a:spcPts val="0"/>
              </a:spcAft>
            </a:pPr>
            <a:r>
              <a:rPr sz="1000" b="1">
                <a:solidFill>
                  <a:srgbClr val="38BDF8"/>
                </a:solidFill>
                <a:latin typeface="Arial"/>
              </a:rPr>
              <a:t>08_wal_recovery.ps1: </a:t>
            </a:r>
            <a:r>
              <a:rPr sz="1000">
                <a:solidFill>
                  <a:srgbClr val="F8FAFC"/>
                </a:solidFill>
                <a:latin typeface="Arial"/>
              </a:rPr>
              <a:t>Database SIGKILL hard crash and WAL recovery replay.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38BDF8"/>
                </a:solidFill>
                <a:latin typeface="Arial"/>
              </a:defRPr>
            </a:pPr>
            <a:r>
              <a:t>CONCLUSION &amp; EVALUATION RUBRIC</a:t>
            </a:r>
          </a:p>
          <a:p>
            <a:pPr>
              <a:defRPr sz="2200" b="1">
                <a:solidFill>
                  <a:srgbClr val="F8FAFC"/>
                </a:solidFill>
                <a:latin typeface="Arial"/>
              </a:defRPr>
            </a:pPr>
            <a:r>
              <a:t>Second Review (Implementation Review) Rubric Saturation: 10/10 Marks</a:t>
            </a:r>
          </a:p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Complete mapping of project deliverables against every evaluation criteria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63040"/>
          <a:ext cx="1072865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90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Evaluation Criteria (10 Marks)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Conduit Implementation Details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Artifact / Verification</a:t>
                      </a:r>
                    </a:p>
                  </a:txBody>
                  <a:tcPr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1. Database Implementation</a:t>
                      </a:r>
                      <a:br/>
                      <a:r>
                        <a:t>(Tables, Constraints, Validation)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15 tables in 3NF/BCNF, 157 constraints (composite PKs, FK CASCADE/RESTRICT, domain CHECKs), monthly range partitioning, JSONB schema validation.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00_schema.sql</a:t>
                      </a:r>
                      <a:br/>
                      <a:r>
                        <a:t>smoke_m2.sql</a:t>
                      </a:r>
                      <a:br/>
                      <a:r>
                        <a:t>pg_constraint count: 157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2. Data Insertion &amp; Management</a:t>
                      </a:r>
                      <a:br/>
                      <a:r>
                        <a:t>(Ingestion, Housekeeping, DLQ)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Idempotent 5-step produce transaction, 2,000-message production seed, per-topic purge_retention(), global partition drop, DLQ and reaper procedures.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10_functions.sql</a:t>
                      </a:r>
                      <a:br/>
                      <a:r>
                        <a:t>50_seed.sql</a:t>
                      </a:r>
                      <a:br/>
                      <a:r>
                        <a:t>demos/03_idempotency.py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3. Database Operations</a:t>
                      </a:r>
                      <a:br/>
                      <a:r>
                        <a:t>(Queries, Filtering, Joins, Aggregation)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Non-blocking SELECT ... FOR UPDATE SKIP LOCKED query, 4-table joins for consumer lag, single-pass FILTER aggregations, window functions for throughput.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40_views.sql</a:t>
                      </a:r>
                      <a:br/>
                      <a:r>
                        <a:t>v_consumer_lag</a:t>
                      </a:r>
                      <a:br/>
                      <a:r>
                        <a:t>v_throughput_by_minute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4. Advanced Database Features</a:t>
                      </a:r>
                      <a:br/>
                      <a:r>
                        <a:t>(Procedures, Triggers, RLS, Indexing)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PL/pgSQL broker procedures, 15 active database triggers, native Row-Level Security (RLS) with conduit_app role, partial &amp; BRIN indexes, materialized views, WAL recovery.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20_triggers.sql</a:t>
                      </a:r>
                      <a:br/>
                      <a:r>
                        <a:t>30_rls.sql</a:t>
                      </a:r>
                      <a:br/>
                      <a:r>
                        <a:t>benchmarks/explain_at_scale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76072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34D399"/>
                </a:solidFill>
                <a:latin typeface="Arial"/>
              </a:defRPr>
            </a:pPr>
            <a:r>
              <a:t>Team 17  ·  G Anirudh (24BDS0335)  ·  Tanay Mohta (24BDS0294)  ·  Dhyey Dhumasia (24BCE0529)  ·  Thank you! Questions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5568</Words>
  <Application>Microsoft Office PowerPoint</Application>
  <PresentationFormat>Widescreen</PresentationFormat>
  <Paragraphs>295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TANAY MOHTA</cp:lastModifiedBy>
  <cp:revision>2</cp:revision>
  <dcterms:created xsi:type="dcterms:W3CDTF">2013-01-27T09:14:16Z</dcterms:created>
  <dcterms:modified xsi:type="dcterms:W3CDTF">2026-09-22T11:28:03Z</dcterms:modified>
  <cp:category/>
</cp:coreProperties>
</file>